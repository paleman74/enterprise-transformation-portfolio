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4" r:id="rId9"/>
    <p:sldId id="283" r:id="rId10"/>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83B0"/>
    <a:srgbClr val="004F71"/>
    <a:srgbClr val="D7E3E8"/>
    <a:srgbClr val="F2F7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2" d="100"/>
          <a:sy n="72" d="100"/>
        </p:scale>
        <p:origin x="57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vel Aleman" userId="2efb7982-2bc2-4b29-878b-3d55fc136137" providerId="ADAL" clId="{3C53E4C1-73C7-4073-A807-8EE246E398F1}"/>
    <pc:docChg chg="undo custSel addSld delSld modSld">
      <pc:chgData name="Pavel Aleman" userId="2efb7982-2bc2-4b29-878b-3d55fc136137" providerId="ADAL" clId="{3C53E4C1-73C7-4073-A807-8EE246E398F1}" dt="2026-10-15T21:06:34.965" v="2343" actId="47"/>
      <pc:docMkLst>
        <pc:docMk/>
      </pc:docMkLst>
      <pc:sldChg chg="delSp modSp add del mod">
        <pc:chgData name="Pavel Aleman" userId="2efb7982-2bc2-4b29-878b-3d55fc136137" providerId="ADAL" clId="{3C53E4C1-73C7-4073-A807-8EE246E398F1}" dt="2026-10-15T21:06:34.965" v="2343" actId="47"/>
        <pc:sldMkLst>
          <pc:docMk/>
          <pc:sldMk cId="0" sldId="262"/>
        </pc:sldMkLst>
      </pc:sldChg>
      <pc:sldChg chg="addSp delSp modSp add del mod">
        <pc:chgData name="Pavel Aleman" userId="2efb7982-2bc2-4b29-878b-3d55fc136137" providerId="ADAL" clId="{3C53E4C1-73C7-4073-A807-8EE246E398F1}" dt="2026-10-15T21:06:24.094" v="2341" actId="47"/>
        <pc:sldMkLst>
          <pc:docMk/>
          <pc:sldMk cId="1645018603" sldId="28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570194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the time. I have ten minutes and one ask: approval to run a focused, twelve-week, gated assessment that tells us what role semantic infrastructure — ontology — should play in the Bank's AI ecosystem, and at what level of investment. This is grounded in two real workstreams, not theory.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reason this matters now: the Bank's AI is evolving from productivity tools toward process automation. An assistant that summarises a policy can live with some ambiguity. An agent that approves a transaction or updates a record cannot. Gartner expects 15% of day-to-day work decisions to be made autonomously by agents by 2028 — and over 40% of agentic projects to be cancelled by 2027, because organisations underestimate exactly this gap. A new class of risk appears: the semantic error — the agent does something technically valid but wrong in business terms. Our identity, API and network controls govern access. None of them governs meaning.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architecture concept to establish at the outset, because the rest follows from it: the ontology doesn't make decisions; it makes the agent's reasoning inspectable, so a human can stay accountable. Concretely, the ontology is a structured, inspectable representation of business meaning — what a 'settlement instruction' is, how it relates to processes, how those depend on services, who holds approval authority. The agent reasons over the ontology; a human stays in the loop at the points that matter. So it is not a new autonomous actor we have to trust blindly — it is the opposite: the artefact that makes the agent's reasoning visible and checkable. That lets us separate three concerns that each have a different answer — accuracy, accountability, adoption.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Accuracy — is the ontology a correct representation of our business? We trust it because it's continuously validated against measurable quality criteria, signed off by the business experts who own the meaning, proven to improve real tasks, and fully traceable — not because we assume it's right. Those are exactly the questions Pattern 1, the MBD Operational Intelligence Agent, is built to answer. Accountability — when an agent acts, who is responsible? The AI agent never becomes accountable. We stay accountable; the ontology plus the governance layer give us the bounded authority, explainability and audit trail to discharge that responsibly, rather than signing off blind. Adoption — how do we get others to trust it? Trust is earned, not announced: a visible win in one owned domain, inspectable reasoning, a human demonstrably in control, alignment to external standards, and honesty about what is and isn't ready. That's why this assessment builds real use cases rather than a theoretical analysis or a tool comparison.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Rather than starting with standards or tooling, we anchor the assessment on two complementary architectural roles for ontology — each tested through a real workstream, evaluated independently. Pattern 1, Business Domain Value: ontology for reasoning. The workstream is the MBD and FMBO Operational Intelligence Agent — already in flight under Richard Dea, fully resourced, pilot moving to production. Its pilot itself surfaced the need for an ontology layer. Pattern 2, Enterprise AI Governance: ontology as a semantic firewall that validates an agent's intended actions before they execute. That one is early ideation, non-production, with no resources assigned yet. They are complementary, not competing — and may share common semantic assets.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strategic choice. As AI maturity grows, ontology can play three roles: A, a supporting capability in specific use cases; B, the shared business vocabulary that connects data, process and agents within a domain; C, the AI-infrastructure layer that governs autonomous execution. Industry experience shows organisations aim for A and get pushed to B or C by drift, accumulating fragmented semantics. The Bank can choose deliberately. Our working position, to be validated: A now, B next, C later. Pattern 1 gives evidence on the A-to-B move; Pattern 2 tells us whether and when C is justified. And the goal at every stage is not a perfect ontology — it's sufficient precision for safe automation.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is tight and controlled: twelve weeks, four phases, three decision gates. Phase 0, mobilise, weeks one to two — and Gate 1 approves the evaluation framework before any evaluation starts. Phase 1 evaluates Workstream 1, weeks three to ten, with Gate 2 at week six for interim findings. Phase 2 explores Workstream 2 in parallel, deliberately overlapping so neither team idles. Phase 3 synthesises in weeks eleven and twelve, ending at Gate 3 — the decision on whether and how to proceed. You get a written status report every two weeks, plus maintained risk and decision logs. No change to scope, schedule or resourcing is made within the team — every one comes to this group.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twelve weeks you get six things: a validated roadmap on which role to adopt now, next and later; measured evidence on whether ontology improves operational AI outcomes; a grounded read on the Semantic Firewall's feasibility, cost and limits; a target architecture for the Bank's semantic stack; a governance and operating model; and a lessons-learned analysis. The ask today is simple: approve the twelve-week assessment to proceed — green-light both workstreams under the gated plan, protect the Workstream 1 resourcing, and endorse the Gate 1 framework review. There is no production commitment in this; the decision to scale is taken at Gate 3 with a costed next phase. I'm 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5FFB-08E6-EB61-67DD-40197D9830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E74D02-D460-8C2F-03A3-5F981DE5A5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0D9732-6DD0-7D15-E8E8-5E94C44719C7}"/>
              </a:ext>
            </a:extLst>
          </p:cNvPr>
          <p:cNvSpPr>
            <a:spLocks noGrp="1"/>
          </p:cNvSpPr>
          <p:nvPr>
            <p:ph type="body" idx="1"/>
          </p:nvPr>
        </p:nvSpPr>
        <p:spPr/>
        <p:txBody>
          <a:bodyPr/>
          <a:lstStyle/>
          <a:p>
            <a:r>
              <a:rPr lang="en-CA" b="1"/>
              <a:t>3. It answers the wrong kind of risk.</a:t>
            </a:r>
            <a:r>
              <a:rPr lang="en-CA"/>
              <a:t> Your "Critical / Supporting / Enabling" tags answer one question: can this operation run without this system? They do not answer: is it safe to allocate on delayed prices and unchecked trades? Those are different risks. The agent checks "are the critical systems up? yes" and reports "low risk — proceed," when the real risk — allocating on bad data — is high. It gives a confident answer to a question your data can't actually </a:t>
            </a:r>
            <a:r>
              <a:rPr lang="en-CA" err="1"/>
              <a:t>answer.</a:t>
            </a:r>
            <a:r>
              <a:rPr lang="en-CA" i="1" err="1"/>
              <a:t>Ontology</a:t>
            </a:r>
            <a:r>
              <a:rPr lang="en-CA" i="1"/>
              <a:t> fix:</a:t>
            </a:r>
            <a:r>
              <a:rPr lang="en-CA"/>
              <a:t> separate the kinds of risk — system availability vs data quality and financial exposure — so "is it risky?" isn't silently reduced to "are the systems on?"</a:t>
            </a:r>
          </a:p>
        </p:txBody>
      </p:sp>
      <p:sp>
        <p:nvSpPr>
          <p:cNvPr id="4" name="Slide Number Placeholder 3">
            <a:extLst>
              <a:ext uri="{FF2B5EF4-FFF2-40B4-BE49-F238E27FC236}">
                <a16:creationId xmlns:a16="http://schemas.microsoft.com/office/drawing/2014/main" id="{6343A6B6-454E-FA55-8B68-3B01698C0D8F}"/>
              </a:ext>
            </a:extLst>
          </p:cNvPr>
          <p:cNvSpPr>
            <a:spLocks noGrp="1"/>
          </p:cNvSpPr>
          <p:nvPr>
            <p:ph type="sldNum" sz="quarter" idx="5"/>
          </p:nvPr>
        </p:nvSpPr>
        <p:spPr/>
        <p:txBody>
          <a:bodyPr/>
          <a:lstStyle/>
          <a:p>
            <a:fld id="{886761B3-E06F-4288-8806-6B1FF533DFFF}" type="slidenum">
              <a:rPr lang="en-CA" smtClean="0"/>
              <a:t>9</a:t>
            </a:fld>
            <a:endParaRPr lang="en-CA"/>
          </a:p>
        </p:txBody>
      </p:sp>
    </p:spTree>
    <p:extLst>
      <p:ext uri="{BB962C8B-B14F-4D97-AF65-F5344CB8AC3E}">
        <p14:creationId xmlns:p14="http://schemas.microsoft.com/office/powerpoint/2010/main" val="17863267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DARK">
    <p:bg>
      <p:bgPr>
        <a:solidFill>
          <a:srgbClr val="0B0D10"/>
        </a:solidFill>
        <a:effectLst/>
      </p:bgPr>
    </p:bg>
    <p:spTree>
      <p:nvGrpSpPr>
        <p:cNvPr id="1" name=""/>
        <p:cNvGrpSpPr/>
        <p:nvPr/>
      </p:nvGrpSpPr>
      <p:grpSpPr>
        <a:xfrm>
          <a:off x="0" y="0"/>
          <a:ext cx="0" cy="0"/>
          <a:chOff x="0" y="0"/>
          <a:chExt cx="0" cy="0"/>
        </a:xfrm>
      </p:grpSpPr>
      <p:sp>
        <p:nvSpPr>
          <p:cNvPr id="2" name="Text 0"/>
          <p:cNvSpPr/>
          <p:nvPr/>
        </p:nvSpPr>
        <p:spPr>
          <a:xfrm>
            <a:off x="685800" y="438912"/>
            <a:ext cx="8229600" cy="411480"/>
          </a:xfrm>
          <a:prstGeom prst="rect">
            <a:avLst/>
          </a:prstGeom>
          <a:noFill/>
          <a:ln/>
        </p:spPr>
        <p:txBody>
          <a:bodyPr wrap="square" rtlCol="0" anchor="ctr"/>
          <a:lstStyle/>
          <a:p>
            <a:pPr marL="0" indent="0">
              <a:buNone/>
            </a:pPr>
            <a:r>
              <a:rPr lang="en-US" sz="1350" b="1" kern="0" spc="600">
                <a:solidFill>
                  <a:srgbClr val="5C6068"/>
                </a:solidFill>
                <a:latin typeface="Calibri" pitchFamily="34" charset="0"/>
                <a:ea typeface="Calibri" pitchFamily="34" charset="-122"/>
                <a:cs typeface="Calibri" pitchFamily="34" charset="-120"/>
              </a:rPr>
              <a:t>FMBO  /  OPERATIONAL INTELLIGENCE</a:t>
            </a:r>
            <a:endParaRPr lang="en-US" sz="1350"/>
          </a:p>
        </p:txBody>
      </p:sp>
      <p:sp>
        <p:nvSpPr>
          <p:cNvPr id="3" name="Shape 1"/>
          <p:cNvSpPr/>
          <p:nvPr/>
        </p:nvSpPr>
        <p:spPr>
          <a:xfrm>
            <a:off x="13030200" y="630937"/>
            <a:ext cx="4526280" cy="16460"/>
          </a:xfrm>
          <a:prstGeom prst="rect">
            <a:avLst/>
          </a:prstGeom>
          <a:solidFill>
            <a:srgbClr val="262A31"/>
          </a:solidFill>
          <a:ln/>
        </p:spPr>
        <p:txBody>
          <a:bodyPr/>
          <a:lstStyle/>
          <a:p>
            <a:endParaRPr lang="en-CA" sz="2700"/>
          </a:p>
        </p:txBody>
      </p:sp>
      <p:sp>
        <p:nvSpPr>
          <p:cNvPr id="4" name="Shape 2"/>
          <p:cNvSpPr/>
          <p:nvPr/>
        </p:nvSpPr>
        <p:spPr>
          <a:xfrm>
            <a:off x="17556480" y="576072"/>
            <a:ext cx="109728" cy="109728"/>
          </a:xfrm>
          <a:prstGeom prst="rect">
            <a:avLst/>
          </a:prstGeom>
          <a:solidFill>
            <a:srgbClr val="F5A623"/>
          </a:solidFill>
          <a:ln/>
        </p:spPr>
        <p:txBody>
          <a:bodyPr/>
          <a:lstStyle/>
          <a:p>
            <a:endParaRPr lang="en-CA" sz="2700"/>
          </a:p>
        </p:txBody>
      </p:sp>
      <p:sp>
        <p:nvSpPr>
          <p:cNvPr id="5" name="Shape 3"/>
          <p:cNvSpPr/>
          <p:nvPr/>
        </p:nvSpPr>
        <p:spPr>
          <a:xfrm>
            <a:off x="685800" y="9656065"/>
            <a:ext cx="16911828" cy="16460"/>
          </a:xfrm>
          <a:prstGeom prst="rect">
            <a:avLst/>
          </a:prstGeom>
          <a:solidFill>
            <a:srgbClr val="262A31"/>
          </a:solidFill>
          <a:ln/>
        </p:spPr>
        <p:txBody>
          <a:bodyPr/>
          <a:lstStyle/>
          <a:p>
            <a:endParaRPr lang="en-CA" sz="2700"/>
          </a:p>
        </p:txBody>
      </p:sp>
      <p:sp>
        <p:nvSpPr>
          <p:cNvPr id="6" name="Text 4"/>
          <p:cNvSpPr/>
          <p:nvPr/>
        </p:nvSpPr>
        <p:spPr>
          <a:xfrm>
            <a:off x="685800" y="9765792"/>
            <a:ext cx="5486400" cy="411480"/>
          </a:xfrm>
          <a:prstGeom prst="rect">
            <a:avLst/>
          </a:prstGeom>
          <a:noFill/>
          <a:ln/>
        </p:spPr>
        <p:txBody>
          <a:bodyPr wrap="square" rtlCol="0" anchor="ctr"/>
          <a:lstStyle/>
          <a:p>
            <a:pPr marL="0" indent="0">
              <a:buNone/>
            </a:pPr>
            <a:r>
              <a:rPr lang="en-US" sz="1275" b="1" kern="0" spc="450">
                <a:solidFill>
                  <a:srgbClr val="5C6068"/>
                </a:solidFill>
                <a:latin typeface="Calibri" pitchFamily="34" charset="0"/>
                <a:ea typeface="Calibri" pitchFamily="34" charset="-122"/>
                <a:cs typeface="Calibri" pitchFamily="34" charset="-120"/>
              </a:rPr>
              <a:t>JUNE 2026</a:t>
            </a:r>
            <a:endParaRPr lang="en-US" sz="1275"/>
          </a:p>
        </p:txBody>
      </p:sp>
      <p:sp>
        <p:nvSpPr>
          <p:cNvPr id="25" name="Slide Number Placeholder 0"/>
          <p:cNvSpPr>
            <a:spLocks noGrp="1"/>
          </p:cNvSpPr>
          <p:nvPr>
            <p:ph type="sldNum" sz="quarter" idx="4294967295"/>
          </p:nvPr>
        </p:nvSpPr>
        <p:spPr>
          <a:xfrm>
            <a:off x="17145000" y="9765792"/>
            <a:ext cx="685800" cy="411480"/>
          </a:xfrm>
          <a:prstGeom prst="rect">
            <a:avLst/>
          </a:prstGeom>
          <a:extLst>
            <a:ext uri="{C572A759-6A51-4108-AA02-DFA0A04FC94B}">
              <ma14:wrappingTextBoxFlag xmlns:ma14="http://schemas.microsoft.com/office/mac/drawingml/2011/main" xmlns="" val="0"/>
            </a:ext>
          </a:extLst>
        </p:spPr>
        <p:txBody>
          <a:bodyPr/>
          <a:lstStyle>
            <a:lvl1pPr>
              <a:defRPr sz="1275">
                <a:solidFill>
                  <a:srgbClr val="5C6068"/>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4868844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AC2E947-7973-2018-85C5-6345864340D9}"/>
              </a:ext>
            </a:extLst>
          </p:cNvPr>
          <p:cNvSpPr txBox="1"/>
          <p:nvPr userDrawn="1">
            <p:extLst>
              <p:ext uri="{1162E1C5-73C7-4A58-AE30-91384D911F3F}">
                <p184:classification xmlns:p184="http://schemas.microsoft.com/office/powerpoint/2018/4/main" val="hdr"/>
              </p:ext>
            </p:extLst>
          </p:nvPr>
        </p:nvSpPr>
        <p:spPr>
          <a:xfrm>
            <a:off x="15614650" y="63500"/>
            <a:ext cx="2635250" cy="152400"/>
          </a:xfrm>
          <a:prstGeom prst="rect">
            <a:avLst/>
          </a:prstGeom>
        </p:spPr>
        <p:txBody>
          <a:bodyPr horzOverflow="overflow" lIns="0" tIns="0" rIns="0" bIns="0">
            <a:spAutoFit/>
          </a:bodyPr>
          <a:lstStyle/>
          <a:p>
            <a:pPr algn="l"/>
            <a:r>
              <a:rPr lang="en-CA" sz="1000">
                <a:solidFill>
                  <a:srgbClr val="000000">
                    <a:alpha val="50000"/>
                  </a:srgbClr>
                </a:solidFill>
                <a:latin typeface="Aptos" panose="020B0004020202020204" pitchFamily="34" charset="0"/>
              </a:rPr>
              <a:t>Category/Catégorie: Non-Sensitive/Non-Délicat</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slide" Target="slide5.xml"/><Relationship Id="rId5" Type="http://schemas.openxmlformats.org/officeDocument/2006/relationships/image" Target="../media/image3.sv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4F71"/>
        </a:solidFill>
        <a:effectLst/>
      </p:bgPr>
    </p:bg>
    <p:spTree>
      <p:nvGrpSpPr>
        <p:cNvPr id="1" name=""/>
        <p:cNvGrpSpPr/>
        <p:nvPr/>
      </p:nvGrpSpPr>
      <p:grpSpPr>
        <a:xfrm>
          <a:off x="0" y="0"/>
          <a:ext cx="0" cy="0"/>
          <a:chOff x="0" y="0"/>
          <a:chExt cx="0" cy="0"/>
        </a:xfrm>
      </p:grpSpPr>
      <p:sp>
        <p:nvSpPr>
          <p:cNvPr id="3" name="Text 1"/>
          <p:cNvSpPr/>
          <p:nvPr/>
        </p:nvSpPr>
        <p:spPr>
          <a:xfrm>
            <a:off x="3123786" y="2376686"/>
            <a:ext cx="11728174" cy="436328"/>
          </a:xfrm>
          <a:prstGeom prst="rect">
            <a:avLst/>
          </a:prstGeom>
          <a:noFill/>
          <a:ln/>
        </p:spPr>
        <p:txBody>
          <a:bodyPr wrap="square" lIns="0" tIns="0" rIns="0" bIns="0" rtlCol="0" anchor="t">
            <a:normAutofit/>
          </a:bodyPr>
          <a:lstStyle/>
          <a:p>
            <a:pPr marL="0" indent="0" algn="l">
              <a:lnSpc>
                <a:spcPct val="100000"/>
              </a:lnSpc>
              <a:buNone/>
            </a:pPr>
            <a:r>
              <a:rPr lang="en-US" b="1" kern="0" spc="297" dirty="0">
                <a:solidFill>
                  <a:srgbClr val="8FD4F0"/>
                </a:solidFill>
                <a:latin typeface="Public Sans" pitchFamily="34" charset="0"/>
                <a:ea typeface="Public Sans" pitchFamily="34" charset="-122"/>
                <a:cs typeface="Public Sans" pitchFamily="34" charset="-120"/>
              </a:rPr>
              <a:t>DDS PORTFOLIO MANAGEMENT GROUP PMG June 2026· PROPOSAL FOR APPROVAL</a:t>
            </a:r>
            <a:endParaRPr lang="en-US" dirty="0"/>
          </a:p>
        </p:txBody>
      </p:sp>
      <p:sp>
        <p:nvSpPr>
          <p:cNvPr id="4" name="Text 2"/>
          <p:cNvSpPr/>
          <p:nvPr/>
        </p:nvSpPr>
        <p:spPr>
          <a:xfrm>
            <a:off x="3048000" y="2940824"/>
            <a:ext cx="12204424" cy="1478280"/>
          </a:xfrm>
          <a:prstGeom prst="rect">
            <a:avLst/>
          </a:prstGeom>
          <a:noFill/>
          <a:ln/>
        </p:spPr>
        <p:txBody>
          <a:bodyPr wrap="square" lIns="25400" tIns="25400" rIns="25400" bIns="25400" rtlCol="0" anchor="t">
            <a:normAutofit fontScale="92500" lnSpcReduction="20000"/>
          </a:bodyPr>
          <a:lstStyle/>
          <a:p>
            <a:pPr marL="0" indent="0" algn="l">
              <a:lnSpc>
                <a:spcPct val="105000"/>
              </a:lnSpc>
              <a:buNone/>
            </a:pPr>
            <a:r>
              <a:rPr lang="en-US" sz="5400" b="1" kern="0" spc="-81" dirty="0">
                <a:solidFill>
                  <a:srgbClr val="FFFFFF"/>
                </a:solidFill>
                <a:latin typeface="Source Serif 4" pitchFamily="34" charset="0"/>
                <a:ea typeface="Source Serif 4" pitchFamily="34" charset="-122"/>
                <a:cs typeface="Source Serif 4" pitchFamily="34" charset="-120"/>
              </a:rPr>
              <a:t>AI Ontology Architecture Exploration </a:t>
            </a:r>
          </a:p>
          <a:p>
            <a:pPr marL="0" indent="0" algn="l">
              <a:lnSpc>
                <a:spcPct val="105000"/>
              </a:lnSpc>
              <a:buNone/>
            </a:pPr>
            <a:r>
              <a:rPr lang="en-US" sz="5400" b="1" kern="0" spc="-81" dirty="0">
                <a:solidFill>
                  <a:srgbClr val="FFFFFF"/>
                </a:solidFill>
                <a:latin typeface="Source Serif 4" pitchFamily="34" charset="0"/>
                <a:ea typeface="Source Serif 4" pitchFamily="34" charset="-122"/>
                <a:cs typeface="Source Serif 4" pitchFamily="34" charset="-120"/>
              </a:rPr>
              <a:t>&amp; Readiness Assessment</a:t>
            </a:r>
            <a:endParaRPr lang="en-US" sz="5400" dirty="0"/>
          </a:p>
        </p:txBody>
      </p:sp>
      <p:sp>
        <p:nvSpPr>
          <p:cNvPr id="5" name="Text 3"/>
          <p:cNvSpPr/>
          <p:nvPr/>
        </p:nvSpPr>
        <p:spPr>
          <a:xfrm>
            <a:off x="3048000" y="5153606"/>
            <a:ext cx="11576685" cy="838200"/>
          </a:xfrm>
          <a:prstGeom prst="rect">
            <a:avLst/>
          </a:prstGeom>
          <a:noFill/>
          <a:ln/>
        </p:spPr>
        <p:txBody>
          <a:bodyPr wrap="square" lIns="25400" tIns="25400" rIns="25400" bIns="25400" rtlCol="0" anchor="t">
            <a:normAutofit/>
          </a:bodyPr>
          <a:lstStyle/>
          <a:p>
            <a:pPr marL="0" indent="0" algn="l">
              <a:lnSpc>
                <a:spcPct val="140000"/>
              </a:lnSpc>
              <a:buNone/>
            </a:pPr>
            <a:r>
              <a:rPr lang="en-US" sz="2250" b="1" dirty="0">
                <a:solidFill>
                  <a:schemeClr val="accent5">
                    <a:lumMod val="20000"/>
                    <a:lumOff val="80000"/>
                  </a:schemeClr>
                </a:solidFill>
                <a:latin typeface="Public Sans" pitchFamily="34" charset="0"/>
                <a:ea typeface="Public Sans" pitchFamily="34" charset="-122"/>
                <a:cs typeface="Public Sans" pitchFamily="34" charset="-120"/>
              </a:rPr>
              <a:t>Building the semantic foundation for the Bank's move from AI that </a:t>
            </a:r>
            <a:r>
              <a:rPr lang="en-US" sz="2250" b="1" i="1" dirty="0">
                <a:solidFill>
                  <a:schemeClr val="accent5">
                    <a:lumMod val="20000"/>
                    <a:lumOff val="80000"/>
                  </a:schemeClr>
                </a:solidFill>
                <a:latin typeface="Public Sans" pitchFamily="34" charset="0"/>
                <a:ea typeface="Public Sans" pitchFamily="34" charset="-122"/>
                <a:cs typeface="Public Sans" pitchFamily="34" charset="-120"/>
              </a:rPr>
              <a:t>answers </a:t>
            </a:r>
            <a:r>
              <a:rPr lang="en-US" sz="2250" b="1" dirty="0">
                <a:solidFill>
                  <a:schemeClr val="accent5">
                    <a:lumMod val="20000"/>
                    <a:lumOff val="80000"/>
                  </a:schemeClr>
                </a:solidFill>
                <a:latin typeface="Public Sans" pitchFamily="34" charset="0"/>
                <a:ea typeface="Public Sans" pitchFamily="34" charset="-122"/>
                <a:cs typeface="Public Sans" pitchFamily="34" charset="-120"/>
              </a:rPr>
              <a:t>to AI that </a:t>
            </a:r>
            <a:r>
              <a:rPr lang="en-US" sz="2250" b="1" i="1" dirty="0">
                <a:solidFill>
                  <a:schemeClr val="accent5">
                    <a:lumMod val="20000"/>
                    <a:lumOff val="80000"/>
                  </a:schemeClr>
                </a:solidFill>
                <a:latin typeface="Public Sans" pitchFamily="34" charset="0"/>
                <a:ea typeface="Public Sans" pitchFamily="34" charset="-122"/>
                <a:cs typeface="Public Sans" pitchFamily="34" charset="-120"/>
              </a:rPr>
              <a:t>acts</a:t>
            </a:r>
            <a:r>
              <a:rPr lang="en-US" sz="2250" dirty="0">
                <a:solidFill>
                  <a:schemeClr val="accent5">
                    <a:lumMod val="20000"/>
                    <a:lumOff val="80000"/>
                  </a:schemeClr>
                </a:solidFill>
                <a:latin typeface="Public Sans" pitchFamily="34" charset="0"/>
                <a:ea typeface="Public Sans" pitchFamily="34" charset="-122"/>
                <a:cs typeface="Public Sans" pitchFamily="34" charset="-120"/>
              </a:rPr>
              <a:t>.</a:t>
            </a:r>
            <a:endParaRPr lang="en-US" sz="2250" dirty="0">
              <a:solidFill>
                <a:schemeClr val="accent5">
                  <a:lumMod val="20000"/>
                  <a:lumOff val="80000"/>
                </a:schemeClr>
              </a:solidFill>
            </a:endParaRPr>
          </a:p>
        </p:txBody>
      </p:sp>
      <p:sp>
        <p:nvSpPr>
          <p:cNvPr id="6" name="Text 4"/>
          <p:cNvSpPr/>
          <p:nvPr/>
        </p:nvSpPr>
        <p:spPr>
          <a:xfrm>
            <a:off x="3163937" y="6247427"/>
            <a:ext cx="3559076" cy="200025"/>
          </a:xfrm>
          <a:prstGeom prst="rect">
            <a:avLst/>
          </a:prstGeom>
          <a:noFill/>
          <a:ln/>
        </p:spPr>
        <p:txBody>
          <a:bodyPr wrap="square" lIns="25400" tIns="25400" rIns="25400" bIns="25400" rtlCol="0" anchor="t">
            <a:normAutofit fontScale="85000" lnSpcReduction="20000"/>
          </a:bodyPr>
          <a:lstStyle/>
          <a:p>
            <a:pPr marL="0" indent="0" algn="l">
              <a:lnSpc>
                <a:spcPct val="100000"/>
              </a:lnSpc>
              <a:buNone/>
            </a:pPr>
            <a:r>
              <a:rPr lang="en-US" sz="1275" b="1" kern="0" spc="127" dirty="0">
                <a:solidFill>
                  <a:srgbClr val="9CC4D8"/>
                </a:solidFill>
                <a:latin typeface="Public Sans" pitchFamily="34" charset="0"/>
                <a:ea typeface="Public Sans" pitchFamily="34" charset="-122"/>
                <a:cs typeface="Public Sans" pitchFamily="34" charset="-120"/>
              </a:rPr>
              <a:t>DIGITAL, DATA &amp; SOLUTIONS (DDS)</a:t>
            </a:r>
            <a:endParaRPr lang="en-US" sz="1275" dirty="0"/>
          </a:p>
        </p:txBody>
      </p:sp>
      <p:sp>
        <p:nvSpPr>
          <p:cNvPr id="7" name="Shape 5"/>
          <p:cNvSpPr/>
          <p:nvPr/>
        </p:nvSpPr>
        <p:spPr>
          <a:xfrm>
            <a:off x="6856660" y="6242664"/>
            <a:ext cx="9525" cy="171450"/>
          </a:xfrm>
          <a:prstGeom prst="rect">
            <a:avLst/>
          </a:prstGeom>
          <a:solidFill>
            <a:srgbClr val="2C6685"/>
          </a:solidFill>
          <a:ln/>
        </p:spPr>
        <p:txBody>
          <a:bodyPr/>
          <a:lstStyle/>
          <a:p>
            <a:endParaRPr lang="en-CA"/>
          </a:p>
        </p:txBody>
      </p:sp>
      <p:sp>
        <p:nvSpPr>
          <p:cNvPr id="8" name="Text 6"/>
          <p:cNvSpPr/>
          <p:nvPr/>
        </p:nvSpPr>
        <p:spPr>
          <a:xfrm>
            <a:off x="7323385" y="6247427"/>
            <a:ext cx="1847183" cy="200025"/>
          </a:xfrm>
          <a:prstGeom prst="rect">
            <a:avLst/>
          </a:prstGeom>
          <a:noFill/>
          <a:ln/>
        </p:spPr>
        <p:txBody>
          <a:bodyPr wrap="square" lIns="25400" tIns="25400" rIns="25400" bIns="25400" rtlCol="0" anchor="t">
            <a:normAutofit fontScale="85000" lnSpcReduction="20000"/>
          </a:bodyPr>
          <a:lstStyle/>
          <a:p>
            <a:pPr marL="0" indent="0" algn="l">
              <a:lnSpc>
                <a:spcPct val="100000"/>
              </a:lnSpc>
              <a:buNone/>
            </a:pPr>
            <a:r>
              <a:rPr lang="en-US" sz="1275" b="1" kern="0" spc="127" dirty="0">
                <a:solidFill>
                  <a:srgbClr val="9CC4D8"/>
                </a:solidFill>
                <a:latin typeface="Public Sans" pitchFamily="34" charset="0"/>
                <a:ea typeface="Public Sans" pitchFamily="34" charset="-122"/>
                <a:cs typeface="Public Sans" pitchFamily="34" charset="-120"/>
              </a:rPr>
              <a:t>BANK OF CANADA</a:t>
            </a:r>
            <a:endParaRPr lang="en-US" sz="1275" dirty="0"/>
          </a:p>
        </p:txBody>
      </p:sp>
      <p:sp>
        <p:nvSpPr>
          <p:cNvPr id="9" name="Shape 7"/>
          <p:cNvSpPr/>
          <p:nvPr/>
        </p:nvSpPr>
        <p:spPr>
          <a:xfrm>
            <a:off x="9459843" y="6242664"/>
            <a:ext cx="9525" cy="171450"/>
          </a:xfrm>
          <a:prstGeom prst="rect">
            <a:avLst/>
          </a:prstGeom>
          <a:solidFill>
            <a:srgbClr val="2C6685"/>
          </a:solidFill>
          <a:ln/>
        </p:spPr>
        <p:txBody>
          <a:bodyPr/>
          <a:lstStyle/>
          <a:p>
            <a:endParaRPr lang="en-CA"/>
          </a:p>
        </p:txBody>
      </p:sp>
      <p:sp>
        <p:nvSpPr>
          <p:cNvPr id="10" name="Text 8"/>
          <p:cNvSpPr/>
          <p:nvPr/>
        </p:nvSpPr>
        <p:spPr>
          <a:xfrm>
            <a:off x="9926568" y="6247427"/>
            <a:ext cx="4480965" cy="200025"/>
          </a:xfrm>
          <a:prstGeom prst="rect">
            <a:avLst/>
          </a:prstGeom>
          <a:noFill/>
          <a:ln/>
        </p:spPr>
        <p:txBody>
          <a:bodyPr wrap="square" lIns="25400" tIns="25400" rIns="25400" bIns="25400" rtlCol="0" anchor="t">
            <a:normAutofit fontScale="85000" lnSpcReduction="20000"/>
          </a:bodyPr>
          <a:lstStyle/>
          <a:p>
            <a:pPr marL="0" indent="0" algn="l">
              <a:lnSpc>
                <a:spcPct val="100000"/>
              </a:lnSpc>
              <a:buNone/>
            </a:pPr>
            <a:r>
              <a:rPr lang="en-US" sz="1275" b="1" kern="0" spc="127" dirty="0">
                <a:solidFill>
                  <a:srgbClr val="9CC4D8"/>
                </a:solidFill>
                <a:latin typeface="Public Sans" pitchFamily="34" charset="0"/>
                <a:ea typeface="Public Sans" pitchFamily="34" charset="-122"/>
                <a:cs typeface="Public Sans" pitchFamily="34" charset="-120"/>
              </a:rPr>
              <a:t>PRACTICAL ASSESSMENT WITH 3 DECISION GATES</a:t>
            </a:r>
            <a:endParaRPr lang="en-US" sz="1275" dirty="0"/>
          </a:p>
        </p:txBody>
      </p:sp>
      <p:sp>
        <p:nvSpPr>
          <p:cNvPr id="11" name="Shape 9"/>
          <p:cNvSpPr/>
          <p:nvPr/>
        </p:nvSpPr>
        <p:spPr>
          <a:xfrm>
            <a:off x="583096" y="9353550"/>
            <a:ext cx="161925" cy="323850"/>
          </a:xfrm>
          <a:prstGeom prst="rect">
            <a:avLst/>
          </a:prstGeom>
          <a:solidFill>
            <a:srgbClr val="277191">
              <a:alpha val="55000"/>
            </a:srgbClr>
          </a:solidFill>
          <a:ln/>
        </p:spPr>
        <p:txBody>
          <a:bodyPr/>
          <a:lstStyle/>
          <a:p>
            <a:endParaRPr lang="en-CA"/>
          </a:p>
        </p:txBody>
      </p:sp>
      <p:sp>
        <p:nvSpPr>
          <p:cNvPr id="12" name="Shape 10"/>
          <p:cNvSpPr/>
          <p:nvPr/>
        </p:nvSpPr>
        <p:spPr>
          <a:xfrm>
            <a:off x="849796" y="9182100"/>
            <a:ext cx="161925" cy="495300"/>
          </a:xfrm>
          <a:prstGeom prst="rect">
            <a:avLst/>
          </a:prstGeom>
          <a:solidFill>
            <a:srgbClr val="277191">
              <a:alpha val="70000"/>
            </a:srgbClr>
          </a:solidFill>
          <a:ln/>
        </p:spPr>
        <p:txBody>
          <a:bodyPr/>
          <a:lstStyle/>
          <a:p>
            <a:endParaRPr lang="en-CA"/>
          </a:p>
        </p:txBody>
      </p:sp>
      <p:sp>
        <p:nvSpPr>
          <p:cNvPr id="13" name="Shape 11"/>
          <p:cNvSpPr/>
          <p:nvPr/>
        </p:nvSpPr>
        <p:spPr>
          <a:xfrm>
            <a:off x="1116496" y="9277350"/>
            <a:ext cx="161925" cy="400050"/>
          </a:xfrm>
          <a:prstGeom prst="rect">
            <a:avLst/>
          </a:prstGeom>
          <a:solidFill>
            <a:srgbClr val="277191">
              <a:alpha val="60000"/>
            </a:srgbClr>
          </a:solidFill>
          <a:ln/>
        </p:spPr>
        <p:txBody>
          <a:bodyPr/>
          <a:lstStyle/>
          <a:p>
            <a:endParaRPr lang="en-CA"/>
          </a:p>
        </p:txBody>
      </p:sp>
      <p:sp>
        <p:nvSpPr>
          <p:cNvPr id="14" name="Shape 12"/>
          <p:cNvSpPr/>
          <p:nvPr/>
        </p:nvSpPr>
        <p:spPr>
          <a:xfrm>
            <a:off x="1383196" y="9067800"/>
            <a:ext cx="161925" cy="609600"/>
          </a:xfrm>
          <a:prstGeom prst="rect">
            <a:avLst/>
          </a:prstGeom>
          <a:solidFill>
            <a:srgbClr val="277191">
              <a:alpha val="85000"/>
            </a:srgbClr>
          </a:solidFill>
          <a:ln/>
        </p:spPr>
        <p:txBody>
          <a:bodyPr/>
          <a:lstStyle/>
          <a:p>
            <a:endParaRPr lang="en-CA"/>
          </a:p>
        </p:txBody>
      </p:sp>
      <p:sp>
        <p:nvSpPr>
          <p:cNvPr id="15" name="Shape 13"/>
          <p:cNvSpPr/>
          <p:nvPr/>
        </p:nvSpPr>
        <p:spPr>
          <a:xfrm>
            <a:off x="1649896" y="9239250"/>
            <a:ext cx="161925" cy="438150"/>
          </a:xfrm>
          <a:prstGeom prst="rect">
            <a:avLst/>
          </a:prstGeom>
          <a:solidFill>
            <a:srgbClr val="277191">
              <a:alpha val="65000"/>
            </a:srgbClr>
          </a:solidFill>
          <a:ln/>
        </p:spPr>
        <p:txBody>
          <a:bodyPr/>
          <a:lstStyle/>
          <a:p>
            <a:endParaRPr lang="en-CA"/>
          </a:p>
        </p:txBody>
      </p:sp>
      <p:sp>
        <p:nvSpPr>
          <p:cNvPr id="16" name="Shape 14"/>
          <p:cNvSpPr/>
          <p:nvPr/>
        </p:nvSpPr>
        <p:spPr>
          <a:xfrm>
            <a:off x="1916596" y="9124950"/>
            <a:ext cx="161925" cy="552450"/>
          </a:xfrm>
          <a:prstGeom prst="rect">
            <a:avLst/>
          </a:prstGeom>
          <a:solidFill>
            <a:srgbClr val="277191">
              <a:alpha val="80000"/>
            </a:srgbClr>
          </a:solidFill>
          <a:ln/>
        </p:spPr>
        <p:txBody>
          <a:bodyPr/>
          <a:lstStyle/>
          <a:p>
            <a:endParaRPr lang="en-CA"/>
          </a:p>
        </p:txBody>
      </p:sp>
      <p:sp>
        <p:nvSpPr>
          <p:cNvPr id="17" name="Shape 15"/>
          <p:cNvSpPr/>
          <p:nvPr/>
        </p:nvSpPr>
        <p:spPr>
          <a:xfrm>
            <a:off x="2183296" y="9315450"/>
            <a:ext cx="161925" cy="361950"/>
          </a:xfrm>
          <a:prstGeom prst="rect">
            <a:avLst/>
          </a:prstGeom>
          <a:solidFill>
            <a:srgbClr val="277191">
              <a:alpha val="55000"/>
            </a:srgbClr>
          </a:solidFill>
          <a:ln/>
        </p:spPr>
        <p:txBody>
          <a:bodyPr/>
          <a:lstStyle/>
          <a:p>
            <a:endParaRPr lang="en-CA"/>
          </a:p>
        </p:txBody>
      </p:sp>
      <p:sp>
        <p:nvSpPr>
          <p:cNvPr id="18" name="Shape 16"/>
          <p:cNvSpPr/>
          <p:nvPr/>
        </p:nvSpPr>
        <p:spPr>
          <a:xfrm>
            <a:off x="2449996" y="9086850"/>
            <a:ext cx="161925" cy="590550"/>
          </a:xfrm>
          <a:prstGeom prst="rect">
            <a:avLst/>
          </a:prstGeom>
          <a:solidFill>
            <a:srgbClr val="277191"/>
          </a:solidFill>
          <a:ln/>
        </p:spPr>
        <p:txBody>
          <a:bodyPr/>
          <a:lstStyle/>
          <a:p>
            <a:endParaRPr lang="en-CA"/>
          </a:p>
        </p:txBody>
      </p:sp>
      <p:sp>
        <p:nvSpPr>
          <p:cNvPr id="19" name="Shape 17"/>
          <p:cNvSpPr/>
          <p:nvPr/>
        </p:nvSpPr>
        <p:spPr>
          <a:xfrm>
            <a:off x="2716696" y="9220200"/>
            <a:ext cx="161925" cy="457200"/>
          </a:xfrm>
          <a:prstGeom prst="rect">
            <a:avLst/>
          </a:prstGeom>
          <a:solidFill>
            <a:srgbClr val="277191">
              <a:alpha val="70000"/>
            </a:srgbClr>
          </a:solidFill>
          <a:ln/>
        </p:spPr>
        <p:txBody>
          <a:bodyPr/>
          <a:lstStyle/>
          <a:p>
            <a:endParaRPr lang="en-CA"/>
          </a:p>
        </p:txBody>
      </p:sp>
      <p:sp>
        <p:nvSpPr>
          <p:cNvPr id="20" name="Shape 18"/>
          <p:cNvSpPr/>
          <p:nvPr/>
        </p:nvSpPr>
        <p:spPr>
          <a:xfrm>
            <a:off x="2983396" y="9163050"/>
            <a:ext cx="161925" cy="514350"/>
          </a:xfrm>
          <a:prstGeom prst="rect">
            <a:avLst/>
          </a:prstGeom>
          <a:solidFill>
            <a:srgbClr val="277191">
              <a:alpha val="75000"/>
            </a:srgbClr>
          </a:solidFill>
          <a:ln/>
        </p:spPr>
        <p:txBody>
          <a:bodyPr/>
          <a:lstStyle/>
          <a:p>
            <a:endParaRPr lang="en-CA"/>
          </a:p>
        </p:txBody>
      </p:sp>
      <p:sp>
        <p:nvSpPr>
          <p:cNvPr id="21" name="Shape 19"/>
          <p:cNvSpPr/>
          <p:nvPr/>
        </p:nvSpPr>
        <p:spPr>
          <a:xfrm>
            <a:off x="3250096" y="9334500"/>
            <a:ext cx="161925" cy="342900"/>
          </a:xfrm>
          <a:prstGeom prst="rect">
            <a:avLst/>
          </a:prstGeom>
          <a:solidFill>
            <a:srgbClr val="277191">
              <a:alpha val="50000"/>
            </a:srgbClr>
          </a:solidFill>
          <a:ln/>
        </p:spPr>
        <p:txBody>
          <a:bodyPr/>
          <a:lstStyle/>
          <a:p>
            <a:endParaRPr lang="en-CA"/>
          </a:p>
        </p:txBody>
      </p:sp>
      <p:sp>
        <p:nvSpPr>
          <p:cNvPr id="22" name="Text 20"/>
          <p:cNvSpPr/>
          <p:nvPr/>
        </p:nvSpPr>
        <p:spPr>
          <a:xfrm>
            <a:off x="15891296" y="9029700"/>
            <a:ext cx="1482304" cy="285750"/>
          </a:xfrm>
          <a:prstGeom prst="rect">
            <a:avLst/>
          </a:prstGeom>
          <a:noFill/>
          <a:ln/>
        </p:spPr>
        <p:txBody>
          <a:bodyPr wrap="square" lIns="25400" tIns="25400" rIns="25400" bIns="25400" rtlCol="0" anchor="t">
            <a:normAutofit fontScale="92500" lnSpcReduction="20000"/>
          </a:bodyPr>
          <a:lstStyle/>
          <a:p>
            <a:pPr marL="0" indent="0" algn="r">
              <a:lnSpc>
                <a:spcPct val="130000"/>
              </a:lnSpc>
              <a:buNone/>
            </a:pPr>
            <a:r>
              <a:rPr lang="en-US" sz="1500" b="1" kern="0" spc="30" dirty="0">
                <a:solidFill>
                  <a:srgbClr val="FFFFFF"/>
                </a:solidFill>
                <a:latin typeface="Public Sans" pitchFamily="34" charset="0"/>
                <a:ea typeface="Public Sans" pitchFamily="34" charset="-122"/>
                <a:cs typeface="Public Sans" pitchFamily="34" charset="-120"/>
              </a:rPr>
              <a:t>Pavel Aleman</a:t>
            </a:r>
            <a:endParaRPr lang="en-US" sz="1500" dirty="0"/>
          </a:p>
        </p:txBody>
      </p:sp>
      <p:sp>
        <p:nvSpPr>
          <p:cNvPr id="23" name="Text 21"/>
          <p:cNvSpPr/>
          <p:nvPr/>
        </p:nvSpPr>
        <p:spPr>
          <a:xfrm>
            <a:off x="15891296" y="9277350"/>
            <a:ext cx="1482304" cy="238125"/>
          </a:xfrm>
          <a:prstGeom prst="rect">
            <a:avLst/>
          </a:prstGeom>
          <a:noFill/>
          <a:ln/>
        </p:spPr>
        <p:txBody>
          <a:bodyPr wrap="square" lIns="25400" tIns="25400" rIns="25400" bIns="25400" rtlCol="0" anchor="t">
            <a:normAutofit fontScale="92500" lnSpcReduction="10000"/>
          </a:bodyPr>
          <a:lstStyle/>
          <a:p>
            <a:pPr marL="0" indent="0" algn="r">
              <a:lnSpc>
                <a:spcPct val="140000"/>
              </a:lnSpc>
              <a:buNone/>
            </a:pPr>
            <a:r>
              <a:rPr lang="en-US" sz="1125" i="1" dirty="0">
                <a:solidFill>
                  <a:srgbClr val="9CC4D8"/>
                </a:solidFill>
                <a:latin typeface="Public Sans" pitchFamily="34" charset="0"/>
                <a:ea typeface="Public Sans" pitchFamily="34" charset="-122"/>
                <a:cs typeface="Public Sans" pitchFamily="34" charset="-120"/>
              </a:rPr>
              <a:t>Enterprise Architect</a:t>
            </a:r>
            <a:endParaRPr lang="en-US" sz="1125" dirty="0"/>
          </a:p>
        </p:txBody>
      </p:sp>
      <p:sp>
        <p:nvSpPr>
          <p:cNvPr id="24" name="Text 22"/>
          <p:cNvSpPr/>
          <p:nvPr/>
        </p:nvSpPr>
        <p:spPr>
          <a:xfrm>
            <a:off x="15891296" y="9477375"/>
            <a:ext cx="1482304" cy="238125"/>
          </a:xfrm>
          <a:prstGeom prst="rect">
            <a:avLst/>
          </a:prstGeom>
          <a:noFill/>
          <a:ln/>
        </p:spPr>
        <p:txBody>
          <a:bodyPr wrap="square" lIns="25400" tIns="25400" rIns="25400" bIns="25400" rtlCol="0" anchor="t">
            <a:normAutofit fontScale="92500" lnSpcReduction="10000"/>
          </a:bodyPr>
          <a:lstStyle/>
          <a:p>
            <a:pPr marL="0" indent="0" algn="r">
              <a:lnSpc>
                <a:spcPct val="140000"/>
              </a:lnSpc>
              <a:buNone/>
            </a:pPr>
            <a:r>
              <a:rPr lang="en-US" sz="1125" dirty="0">
                <a:solidFill>
                  <a:srgbClr val="9CC4D8"/>
                </a:solidFill>
                <a:latin typeface="Public Sans" pitchFamily="34" charset="0"/>
                <a:ea typeface="Public Sans" pitchFamily="34" charset="-122"/>
                <a:cs typeface="Public Sans" pitchFamily="34" charset="-120"/>
              </a:rPr>
              <a:t>Version 1.0</a:t>
            </a:r>
            <a:endParaRPr lang="en-US" sz="11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7F9"/>
        </a:solidFill>
        <a:effectLst/>
      </p:bgPr>
    </p:bg>
    <p:spTree>
      <p:nvGrpSpPr>
        <p:cNvPr id="1" name=""/>
        <p:cNvGrpSpPr/>
        <p:nvPr/>
      </p:nvGrpSpPr>
      <p:grpSpPr>
        <a:xfrm>
          <a:off x="0" y="0"/>
          <a:ext cx="0" cy="0"/>
          <a:chOff x="0" y="0"/>
          <a:chExt cx="0" cy="0"/>
        </a:xfrm>
      </p:grpSpPr>
      <p:sp>
        <p:nvSpPr>
          <p:cNvPr id="2" name="Text 0"/>
          <p:cNvSpPr/>
          <p:nvPr/>
        </p:nvSpPr>
        <p:spPr>
          <a:xfrm>
            <a:off x="923925" y="697349"/>
            <a:ext cx="14709913" cy="895583"/>
          </a:xfrm>
          <a:prstGeom prst="rect">
            <a:avLst/>
          </a:prstGeom>
          <a:noFill/>
          <a:ln/>
        </p:spPr>
        <p:txBody>
          <a:bodyPr wrap="square" lIns="25400" tIns="25400" rIns="25400" bIns="25400" rtlCol="0" anchor="ctr">
            <a:noAutofit/>
          </a:bodyPr>
          <a:lstStyle/>
          <a:p>
            <a:pPr marL="0" indent="0" algn="l">
              <a:lnSpc>
                <a:spcPct val="100000"/>
              </a:lnSpc>
              <a:buNone/>
            </a:pPr>
            <a:r>
              <a:rPr lang="en-US" sz="3200" b="1" kern="0" spc="297" dirty="0">
                <a:solidFill>
                  <a:srgbClr val="0E83B0"/>
                </a:solidFill>
                <a:latin typeface="Public Sans" pitchFamily="34" charset="0"/>
                <a:ea typeface="Public Sans" pitchFamily="34" charset="-122"/>
                <a:cs typeface="Public Sans" pitchFamily="34" charset="-120"/>
              </a:rPr>
              <a:t>Ontology · WHY NOW</a:t>
            </a:r>
            <a:endParaRPr lang="en-US" sz="3200" dirty="0"/>
          </a:p>
        </p:txBody>
      </p:sp>
      <p:sp>
        <p:nvSpPr>
          <p:cNvPr id="3" name="Text 1"/>
          <p:cNvSpPr/>
          <p:nvPr/>
        </p:nvSpPr>
        <p:spPr>
          <a:xfrm>
            <a:off x="841678" y="1454295"/>
            <a:ext cx="16149849" cy="943969"/>
          </a:xfrm>
          <a:prstGeom prst="rect">
            <a:avLst/>
          </a:prstGeom>
          <a:noFill/>
          <a:ln/>
        </p:spPr>
        <p:txBody>
          <a:bodyPr wrap="square" lIns="25400" tIns="25400" rIns="25400" bIns="25400" rtlCol="0" anchor="t">
            <a:normAutofit/>
          </a:bodyPr>
          <a:lstStyle/>
          <a:p>
            <a:pPr marL="0" indent="0" algn="l">
              <a:lnSpc>
                <a:spcPct val="104000"/>
              </a:lnSpc>
              <a:buNone/>
            </a:pPr>
            <a:r>
              <a:rPr lang="en-US" sz="4650" b="1" kern="0" spc="-46" dirty="0">
                <a:solidFill>
                  <a:srgbClr val="004F71"/>
                </a:solidFill>
                <a:latin typeface="Source Serif 4" pitchFamily="34" charset="0"/>
                <a:ea typeface="Source Serif 4" pitchFamily="34" charset="-122"/>
                <a:cs typeface="Source Serif 4" pitchFamily="34" charset="-120"/>
              </a:rPr>
              <a:t>BOC strategic decision: AI is moving from answering to acting.</a:t>
            </a:r>
            <a:endParaRPr lang="en-US" sz="4650" dirty="0"/>
          </a:p>
        </p:txBody>
      </p:sp>
      <p:sp>
        <p:nvSpPr>
          <p:cNvPr id="4" name="Text 2"/>
          <p:cNvSpPr/>
          <p:nvPr/>
        </p:nvSpPr>
        <p:spPr>
          <a:xfrm>
            <a:off x="841679" y="3135898"/>
            <a:ext cx="16149849" cy="1156811"/>
          </a:xfrm>
          <a:prstGeom prst="rect">
            <a:avLst/>
          </a:prstGeom>
          <a:noFill/>
          <a:ln/>
        </p:spPr>
        <p:txBody>
          <a:bodyPr wrap="square" lIns="25400" tIns="25400" rIns="25400" bIns="25400" rtlCol="0" anchor="t">
            <a:normAutofit/>
          </a:bodyPr>
          <a:lstStyle/>
          <a:p>
            <a:pPr marL="0" indent="0" algn="l">
              <a:lnSpc>
                <a:spcPct val="145000"/>
              </a:lnSpc>
              <a:buNone/>
            </a:pPr>
            <a:r>
              <a:rPr lang="en-US" sz="2025" b="1" dirty="0">
                <a:solidFill>
                  <a:srgbClr val="46596A"/>
                </a:solidFill>
                <a:latin typeface="Public Sans" pitchFamily="34" charset="0"/>
                <a:ea typeface="Public Sans" pitchFamily="34" charset="-122"/>
                <a:cs typeface="Public Sans" pitchFamily="34" charset="-120"/>
              </a:rPr>
              <a:t>An assistant that summarises a policy can tolerate ambiguity. </a:t>
            </a:r>
          </a:p>
          <a:p>
            <a:pPr marL="0" indent="0" algn="l">
              <a:lnSpc>
                <a:spcPct val="145000"/>
              </a:lnSpc>
              <a:buNone/>
            </a:pPr>
            <a:r>
              <a:rPr lang="en-US" sz="2025" b="1" dirty="0">
                <a:solidFill>
                  <a:srgbClr val="46596A"/>
                </a:solidFill>
                <a:latin typeface="Public Sans" pitchFamily="34" charset="0"/>
                <a:ea typeface="Public Sans" pitchFamily="34" charset="-122"/>
                <a:cs typeface="Public Sans" pitchFamily="34" charset="-120"/>
              </a:rPr>
              <a:t>An agent that approves a transaction or updates a record cannot —&gt; it must interpret concepts, authority, and constraints with precision.</a:t>
            </a:r>
            <a:endParaRPr lang="en-US" sz="2025" b="1" dirty="0"/>
          </a:p>
        </p:txBody>
      </p:sp>
      <p:grpSp>
        <p:nvGrpSpPr>
          <p:cNvPr id="26" name="Group 25">
            <a:extLst>
              <a:ext uri="{FF2B5EF4-FFF2-40B4-BE49-F238E27FC236}">
                <a16:creationId xmlns:a16="http://schemas.microsoft.com/office/drawing/2014/main" id="{283F659E-8E8C-104B-971A-DC29104076CA}"/>
              </a:ext>
            </a:extLst>
          </p:cNvPr>
          <p:cNvGrpSpPr/>
          <p:nvPr/>
        </p:nvGrpSpPr>
        <p:grpSpPr>
          <a:xfrm>
            <a:off x="11462266" y="4742155"/>
            <a:ext cx="5987534" cy="2378929"/>
            <a:chOff x="11003994" y="4660656"/>
            <a:chExt cx="5987534" cy="2378929"/>
          </a:xfrm>
        </p:grpSpPr>
        <p:sp>
          <p:nvSpPr>
            <p:cNvPr id="19" name="Shape 17"/>
            <p:cNvSpPr/>
            <p:nvPr/>
          </p:nvSpPr>
          <p:spPr>
            <a:xfrm>
              <a:off x="11003994" y="4660656"/>
              <a:ext cx="5987534" cy="2378929"/>
            </a:xfrm>
            <a:prstGeom prst="rect">
              <a:avLst/>
            </a:prstGeom>
            <a:solidFill>
              <a:srgbClr val="004F71"/>
            </a:solidFill>
            <a:ln/>
          </p:spPr>
          <p:txBody>
            <a:bodyPr/>
            <a:lstStyle/>
            <a:p>
              <a:endParaRPr lang="en-CA"/>
            </a:p>
          </p:txBody>
        </p:sp>
        <p:sp>
          <p:nvSpPr>
            <p:cNvPr id="20" name="Text 18"/>
            <p:cNvSpPr/>
            <p:nvPr/>
          </p:nvSpPr>
          <p:spPr>
            <a:xfrm>
              <a:off x="11291349" y="4846432"/>
              <a:ext cx="5241908" cy="521277"/>
            </a:xfrm>
            <a:prstGeom prst="rect">
              <a:avLst/>
            </a:prstGeom>
            <a:noFill/>
            <a:ln/>
          </p:spPr>
          <p:txBody>
            <a:bodyPr wrap="square" lIns="25400" tIns="25400" rIns="25400" bIns="25400" rtlCol="0" anchor="t">
              <a:normAutofit/>
            </a:bodyPr>
            <a:lstStyle/>
            <a:p>
              <a:pPr marL="0" indent="0" algn="l">
                <a:lnSpc>
                  <a:spcPct val="100000"/>
                </a:lnSpc>
                <a:buNone/>
              </a:pPr>
              <a:r>
                <a:rPr lang="en-US" sz="2400" b="1" kern="0" spc="180" dirty="0">
                  <a:solidFill>
                    <a:srgbClr val="8FD4F0"/>
                  </a:solidFill>
                  <a:latin typeface="Public Sans" pitchFamily="34" charset="0"/>
                  <a:ea typeface="Public Sans" pitchFamily="34" charset="-122"/>
                  <a:cs typeface="Public Sans" pitchFamily="34" charset="-120"/>
                </a:rPr>
                <a:t>THE NEW RISK: Semantic Errors</a:t>
              </a:r>
              <a:endParaRPr lang="en-US" sz="2400" dirty="0"/>
            </a:p>
          </p:txBody>
        </p:sp>
        <p:sp>
          <p:nvSpPr>
            <p:cNvPr id="21" name="Text 19"/>
            <p:cNvSpPr/>
            <p:nvPr/>
          </p:nvSpPr>
          <p:spPr>
            <a:xfrm>
              <a:off x="11214721" y="5629461"/>
              <a:ext cx="5724939" cy="1238475"/>
            </a:xfrm>
            <a:prstGeom prst="rect">
              <a:avLst/>
            </a:prstGeom>
            <a:noFill/>
            <a:ln/>
          </p:spPr>
          <p:txBody>
            <a:bodyPr wrap="square" lIns="25400" tIns="25400" rIns="25400" bIns="25400" rtlCol="0" anchor="t">
              <a:normAutofit/>
            </a:bodyPr>
            <a:lstStyle/>
            <a:p>
              <a:pPr marL="0" indent="0" algn="l">
                <a:lnSpc>
                  <a:spcPct val="142000"/>
                </a:lnSpc>
                <a:buNone/>
              </a:pPr>
              <a:r>
                <a:rPr lang="en-US" sz="2000" dirty="0">
                  <a:solidFill>
                    <a:srgbClr val="DCEFF6"/>
                  </a:solidFill>
                  <a:latin typeface="Public Sans" pitchFamily="34" charset="0"/>
                  <a:ea typeface="Public Sans" pitchFamily="34" charset="-122"/>
                  <a:cs typeface="Public Sans" pitchFamily="34" charset="-120"/>
                </a:rPr>
                <a:t>Existing controls govern identity, access and network. </a:t>
              </a:r>
            </a:p>
            <a:p>
              <a:pPr marL="0" indent="0" algn="l">
                <a:lnSpc>
                  <a:spcPct val="142000"/>
                </a:lnSpc>
                <a:buNone/>
              </a:pPr>
              <a:r>
                <a:rPr lang="en-US" sz="2000" b="1" dirty="0">
                  <a:solidFill>
                    <a:srgbClr val="FFFFFF"/>
                  </a:solidFill>
                  <a:latin typeface="Public Sans" pitchFamily="34" charset="0"/>
                  <a:ea typeface="Public Sans" pitchFamily="34" charset="-122"/>
                  <a:cs typeface="Public Sans" pitchFamily="34" charset="-120"/>
                </a:rPr>
                <a:t>None of them governs meaning.</a:t>
              </a:r>
              <a:endParaRPr lang="en-US" sz="2000" dirty="0"/>
            </a:p>
          </p:txBody>
        </p:sp>
      </p:grpSp>
      <p:grpSp>
        <p:nvGrpSpPr>
          <p:cNvPr id="25" name="Group 24">
            <a:extLst>
              <a:ext uri="{FF2B5EF4-FFF2-40B4-BE49-F238E27FC236}">
                <a16:creationId xmlns:a16="http://schemas.microsoft.com/office/drawing/2014/main" id="{80E4469F-EC64-149B-5024-534CF68285DA}"/>
              </a:ext>
            </a:extLst>
          </p:cNvPr>
          <p:cNvGrpSpPr/>
          <p:nvPr/>
        </p:nvGrpSpPr>
        <p:grpSpPr>
          <a:xfrm>
            <a:off x="520498" y="4742155"/>
            <a:ext cx="9644727" cy="3211815"/>
            <a:chOff x="826186" y="4742155"/>
            <a:chExt cx="9644727" cy="3211815"/>
          </a:xfrm>
        </p:grpSpPr>
        <p:sp>
          <p:nvSpPr>
            <p:cNvPr id="5" name="Shape 3"/>
            <p:cNvSpPr/>
            <p:nvPr/>
          </p:nvSpPr>
          <p:spPr>
            <a:xfrm>
              <a:off x="826187" y="4742155"/>
              <a:ext cx="4313588" cy="2342818"/>
            </a:xfrm>
            <a:prstGeom prst="rect">
              <a:avLst/>
            </a:prstGeom>
            <a:solidFill>
              <a:srgbClr val="FFFFFF"/>
            </a:solidFill>
            <a:ln/>
          </p:spPr>
          <p:txBody>
            <a:bodyPr/>
            <a:lstStyle/>
            <a:p>
              <a:endParaRPr lang="en-CA"/>
            </a:p>
          </p:txBody>
        </p:sp>
        <p:sp>
          <p:nvSpPr>
            <p:cNvPr id="6" name="Shape 4"/>
            <p:cNvSpPr/>
            <p:nvPr/>
          </p:nvSpPr>
          <p:spPr>
            <a:xfrm>
              <a:off x="826187" y="7084973"/>
              <a:ext cx="4275492" cy="45719"/>
            </a:xfrm>
            <a:prstGeom prst="rect">
              <a:avLst/>
            </a:prstGeom>
            <a:solidFill>
              <a:srgbClr val="D7E3E8"/>
            </a:solidFill>
            <a:ln/>
          </p:spPr>
          <p:txBody>
            <a:bodyPr/>
            <a:lstStyle/>
            <a:p>
              <a:endParaRPr lang="en-CA"/>
            </a:p>
          </p:txBody>
        </p:sp>
        <p:sp>
          <p:nvSpPr>
            <p:cNvPr id="7" name="Shape 5"/>
            <p:cNvSpPr/>
            <p:nvPr/>
          </p:nvSpPr>
          <p:spPr>
            <a:xfrm>
              <a:off x="826186" y="4742155"/>
              <a:ext cx="4332637" cy="57148"/>
            </a:xfrm>
            <a:prstGeom prst="rect">
              <a:avLst/>
            </a:prstGeom>
            <a:solidFill>
              <a:srgbClr val="004F71"/>
            </a:solidFill>
            <a:ln/>
          </p:spPr>
          <p:txBody>
            <a:bodyPr/>
            <a:lstStyle/>
            <a:p>
              <a:endParaRPr lang="en-CA"/>
            </a:p>
          </p:txBody>
        </p:sp>
        <p:sp>
          <p:nvSpPr>
            <p:cNvPr id="8" name="Shape 6"/>
            <p:cNvSpPr/>
            <p:nvPr/>
          </p:nvSpPr>
          <p:spPr>
            <a:xfrm>
              <a:off x="826186" y="4742155"/>
              <a:ext cx="9525" cy="2297430"/>
            </a:xfrm>
            <a:prstGeom prst="rect">
              <a:avLst/>
            </a:prstGeom>
            <a:solidFill>
              <a:srgbClr val="D7E3E8"/>
            </a:solidFill>
            <a:ln/>
          </p:spPr>
          <p:txBody>
            <a:bodyPr/>
            <a:lstStyle/>
            <a:p>
              <a:endParaRPr lang="en-CA"/>
            </a:p>
          </p:txBody>
        </p:sp>
        <p:sp>
          <p:nvSpPr>
            <p:cNvPr id="10" name="Text 8"/>
            <p:cNvSpPr/>
            <p:nvPr/>
          </p:nvSpPr>
          <p:spPr>
            <a:xfrm>
              <a:off x="1195756" y="5104105"/>
              <a:ext cx="3777536" cy="6286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650" b="1" dirty="0">
                  <a:solidFill>
                    <a:srgbClr val="004F71"/>
                  </a:solidFill>
                  <a:latin typeface="Source Serif 4" pitchFamily="34" charset="0"/>
                  <a:ea typeface="Source Serif 4" pitchFamily="34" charset="-122"/>
                  <a:cs typeface="Source Serif 4" pitchFamily="34" charset="-120"/>
                </a:rPr>
                <a:t>15%</a:t>
              </a:r>
              <a:endParaRPr lang="en-US" sz="4650" dirty="0"/>
            </a:p>
          </p:txBody>
        </p:sp>
        <p:sp>
          <p:nvSpPr>
            <p:cNvPr id="11" name="Text 9"/>
            <p:cNvSpPr/>
            <p:nvPr/>
          </p:nvSpPr>
          <p:spPr>
            <a:xfrm>
              <a:off x="1069932" y="5958958"/>
              <a:ext cx="4088891" cy="768205"/>
            </a:xfrm>
            <a:prstGeom prst="rect">
              <a:avLst/>
            </a:prstGeom>
            <a:noFill/>
            <a:ln/>
          </p:spPr>
          <p:txBody>
            <a:bodyPr wrap="square" lIns="25400" tIns="25400" rIns="25400" bIns="25400" rtlCol="0" anchor="t">
              <a:normAutofit/>
            </a:bodyPr>
            <a:lstStyle/>
            <a:p>
              <a:pPr marL="0" indent="0" algn="l">
                <a:buNone/>
              </a:pPr>
              <a:r>
                <a:rPr lang="en-US" sz="2000" dirty="0">
                  <a:solidFill>
                    <a:srgbClr val="46596A"/>
                  </a:solidFill>
                  <a:latin typeface="Public Sans" pitchFamily="34" charset="0"/>
                  <a:ea typeface="Public Sans" pitchFamily="34" charset="-122"/>
                  <a:cs typeface="Public Sans" pitchFamily="34" charset="-120"/>
                </a:rPr>
                <a:t>of day-to-day work decisions made </a:t>
              </a:r>
              <a:r>
                <a:rPr lang="en-US" sz="2000" b="1" dirty="0">
                  <a:solidFill>
                    <a:srgbClr val="013E58"/>
                  </a:solidFill>
                  <a:latin typeface="Public Sans" pitchFamily="34" charset="0"/>
                  <a:ea typeface="Public Sans" pitchFamily="34" charset="-122"/>
                  <a:cs typeface="Public Sans" pitchFamily="34" charset="-120"/>
                </a:rPr>
                <a:t>autonomously by AI agents by 2028</a:t>
              </a:r>
              <a:r>
                <a:rPr lang="en-US" sz="2000" dirty="0">
                  <a:solidFill>
                    <a:srgbClr val="46596A"/>
                  </a:solidFill>
                  <a:latin typeface="Public Sans" pitchFamily="34" charset="0"/>
                  <a:ea typeface="Public Sans" pitchFamily="34" charset="-122"/>
                  <a:cs typeface="Public Sans" pitchFamily="34" charset="-120"/>
                </a:rPr>
                <a:t>.</a:t>
              </a:r>
              <a:endParaRPr lang="en-US" sz="2000" dirty="0"/>
            </a:p>
          </p:txBody>
        </p:sp>
        <p:sp>
          <p:nvSpPr>
            <p:cNvPr id="12" name="Shape 10"/>
            <p:cNvSpPr/>
            <p:nvPr/>
          </p:nvSpPr>
          <p:spPr>
            <a:xfrm>
              <a:off x="5323812" y="4753996"/>
              <a:ext cx="5122628" cy="2342818"/>
            </a:xfrm>
            <a:prstGeom prst="rect">
              <a:avLst/>
            </a:prstGeom>
            <a:solidFill>
              <a:srgbClr val="FFFFFF"/>
            </a:solidFill>
            <a:ln/>
          </p:spPr>
          <p:txBody>
            <a:bodyPr/>
            <a:lstStyle/>
            <a:p>
              <a:endParaRPr lang="en-CA"/>
            </a:p>
          </p:txBody>
        </p:sp>
        <p:sp>
          <p:nvSpPr>
            <p:cNvPr id="13" name="Shape 11"/>
            <p:cNvSpPr/>
            <p:nvPr/>
          </p:nvSpPr>
          <p:spPr>
            <a:xfrm>
              <a:off x="5333337" y="7098225"/>
              <a:ext cx="5113103" cy="45719"/>
            </a:xfrm>
            <a:prstGeom prst="rect">
              <a:avLst/>
            </a:prstGeom>
            <a:solidFill>
              <a:srgbClr val="D7E3E8"/>
            </a:solidFill>
            <a:ln/>
          </p:spPr>
          <p:txBody>
            <a:bodyPr/>
            <a:lstStyle/>
            <a:p>
              <a:endParaRPr lang="en-CA"/>
            </a:p>
          </p:txBody>
        </p:sp>
        <p:sp>
          <p:nvSpPr>
            <p:cNvPr id="14" name="Shape 12"/>
            <p:cNvSpPr/>
            <p:nvPr/>
          </p:nvSpPr>
          <p:spPr>
            <a:xfrm>
              <a:off x="5333337" y="4742155"/>
              <a:ext cx="5113103" cy="57148"/>
            </a:xfrm>
            <a:prstGeom prst="rect">
              <a:avLst/>
            </a:prstGeom>
            <a:solidFill>
              <a:srgbClr val="0E83B0"/>
            </a:solidFill>
            <a:ln/>
          </p:spPr>
          <p:txBody>
            <a:bodyPr/>
            <a:lstStyle/>
            <a:p>
              <a:endParaRPr lang="en-CA"/>
            </a:p>
          </p:txBody>
        </p:sp>
        <p:sp>
          <p:nvSpPr>
            <p:cNvPr id="15" name="Shape 13"/>
            <p:cNvSpPr/>
            <p:nvPr/>
          </p:nvSpPr>
          <p:spPr>
            <a:xfrm>
              <a:off x="5333337" y="4742155"/>
              <a:ext cx="9525" cy="2297430"/>
            </a:xfrm>
            <a:prstGeom prst="rect">
              <a:avLst/>
            </a:prstGeom>
            <a:solidFill>
              <a:srgbClr val="D7E3E8"/>
            </a:solidFill>
            <a:ln/>
          </p:spPr>
          <p:txBody>
            <a:bodyPr/>
            <a:lstStyle/>
            <a:p>
              <a:endParaRPr lang="en-CA"/>
            </a:p>
          </p:txBody>
        </p:sp>
        <p:sp>
          <p:nvSpPr>
            <p:cNvPr id="16" name="Shape 14"/>
            <p:cNvSpPr/>
            <p:nvPr/>
          </p:nvSpPr>
          <p:spPr>
            <a:xfrm>
              <a:off x="10461388" y="4742155"/>
              <a:ext cx="9525" cy="2297430"/>
            </a:xfrm>
            <a:prstGeom prst="rect">
              <a:avLst/>
            </a:prstGeom>
            <a:solidFill>
              <a:srgbClr val="D7E3E8"/>
            </a:solidFill>
            <a:ln/>
          </p:spPr>
          <p:txBody>
            <a:bodyPr/>
            <a:lstStyle/>
            <a:p>
              <a:endParaRPr lang="en-CA"/>
            </a:p>
          </p:txBody>
        </p:sp>
        <p:sp>
          <p:nvSpPr>
            <p:cNvPr id="17" name="Text 15"/>
            <p:cNvSpPr/>
            <p:nvPr/>
          </p:nvSpPr>
          <p:spPr>
            <a:xfrm>
              <a:off x="5702907" y="5104105"/>
              <a:ext cx="4632103" cy="628650"/>
            </a:xfrm>
            <a:prstGeom prst="rect">
              <a:avLst/>
            </a:prstGeom>
            <a:noFill/>
            <a:ln/>
          </p:spPr>
          <p:txBody>
            <a:bodyPr wrap="square" lIns="25400" tIns="25400" rIns="25400" bIns="25400" rtlCol="0" anchor="t">
              <a:normAutofit fontScale="92500" lnSpcReduction="20000"/>
            </a:bodyPr>
            <a:lstStyle/>
            <a:p>
              <a:pPr marL="0" indent="0" algn="l">
                <a:lnSpc>
                  <a:spcPct val="100000"/>
                </a:lnSpc>
                <a:buNone/>
              </a:pPr>
              <a:r>
                <a:rPr lang="en-US" sz="4650" b="1" dirty="0">
                  <a:solidFill>
                    <a:srgbClr val="0E83B0"/>
                  </a:solidFill>
                  <a:latin typeface="Source Serif 4" pitchFamily="34" charset="0"/>
                  <a:ea typeface="Source Serif 4" pitchFamily="34" charset="-122"/>
                  <a:cs typeface="Source Serif 4" pitchFamily="34" charset="-120"/>
                </a:rPr>
                <a:t>40%+</a:t>
              </a:r>
              <a:endParaRPr lang="en-US" sz="4650" dirty="0"/>
            </a:p>
          </p:txBody>
        </p:sp>
        <p:sp>
          <p:nvSpPr>
            <p:cNvPr id="18" name="Text 16"/>
            <p:cNvSpPr/>
            <p:nvPr/>
          </p:nvSpPr>
          <p:spPr>
            <a:xfrm>
              <a:off x="5549504" y="5958957"/>
              <a:ext cx="4785506" cy="863135"/>
            </a:xfrm>
            <a:prstGeom prst="rect">
              <a:avLst/>
            </a:prstGeom>
            <a:noFill/>
            <a:ln/>
          </p:spPr>
          <p:txBody>
            <a:bodyPr wrap="square" lIns="25400" tIns="25400" rIns="25400" bIns="25400" rtlCol="0" anchor="t">
              <a:normAutofit/>
            </a:bodyPr>
            <a:lstStyle/>
            <a:p>
              <a:r>
                <a:rPr lang="en-US" sz="2000" dirty="0">
                  <a:solidFill>
                    <a:srgbClr val="46596A"/>
                  </a:solidFill>
                  <a:latin typeface="Public Sans" pitchFamily="34" charset="0"/>
                  <a:ea typeface="Public Sans" pitchFamily="34" charset="-122"/>
                </a:rPr>
                <a:t>of </a:t>
              </a:r>
              <a:r>
                <a:rPr lang="en-US" sz="2000" b="1" dirty="0">
                  <a:solidFill>
                    <a:srgbClr val="46596A"/>
                  </a:solidFill>
                  <a:latin typeface="Public Sans" pitchFamily="34" charset="0"/>
                  <a:ea typeface="Public Sans" pitchFamily="34" charset="-122"/>
                </a:rPr>
                <a:t>agentic AI projects cancelled by 2028</a:t>
              </a:r>
            </a:p>
            <a:p>
              <a:r>
                <a:rPr lang="en-US" sz="2000" dirty="0">
                  <a:solidFill>
                    <a:srgbClr val="46596A"/>
                  </a:solidFill>
                  <a:latin typeface="Public Sans" pitchFamily="34" charset="0"/>
                  <a:ea typeface="Public Sans" pitchFamily="34" charset="-122"/>
                </a:rPr>
                <a:t>moving from assisted to autonomous is hard.</a:t>
              </a:r>
            </a:p>
          </p:txBody>
        </p:sp>
        <p:sp>
          <p:nvSpPr>
            <p:cNvPr id="22" name="Text 20"/>
            <p:cNvSpPr/>
            <p:nvPr/>
          </p:nvSpPr>
          <p:spPr>
            <a:xfrm>
              <a:off x="914400" y="7537581"/>
              <a:ext cx="2027583" cy="416389"/>
            </a:xfrm>
            <a:prstGeom prst="rect">
              <a:avLst/>
            </a:prstGeom>
            <a:noFill/>
            <a:ln/>
          </p:spPr>
          <p:txBody>
            <a:bodyPr wrap="square" lIns="25400" tIns="25400" rIns="25400" bIns="25400" rtlCol="0" anchor="t">
              <a:normAutofit/>
            </a:bodyPr>
            <a:lstStyle/>
            <a:p>
              <a:pPr marL="0" indent="0" algn="l">
                <a:lnSpc>
                  <a:spcPct val="100000"/>
                </a:lnSpc>
                <a:buNone/>
              </a:pPr>
              <a:r>
                <a:rPr lang="en-US" sz="1275" dirty="0">
                  <a:solidFill>
                    <a:srgbClr val="7C95A3"/>
                  </a:solidFill>
                  <a:latin typeface="Public Sans" pitchFamily="34" charset="0"/>
                  <a:ea typeface="Public Sans" pitchFamily="34" charset="-122"/>
                  <a:cs typeface="Public Sans" pitchFamily="34" charset="-120"/>
                </a:rPr>
                <a:t>Source: Gartner, June 2025.</a:t>
              </a:r>
              <a:endParaRPr lang="en-US" sz="1275" dirty="0"/>
            </a:p>
          </p:txBody>
        </p:sp>
      </p:grpSp>
      <p:sp>
        <p:nvSpPr>
          <p:cNvPr id="23" name="Text 21"/>
          <p:cNvSpPr/>
          <p:nvPr/>
        </p:nvSpPr>
        <p:spPr>
          <a:xfrm>
            <a:off x="914400" y="9715500"/>
            <a:ext cx="3498045" cy="171450"/>
          </a:xfrm>
          <a:prstGeom prst="rect">
            <a:avLst/>
          </a:prstGeom>
          <a:noFill/>
          <a:ln/>
        </p:spPr>
        <p:txBody>
          <a:bodyPr wrap="square" lIns="25400" tIns="25400" rIns="25400" bIns="25400" rtlCol="0" anchor="t">
            <a:normAutofit fontScale="85000" lnSpcReduction="20000"/>
          </a:bodyPr>
          <a:lstStyle/>
          <a:p>
            <a:pPr marL="0" indent="0" algn="l">
              <a:lnSpc>
                <a:spcPct val="100000"/>
              </a:lnSpc>
              <a:buNone/>
            </a:pPr>
            <a:r>
              <a:rPr lang="en-US" sz="1050" b="1" kern="0" spc="126" dirty="0">
                <a:solidFill>
                  <a:srgbClr val="9DB6C2"/>
                </a:solidFill>
                <a:latin typeface="Public Sans" pitchFamily="34" charset="0"/>
                <a:ea typeface="Public Sans" pitchFamily="34" charset="-122"/>
                <a:cs typeface="Public Sans" pitchFamily="34" charset="-120"/>
              </a:rPr>
              <a:t>AI ONTOLOGY READINESS ASSESSMENT</a:t>
            </a:r>
            <a:endParaRPr lang="en-US" sz="1050" dirty="0"/>
          </a:p>
        </p:txBody>
      </p:sp>
      <p:sp>
        <p:nvSpPr>
          <p:cNvPr id="27" name="Arrow: Right 26">
            <a:extLst>
              <a:ext uri="{FF2B5EF4-FFF2-40B4-BE49-F238E27FC236}">
                <a16:creationId xmlns:a16="http://schemas.microsoft.com/office/drawing/2014/main" id="{981F631B-0CC3-2647-0068-F07B7D2B9F16}"/>
              </a:ext>
            </a:extLst>
          </p:cNvPr>
          <p:cNvSpPr/>
          <p:nvPr/>
        </p:nvSpPr>
        <p:spPr>
          <a:xfrm>
            <a:off x="10312305" y="5449208"/>
            <a:ext cx="978408" cy="746384"/>
          </a:xfrm>
          <a:prstGeom prst="rightArrow">
            <a:avLst>
              <a:gd name="adj1" fmla="val 50000"/>
              <a:gd name="adj2" fmla="val 41122"/>
            </a:avLst>
          </a:prstGeom>
          <a:solidFill>
            <a:srgbClr val="004F7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28" name="Shape 2">
            <a:extLst>
              <a:ext uri="{FF2B5EF4-FFF2-40B4-BE49-F238E27FC236}">
                <a16:creationId xmlns:a16="http://schemas.microsoft.com/office/drawing/2014/main" id="{AEB5F934-E327-4AF9-9024-0C09A06E4C89}"/>
              </a:ext>
            </a:extLst>
          </p:cNvPr>
          <p:cNvSpPr/>
          <p:nvPr/>
        </p:nvSpPr>
        <p:spPr>
          <a:xfrm>
            <a:off x="841679" y="2349878"/>
            <a:ext cx="16459200" cy="9525"/>
          </a:xfrm>
          <a:prstGeom prst="rect">
            <a:avLst/>
          </a:prstGeom>
          <a:solidFill>
            <a:srgbClr val="D7E3E8"/>
          </a:solidFill>
          <a:ln/>
        </p:spPr>
        <p:txBody>
          <a:bodyPr/>
          <a:lstStyle/>
          <a:p>
            <a:endParaRPr lang="en-CA"/>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7F9"/>
        </a:solidFill>
        <a:effectLst/>
      </p:bgPr>
    </p:bg>
    <p:spTree>
      <p:nvGrpSpPr>
        <p:cNvPr id="1" name=""/>
        <p:cNvGrpSpPr/>
        <p:nvPr/>
      </p:nvGrpSpPr>
      <p:grpSpPr>
        <a:xfrm>
          <a:off x="0" y="0"/>
          <a:ext cx="0" cy="0"/>
          <a:chOff x="0" y="0"/>
          <a:chExt cx="0" cy="0"/>
        </a:xfrm>
      </p:grpSpPr>
      <p:sp>
        <p:nvSpPr>
          <p:cNvPr id="2" name="Text 0"/>
          <p:cNvSpPr/>
          <p:nvPr/>
        </p:nvSpPr>
        <p:spPr>
          <a:xfrm>
            <a:off x="669727" y="481012"/>
            <a:ext cx="15100360" cy="557026"/>
          </a:xfrm>
          <a:prstGeom prst="rect">
            <a:avLst/>
          </a:prstGeom>
          <a:noFill/>
          <a:ln/>
        </p:spPr>
        <p:txBody>
          <a:bodyPr wrap="square" lIns="25400" tIns="25400" rIns="25400" bIns="25400" rtlCol="0" anchor="ctr">
            <a:normAutofit/>
          </a:bodyPr>
          <a:lstStyle/>
          <a:p>
            <a:pPr marL="0" indent="0" algn="l">
              <a:lnSpc>
                <a:spcPct val="100000"/>
              </a:lnSpc>
              <a:buNone/>
            </a:pPr>
            <a:r>
              <a:rPr lang="en-US" sz="3200" b="1" kern="0" spc="297" dirty="0">
                <a:solidFill>
                  <a:srgbClr val="0E83B0"/>
                </a:solidFill>
                <a:latin typeface="Public Sans" pitchFamily="34" charset="0"/>
                <a:ea typeface="Public Sans" pitchFamily="34" charset="-122"/>
                <a:cs typeface="Public Sans" pitchFamily="34" charset="-120"/>
              </a:rPr>
              <a:t>THE ONTOLOGY CAPABILITY ROLE</a:t>
            </a:r>
            <a:endParaRPr lang="en-US" sz="3200" dirty="0"/>
          </a:p>
        </p:txBody>
      </p:sp>
      <p:sp>
        <p:nvSpPr>
          <p:cNvPr id="3" name="Text 1"/>
          <p:cNvSpPr/>
          <p:nvPr/>
        </p:nvSpPr>
        <p:spPr>
          <a:xfrm>
            <a:off x="669727" y="1323788"/>
            <a:ext cx="15304770" cy="1107758"/>
          </a:xfrm>
          <a:prstGeom prst="rect">
            <a:avLst/>
          </a:prstGeom>
          <a:noFill/>
          <a:ln/>
        </p:spPr>
        <p:txBody>
          <a:bodyPr wrap="square" lIns="25400" tIns="25400" rIns="25400" bIns="25400" rtlCol="0" anchor="t">
            <a:normAutofit/>
          </a:bodyPr>
          <a:lstStyle/>
          <a:p>
            <a:pPr marL="0" indent="0" algn="l">
              <a:lnSpc>
                <a:spcPct val="104000"/>
              </a:lnSpc>
              <a:buNone/>
            </a:pPr>
            <a:r>
              <a:rPr lang="en-US" sz="3200" b="1" kern="0" spc="-40" dirty="0">
                <a:solidFill>
                  <a:srgbClr val="004F71"/>
                </a:solidFill>
                <a:latin typeface="Source Serif 4" pitchFamily="34" charset="0"/>
                <a:ea typeface="Source Serif 4" pitchFamily="34" charset="-122"/>
                <a:cs typeface="Source Serif 4" pitchFamily="34" charset="-120"/>
              </a:rPr>
              <a:t>The ontology doesn't decide. It makes the agent's reasoning inspectable, so a human stays accountable.</a:t>
            </a:r>
            <a:endParaRPr lang="en-US" sz="3200" dirty="0"/>
          </a:p>
        </p:txBody>
      </p:sp>
      <p:sp>
        <p:nvSpPr>
          <p:cNvPr id="4" name="Shape 2"/>
          <p:cNvSpPr/>
          <p:nvPr/>
        </p:nvSpPr>
        <p:spPr>
          <a:xfrm>
            <a:off x="741337" y="3502275"/>
            <a:ext cx="8067675" cy="2133072"/>
          </a:xfrm>
          <a:prstGeom prst="rect">
            <a:avLst/>
          </a:prstGeom>
          <a:solidFill>
            <a:srgbClr val="FFFFFF"/>
          </a:solidFill>
          <a:ln w="28575">
            <a:solidFill>
              <a:srgbClr val="D7E3E8"/>
            </a:solidFill>
          </a:ln>
        </p:spPr>
        <p:txBody>
          <a:bodyPr/>
          <a:lstStyle/>
          <a:p>
            <a:endParaRPr lang="en-CA"/>
          </a:p>
        </p:txBody>
      </p:sp>
      <p:sp>
        <p:nvSpPr>
          <p:cNvPr id="7" name="Shape 5"/>
          <p:cNvSpPr/>
          <p:nvPr/>
        </p:nvSpPr>
        <p:spPr>
          <a:xfrm>
            <a:off x="718478" y="3464011"/>
            <a:ext cx="45719" cy="2164048"/>
          </a:xfrm>
          <a:prstGeom prst="rect">
            <a:avLst/>
          </a:prstGeom>
          <a:solidFill>
            <a:srgbClr val="0E83B0"/>
          </a:solidFill>
          <a:ln/>
        </p:spPr>
        <p:txBody>
          <a:bodyPr/>
          <a:lstStyle/>
          <a:p>
            <a:endParaRPr lang="en-CA"/>
          </a:p>
        </p:txBody>
      </p:sp>
      <p:sp>
        <p:nvSpPr>
          <p:cNvPr id="9" name="Text 7"/>
          <p:cNvSpPr/>
          <p:nvPr/>
        </p:nvSpPr>
        <p:spPr>
          <a:xfrm>
            <a:off x="1072807" y="3603043"/>
            <a:ext cx="4815509" cy="521970"/>
          </a:xfrm>
          <a:prstGeom prst="rect">
            <a:avLst/>
          </a:prstGeom>
          <a:noFill/>
          <a:ln/>
        </p:spPr>
        <p:txBody>
          <a:bodyPr wrap="square" lIns="25400" tIns="25400" rIns="25400" bIns="25400" rtlCol="0" anchor="t">
            <a:normAutofit/>
          </a:bodyPr>
          <a:lstStyle/>
          <a:p>
            <a:pPr marL="0" indent="0" algn="l">
              <a:lnSpc>
                <a:spcPct val="100000"/>
              </a:lnSpc>
              <a:buNone/>
            </a:pPr>
            <a:r>
              <a:rPr lang="en-US" sz="2000" b="1" kern="0" spc="147" dirty="0">
                <a:solidFill>
                  <a:srgbClr val="0E83B0"/>
                </a:solidFill>
                <a:latin typeface="Public Sans" pitchFamily="34" charset="0"/>
                <a:ea typeface="Public Sans" pitchFamily="34" charset="-122"/>
                <a:cs typeface="Public Sans" pitchFamily="34" charset="-120"/>
              </a:rPr>
              <a:t>WHAT IT IS</a:t>
            </a:r>
            <a:endParaRPr lang="en-US" sz="2000" dirty="0"/>
          </a:p>
        </p:txBody>
      </p:sp>
      <p:sp>
        <p:nvSpPr>
          <p:cNvPr id="10" name="Text 8"/>
          <p:cNvSpPr/>
          <p:nvPr/>
        </p:nvSpPr>
        <p:spPr>
          <a:xfrm>
            <a:off x="997054" y="4155802"/>
            <a:ext cx="7556240" cy="981075"/>
          </a:xfrm>
          <a:prstGeom prst="rect">
            <a:avLst/>
          </a:prstGeom>
          <a:noFill/>
          <a:ln/>
        </p:spPr>
        <p:txBody>
          <a:bodyPr wrap="square" lIns="25400" tIns="25400" rIns="25400" bIns="25400" rtlCol="0" anchor="t">
            <a:noAutofit/>
          </a:bodyPr>
          <a:lstStyle/>
          <a:p>
            <a:pPr marL="0" indent="0" algn="l">
              <a:buNone/>
            </a:pPr>
            <a:r>
              <a:rPr lang="en-US" dirty="0">
                <a:solidFill>
                  <a:srgbClr val="46596A"/>
                </a:solidFill>
                <a:latin typeface="Public Sans" pitchFamily="34" charset="0"/>
                <a:ea typeface="Public Sans" pitchFamily="34" charset="-122"/>
                <a:cs typeface="Public Sans" pitchFamily="34" charset="-120"/>
              </a:rPr>
              <a:t>A structured, inspectable representation of </a:t>
            </a:r>
            <a:r>
              <a:rPr lang="en-US" b="1" dirty="0">
                <a:solidFill>
                  <a:srgbClr val="013E58"/>
                </a:solidFill>
                <a:latin typeface="Public Sans" pitchFamily="34" charset="0"/>
                <a:ea typeface="Public Sans" pitchFamily="34" charset="-122"/>
                <a:cs typeface="Public Sans" pitchFamily="34" charset="-120"/>
              </a:rPr>
              <a:t>business meaning </a:t>
            </a:r>
            <a:r>
              <a:rPr lang="en-US" dirty="0">
                <a:solidFill>
                  <a:srgbClr val="46596A"/>
                </a:solidFill>
                <a:latin typeface="Public Sans" pitchFamily="34" charset="0"/>
                <a:ea typeface="Public Sans" pitchFamily="34" charset="-122"/>
                <a:cs typeface="Public Sans" pitchFamily="34" charset="-120"/>
              </a:rPr>
              <a:t>— for example, what a </a:t>
            </a:r>
            <a:r>
              <a:rPr lang="en-US" i="1" dirty="0">
                <a:solidFill>
                  <a:srgbClr val="013E58"/>
                </a:solidFill>
                <a:latin typeface="Public Sans" pitchFamily="34" charset="0"/>
                <a:ea typeface="Public Sans" pitchFamily="34" charset="-122"/>
                <a:cs typeface="Public Sans" pitchFamily="34" charset="-120"/>
              </a:rPr>
              <a:t>settlement instruction </a:t>
            </a:r>
            <a:r>
              <a:rPr lang="en-US" dirty="0">
                <a:solidFill>
                  <a:srgbClr val="46596A"/>
                </a:solidFill>
                <a:latin typeface="Public Sans" pitchFamily="34" charset="0"/>
                <a:ea typeface="Public Sans" pitchFamily="34" charset="-122"/>
                <a:cs typeface="Public Sans" pitchFamily="34" charset="-120"/>
              </a:rPr>
              <a:t>is, how it relates to processes, how those depend on services, and who holds approval authority.</a:t>
            </a:r>
            <a:endParaRPr lang="en-US" dirty="0"/>
          </a:p>
        </p:txBody>
      </p:sp>
      <p:sp>
        <p:nvSpPr>
          <p:cNvPr id="11" name="Shape 9"/>
          <p:cNvSpPr/>
          <p:nvPr/>
        </p:nvSpPr>
        <p:spPr>
          <a:xfrm>
            <a:off x="9224299" y="3494987"/>
            <a:ext cx="7976237" cy="2133072"/>
          </a:xfrm>
          <a:prstGeom prst="rect">
            <a:avLst/>
          </a:prstGeom>
          <a:solidFill>
            <a:srgbClr val="FFFFFF"/>
          </a:solidFill>
          <a:ln w="28575">
            <a:solidFill>
              <a:srgbClr val="D7E3E8"/>
            </a:solidFill>
          </a:ln>
        </p:spPr>
        <p:txBody>
          <a:bodyPr/>
          <a:lstStyle/>
          <a:p>
            <a:endParaRPr lang="en-CA"/>
          </a:p>
        </p:txBody>
      </p:sp>
      <p:sp>
        <p:nvSpPr>
          <p:cNvPr id="14" name="Shape 12"/>
          <p:cNvSpPr/>
          <p:nvPr/>
        </p:nvSpPr>
        <p:spPr>
          <a:xfrm flipH="1">
            <a:off x="9155721" y="3494987"/>
            <a:ext cx="45719" cy="2133071"/>
          </a:xfrm>
          <a:prstGeom prst="rect">
            <a:avLst/>
          </a:prstGeom>
          <a:solidFill>
            <a:srgbClr val="004F71"/>
          </a:solidFill>
          <a:ln/>
        </p:spPr>
        <p:txBody>
          <a:bodyPr/>
          <a:lstStyle/>
          <a:p>
            <a:endParaRPr lang="en-CA"/>
          </a:p>
        </p:txBody>
      </p:sp>
      <p:sp>
        <p:nvSpPr>
          <p:cNvPr id="16" name="Text 14"/>
          <p:cNvSpPr/>
          <p:nvPr/>
        </p:nvSpPr>
        <p:spPr>
          <a:xfrm>
            <a:off x="9498623" y="3561009"/>
            <a:ext cx="3525492" cy="469582"/>
          </a:xfrm>
          <a:prstGeom prst="rect">
            <a:avLst/>
          </a:prstGeom>
          <a:noFill/>
          <a:ln/>
        </p:spPr>
        <p:txBody>
          <a:bodyPr wrap="square" lIns="25400" tIns="25400" rIns="25400" bIns="25400" rtlCol="0" anchor="t">
            <a:normAutofit/>
          </a:bodyPr>
          <a:lstStyle/>
          <a:p>
            <a:r>
              <a:rPr lang="en-US" sz="2000" b="1" kern="0" spc="147" dirty="0">
                <a:solidFill>
                  <a:srgbClr val="0E83B0"/>
                </a:solidFill>
                <a:latin typeface="Public Sans" pitchFamily="34" charset="0"/>
                <a:ea typeface="Public Sans" pitchFamily="34" charset="-122"/>
              </a:rPr>
              <a:t>WHY IT MATTERS</a:t>
            </a:r>
          </a:p>
        </p:txBody>
      </p:sp>
      <p:sp>
        <p:nvSpPr>
          <p:cNvPr id="17" name="Text 15"/>
          <p:cNvSpPr/>
          <p:nvPr/>
        </p:nvSpPr>
        <p:spPr>
          <a:xfrm>
            <a:off x="9434297" y="4120166"/>
            <a:ext cx="7556240" cy="1184784"/>
          </a:xfrm>
          <a:prstGeom prst="rect">
            <a:avLst/>
          </a:prstGeom>
          <a:noFill/>
          <a:ln/>
        </p:spPr>
        <p:txBody>
          <a:bodyPr wrap="square" lIns="25400" tIns="25400" rIns="25400" bIns="25400" rtlCol="0" anchor="t">
            <a:normAutofit/>
          </a:bodyPr>
          <a:lstStyle/>
          <a:p>
            <a:pPr marL="0" indent="0" algn="l">
              <a:buNone/>
            </a:pPr>
            <a:r>
              <a:rPr lang="en-US" dirty="0">
                <a:solidFill>
                  <a:srgbClr val="46596A"/>
                </a:solidFill>
                <a:latin typeface="Public Sans" pitchFamily="34" charset="0"/>
                <a:ea typeface="Public Sans" pitchFamily="34" charset="-122"/>
                <a:cs typeface="Public Sans" pitchFamily="34" charset="-120"/>
              </a:rPr>
              <a:t>The agent reasons over the ontology; a human stays in the loop at the points that matter. It is </a:t>
            </a:r>
            <a:r>
              <a:rPr lang="en-US" b="1" dirty="0">
                <a:solidFill>
                  <a:srgbClr val="013E58"/>
                </a:solidFill>
                <a:latin typeface="Public Sans" pitchFamily="34" charset="0"/>
                <a:ea typeface="Public Sans" pitchFamily="34" charset="-122"/>
                <a:cs typeface="Public Sans" pitchFamily="34" charset="-120"/>
              </a:rPr>
              <a:t>not a new actor to trust blindly; </a:t>
            </a:r>
            <a:r>
              <a:rPr lang="en-US" dirty="0">
                <a:solidFill>
                  <a:srgbClr val="46596A"/>
                </a:solidFill>
                <a:latin typeface="Public Sans" pitchFamily="34" charset="0"/>
                <a:ea typeface="Public Sans" pitchFamily="34" charset="-122"/>
                <a:cs typeface="Public Sans" pitchFamily="34" charset="-120"/>
              </a:rPr>
              <a:t>it makes the agent's reasoning visible and checkable.</a:t>
            </a:r>
            <a:endParaRPr lang="en-US" dirty="0"/>
          </a:p>
        </p:txBody>
      </p:sp>
      <p:sp>
        <p:nvSpPr>
          <p:cNvPr id="18" name="Text 16"/>
          <p:cNvSpPr/>
          <p:nvPr/>
        </p:nvSpPr>
        <p:spPr>
          <a:xfrm>
            <a:off x="764197" y="6247321"/>
            <a:ext cx="16530809" cy="692058"/>
          </a:xfrm>
          <a:prstGeom prst="rect">
            <a:avLst/>
          </a:prstGeom>
          <a:noFill/>
          <a:ln/>
        </p:spPr>
        <p:txBody>
          <a:bodyPr wrap="square" lIns="25400" tIns="25400" rIns="25400" bIns="25400" rtlCol="0" anchor="t">
            <a:normAutofit/>
          </a:bodyPr>
          <a:lstStyle/>
          <a:p>
            <a:pPr marL="0" indent="0" algn="l">
              <a:lnSpc>
                <a:spcPct val="140000"/>
              </a:lnSpc>
              <a:buNone/>
            </a:pPr>
            <a:r>
              <a:rPr lang="en-US" sz="2400" dirty="0">
                <a:solidFill>
                  <a:srgbClr val="46596A"/>
                </a:solidFill>
                <a:latin typeface="Public Sans" pitchFamily="34" charset="0"/>
                <a:ea typeface="Public Sans" pitchFamily="34" charset="-122"/>
                <a:cs typeface="Public Sans" pitchFamily="34" charset="-120"/>
              </a:rPr>
              <a:t>Ontology must be analyzed from </a:t>
            </a:r>
            <a:r>
              <a:rPr lang="en-US" sz="2400" b="1" dirty="0">
                <a:solidFill>
                  <a:srgbClr val="004F71"/>
                </a:solidFill>
                <a:latin typeface="Public Sans" pitchFamily="34" charset="0"/>
                <a:ea typeface="Public Sans" pitchFamily="34" charset="-122"/>
                <a:cs typeface="Public Sans" pitchFamily="34" charset="-120"/>
              </a:rPr>
              <a:t>three different architecture concerns </a:t>
            </a:r>
            <a:r>
              <a:rPr lang="en-US" sz="2400" dirty="0">
                <a:solidFill>
                  <a:srgbClr val="46596A"/>
                </a:solidFill>
                <a:latin typeface="Public Sans" pitchFamily="34" charset="0"/>
                <a:ea typeface="Public Sans" pitchFamily="34" charset="-122"/>
                <a:cs typeface="Public Sans" pitchFamily="34" charset="-120"/>
              </a:rPr>
              <a:t>— each provides a different architecture design principle:</a:t>
            </a:r>
            <a:endParaRPr lang="en-US" sz="2400" dirty="0"/>
          </a:p>
        </p:txBody>
      </p:sp>
      <p:sp>
        <p:nvSpPr>
          <p:cNvPr id="23" name="Shape 21"/>
          <p:cNvSpPr/>
          <p:nvPr/>
        </p:nvSpPr>
        <p:spPr>
          <a:xfrm>
            <a:off x="1706286" y="7315208"/>
            <a:ext cx="3158440" cy="810784"/>
          </a:xfrm>
          <a:prstGeom prst="rect">
            <a:avLst/>
          </a:prstGeom>
          <a:solidFill>
            <a:srgbClr val="E3EEF2"/>
          </a:solidFill>
          <a:ln/>
        </p:spPr>
        <p:txBody>
          <a:bodyPr/>
          <a:lstStyle/>
          <a:p>
            <a:pPr algn="ctr"/>
            <a:r>
              <a:rPr lang="en-US" sz="4400" b="1" dirty="0">
                <a:solidFill>
                  <a:srgbClr val="004F71"/>
                </a:solidFill>
                <a:latin typeface="Public Sans" pitchFamily="34" charset="0"/>
                <a:ea typeface="Public Sans" pitchFamily="34" charset="-122"/>
              </a:rPr>
              <a:t>Adoption</a:t>
            </a:r>
          </a:p>
        </p:txBody>
      </p:sp>
      <p:sp>
        <p:nvSpPr>
          <p:cNvPr id="25" name="Text 23"/>
          <p:cNvSpPr/>
          <p:nvPr/>
        </p:nvSpPr>
        <p:spPr>
          <a:xfrm>
            <a:off x="914400" y="9715500"/>
            <a:ext cx="3498045" cy="171450"/>
          </a:xfrm>
          <a:prstGeom prst="rect">
            <a:avLst/>
          </a:prstGeom>
          <a:noFill/>
          <a:ln/>
        </p:spPr>
        <p:txBody>
          <a:bodyPr wrap="square" lIns="25400" tIns="25400" rIns="25400" bIns="25400" rtlCol="0" anchor="t">
            <a:normAutofit fontScale="85000" lnSpcReduction="20000"/>
          </a:bodyPr>
          <a:lstStyle/>
          <a:p>
            <a:pPr marL="0" indent="0" algn="l">
              <a:lnSpc>
                <a:spcPct val="100000"/>
              </a:lnSpc>
              <a:buNone/>
            </a:pPr>
            <a:r>
              <a:rPr lang="en-US" sz="1050" b="1" kern="0" spc="126" dirty="0">
                <a:solidFill>
                  <a:srgbClr val="9DB6C2"/>
                </a:solidFill>
                <a:latin typeface="Public Sans" pitchFamily="34" charset="0"/>
                <a:ea typeface="Public Sans" pitchFamily="34" charset="-122"/>
                <a:cs typeface="Public Sans" pitchFamily="34" charset="-120"/>
              </a:rPr>
              <a:t>AI ONTOLOGY READINESS ASSESSMENT</a:t>
            </a:r>
            <a:endParaRPr lang="en-US" sz="1050" dirty="0"/>
          </a:p>
        </p:txBody>
      </p:sp>
      <p:sp>
        <p:nvSpPr>
          <p:cNvPr id="27" name="Shape 21">
            <a:extLst>
              <a:ext uri="{FF2B5EF4-FFF2-40B4-BE49-F238E27FC236}">
                <a16:creationId xmlns:a16="http://schemas.microsoft.com/office/drawing/2014/main" id="{8C953D65-D6C7-5184-039E-BDE76002977A}"/>
              </a:ext>
            </a:extLst>
          </p:cNvPr>
          <p:cNvSpPr/>
          <p:nvPr/>
        </p:nvSpPr>
        <p:spPr>
          <a:xfrm>
            <a:off x="6529301" y="7315208"/>
            <a:ext cx="3485368" cy="810784"/>
          </a:xfrm>
          <a:prstGeom prst="rect">
            <a:avLst/>
          </a:prstGeom>
          <a:solidFill>
            <a:srgbClr val="E3EEF2"/>
          </a:solidFill>
          <a:ln/>
        </p:spPr>
        <p:txBody>
          <a:bodyPr/>
          <a:lstStyle/>
          <a:p>
            <a:pPr algn="ctr"/>
            <a:r>
              <a:rPr lang="en-US" sz="4400" b="1" dirty="0">
                <a:solidFill>
                  <a:srgbClr val="004F71"/>
                </a:solidFill>
                <a:latin typeface="Public Sans" pitchFamily="34" charset="0"/>
                <a:ea typeface="Public Sans" pitchFamily="34" charset="-122"/>
              </a:rPr>
              <a:t>Accuracy</a:t>
            </a:r>
          </a:p>
        </p:txBody>
      </p:sp>
      <p:sp>
        <p:nvSpPr>
          <p:cNvPr id="28" name="Shape 21">
            <a:extLst>
              <a:ext uri="{FF2B5EF4-FFF2-40B4-BE49-F238E27FC236}">
                <a16:creationId xmlns:a16="http://schemas.microsoft.com/office/drawing/2014/main" id="{1D756F93-75ED-4E2F-F0D3-865310635897}"/>
              </a:ext>
            </a:extLst>
          </p:cNvPr>
          <p:cNvSpPr/>
          <p:nvPr/>
        </p:nvSpPr>
        <p:spPr>
          <a:xfrm>
            <a:off x="11045735" y="7315223"/>
            <a:ext cx="4141255" cy="810784"/>
          </a:xfrm>
          <a:prstGeom prst="rect">
            <a:avLst/>
          </a:prstGeom>
          <a:solidFill>
            <a:srgbClr val="E3EEF2"/>
          </a:solidFill>
          <a:ln/>
        </p:spPr>
        <p:txBody>
          <a:bodyPr/>
          <a:lstStyle/>
          <a:p>
            <a:pPr algn="ctr"/>
            <a:r>
              <a:rPr lang="en-US" sz="4400" b="1" dirty="0">
                <a:solidFill>
                  <a:srgbClr val="004F71"/>
                </a:solidFill>
                <a:latin typeface="Public Sans" pitchFamily="34" charset="0"/>
                <a:ea typeface="Public Sans" pitchFamily="34" charset="-122"/>
                <a:cs typeface="Public Sans" pitchFamily="34" charset="-120"/>
              </a:rPr>
              <a:t>Accountability</a:t>
            </a:r>
            <a:endParaRPr lang="en-US" sz="4400" b="1" dirty="0">
              <a:solidFill>
                <a:srgbClr val="004F71"/>
              </a:solidFill>
              <a:latin typeface="Public Sans" pitchFamily="34" charset="0"/>
              <a:ea typeface="Public Sans" pitchFamily="34" charset="-122"/>
            </a:endParaRPr>
          </a:p>
        </p:txBody>
      </p:sp>
      <p:sp>
        <p:nvSpPr>
          <p:cNvPr id="29" name="Shape 2">
            <a:extLst>
              <a:ext uri="{FF2B5EF4-FFF2-40B4-BE49-F238E27FC236}">
                <a16:creationId xmlns:a16="http://schemas.microsoft.com/office/drawing/2014/main" id="{5E4D62B2-5F30-2764-1401-5DCDCA05C08C}"/>
              </a:ext>
            </a:extLst>
          </p:cNvPr>
          <p:cNvSpPr/>
          <p:nvPr/>
        </p:nvSpPr>
        <p:spPr>
          <a:xfrm>
            <a:off x="669727" y="2492805"/>
            <a:ext cx="16459200" cy="9525"/>
          </a:xfrm>
          <a:prstGeom prst="rect">
            <a:avLst/>
          </a:prstGeom>
          <a:solidFill>
            <a:srgbClr val="D7E3E8"/>
          </a:solidFill>
          <a:ln/>
        </p:spPr>
        <p:txBody>
          <a:bodyPr/>
          <a:lstStyle/>
          <a:p>
            <a:endParaRPr lang="en-CA"/>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7F9"/>
        </a:solidFill>
        <a:effectLst/>
      </p:bgPr>
    </p:bg>
    <p:spTree>
      <p:nvGrpSpPr>
        <p:cNvPr id="1" name=""/>
        <p:cNvGrpSpPr/>
        <p:nvPr/>
      </p:nvGrpSpPr>
      <p:grpSpPr>
        <a:xfrm>
          <a:off x="0" y="0"/>
          <a:ext cx="0" cy="0"/>
          <a:chOff x="0" y="0"/>
          <a:chExt cx="0" cy="0"/>
        </a:xfrm>
      </p:grpSpPr>
      <p:sp>
        <p:nvSpPr>
          <p:cNvPr id="2" name="Text 0"/>
          <p:cNvSpPr/>
          <p:nvPr/>
        </p:nvSpPr>
        <p:spPr>
          <a:xfrm>
            <a:off x="755376" y="623054"/>
            <a:ext cx="10336696" cy="618173"/>
          </a:xfrm>
          <a:prstGeom prst="rect">
            <a:avLst/>
          </a:prstGeom>
          <a:noFill/>
          <a:ln/>
        </p:spPr>
        <p:txBody>
          <a:bodyPr wrap="square" lIns="25400" tIns="25400" rIns="25400" bIns="25400" rtlCol="0" anchor="ctr">
            <a:normAutofit/>
          </a:bodyPr>
          <a:lstStyle/>
          <a:p>
            <a:pPr marL="0" indent="0" algn="l">
              <a:lnSpc>
                <a:spcPct val="100000"/>
              </a:lnSpc>
              <a:buNone/>
            </a:pPr>
            <a:r>
              <a:rPr lang="en-US" sz="3200" b="1" kern="0" spc="297" dirty="0">
                <a:solidFill>
                  <a:srgbClr val="0E83B0"/>
                </a:solidFill>
                <a:latin typeface="Public Sans" pitchFamily="34" charset="0"/>
                <a:ea typeface="Public Sans" pitchFamily="34" charset="-122"/>
                <a:cs typeface="Public Sans" pitchFamily="34" charset="-120"/>
              </a:rPr>
              <a:t>ACCURACY · ACCOUNTABILITY · ADOPTION</a:t>
            </a:r>
            <a:endParaRPr lang="en-US" sz="3200" dirty="0"/>
          </a:p>
        </p:txBody>
      </p:sp>
      <p:sp>
        <p:nvSpPr>
          <p:cNvPr id="3" name="Text 1"/>
          <p:cNvSpPr/>
          <p:nvPr/>
        </p:nvSpPr>
        <p:spPr>
          <a:xfrm>
            <a:off x="755374" y="1240275"/>
            <a:ext cx="16883269" cy="1028700"/>
          </a:xfrm>
          <a:prstGeom prst="rect">
            <a:avLst/>
          </a:prstGeom>
          <a:noFill/>
          <a:ln/>
        </p:spPr>
        <p:txBody>
          <a:bodyPr wrap="square" lIns="25400" tIns="25400" rIns="25400" bIns="25400" rtlCol="0" anchor="t">
            <a:normAutofit/>
          </a:bodyPr>
          <a:lstStyle/>
          <a:p>
            <a:pPr marL="0" indent="0" algn="l">
              <a:lnSpc>
                <a:spcPct val="104000"/>
              </a:lnSpc>
              <a:buNone/>
            </a:pPr>
            <a:r>
              <a:rPr lang="en-US" sz="3200" b="1" kern="0" spc="-37" dirty="0">
                <a:solidFill>
                  <a:srgbClr val="004F71"/>
                </a:solidFill>
                <a:latin typeface="Source Serif 4" pitchFamily="34" charset="0"/>
                <a:ea typeface="Source Serif 4" pitchFamily="34" charset="-122"/>
                <a:cs typeface="Source Serif 4" pitchFamily="34" charset="-120"/>
              </a:rPr>
              <a:t>Three architecture concerns — each providing an architecture design principle</a:t>
            </a:r>
            <a:endParaRPr lang="en-US" sz="3200" dirty="0"/>
          </a:p>
        </p:txBody>
      </p:sp>
      <p:sp>
        <p:nvSpPr>
          <p:cNvPr id="4" name="Shape 2"/>
          <p:cNvSpPr/>
          <p:nvPr/>
        </p:nvSpPr>
        <p:spPr>
          <a:xfrm>
            <a:off x="755376" y="1950927"/>
            <a:ext cx="16459200" cy="9525"/>
          </a:xfrm>
          <a:prstGeom prst="rect">
            <a:avLst/>
          </a:prstGeom>
          <a:solidFill>
            <a:srgbClr val="D7E3E8"/>
          </a:solidFill>
          <a:ln/>
        </p:spPr>
        <p:txBody>
          <a:bodyPr/>
          <a:lstStyle/>
          <a:p>
            <a:endParaRPr lang="en-CA"/>
          </a:p>
        </p:txBody>
      </p:sp>
      <p:sp>
        <p:nvSpPr>
          <p:cNvPr id="5" name="Text 3"/>
          <p:cNvSpPr/>
          <p:nvPr/>
        </p:nvSpPr>
        <p:spPr>
          <a:xfrm>
            <a:off x="942976" y="4869872"/>
            <a:ext cx="2385391" cy="757247"/>
          </a:xfrm>
          <a:prstGeom prst="rect">
            <a:avLst/>
          </a:prstGeom>
          <a:noFill/>
          <a:ln/>
        </p:spPr>
        <p:txBody>
          <a:bodyPr wrap="square" lIns="25400" tIns="25400" rIns="25400" bIns="25400" rtlCol="0" anchor="t">
            <a:normAutofit/>
          </a:bodyPr>
          <a:lstStyle/>
          <a:p>
            <a:pPr marL="0" indent="0" algn="l">
              <a:buNone/>
            </a:pPr>
            <a:r>
              <a:rPr lang="en-US" sz="3200" b="1" dirty="0">
                <a:solidFill>
                  <a:srgbClr val="004F71"/>
                </a:solidFill>
                <a:latin typeface="Source Serif 4" pitchFamily="34" charset="0"/>
                <a:ea typeface="Source Serif 4" pitchFamily="34" charset="-122"/>
                <a:cs typeface="Source Serif 4" pitchFamily="34" charset="-120"/>
              </a:rPr>
              <a:t>Accuracy</a:t>
            </a:r>
            <a:endParaRPr lang="en-US" sz="3200" dirty="0"/>
          </a:p>
        </p:txBody>
      </p:sp>
      <p:sp>
        <p:nvSpPr>
          <p:cNvPr id="6" name="Text 4"/>
          <p:cNvSpPr/>
          <p:nvPr/>
        </p:nvSpPr>
        <p:spPr>
          <a:xfrm>
            <a:off x="927652" y="5606420"/>
            <a:ext cx="2517913" cy="692869"/>
          </a:xfrm>
          <a:prstGeom prst="rect">
            <a:avLst/>
          </a:prstGeom>
          <a:noFill/>
          <a:ln/>
        </p:spPr>
        <p:txBody>
          <a:bodyPr wrap="square" lIns="25400" tIns="25400" rIns="25400" bIns="25400" rtlCol="0" anchor="t">
            <a:normAutofit/>
          </a:bodyPr>
          <a:lstStyle/>
          <a:p>
            <a:pPr marL="0" indent="0" algn="l">
              <a:buNone/>
            </a:pPr>
            <a:r>
              <a:rPr lang="en-US" sz="1600" dirty="0">
                <a:solidFill>
                  <a:srgbClr val="0E83B0"/>
                </a:solidFill>
                <a:latin typeface="Public Sans" pitchFamily="34" charset="0"/>
                <a:ea typeface="Public Sans" pitchFamily="34" charset="-122"/>
                <a:cs typeface="Public Sans" pitchFamily="34" charset="-120"/>
              </a:rPr>
              <a:t>Is it a correct representation of our business?</a:t>
            </a:r>
            <a:endParaRPr lang="en-US" sz="1600" dirty="0"/>
          </a:p>
        </p:txBody>
      </p:sp>
      <p:sp>
        <p:nvSpPr>
          <p:cNvPr id="7" name="Text 5"/>
          <p:cNvSpPr/>
          <p:nvPr/>
        </p:nvSpPr>
        <p:spPr>
          <a:xfrm>
            <a:off x="4114800" y="4806267"/>
            <a:ext cx="13258800" cy="1462119"/>
          </a:xfrm>
          <a:prstGeom prst="rect">
            <a:avLst/>
          </a:prstGeom>
          <a:noFill/>
          <a:ln/>
        </p:spPr>
        <p:txBody>
          <a:bodyPr wrap="square" lIns="25400" tIns="25400" rIns="25400" bIns="25400" rtlCol="0" anchor="t">
            <a:normAutofit fontScale="92500" lnSpcReduction="10000"/>
          </a:bodyPr>
          <a:lstStyle/>
          <a:p>
            <a:pPr marL="0" indent="0" algn="l">
              <a:buNone/>
            </a:pPr>
            <a:r>
              <a:rPr lang="en-US" sz="2000" b="1" dirty="0">
                <a:solidFill>
                  <a:srgbClr val="46596A"/>
                </a:solidFill>
                <a:latin typeface="Public Sans" pitchFamily="34" charset="0"/>
                <a:ea typeface="Public Sans" pitchFamily="34" charset="-122"/>
                <a:cs typeface="Public Sans" pitchFamily="34" charset="-120"/>
              </a:rPr>
              <a:t>Design Principle – Ontology Accuracy Through Continuous Governance:</a:t>
            </a:r>
          </a:p>
          <a:p>
            <a:pPr marL="0" indent="0" algn="l">
              <a:buNone/>
            </a:pPr>
            <a:r>
              <a:rPr lang="en-US" sz="2000" dirty="0">
                <a:solidFill>
                  <a:srgbClr val="46596A"/>
                </a:solidFill>
                <a:latin typeface="Public Sans" pitchFamily="34" charset="0"/>
                <a:ea typeface="Public Sans" pitchFamily="34" charset="-122"/>
                <a:cs typeface="Public Sans" pitchFamily="34" charset="-120"/>
              </a:rPr>
              <a:t>An ontology can be trusted when it is continuously validated against measurable criteria, endorsed by the business experts who own its meaning, demonstrably improves real tasks, and remains fully traceable—not simply because it is assumed to be correct.</a:t>
            </a:r>
          </a:p>
          <a:p>
            <a:pPr marL="0" indent="0" algn="l">
              <a:buNone/>
            </a:pPr>
            <a:endParaRPr lang="en-US" sz="2000" dirty="0">
              <a:solidFill>
                <a:srgbClr val="46596A"/>
              </a:solidFill>
              <a:latin typeface="Public Sans" pitchFamily="34" charset="0"/>
              <a:ea typeface="Public Sans" pitchFamily="34" charset="-122"/>
              <a:cs typeface="Public Sans" pitchFamily="34" charset="-120"/>
            </a:endParaRPr>
          </a:p>
          <a:p>
            <a:pPr marL="0" indent="0" algn="l">
              <a:buNone/>
            </a:pPr>
            <a:r>
              <a:rPr lang="en-US" sz="2000" dirty="0">
                <a:solidFill>
                  <a:srgbClr val="46596A"/>
                </a:solidFill>
                <a:latin typeface="Public Sans" pitchFamily="34" charset="0"/>
                <a:ea typeface="Public Sans" pitchFamily="34" charset="-122"/>
                <a:cs typeface="Public Sans" pitchFamily="34" charset="-120"/>
              </a:rPr>
              <a:t> *</a:t>
            </a:r>
            <a:r>
              <a:rPr lang="en-US" b="1" dirty="0">
                <a:solidFill>
                  <a:srgbClr val="7C95A3"/>
                </a:solidFill>
                <a:latin typeface="Public Sans" pitchFamily="34" charset="0"/>
                <a:ea typeface="Public Sans" pitchFamily="34" charset="-122"/>
                <a:cs typeface="Public Sans" pitchFamily="34" charset="-120"/>
              </a:rPr>
              <a:t>These are the questions Pattern 1 in this assessment (the MBD AI agent) is designed to answer.</a:t>
            </a:r>
            <a:endParaRPr lang="en-US" sz="2000" b="1" dirty="0"/>
          </a:p>
        </p:txBody>
      </p:sp>
      <p:sp>
        <p:nvSpPr>
          <p:cNvPr id="8" name="Shape 6"/>
          <p:cNvSpPr/>
          <p:nvPr/>
        </p:nvSpPr>
        <p:spPr>
          <a:xfrm>
            <a:off x="927652" y="6649326"/>
            <a:ext cx="16459200" cy="9525"/>
          </a:xfrm>
          <a:prstGeom prst="rect">
            <a:avLst/>
          </a:prstGeom>
          <a:solidFill>
            <a:srgbClr val="D7E3E8"/>
          </a:solidFill>
          <a:ln/>
        </p:spPr>
        <p:txBody>
          <a:bodyPr/>
          <a:lstStyle/>
          <a:p>
            <a:endParaRPr lang="en-CA"/>
          </a:p>
        </p:txBody>
      </p:sp>
      <p:sp>
        <p:nvSpPr>
          <p:cNvPr id="9" name="Text 7"/>
          <p:cNvSpPr/>
          <p:nvPr/>
        </p:nvSpPr>
        <p:spPr>
          <a:xfrm>
            <a:off x="914400" y="7350071"/>
            <a:ext cx="2517913" cy="434340"/>
          </a:xfrm>
          <a:prstGeom prst="rect">
            <a:avLst/>
          </a:prstGeom>
          <a:noFill/>
          <a:ln/>
        </p:spPr>
        <p:txBody>
          <a:bodyPr wrap="square" lIns="25400" tIns="25400" rIns="25400" bIns="25400" rtlCol="0" anchor="t">
            <a:normAutofit fontScale="85000" lnSpcReduction="10000"/>
          </a:bodyPr>
          <a:lstStyle/>
          <a:p>
            <a:r>
              <a:rPr lang="en-US" sz="3200" b="1" dirty="0">
                <a:solidFill>
                  <a:srgbClr val="004F71"/>
                </a:solidFill>
                <a:latin typeface="Source Serif 4" pitchFamily="34" charset="0"/>
                <a:ea typeface="Source Serif 4" pitchFamily="34" charset="-122"/>
              </a:rPr>
              <a:t>Accountability</a:t>
            </a:r>
          </a:p>
        </p:txBody>
      </p:sp>
      <p:sp>
        <p:nvSpPr>
          <p:cNvPr id="10" name="Text 8"/>
          <p:cNvSpPr/>
          <p:nvPr/>
        </p:nvSpPr>
        <p:spPr>
          <a:xfrm>
            <a:off x="971552" y="7969826"/>
            <a:ext cx="2328240" cy="790003"/>
          </a:xfrm>
          <a:prstGeom prst="rect">
            <a:avLst/>
          </a:prstGeom>
          <a:noFill/>
          <a:ln/>
        </p:spPr>
        <p:txBody>
          <a:bodyPr wrap="square" lIns="25400" tIns="25400" rIns="25400" bIns="25400" rtlCol="0" anchor="t">
            <a:normAutofit/>
          </a:bodyPr>
          <a:lstStyle/>
          <a:p>
            <a:r>
              <a:rPr lang="en-US" sz="1600" dirty="0">
                <a:solidFill>
                  <a:srgbClr val="0E83B0"/>
                </a:solidFill>
                <a:latin typeface="Public Sans" pitchFamily="34" charset="0"/>
                <a:ea typeface="Public Sans" pitchFamily="34" charset="-122"/>
              </a:rPr>
              <a:t>When an agent acts, who is responsible?</a:t>
            </a:r>
          </a:p>
        </p:txBody>
      </p:sp>
      <p:sp>
        <p:nvSpPr>
          <p:cNvPr id="11" name="Text 9"/>
          <p:cNvSpPr/>
          <p:nvPr/>
        </p:nvSpPr>
        <p:spPr>
          <a:xfrm>
            <a:off x="4114800" y="7239061"/>
            <a:ext cx="13258800" cy="1443069"/>
          </a:xfrm>
          <a:prstGeom prst="rect">
            <a:avLst/>
          </a:prstGeom>
          <a:noFill/>
          <a:ln/>
        </p:spPr>
        <p:txBody>
          <a:bodyPr wrap="square" lIns="25400" tIns="25400" rIns="25400" bIns="25400" rtlCol="0" anchor="t">
            <a:normAutofit fontScale="92500" lnSpcReduction="10000"/>
          </a:bodyPr>
          <a:lstStyle/>
          <a:p>
            <a:r>
              <a:rPr lang="en-US" sz="2000" b="1" dirty="0">
                <a:solidFill>
                  <a:srgbClr val="46596A"/>
                </a:solidFill>
                <a:latin typeface="Public Sans" pitchFamily="34" charset="0"/>
                <a:ea typeface="Public Sans" pitchFamily="34" charset="-122"/>
              </a:rPr>
              <a:t>Design Principle – Human Accountability by Design</a:t>
            </a:r>
            <a:r>
              <a:rPr lang="en-US" sz="2000" dirty="0">
                <a:solidFill>
                  <a:srgbClr val="46596A"/>
                </a:solidFill>
                <a:latin typeface="Public Sans" pitchFamily="34" charset="0"/>
                <a:ea typeface="Public Sans" pitchFamily="34" charset="-122"/>
              </a:rPr>
              <a:t>:</a:t>
            </a:r>
            <a:br>
              <a:rPr lang="en-US" sz="2000" dirty="0">
                <a:solidFill>
                  <a:srgbClr val="46596A"/>
                </a:solidFill>
                <a:latin typeface="Public Sans" pitchFamily="34" charset="0"/>
                <a:ea typeface="Public Sans" pitchFamily="34" charset="-122"/>
              </a:rPr>
            </a:br>
            <a:r>
              <a:rPr lang="en-US" sz="2100" dirty="0">
                <a:solidFill>
                  <a:srgbClr val="46596A"/>
                </a:solidFill>
                <a:latin typeface="Public Sans" pitchFamily="34" charset="0"/>
                <a:ea typeface="Public Sans" pitchFamily="34" charset="-122"/>
              </a:rPr>
              <a:t>An AI agent can be trusted to act autonomously only when its authority is constrained by - semantic rules, governance controls, and auditable validation so that human owners retain responsibility and can explain every outcome.</a:t>
            </a:r>
          </a:p>
          <a:p>
            <a:endParaRPr lang="en-US" sz="2400" dirty="0">
              <a:solidFill>
                <a:srgbClr val="46596A"/>
              </a:solidFill>
              <a:latin typeface="Public Sans" pitchFamily="34" charset="0"/>
              <a:ea typeface="Public Sans" pitchFamily="34" charset="-122"/>
              <a:cs typeface="Public Sans" pitchFamily="34" charset="-120"/>
            </a:endParaRPr>
          </a:p>
          <a:p>
            <a:r>
              <a:rPr lang="en-US" dirty="0">
                <a:solidFill>
                  <a:srgbClr val="46596A"/>
                </a:solidFill>
                <a:latin typeface="Public Sans" pitchFamily="34" charset="0"/>
                <a:ea typeface="Public Sans" pitchFamily="34" charset="-122"/>
                <a:cs typeface="Public Sans" pitchFamily="34" charset="-120"/>
              </a:rPr>
              <a:t>*</a:t>
            </a:r>
            <a:r>
              <a:rPr lang="en-US" b="1" dirty="0">
                <a:solidFill>
                  <a:srgbClr val="7C95A3"/>
                </a:solidFill>
                <a:latin typeface="Public Sans" pitchFamily="34" charset="0"/>
                <a:ea typeface="Public Sans" pitchFamily="34" charset="-122"/>
                <a:cs typeface="Public Sans" pitchFamily="34" charset="-120"/>
              </a:rPr>
              <a:t>These are the questions Pattern 2 in this assessment (the Semantic Firewall AI agent) is designed to answer.</a:t>
            </a:r>
            <a:r>
              <a:rPr lang="en-US" dirty="0">
                <a:solidFill>
                  <a:srgbClr val="46596A"/>
                </a:solidFill>
                <a:latin typeface="Public Sans" pitchFamily="34" charset="0"/>
                <a:ea typeface="Public Sans" pitchFamily="34" charset="-122"/>
              </a:rPr>
              <a:t>.</a:t>
            </a:r>
          </a:p>
        </p:txBody>
      </p:sp>
      <p:sp>
        <p:nvSpPr>
          <p:cNvPr id="13" name="Shape 11"/>
          <p:cNvSpPr/>
          <p:nvPr/>
        </p:nvSpPr>
        <p:spPr>
          <a:xfrm>
            <a:off x="914400" y="8806618"/>
            <a:ext cx="16459200" cy="9525"/>
          </a:xfrm>
          <a:prstGeom prst="rect">
            <a:avLst/>
          </a:prstGeom>
          <a:solidFill>
            <a:srgbClr val="D7E3E8"/>
          </a:solidFill>
          <a:ln/>
        </p:spPr>
        <p:txBody>
          <a:bodyPr/>
          <a:lstStyle/>
          <a:p>
            <a:endParaRPr lang="en-CA"/>
          </a:p>
        </p:txBody>
      </p:sp>
      <p:sp>
        <p:nvSpPr>
          <p:cNvPr id="17" name="Text 15"/>
          <p:cNvSpPr/>
          <p:nvPr/>
        </p:nvSpPr>
        <p:spPr>
          <a:xfrm>
            <a:off x="914400" y="9715500"/>
            <a:ext cx="3498045" cy="171450"/>
          </a:xfrm>
          <a:prstGeom prst="rect">
            <a:avLst/>
          </a:prstGeom>
          <a:noFill/>
          <a:ln/>
        </p:spPr>
        <p:txBody>
          <a:bodyPr wrap="square" lIns="25400" tIns="25400" rIns="25400" bIns="25400" rtlCol="0" anchor="t">
            <a:normAutofit fontScale="85000" lnSpcReduction="20000"/>
          </a:bodyPr>
          <a:lstStyle/>
          <a:p>
            <a:pPr marL="0" indent="0" algn="l">
              <a:lnSpc>
                <a:spcPct val="100000"/>
              </a:lnSpc>
              <a:buNone/>
            </a:pPr>
            <a:r>
              <a:rPr lang="en-US" sz="1050" b="1" kern="0" spc="126" dirty="0">
                <a:solidFill>
                  <a:srgbClr val="9DB6C2"/>
                </a:solidFill>
                <a:latin typeface="Public Sans" pitchFamily="34" charset="0"/>
                <a:ea typeface="Public Sans" pitchFamily="34" charset="-122"/>
                <a:cs typeface="Public Sans" pitchFamily="34" charset="-120"/>
              </a:rPr>
              <a:t>AI ONTOLOGY READINESS ASSESSMENT</a:t>
            </a:r>
            <a:endParaRPr lang="en-US" sz="1050" dirty="0"/>
          </a:p>
        </p:txBody>
      </p:sp>
      <p:sp>
        <p:nvSpPr>
          <p:cNvPr id="18" name="Text 16"/>
          <p:cNvSpPr/>
          <p:nvPr/>
        </p:nvSpPr>
        <p:spPr>
          <a:xfrm>
            <a:off x="15915323" y="9715500"/>
            <a:ext cx="1604105" cy="171450"/>
          </a:xfrm>
          <a:prstGeom prst="rect">
            <a:avLst/>
          </a:prstGeom>
          <a:noFill/>
          <a:ln/>
        </p:spPr>
        <p:txBody>
          <a:bodyPr wrap="square" lIns="25400" tIns="25400" rIns="25400" bIns="25400" rtlCol="0" anchor="t">
            <a:normAutofit fontScale="85000" lnSpcReduction="20000"/>
          </a:bodyPr>
          <a:lstStyle/>
          <a:p>
            <a:pPr marL="0" indent="0" algn="l">
              <a:lnSpc>
                <a:spcPct val="100000"/>
              </a:lnSpc>
              <a:buNone/>
            </a:pPr>
            <a:r>
              <a:rPr lang="en-US" sz="1050" b="1" kern="0" spc="126" dirty="0">
                <a:solidFill>
                  <a:srgbClr val="B0C5CF"/>
                </a:solidFill>
                <a:latin typeface="Public Sans" pitchFamily="34" charset="0"/>
                <a:ea typeface="Public Sans" pitchFamily="34" charset="-122"/>
                <a:cs typeface="Public Sans" pitchFamily="34" charset="-120"/>
              </a:rPr>
              <a:t>THREE CONCERNS</a:t>
            </a:r>
            <a:endParaRPr lang="en-US" sz="1050" dirty="0"/>
          </a:p>
        </p:txBody>
      </p:sp>
      <p:sp>
        <p:nvSpPr>
          <p:cNvPr id="19" name="Shape 10"/>
          <p:cNvSpPr/>
          <p:nvPr/>
        </p:nvSpPr>
        <p:spPr>
          <a:xfrm>
            <a:off x="967408" y="4317178"/>
            <a:ext cx="16459200" cy="9525"/>
          </a:xfrm>
          <a:prstGeom prst="rect">
            <a:avLst/>
          </a:prstGeom>
          <a:solidFill>
            <a:srgbClr val="D7E3E8"/>
          </a:solidFill>
          <a:ln/>
        </p:spPr>
        <p:txBody>
          <a:bodyPr/>
          <a:lstStyle/>
          <a:p>
            <a:endParaRPr lang="en-CA"/>
          </a:p>
        </p:txBody>
      </p:sp>
      <p:sp>
        <p:nvSpPr>
          <p:cNvPr id="20" name="Text 12"/>
          <p:cNvSpPr/>
          <p:nvPr/>
        </p:nvSpPr>
        <p:spPr>
          <a:xfrm>
            <a:off x="971550" y="2718816"/>
            <a:ext cx="3143250" cy="434340"/>
          </a:xfrm>
          <a:prstGeom prst="rect">
            <a:avLst/>
          </a:prstGeom>
          <a:noFill/>
          <a:ln/>
        </p:spPr>
        <p:txBody>
          <a:bodyPr wrap="square" lIns="25400" tIns="25400" rIns="25400" bIns="25400" rtlCol="0" anchor="t">
            <a:normAutofit fontScale="92500" lnSpcReduction="20000"/>
          </a:bodyPr>
          <a:lstStyle/>
          <a:p>
            <a:r>
              <a:rPr lang="en-US" sz="3200" b="1" dirty="0">
                <a:solidFill>
                  <a:srgbClr val="004F71"/>
                </a:solidFill>
                <a:latin typeface="Source Serif 4" pitchFamily="34" charset="0"/>
                <a:ea typeface="Source Serif 4" pitchFamily="34" charset="-122"/>
              </a:rPr>
              <a:t>Adoption</a:t>
            </a:r>
          </a:p>
        </p:txBody>
      </p:sp>
      <p:sp>
        <p:nvSpPr>
          <p:cNvPr id="21" name="Text 13"/>
          <p:cNvSpPr/>
          <p:nvPr/>
        </p:nvSpPr>
        <p:spPr>
          <a:xfrm>
            <a:off x="914400" y="3161685"/>
            <a:ext cx="3143250" cy="282416"/>
          </a:xfrm>
          <a:prstGeom prst="rect">
            <a:avLst/>
          </a:prstGeom>
          <a:noFill/>
          <a:ln/>
        </p:spPr>
        <p:txBody>
          <a:bodyPr wrap="square" lIns="25400" tIns="25400" rIns="25400" bIns="25400" rtlCol="0" anchor="t">
            <a:normAutofit lnSpcReduction="10000"/>
          </a:bodyPr>
          <a:lstStyle/>
          <a:p>
            <a:r>
              <a:rPr lang="en-US" sz="1600" dirty="0">
                <a:solidFill>
                  <a:srgbClr val="0E83B0"/>
                </a:solidFill>
                <a:latin typeface="Public Sans" pitchFamily="34" charset="0"/>
                <a:ea typeface="Public Sans" pitchFamily="34" charset="-122"/>
              </a:rPr>
              <a:t>How do we get others to trust it?</a:t>
            </a:r>
          </a:p>
        </p:txBody>
      </p:sp>
      <p:sp>
        <p:nvSpPr>
          <p:cNvPr id="22" name="Text 14"/>
          <p:cNvSpPr/>
          <p:nvPr/>
        </p:nvSpPr>
        <p:spPr>
          <a:xfrm>
            <a:off x="4114800" y="2638970"/>
            <a:ext cx="13656564" cy="1688813"/>
          </a:xfrm>
          <a:prstGeom prst="rect">
            <a:avLst/>
          </a:prstGeom>
          <a:noFill/>
          <a:ln/>
        </p:spPr>
        <p:txBody>
          <a:bodyPr wrap="square" lIns="25400" tIns="25400" rIns="25400" bIns="25400" rtlCol="0" anchor="t">
            <a:noAutofit/>
          </a:bodyPr>
          <a:lstStyle/>
          <a:p>
            <a:pPr marL="0" indent="0" algn="l">
              <a:buNone/>
            </a:pPr>
            <a:r>
              <a:rPr lang="en-US" sz="1900" b="1" dirty="0">
                <a:solidFill>
                  <a:srgbClr val="46596A"/>
                </a:solidFill>
                <a:latin typeface="Public Sans" pitchFamily="34" charset="0"/>
                <a:ea typeface="Public Sans" pitchFamily="34" charset="-122"/>
              </a:rPr>
              <a:t>Principle – Earned Trust Through Demonstrable Value:</a:t>
            </a:r>
          </a:p>
          <a:p>
            <a:r>
              <a:rPr lang="en-US" sz="1900" dirty="0">
                <a:solidFill>
                  <a:srgbClr val="46596A"/>
                </a:solidFill>
                <a:latin typeface="Public Sans" pitchFamily="34" charset="0"/>
                <a:ea typeface="Public Sans" pitchFamily="34" charset="-122"/>
              </a:rPr>
              <a:t>Trust in ontologies and AI agents is established through evidence, not claims, a visible win in one business domain, showing tangible value. Evaluation should prioritize practical performance in operational scenarios over theoretical analysis or tool comparisons. </a:t>
            </a:r>
          </a:p>
          <a:p>
            <a:endParaRPr lang="en-US" sz="1900" dirty="0">
              <a:solidFill>
                <a:srgbClr val="46596A"/>
              </a:solidFill>
              <a:latin typeface="Public Sans" pitchFamily="34" charset="0"/>
              <a:ea typeface="Public Sans" pitchFamily="34" charset="-122"/>
              <a:cs typeface="Public Sans" pitchFamily="34" charset="-120"/>
            </a:endParaRPr>
          </a:p>
          <a:p>
            <a:r>
              <a:rPr lang="en-US" sz="1900" dirty="0">
                <a:solidFill>
                  <a:srgbClr val="46596A"/>
                </a:solidFill>
                <a:latin typeface="Public Sans" pitchFamily="34" charset="0"/>
                <a:ea typeface="Public Sans" pitchFamily="34" charset="-122"/>
                <a:cs typeface="Public Sans" pitchFamily="34" charset="-120"/>
              </a:rPr>
              <a:t>*</a:t>
            </a:r>
            <a:r>
              <a:rPr lang="en-US" sz="1700" b="1" dirty="0">
                <a:solidFill>
                  <a:srgbClr val="7C95A3"/>
                </a:solidFill>
                <a:latin typeface="Public Sans" pitchFamily="34" charset="0"/>
                <a:ea typeface="Public Sans" pitchFamily="34" charset="-122"/>
                <a:cs typeface="Public Sans" pitchFamily="34" charset="-120"/>
              </a:rPr>
              <a:t>Which is why we build real use cases, not a theoretical tool comparison.</a:t>
            </a:r>
            <a:endParaRPr lang="en-US" sz="17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7F9"/>
        </a:solidFill>
        <a:effectLst/>
      </p:bgPr>
    </p:bg>
    <p:spTree>
      <p:nvGrpSpPr>
        <p:cNvPr id="1" name=""/>
        <p:cNvGrpSpPr/>
        <p:nvPr/>
      </p:nvGrpSpPr>
      <p:grpSpPr>
        <a:xfrm>
          <a:off x="0" y="0"/>
          <a:ext cx="0" cy="0"/>
          <a:chOff x="0" y="0"/>
          <a:chExt cx="0" cy="0"/>
        </a:xfrm>
      </p:grpSpPr>
      <p:sp>
        <p:nvSpPr>
          <p:cNvPr id="2" name="Text 0"/>
          <p:cNvSpPr/>
          <p:nvPr/>
        </p:nvSpPr>
        <p:spPr>
          <a:xfrm>
            <a:off x="914400" y="279289"/>
            <a:ext cx="16300176" cy="652732"/>
          </a:xfrm>
          <a:prstGeom prst="rect">
            <a:avLst/>
          </a:prstGeom>
          <a:noFill/>
          <a:ln/>
        </p:spPr>
        <p:txBody>
          <a:bodyPr wrap="square" lIns="25400" tIns="25400" rIns="25400" bIns="25400" rtlCol="0" anchor="ctr">
            <a:normAutofit/>
          </a:bodyPr>
          <a:lstStyle/>
          <a:p>
            <a:pPr marL="0" indent="0" algn="l">
              <a:lnSpc>
                <a:spcPct val="100000"/>
              </a:lnSpc>
              <a:buNone/>
            </a:pPr>
            <a:r>
              <a:rPr lang="en-US" sz="3700" b="1" kern="0" spc="297" dirty="0">
                <a:solidFill>
                  <a:srgbClr val="0E83B0"/>
                </a:solidFill>
                <a:latin typeface="Public Sans" pitchFamily="34" charset="0"/>
                <a:ea typeface="Public Sans" pitchFamily="34" charset="-122"/>
                <a:cs typeface="Public Sans" pitchFamily="34" charset="-120"/>
              </a:rPr>
              <a:t>THE BOC ONTOLGOY ASSESSMENT APPROACH</a:t>
            </a:r>
            <a:endParaRPr lang="en-US" sz="3700" dirty="0"/>
          </a:p>
        </p:txBody>
      </p:sp>
      <p:sp>
        <p:nvSpPr>
          <p:cNvPr id="3" name="Text 1"/>
          <p:cNvSpPr/>
          <p:nvPr/>
        </p:nvSpPr>
        <p:spPr>
          <a:xfrm>
            <a:off x="914400" y="1103471"/>
            <a:ext cx="14716125" cy="1107758"/>
          </a:xfrm>
          <a:prstGeom prst="rect">
            <a:avLst/>
          </a:prstGeom>
          <a:noFill/>
          <a:ln/>
        </p:spPr>
        <p:txBody>
          <a:bodyPr wrap="square" lIns="25400" tIns="25400" rIns="25400" bIns="25400" rtlCol="0" anchor="t">
            <a:normAutofit/>
          </a:bodyPr>
          <a:lstStyle/>
          <a:p>
            <a:pPr marL="0" indent="0" algn="l">
              <a:lnSpc>
                <a:spcPct val="104000"/>
              </a:lnSpc>
              <a:buNone/>
            </a:pPr>
            <a:r>
              <a:rPr lang="en-US" sz="4050" b="1" kern="0" spc="-40" dirty="0">
                <a:solidFill>
                  <a:srgbClr val="004F71"/>
                </a:solidFill>
                <a:latin typeface="Source Serif 4" pitchFamily="34" charset="0"/>
                <a:ea typeface="Source Serif 4" pitchFamily="34" charset="-122"/>
                <a:cs typeface="Source Serif 4" pitchFamily="34" charset="-120"/>
              </a:rPr>
              <a:t>Two patterns. Two real use cases. Tested independently.</a:t>
            </a:r>
            <a:endParaRPr lang="en-US" sz="4050" dirty="0"/>
          </a:p>
        </p:txBody>
      </p:sp>
      <p:sp>
        <p:nvSpPr>
          <p:cNvPr id="4" name="Text 2"/>
          <p:cNvSpPr/>
          <p:nvPr/>
        </p:nvSpPr>
        <p:spPr>
          <a:xfrm>
            <a:off x="944475" y="2405827"/>
            <a:ext cx="16300176" cy="822960"/>
          </a:xfrm>
          <a:prstGeom prst="rect">
            <a:avLst/>
          </a:prstGeom>
          <a:noFill/>
          <a:ln/>
        </p:spPr>
        <p:txBody>
          <a:bodyPr wrap="square" lIns="25400" tIns="25400" rIns="25400" bIns="25400" rtlCol="0" anchor="t">
            <a:normAutofit/>
          </a:bodyPr>
          <a:lstStyle/>
          <a:p>
            <a:pPr marL="0" indent="0" algn="l">
              <a:buNone/>
            </a:pPr>
            <a:r>
              <a:rPr lang="en-US" sz="2400" dirty="0">
                <a:solidFill>
                  <a:srgbClr val="46596A"/>
                </a:solidFill>
                <a:latin typeface="Public Sans" pitchFamily="34" charset="0"/>
                <a:ea typeface="Public Sans" pitchFamily="34" charset="-122"/>
                <a:cs typeface="Public Sans" pitchFamily="34" charset="-120"/>
              </a:rPr>
              <a:t>Complementary architectural roles for ontology — not competing options. </a:t>
            </a:r>
          </a:p>
          <a:p>
            <a:pPr marL="0" indent="0" algn="l">
              <a:buNone/>
            </a:pPr>
            <a:r>
              <a:rPr lang="en-US" sz="2400" dirty="0">
                <a:solidFill>
                  <a:srgbClr val="46596A"/>
                </a:solidFill>
                <a:latin typeface="Public Sans" pitchFamily="34" charset="0"/>
                <a:ea typeface="Public Sans" pitchFamily="34" charset="-122"/>
                <a:cs typeface="Public Sans" pitchFamily="34" charset="-120"/>
              </a:rPr>
              <a:t>They may coexist and share semantic assets to deal with different scopes of semantic errors</a:t>
            </a:r>
            <a:endParaRPr lang="en-US" sz="2400" dirty="0"/>
          </a:p>
        </p:txBody>
      </p:sp>
      <p:sp>
        <p:nvSpPr>
          <p:cNvPr id="5" name="Shape 3"/>
          <p:cNvSpPr/>
          <p:nvPr/>
        </p:nvSpPr>
        <p:spPr>
          <a:xfrm>
            <a:off x="906780" y="3648405"/>
            <a:ext cx="8086725" cy="5177543"/>
          </a:xfrm>
          <a:prstGeom prst="rect">
            <a:avLst/>
          </a:prstGeom>
          <a:solidFill>
            <a:srgbClr val="FFFFFF"/>
          </a:solidFill>
          <a:ln w="28575">
            <a:solidFill>
              <a:srgbClr val="D7E3E8"/>
            </a:solidFill>
          </a:ln>
        </p:spPr>
        <p:txBody>
          <a:bodyPr/>
          <a:lstStyle/>
          <a:p>
            <a:endParaRPr lang="en-CA"/>
          </a:p>
        </p:txBody>
      </p:sp>
      <p:sp>
        <p:nvSpPr>
          <p:cNvPr id="7" name="Shape 5"/>
          <p:cNvSpPr/>
          <p:nvPr/>
        </p:nvSpPr>
        <p:spPr>
          <a:xfrm>
            <a:off x="901982" y="3608070"/>
            <a:ext cx="8086725" cy="45720"/>
          </a:xfrm>
          <a:prstGeom prst="rect">
            <a:avLst/>
          </a:prstGeom>
          <a:solidFill>
            <a:srgbClr val="004F71"/>
          </a:solidFill>
          <a:ln/>
        </p:spPr>
        <p:txBody>
          <a:bodyPr/>
          <a:lstStyle/>
          <a:p>
            <a:endParaRPr lang="en-CA"/>
          </a:p>
        </p:txBody>
      </p:sp>
      <p:sp>
        <p:nvSpPr>
          <p:cNvPr id="10" name="Text 8"/>
          <p:cNvSpPr/>
          <p:nvPr/>
        </p:nvSpPr>
        <p:spPr>
          <a:xfrm>
            <a:off x="1217295" y="3845947"/>
            <a:ext cx="6686384" cy="470535"/>
          </a:xfrm>
          <a:prstGeom prst="rect">
            <a:avLst/>
          </a:prstGeom>
          <a:noFill/>
          <a:ln/>
        </p:spPr>
        <p:txBody>
          <a:bodyPr wrap="square" lIns="25400" tIns="25400" rIns="25400" bIns="25400" rtlCol="0" anchor="t">
            <a:normAutofit/>
          </a:bodyPr>
          <a:lstStyle/>
          <a:p>
            <a:pPr marL="0" indent="0" algn="l">
              <a:lnSpc>
                <a:spcPct val="100000"/>
              </a:lnSpc>
              <a:buNone/>
            </a:pPr>
            <a:r>
              <a:rPr lang="en-US" sz="2400" b="1" kern="0" spc="168" dirty="0">
                <a:solidFill>
                  <a:srgbClr val="004F71"/>
                </a:solidFill>
                <a:latin typeface="Public Sans" pitchFamily="34" charset="0"/>
                <a:ea typeface="Public Sans" pitchFamily="34" charset="-122"/>
                <a:cs typeface="Public Sans" pitchFamily="34" charset="-120"/>
              </a:rPr>
              <a:t>PATTERN 1 · BUSINESS DOMAIN VALUE</a:t>
            </a:r>
            <a:endParaRPr lang="en-US" sz="2400" dirty="0"/>
          </a:p>
        </p:txBody>
      </p:sp>
      <p:sp>
        <p:nvSpPr>
          <p:cNvPr id="11" name="Text 9"/>
          <p:cNvSpPr/>
          <p:nvPr/>
        </p:nvSpPr>
        <p:spPr>
          <a:xfrm>
            <a:off x="1197900" y="4318562"/>
            <a:ext cx="5931010" cy="366713"/>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2250" b="1" dirty="0">
                <a:solidFill>
                  <a:srgbClr val="013E58"/>
                </a:solidFill>
                <a:latin typeface="Source Serif 4" pitchFamily="34" charset="0"/>
                <a:ea typeface="Source Serif 4" pitchFamily="34" charset="-122"/>
                <a:cs typeface="Source Serif 4" pitchFamily="34" charset="-120"/>
              </a:rPr>
              <a:t>Semantic reasoning</a:t>
            </a:r>
            <a:endParaRPr lang="en-US" sz="2250" dirty="0"/>
          </a:p>
        </p:txBody>
      </p:sp>
      <p:sp>
        <p:nvSpPr>
          <p:cNvPr id="12" name="Text 10"/>
          <p:cNvSpPr/>
          <p:nvPr/>
        </p:nvSpPr>
        <p:spPr>
          <a:xfrm>
            <a:off x="1169085" y="4901668"/>
            <a:ext cx="7385685" cy="470535"/>
          </a:xfrm>
          <a:prstGeom prst="rect">
            <a:avLst/>
          </a:prstGeom>
          <a:noFill/>
          <a:ln/>
        </p:spPr>
        <p:txBody>
          <a:bodyPr wrap="square" lIns="25400" tIns="25400" rIns="25400" bIns="25400" rtlCol="0" anchor="t">
            <a:normAutofit/>
          </a:bodyPr>
          <a:lstStyle/>
          <a:p>
            <a:pPr marL="0" indent="0" algn="l">
              <a:lnSpc>
                <a:spcPct val="140000"/>
              </a:lnSpc>
              <a:buNone/>
            </a:pPr>
            <a:r>
              <a:rPr lang="en-US" dirty="0">
                <a:solidFill>
                  <a:srgbClr val="46596A"/>
                </a:solidFill>
                <a:latin typeface="Public Sans" pitchFamily="34" charset="0"/>
                <a:ea typeface="Public Sans" pitchFamily="34" charset="-122"/>
                <a:cs typeface="Public Sans" pitchFamily="34" charset="-120"/>
              </a:rPr>
              <a:t>Helping AI understand the business domain and its relationships.</a:t>
            </a:r>
            <a:endParaRPr lang="en-US" dirty="0"/>
          </a:p>
        </p:txBody>
      </p:sp>
      <p:sp>
        <p:nvSpPr>
          <p:cNvPr id="13" name="Shape 11"/>
          <p:cNvSpPr/>
          <p:nvPr/>
        </p:nvSpPr>
        <p:spPr>
          <a:xfrm>
            <a:off x="1169085" y="5543653"/>
            <a:ext cx="7385685" cy="9525"/>
          </a:xfrm>
          <a:prstGeom prst="rect">
            <a:avLst/>
          </a:prstGeom>
          <a:solidFill>
            <a:srgbClr val="D7E3E8"/>
          </a:solidFill>
          <a:ln/>
        </p:spPr>
        <p:txBody>
          <a:bodyPr/>
          <a:lstStyle/>
          <a:p>
            <a:endParaRPr lang="en-CA"/>
          </a:p>
        </p:txBody>
      </p:sp>
      <p:sp>
        <p:nvSpPr>
          <p:cNvPr id="14" name="Text 12"/>
          <p:cNvSpPr/>
          <p:nvPr/>
        </p:nvSpPr>
        <p:spPr>
          <a:xfrm>
            <a:off x="1264920" y="5669755"/>
            <a:ext cx="4446767" cy="381000"/>
          </a:xfrm>
          <a:prstGeom prst="rect">
            <a:avLst/>
          </a:prstGeom>
          <a:noFill/>
          <a:ln/>
        </p:spPr>
        <p:txBody>
          <a:bodyPr wrap="square" lIns="25400" tIns="25400" rIns="25400" bIns="25400" rtlCol="0" anchor="t">
            <a:normAutofit/>
          </a:bodyPr>
          <a:lstStyle/>
          <a:p>
            <a:pPr marL="0" indent="0" algn="l">
              <a:lnSpc>
                <a:spcPct val="100000"/>
              </a:lnSpc>
              <a:buNone/>
            </a:pPr>
            <a:endParaRPr lang="en-US" dirty="0"/>
          </a:p>
        </p:txBody>
      </p:sp>
      <p:sp>
        <p:nvSpPr>
          <p:cNvPr id="15" name="Text 13"/>
          <p:cNvSpPr/>
          <p:nvPr/>
        </p:nvSpPr>
        <p:spPr>
          <a:xfrm>
            <a:off x="1217295" y="5664888"/>
            <a:ext cx="7289850" cy="751296"/>
          </a:xfrm>
          <a:prstGeom prst="rect">
            <a:avLst/>
          </a:prstGeom>
          <a:noFill/>
          <a:ln/>
        </p:spPr>
        <p:txBody>
          <a:bodyPr wrap="square" lIns="25400" tIns="25400" rIns="25400" bIns="25400" rtlCol="0" anchor="t">
            <a:noAutofit/>
          </a:bodyPr>
          <a:lstStyle/>
          <a:p>
            <a:pPr>
              <a:lnSpc>
                <a:spcPct val="130000"/>
              </a:lnSpc>
            </a:pPr>
            <a:r>
              <a:rPr lang="en-US" b="1" kern="0" spc="126" dirty="0">
                <a:solidFill>
                  <a:srgbClr val="7C95A3"/>
                </a:solidFill>
                <a:latin typeface="Public Sans" pitchFamily="34" charset="0"/>
                <a:ea typeface="Public Sans" pitchFamily="34" charset="-122"/>
                <a:cs typeface="Public Sans" pitchFamily="34" charset="-120"/>
              </a:rPr>
              <a:t>Use Case: </a:t>
            </a:r>
            <a:r>
              <a:rPr lang="en-US" b="1" dirty="0">
                <a:solidFill>
                  <a:srgbClr val="013E58"/>
                </a:solidFill>
                <a:latin typeface="Public Sans" pitchFamily="34" charset="0"/>
                <a:ea typeface="Public Sans" pitchFamily="34" charset="-122"/>
                <a:cs typeface="Public Sans" pitchFamily="34" charset="-120"/>
              </a:rPr>
              <a:t> </a:t>
            </a:r>
            <a:br>
              <a:rPr lang="en-US" b="1" dirty="0">
                <a:solidFill>
                  <a:srgbClr val="013E58"/>
                </a:solidFill>
                <a:latin typeface="Public Sans" pitchFamily="34" charset="0"/>
                <a:ea typeface="Public Sans" pitchFamily="34" charset="-122"/>
                <a:cs typeface="Public Sans" pitchFamily="34" charset="-120"/>
              </a:rPr>
            </a:br>
            <a:r>
              <a:rPr lang="en-US" b="1" dirty="0">
                <a:solidFill>
                  <a:srgbClr val="013E58"/>
                </a:solidFill>
                <a:latin typeface="Public Sans" pitchFamily="34" charset="0"/>
                <a:ea typeface="Public Sans" pitchFamily="34" charset="-122"/>
                <a:cs typeface="Public Sans" pitchFamily="34" charset="-120"/>
                <a:hlinkClick r:id="rId3" action="ppaction://hlinksldjump"/>
              </a:rPr>
              <a:t>MBD &amp; CMCO (FMBO) Operational Intelligence Agent</a:t>
            </a:r>
            <a:endParaRPr lang="en-US" dirty="0"/>
          </a:p>
        </p:txBody>
      </p:sp>
      <p:sp>
        <p:nvSpPr>
          <p:cNvPr id="16" name="Text 14"/>
          <p:cNvSpPr/>
          <p:nvPr/>
        </p:nvSpPr>
        <p:spPr>
          <a:xfrm>
            <a:off x="1169084" y="6699841"/>
            <a:ext cx="7385685" cy="581025"/>
          </a:xfrm>
          <a:prstGeom prst="rect">
            <a:avLst/>
          </a:prstGeom>
          <a:noFill/>
          <a:ln/>
        </p:spPr>
        <p:txBody>
          <a:bodyPr wrap="square" lIns="25400" tIns="25400" rIns="25400" bIns="25400" rtlCol="0" anchor="t">
            <a:noAutofit/>
          </a:bodyPr>
          <a:lstStyle/>
          <a:p>
            <a:pPr marL="0" indent="0" algn="l">
              <a:buNone/>
            </a:pPr>
            <a:r>
              <a:rPr lang="en-US" sz="1600" dirty="0">
                <a:solidFill>
                  <a:srgbClr val="46596A"/>
                </a:solidFill>
                <a:latin typeface="Public Sans" pitchFamily="34" charset="0"/>
                <a:ea typeface="Public Sans" pitchFamily="34" charset="-122"/>
                <a:cs typeface="Public Sans" pitchFamily="34" charset="-120"/>
              </a:rPr>
              <a:t>Explains incidents and dependencies across the FMBO ecosystem; supports impact and what-if analysis. Built on Microsoft Fabric IQ, extending to Foundry IQ.</a:t>
            </a:r>
            <a:endParaRPr lang="en-US" sz="1600" dirty="0"/>
          </a:p>
        </p:txBody>
      </p:sp>
      <p:sp>
        <p:nvSpPr>
          <p:cNvPr id="17" name="Shape 15"/>
          <p:cNvSpPr/>
          <p:nvPr/>
        </p:nvSpPr>
        <p:spPr>
          <a:xfrm>
            <a:off x="1169085" y="7747392"/>
            <a:ext cx="3822998" cy="391945"/>
          </a:xfrm>
          <a:prstGeom prst="rect">
            <a:avLst/>
          </a:prstGeom>
          <a:solidFill>
            <a:srgbClr val="004F71"/>
          </a:solidFill>
          <a:ln/>
        </p:spPr>
        <p:txBody>
          <a:bodyPr/>
          <a:lstStyle/>
          <a:p>
            <a:r>
              <a:rPr lang="en-US" sz="1600" b="1" kern="0" spc="84" dirty="0">
                <a:solidFill>
                  <a:srgbClr val="FFFFFF"/>
                </a:solidFill>
                <a:latin typeface="Public Sans" pitchFamily="34" charset="0"/>
                <a:ea typeface="Public Sans" pitchFamily="34" charset="-122"/>
                <a:cs typeface="Public Sans" pitchFamily="34" charset="-120"/>
              </a:rPr>
              <a:t>IN FLIGHT · FULLY RESOURCED</a:t>
            </a:r>
            <a:endParaRPr lang="en-US" sz="1600" dirty="0"/>
          </a:p>
        </p:txBody>
      </p:sp>
      <p:sp>
        <p:nvSpPr>
          <p:cNvPr id="19" name="Text 17"/>
          <p:cNvSpPr/>
          <p:nvPr/>
        </p:nvSpPr>
        <p:spPr>
          <a:xfrm>
            <a:off x="1178060" y="8244216"/>
            <a:ext cx="1957340" cy="342075"/>
          </a:xfrm>
          <a:prstGeom prst="rect">
            <a:avLst/>
          </a:prstGeom>
          <a:noFill/>
          <a:ln/>
        </p:spPr>
        <p:txBody>
          <a:bodyPr wrap="square" lIns="25400" tIns="25400" rIns="25400" bIns="25400" rtlCol="0" anchor="t">
            <a:normAutofit/>
          </a:bodyPr>
          <a:lstStyle/>
          <a:p>
            <a:pPr marL="0" indent="0" algn="l">
              <a:lnSpc>
                <a:spcPct val="100000"/>
              </a:lnSpc>
              <a:buNone/>
            </a:pPr>
            <a:r>
              <a:rPr lang="en-US" sz="1400" dirty="0">
                <a:solidFill>
                  <a:srgbClr val="6B8595"/>
                </a:solidFill>
                <a:latin typeface="Public Sans" pitchFamily="34" charset="0"/>
                <a:ea typeface="Public Sans" pitchFamily="34" charset="-122"/>
                <a:cs typeface="Public Sans" pitchFamily="34" charset="-120"/>
              </a:rPr>
              <a:t>Complexity </a:t>
            </a:r>
            <a:r>
              <a:rPr lang="en-US" sz="1400" b="1" dirty="0">
                <a:solidFill>
                  <a:srgbClr val="013E58"/>
                </a:solidFill>
                <a:latin typeface="Public Sans" pitchFamily="34" charset="0"/>
                <a:ea typeface="Public Sans" pitchFamily="34" charset="-122"/>
                <a:cs typeface="Public Sans" pitchFamily="34" charset="-120"/>
              </a:rPr>
              <a:t>Medium</a:t>
            </a:r>
            <a:endParaRPr lang="en-US" sz="1400" dirty="0"/>
          </a:p>
        </p:txBody>
      </p:sp>
      <p:sp>
        <p:nvSpPr>
          <p:cNvPr id="20" name="Text 18"/>
          <p:cNvSpPr/>
          <p:nvPr/>
        </p:nvSpPr>
        <p:spPr>
          <a:xfrm>
            <a:off x="2986143" y="8244216"/>
            <a:ext cx="1803797" cy="342075"/>
          </a:xfrm>
          <a:prstGeom prst="rect">
            <a:avLst/>
          </a:prstGeom>
          <a:noFill/>
          <a:ln/>
        </p:spPr>
        <p:txBody>
          <a:bodyPr wrap="square" lIns="25400" tIns="25400" rIns="25400" bIns="25400" rtlCol="0" anchor="t">
            <a:normAutofit/>
          </a:bodyPr>
          <a:lstStyle/>
          <a:p>
            <a:pPr marL="0" indent="0" algn="l">
              <a:lnSpc>
                <a:spcPct val="100000"/>
              </a:lnSpc>
              <a:buNone/>
            </a:pPr>
            <a:r>
              <a:rPr lang="en-US" sz="1400" dirty="0">
                <a:solidFill>
                  <a:srgbClr val="6B8595"/>
                </a:solidFill>
                <a:latin typeface="Public Sans" pitchFamily="34" charset="0"/>
                <a:ea typeface="Public Sans" pitchFamily="34" charset="-122"/>
                <a:cs typeface="Public Sans" pitchFamily="34" charset="-120"/>
              </a:rPr>
              <a:t>Impact </a:t>
            </a:r>
            <a:r>
              <a:rPr lang="en-US" sz="1400" b="1" dirty="0">
                <a:solidFill>
                  <a:srgbClr val="013E58"/>
                </a:solidFill>
                <a:latin typeface="Public Sans" pitchFamily="34" charset="0"/>
                <a:ea typeface="Public Sans" pitchFamily="34" charset="-122"/>
                <a:cs typeface="Public Sans" pitchFamily="34" charset="-120"/>
              </a:rPr>
              <a:t>Short term</a:t>
            </a:r>
            <a:endParaRPr lang="en-US" sz="1400" dirty="0"/>
          </a:p>
        </p:txBody>
      </p:sp>
      <p:sp>
        <p:nvSpPr>
          <p:cNvPr id="21" name="Shape 19"/>
          <p:cNvSpPr/>
          <p:nvPr/>
        </p:nvSpPr>
        <p:spPr>
          <a:xfrm>
            <a:off x="9286875" y="3595500"/>
            <a:ext cx="8046135" cy="5230449"/>
          </a:xfrm>
          <a:prstGeom prst="rect">
            <a:avLst/>
          </a:prstGeom>
          <a:solidFill>
            <a:srgbClr val="FFFFFF"/>
          </a:solidFill>
          <a:ln w="28575">
            <a:solidFill>
              <a:srgbClr val="D7E3E8"/>
            </a:solidFill>
          </a:ln>
        </p:spPr>
        <p:txBody>
          <a:bodyPr/>
          <a:lstStyle/>
          <a:p>
            <a:endParaRPr lang="en-CA"/>
          </a:p>
        </p:txBody>
      </p:sp>
      <p:sp>
        <p:nvSpPr>
          <p:cNvPr id="23" name="Shape 21"/>
          <p:cNvSpPr/>
          <p:nvPr/>
        </p:nvSpPr>
        <p:spPr>
          <a:xfrm>
            <a:off x="9279255" y="3595500"/>
            <a:ext cx="8086725" cy="45720"/>
          </a:xfrm>
          <a:prstGeom prst="rect">
            <a:avLst/>
          </a:prstGeom>
          <a:solidFill>
            <a:srgbClr val="29ABE2"/>
          </a:solidFill>
          <a:ln/>
        </p:spPr>
        <p:txBody>
          <a:bodyPr/>
          <a:lstStyle/>
          <a:p>
            <a:endParaRPr lang="en-CA"/>
          </a:p>
        </p:txBody>
      </p:sp>
      <p:sp>
        <p:nvSpPr>
          <p:cNvPr id="26" name="Text 24"/>
          <p:cNvSpPr/>
          <p:nvPr/>
        </p:nvSpPr>
        <p:spPr>
          <a:xfrm>
            <a:off x="9444634" y="3826703"/>
            <a:ext cx="7771205" cy="495240"/>
          </a:xfrm>
          <a:prstGeom prst="rect">
            <a:avLst/>
          </a:prstGeom>
          <a:noFill/>
          <a:ln/>
        </p:spPr>
        <p:txBody>
          <a:bodyPr wrap="square" lIns="25400" tIns="25400" rIns="25400" bIns="25400" rtlCol="0" anchor="t">
            <a:normAutofit/>
          </a:bodyPr>
          <a:lstStyle/>
          <a:p>
            <a:pPr marL="0" indent="0" algn="l">
              <a:lnSpc>
                <a:spcPct val="100000"/>
              </a:lnSpc>
              <a:buNone/>
            </a:pPr>
            <a:r>
              <a:rPr lang="en-US" sz="2400" b="1" kern="0" spc="168" dirty="0">
                <a:solidFill>
                  <a:srgbClr val="0E83B0"/>
                </a:solidFill>
                <a:latin typeface="Public Sans" pitchFamily="34" charset="0"/>
                <a:ea typeface="Public Sans" pitchFamily="34" charset="-122"/>
                <a:cs typeface="Public Sans" pitchFamily="34" charset="-120"/>
              </a:rPr>
              <a:t>PATTERN 2 · ENTERPRISE AI GOVERNANCE</a:t>
            </a:r>
            <a:endParaRPr lang="en-US" sz="2400" dirty="0"/>
          </a:p>
        </p:txBody>
      </p:sp>
      <p:sp>
        <p:nvSpPr>
          <p:cNvPr id="27" name="Text 25"/>
          <p:cNvSpPr/>
          <p:nvPr/>
        </p:nvSpPr>
        <p:spPr>
          <a:xfrm>
            <a:off x="9536945" y="4321943"/>
            <a:ext cx="7289850" cy="366713"/>
          </a:xfrm>
          <a:prstGeom prst="rect">
            <a:avLst/>
          </a:prstGeom>
          <a:noFill/>
          <a:ln/>
        </p:spPr>
        <p:txBody>
          <a:bodyPr wrap="square" lIns="25400" tIns="25400" rIns="25400" bIns="25400" rtlCol="0" anchor="t">
            <a:normAutofit fontScale="92500" lnSpcReduction="20000"/>
          </a:bodyPr>
          <a:lstStyle/>
          <a:p>
            <a:pPr marL="0" indent="0" algn="l">
              <a:lnSpc>
                <a:spcPct val="115000"/>
              </a:lnSpc>
              <a:buNone/>
            </a:pPr>
            <a:r>
              <a:rPr lang="en-US" sz="2250" b="1" dirty="0">
                <a:solidFill>
                  <a:srgbClr val="013E58"/>
                </a:solidFill>
                <a:latin typeface="Source Serif 4" pitchFamily="34" charset="0"/>
                <a:ea typeface="Source Serif 4" pitchFamily="34" charset="-122"/>
                <a:cs typeface="Source Serif 4" pitchFamily="34" charset="-120"/>
              </a:rPr>
              <a:t>Semantic governance</a:t>
            </a:r>
            <a:endParaRPr lang="en-US" sz="2250" dirty="0"/>
          </a:p>
        </p:txBody>
      </p:sp>
      <p:sp>
        <p:nvSpPr>
          <p:cNvPr id="28" name="Text 26"/>
          <p:cNvSpPr/>
          <p:nvPr/>
        </p:nvSpPr>
        <p:spPr>
          <a:xfrm>
            <a:off x="9568910" y="4874375"/>
            <a:ext cx="8124254" cy="495240"/>
          </a:xfrm>
          <a:prstGeom prst="rect">
            <a:avLst/>
          </a:prstGeom>
          <a:noFill/>
          <a:ln/>
        </p:spPr>
        <p:txBody>
          <a:bodyPr wrap="square" lIns="25400" tIns="25400" rIns="25400" bIns="25400" rtlCol="0" anchor="t">
            <a:normAutofit/>
          </a:bodyPr>
          <a:lstStyle/>
          <a:p>
            <a:pPr marL="0" indent="0" algn="l">
              <a:lnSpc>
                <a:spcPct val="140000"/>
              </a:lnSpc>
              <a:buNone/>
            </a:pPr>
            <a:r>
              <a:rPr lang="en-US" dirty="0">
                <a:solidFill>
                  <a:srgbClr val="46596A"/>
                </a:solidFill>
                <a:latin typeface="Public Sans" pitchFamily="34" charset="0"/>
                <a:ea typeface="Public Sans" pitchFamily="34" charset="-122"/>
                <a:cs typeface="Public Sans" pitchFamily="34" charset="-120"/>
              </a:rPr>
              <a:t>Constraining and validating AI actions </a:t>
            </a:r>
            <a:r>
              <a:rPr lang="en-US" i="1" dirty="0">
                <a:solidFill>
                  <a:srgbClr val="46596A"/>
                </a:solidFill>
                <a:latin typeface="Public Sans" pitchFamily="34" charset="0"/>
                <a:ea typeface="Public Sans" pitchFamily="34" charset="-122"/>
                <a:cs typeface="Public Sans" pitchFamily="34" charset="-120"/>
              </a:rPr>
              <a:t>before </a:t>
            </a:r>
            <a:r>
              <a:rPr lang="en-US" dirty="0">
                <a:solidFill>
                  <a:srgbClr val="46596A"/>
                </a:solidFill>
                <a:latin typeface="Public Sans" pitchFamily="34" charset="0"/>
                <a:ea typeface="Public Sans" pitchFamily="34" charset="-122"/>
                <a:cs typeface="Public Sans" pitchFamily="34" charset="-120"/>
              </a:rPr>
              <a:t>they execute.</a:t>
            </a:r>
            <a:endParaRPr lang="en-US" dirty="0"/>
          </a:p>
        </p:txBody>
      </p:sp>
      <p:sp>
        <p:nvSpPr>
          <p:cNvPr id="29" name="Shape 27"/>
          <p:cNvSpPr/>
          <p:nvPr/>
        </p:nvSpPr>
        <p:spPr>
          <a:xfrm>
            <a:off x="9637395" y="5515597"/>
            <a:ext cx="7385685" cy="9525"/>
          </a:xfrm>
          <a:prstGeom prst="rect">
            <a:avLst/>
          </a:prstGeom>
          <a:solidFill>
            <a:srgbClr val="D7E3E8"/>
          </a:solidFill>
          <a:ln/>
        </p:spPr>
        <p:txBody>
          <a:bodyPr/>
          <a:lstStyle/>
          <a:p>
            <a:endParaRPr lang="en-CA"/>
          </a:p>
        </p:txBody>
      </p:sp>
      <p:sp>
        <p:nvSpPr>
          <p:cNvPr id="32" name="Text 30"/>
          <p:cNvSpPr/>
          <p:nvPr/>
        </p:nvSpPr>
        <p:spPr>
          <a:xfrm>
            <a:off x="9637395" y="6571691"/>
            <a:ext cx="7385685" cy="852488"/>
          </a:xfrm>
          <a:prstGeom prst="rect">
            <a:avLst/>
          </a:prstGeom>
          <a:noFill/>
          <a:ln/>
        </p:spPr>
        <p:txBody>
          <a:bodyPr wrap="square" lIns="25400" tIns="25400" rIns="25400" bIns="25400" rtlCol="0" anchor="t">
            <a:normAutofit/>
          </a:bodyPr>
          <a:lstStyle/>
          <a:p>
            <a:pPr marL="0" indent="0" algn="l">
              <a:buNone/>
            </a:pPr>
            <a:r>
              <a:rPr lang="en-US" sz="1600" dirty="0">
                <a:solidFill>
                  <a:srgbClr val="46596A"/>
                </a:solidFill>
                <a:latin typeface="Public Sans" pitchFamily="34" charset="0"/>
                <a:ea typeface="Public Sans" pitchFamily="34" charset="-122"/>
                <a:cs typeface="Public Sans" pitchFamily="34" charset="-120"/>
              </a:rPr>
              <a:t>A control plane that </a:t>
            </a:r>
            <a:r>
              <a:rPr lang="en-US" sz="1600" b="1" dirty="0">
                <a:solidFill>
                  <a:srgbClr val="46596A"/>
                </a:solidFill>
                <a:latin typeface="Public Sans" pitchFamily="34" charset="0"/>
                <a:ea typeface="Public Sans" pitchFamily="34" charset="-122"/>
                <a:cs typeface="Public Sans" pitchFamily="34" charset="-120"/>
              </a:rPr>
              <a:t>blocks technically valid but business-invalid actions</a:t>
            </a:r>
            <a:r>
              <a:rPr lang="en-US" sz="1600" dirty="0">
                <a:solidFill>
                  <a:srgbClr val="46596A"/>
                </a:solidFill>
                <a:latin typeface="Public Sans" pitchFamily="34" charset="0"/>
                <a:ea typeface="Public Sans" pitchFamily="34" charset="-122"/>
                <a:cs typeface="Public Sans" pitchFamily="34" charset="-120"/>
              </a:rPr>
              <a:t>; enforces authority, policy and data boundaries at runtime. Non-production exploration on Foundry IQ.</a:t>
            </a:r>
            <a:endParaRPr lang="en-US" sz="1600" dirty="0"/>
          </a:p>
        </p:txBody>
      </p:sp>
      <p:sp>
        <p:nvSpPr>
          <p:cNvPr id="33" name="Shape 31"/>
          <p:cNvSpPr/>
          <p:nvPr/>
        </p:nvSpPr>
        <p:spPr>
          <a:xfrm>
            <a:off x="9637395" y="7750716"/>
            <a:ext cx="5165283" cy="366713"/>
          </a:xfrm>
          <a:prstGeom prst="rect">
            <a:avLst/>
          </a:prstGeom>
          <a:solidFill>
            <a:srgbClr val="FBE5D2"/>
          </a:solidFill>
          <a:ln/>
        </p:spPr>
        <p:txBody>
          <a:bodyPr/>
          <a:lstStyle/>
          <a:p>
            <a:r>
              <a:rPr lang="en-US" b="1" kern="0" spc="84" dirty="0">
                <a:solidFill>
                  <a:srgbClr val="9C5A12"/>
                </a:solidFill>
                <a:latin typeface="Public Sans" pitchFamily="34" charset="0"/>
                <a:ea typeface="Public Sans" pitchFamily="34" charset="-122"/>
                <a:cs typeface="Public Sans" pitchFamily="34" charset="-120"/>
              </a:rPr>
              <a:t>EARLY IDEATION · NO RESOURCES ASSIGNED</a:t>
            </a:r>
            <a:endParaRPr lang="en-US" dirty="0"/>
          </a:p>
        </p:txBody>
      </p:sp>
      <p:sp>
        <p:nvSpPr>
          <p:cNvPr id="35" name="Text 33"/>
          <p:cNvSpPr/>
          <p:nvPr/>
        </p:nvSpPr>
        <p:spPr>
          <a:xfrm>
            <a:off x="9637395" y="8139337"/>
            <a:ext cx="1708810" cy="493767"/>
          </a:xfrm>
          <a:prstGeom prst="rect">
            <a:avLst/>
          </a:prstGeom>
          <a:noFill/>
          <a:ln/>
        </p:spPr>
        <p:txBody>
          <a:bodyPr wrap="square" lIns="25400" tIns="25400" rIns="25400" bIns="25400" rtlCol="0" anchor="t">
            <a:normAutofit/>
          </a:bodyPr>
          <a:lstStyle/>
          <a:p>
            <a:pPr marL="0" indent="0" algn="l">
              <a:lnSpc>
                <a:spcPct val="100000"/>
              </a:lnSpc>
              <a:buNone/>
            </a:pPr>
            <a:r>
              <a:rPr lang="en-US" sz="1400" dirty="0">
                <a:solidFill>
                  <a:srgbClr val="6B8595"/>
                </a:solidFill>
                <a:latin typeface="Public Sans" pitchFamily="34" charset="0"/>
                <a:ea typeface="Public Sans" pitchFamily="34" charset="-122"/>
                <a:cs typeface="Public Sans" pitchFamily="34" charset="-120"/>
              </a:rPr>
              <a:t>Complexity </a:t>
            </a:r>
            <a:r>
              <a:rPr lang="en-US" sz="1400" b="1" dirty="0">
                <a:solidFill>
                  <a:srgbClr val="013E58"/>
                </a:solidFill>
                <a:latin typeface="Public Sans" pitchFamily="34" charset="0"/>
                <a:ea typeface="Public Sans" pitchFamily="34" charset="-122"/>
                <a:cs typeface="Public Sans" pitchFamily="34" charset="-120"/>
              </a:rPr>
              <a:t>High</a:t>
            </a:r>
            <a:endParaRPr lang="en-US" sz="1400" dirty="0"/>
          </a:p>
        </p:txBody>
      </p:sp>
      <p:sp>
        <p:nvSpPr>
          <p:cNvPr id="36" name="Text 34"/>
          <p:cNvSpPr/>
          <p:nvPr/>
        </p:nvSpPr>
        <p:spPr>
          <a:xfrm>
            <a:off x="11186756" y="8139337"/>
            <a:ext cx="2290705" cy="493767"/>
          </a:xfrm>
          <a:prstGeom prst="rect">
            <a:avLst/>
          </a:prstGeom>
          <a:noFill/>
          <a:ln/>
        </p:spPr>
        <p:txBody>
          <a:bodyPr wrap="square" lIns="25400" tIns="25400" rIns="25400" bIns="25400" rtlCol="0" anchor="t">
            <a:normAutofit/>
          </a:bodyPr>
          <a:lstStyle/>
          <a:p>
            <a:pPr marL="0" indent="0" algn="l">
              <a:lnSpc>
                <a:spcPct val="100000"/>
              </a:lnSpc>
              <a:buNone/>
            </a:pPr>
            <a:r>
              <a:rPr lang="en-US" sz="1400" dirty="0">
                <a:solidFill>
                  <a:srgbClr val="6B8595"/>
                </a:solidFill>
                <a:latin typeface="Public Sans" pitchFamily="34" charset="0"/>
                <a:ea typeface="Public Sans" pitchFamily="34" charset="-122"/>
                <a:cs typeface="Public Sans" pitchFamily="34" charset="-120"/>
              </a:rPr>
              <a:t>Impact </a:t>
            </a:r>
            <a:r>
              <a:rPr lang="en-US" sz="1400" b="1" dirty="0">
                <a:solidFill>
                  <a:srgbClr val="013E58"/>
                </a:solidFill>
                <a:latin typeface="Public Sans" pitchFamily="34" charset="0"/>
                <a:ea typeface="Public Sans" pitchFamily="34" charset="-122"/>
                <a:cs typeface="Public Sans" pitchFamily="34" charset="-120"/>
              </a:rPr>
              <a:t>Mid–long term</a:t>
            </a:r>
            <a:endParaRPr lang="en-US" sz="1400" dirty="0"/>
          </a:p>
        </p:txBody>
      </p:sp>
      <p:sp>
        <p:nvSpPr>
          <p:cNvPr id="37" name="Text 35"/>
          <p:cNvSpPr/>
          <p:nvPr/>
        </p:nvSpPr>
        <p:spPr>
          <a:xfrm>
            <a:off x="914400" y="9715500"/>
            <a:ext cx="3498045" cy="171450"/>
          </a:xfrm>
          <a:prstGeom prst="rect">
            <a:avLst/>
          </a:prstGeom>
          <a:noFill/>
          <a:ln/>
        </p:spPr>
        <p:txBody>
          <a:bodyPr wrap="square" lIns="25400" tIns="25400" rIns="25400" bIns="25400" rtlCol="0" anchor="t">
            <a:normAutofit fontScale="85000" lnSpcReduction="20000"/>
          </a:bodyPr>
          <a:lstStyle/>
          <a:p>
            <a:pPr marL="0" indent="0" algn="l">
              <a:lnSpc>
                <a:spcPct val="100000"/>
              </a:lnSpc>
              <a:buNone/>
            </a:pPr>
            <a:r>
              <a:rPr lang="en-US" sz="1050" b="1" kern="0" spc="126" dirty="0">
                <a:solidFill>
                  <a:srgbClr val="9DB6C2"/>
                </a:solidFill>
                <a:latin typeface="Public Sans" pitchFamily="34" charset="0"/>
                <a:ea typeface="Public Sans" pitchFamily="34" charset="-122"/>
                <a:cs typeface="Public Sans" pitchFamily="34" charset="-120"/>
              </a:rPr>
              <a:t>AI ONTOLOGY READINESS ASSESSMENT</a:t>
            </a:r>
            <a:endParaRPr lang="en-US" sz="1050" dirty="0"/>
          </a:p>
        </p:txBody>
      </p:sp>
      <p:sp>
        <p:nvSpPr>
          <p:cNvPr id="39" name="Shape 2">
            <a:extLst>
              <a:ext uri="{FF2B5EF4-FFF2-40B4-BE49-F238E27FC236}">
                <a16:creationId xmlns:a16="http://schemas.microsoft.com/office/drawing/2014/main" id="{2BF2416B-128C-85D1-2F44-EE61871D678E}"/>
              </a:ext>
            </a:extLst>
          </p:cNvPr>
          <p:cNvSpPr/>
          <p:nvPr/>
        </p:nvSpPr>
        <p:spPr>
          <a:xfrm>
            <a:off x="755376" y="1950927"/>
            <a:ext cx="16459200" cy="9525"/>
          </a:xfrm>
          <a:prstGeom prst="rect">
            <a:avLst/>
          </a:prstGeom>
          <a:solidFill>
            <a:srgbClr val="D7E3E8"/>
          </a:solidFill>
          <a:ln/>
        </p:spPr>
        <p:txBody>
          <a:bodyPr/>
          <a:lstStyle/>
          <a:p>
            <a:endParaRPr lang="en-CA"/>
          </a:p>
        </p:txBody>
      </p:sp>
      <p:sp>
        <p:nvSpPr>
          <p:cNvPr id="40" name="Text 13">
            <a:extLst>
              <a:ext uri="{FF2B5EF4-FFF2-40B4-BE49-F238E27FC236}">
                <a16:creationId xmlns:a16="http://schemas.microsoft.com/office/drawing/2014/main" id="{B42DCA30-6170-F622-3867-310638F9E0A6}"/>
              </a:ext>
            </a:extLst>
          </p:cNvPr>
          <p:cNvSpPr/>
          <p:nvPr/>
        </p:nvSpPr>
        <p:spPr>
          <a:xfrm>
            <a:off x="9584083" y="5664888"/>
            <a:ext cx="7289850" cy="751296"/>
          </a:xfrm>
          <a:prstGeom prst="rect">
            <a:avLst/>
          </a:prstGeom>
          <a:noFill/>
          <a:ln/>
        </p:spPr>
        <p:txBody>
          <a:bodyPr wrap="square" lIns="25400" tIns="25400" rIns="25400" bIns="25400" rtlCol="0" anchor="t">
            <a:noAutofit/>
          </a:bodyPr>
          <a:lstStyle/>
          <a:p>
            <a:pPr>
              <a:lnSpc>
                <a:spcPct val="130000"/>
              </a:lnSpc>
            </a:pPr>
            <a:r>
              <a:rPr lang="en-US" b="1" kern="0" spc="126" dirty="0">
                <a:solidFill>
                  <a:srgbClr val="7C95A3"/>
                </a:solidFill>
                <a:latin typeface="Public Sans" pitchFamily="34" charset="0"/>
                <a:ea typeface="Public Sans" pitchFamily="34" charset="-122"/>
                <a:cs typeface="Public Sans" pitchFamily="34" charset="-120"/>
              </a:rPr>
              <a:t>Use Case: </a:t>
            </a:r>
            <a:r>
              <a:rPr lang="en-US" b="1" dirty="0">
                <a:solidFill>
                  <a:srgbClr val="013E58"/>
                </a:solidFill>
                <a:latin typeface="Public Sans" pitchFamily="34" charset="0"/>
                <a:ea typeface="Public Sans" pitchFamily="34" charset="-122"/>
                <a:cs typeface="Public Sans" pitchFamily="34" charset="-120"/>
              </a:rPr>
              <a:t> </a:t>
            </a:r>
            <a:br>
              <a:rPr lang="en-US" b="1" dirty="0">
                <a:solidFill>
                  <a:srgbClr val="013E58"/>
                </a:solidFill>
                <a:latin typeface="Public Sans" pitchFamily="34" charset="0"/>
                <a:ea typeface="Public Sans" pitchFamily="34" charset="-122"/>
                <a:cs typeface="Public Sans" pitchFamily="34" charset="-120"/>
              </a:rPr>
            </a:br>
            <a:r>
              <a:rPr lang="en-US" b="1" dirty="0">
                <a:solidFill>
                  <a:srgbClr val="013E58"/>
                </a:solidFill>
                <a:latin typeface="Public Sans" pitchFamily="34" charset="0"/>
                <a:ea typeface="Public Sans" pitchFamily="34" charset="-122"/>
                <a:cs typeface="Public Sans" pitchFamily="34" charset="-120"/>
              </a:rPr>
              <a:t>Semantic Firewall  Agent</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7F9"/>
        </a:solidFill>
        <a:effectLst/>
      </p:bgPr>
    </p:bg>
    <p:spTree>
      <p:nvGrpSpPr>
        <p:cNvPr id="1" name=""/>
        <p:cNvGrpSpPr/>
        <p:nvPr/>
      </p:nvGrpSpPr>
      <p:grpSpPr>
        <a:xfrm>
          <a:off x="0" y="0"/>
          <a:ext cx="0" cy="0"/>
          <a:chOff x="0" y="0"/>
          <a:chExt cx="0" cy="0"/>
        </a:xfrm>
      </p:grpSpPr>
      <p:sp>
        <p:nvSpPr>
          <p:cNvPr id="2" name="Text 0"/>
          <p:cNvSpPr/>
          <p:nvPr/>
        </p:nvSpPr>
        <p:spPr>
          <a:xfrm>
            <a:off x="914400" y="400050"/>
            <a:ext cx="16300176" cy="856919"/>
          </a:xfrm>
          <a:prstGeom prst="rect">
            <a:avLst/>
          </a:prstGeom>
          <a:noFill/>
          <a:ln/>
        </p:spPr>
        <p:txBody>
          <a:bodyPr wrap="square" lIns="25400" tIns="25400" rIns="25400" bIns="25400" rtlCol="0" anchor="ctr">
            <a:normAutofit/>
          </a:bodyPr>
          <a:lstStyle/>
          <a:p>
            <a:pPr marL="0" indent="0" algn="l">
              <a:lnSpc>
                <a:spcPct val="100000"/>
              </a:lnSpc>
              <a:buNone/>
            </a:pPr>
            <a:r>
              <a:rPr lang="en-US" sz="3200" b="1" kern="0" spc="297" dirty="0">
                <a:solidFill>
                  <a:srgbClr val="0E83B0"/>
                </a:solidFill>
                <a:latin typeface="Public Sans" pitchFamily="34" charset="0"/>
                <a:ea typeface="Public Sans" pitchFamily="34" charset="-122"/>
                <a:cs typeface="Public Sans" pitchFamily="34" charset="-120"/>
              </a:rPr>
              <a:t>THE AI EVOLUTION ROADMAP – When and How ONTOLOGY</a:t>
            </a:r>
            <a:endParaRPr lang="en-US" sz="3200" dirty="0"/>
          </a:p>
        </p:txBody>
      </p:sp>
      <p:sp>
        <p:nvSpPr>
          <p:cNvPr id="3" name="Text 1"/>
          <p:cNvSpPr/>
          <p:nvPr/>
        </p:nvSpPr>
        <p:spPr>
          <a:xfrm>
            <a:off x="914400" y="1140588"/>
            <a:ext cx="15067722" cy="572929"/>
          </a:xfrm>
          <a:prstGeom prst="rect">
            <a:avLst/>
          </a:prstGeom>
          <a:noFill/>
          <a:ln/>
        </p:spPr>
        <p:txBody>
          <a:bodyPr wrap="square" lIns="25400" tIns="25400" rIns="25400" bIns="25400" rtlCol="0" anchor="t">
            <a:normAutofit fontScale="77500" lnSpcReduction="20000"/>
          </a:bodyPr>
          <a:lstStyle/>
          <a:p>
            <a:pPr marL="0" indent="0" algn="l">
              <a:lnSpc>
                <a:spcPct val="104000"/>
              </a:lnSpc>
              <a:buNone/>
            </a:pPr>
            <a:r>
              <a:rPr lang="en-US" sz="3200" b="1" kern="0" spc="-40" dirty="0">
                <a:solidFill>
                  <a:srgbClr val="004F71"/>
                </a:solidFill>
                <a:latin typeface="Source Serif 4" pitchFamily="34" charset="0"/>
                <a:ea typeface="Source Serif 4" pitchFamily="34" charset="-122"/>
                <a:cs typeface="Source Serif 4" pitchFamily="34" charset="-120"/>
              </a:rPr>
              <a:t>As AI moves from answering to acting, ontology becomes the foundation for trusted automation.</a:t>
            </a:r>
            <a:endParaRPr lang="en-US" sz="3200" dirty="0"/>
          </a:p>
        </p:txBody>
      </p:sp>
      <p:sp>
        <p:nvSpPr>
          <p:cNvPr id="4" name="Text 2"/>
          <p:cNvSpPr/>
          <p:nvPr/>
        </p:nvSpPr>
        <p:spPr>
          <a:xfrm>
            <a:off x="914400" y="2311985"/>
            <a:ext cx="16459200" cy="1105387"/>
          </a:xfrm>
          <a:prstGeom prst="rect">
            <a:avLst/>
          </a:prstGeom>
          <a:noFill/>
          <a:ln/>
        </p:spPr>
        <p:txBody>
          <a:bodyPr wrap="square" lIns="25400" tIns="25400" rIns="25400" bIns="25400" rtlCol="0" anchor="t">
            <a:normAutofit/>
          </a:bodyPr>
          <a:lstStyle/>
          <a:p>
            <a:pPr marL="0" indent="0" algn="l">
              <a:lnSpc>
                <a:spcPct val="145000"/>
              </a:lnSpc>
              <a:buNone/>
            </a:pPr>
            <a:r>
              <a:rPr lang="en-US" sz="2000" dirty="0">
                <a:solidFill>
                  <a:srgbClr val="46596A"/>
                </a:solidFill>
                <a:latin typeface="Public Sans" pitchFamily="34" charset="0"/>
                <a:ea typeface="Public Sans" pitchFamily="34" charset="-122"/>
                <a:cs typeface="Public Sans" pitchFamily="34" charset="-120"/>
              </a:rPr>
              <a:t>As AI moves from answering to acting, the Bank can deliberately define the role of ontology; rather than being pushed into it by accident and accumulating fragmented semantics repositories over time</a:t>
            </a:r>
            <a:endParaRPr lang="en-US" sz="2000" dirty="0">
              <a:solidFill>
                <a:srgbClr val="46596A"/>
              </a:solidFill>
              <a:latin typeface="Public Sans" pitchFamily="34" charset="0"/>
              <a:ea typeface="Public Sans" pitchFamily="34" charset="-122"/>
            </a:endParaRPr>
          </a:p>
        </p:txBody>
      </p:sp>
      <p:sp>
        <p:nvSpPr>
          <p:cNvPr id="5" name="Shape 3"/>
          <p:cNvSpPr/>
          <p:nvPr/>
        </p:nvSpPr>
        <p:spPr>
          <a:xfrm>
            <a:off x="829818" y="4105967"/>
            <a:ext cx="4991100" cy="2446972"/>
          </a:xfrm>
          <a:prstGeom prst="rect">
            <a:avLst/>
          </a:prstGeom>
          <a:solidFill>
            <a:srgbClr val="FFFFFF"/>
          </a:solidFill>
          <a:ln w="28575">
            <a:solidFill>
              <a:srgbClr val="004F71"/>
            </a:solidFill>
            <a:prstDash val="solid"/>
          </a:ln>
        </p:spPr>
        <p:txBody>
          <a:bodyPr/>
          <a:lstStyle/>
          <a:p>
            <a:endParaRPr lang="en-CA"/>
          </a:p>
        </p:txBody>
      </p:sp>
      <p:sp>
        <p:nvSpPr>
          <p:cNvPr id="6" name="Text 4"/>
          <p:cNvSpPr/>
          <p:nvPr/>
        </p:nvSpPr>
        <p:spPr>
          <a:xfrm>
            <a:off x="1155464" y="4273368"/>
            <a:ext cx="388263" cy="640080"/>
          </a:xfrm>
          <a:prstGeom prst="rect">
            <a:avLst/>
          </a:prstGeom>
          <a:noFill/>
          <a:ln/>
        </p:spPr>
        <p:txBody>
          <a:bodyPr wrap="square" lIns="25400" tIns="25400" rIns="25400" bIns="25400" rtlCol="0" anchor="t">
            <a:normAutofit/>
          </a:bodyPr>
          <a:lstStyle/>
          <a:p>
            <a:pPr marL="0" indent="0" algn="l">
              <a:buNone/>
            </a:pPr>
            <a:r>
              <a:rPr lang="en-US" sz="3450" b="1" dirty="0">
                <a:solidFill>
                  <a:srgbClr val="004F71"/>
                </a:solidFill>
                <a:latin typeface="Source Serif 4" pitchFamily="34" charset="0"/>
                <a:ea typeface="Source Serif 4" pitchFamily="34" charset="-122"/>
                <a:cs typeface="Source Serif 4" pitchFamily="34" charset="-120"/>
              </a:rPr>
              <a:t>A</a:t>
            </a:r>
            <a:endParaRPr lang="en-US" sz="3450" dirty="0"/>
          </a:p>
        </p:txBody>
      </p:sp>
      <p:sp>
        <p:nvSpPr>
          <p:cNvPr id="7" name="Shape 5"/>
          <p:cNvSpPr/>
          <p:nvPr/>
        </p:nvSpPr>
        <p:spPr>
          <a:xfrm>
            <a:off x="4451689" y="4409489"/>
            <a:ext cx="1075860" cy="475308"/>
          </a:xfrm>
          <a:prstGeom prst="rect">
            <a:avLst/>
          </a:prstGeom>
          <a:solidFill>
            <a:srgbClr val="004F71"/>
          </a:solidFill>
          <a:ln/>
        </p:spPr>
        <p:txBody>
          <a:bodyPr/>
          <a:lstStyle/>
          <a:p>
            <a:r>
              <a:rPr lang="en-US" b="1" kern="0" spc="98" dirty="0">
                <a:solidFill>
                  <a:srgbClr val="FFFFFF"/>
                </a:solidFill>
                <a:latin typeface="Public Sans" pitchFamily="34" charset="0"/>
                <a:ea typeface="Public Sans" pitchFamily="34" charset="-122"/>
                <a:cs typeface="Public Sans" pitchFamily="34" charset="-120"/>
              </a:rPr>
              <a:t>NOW</a:t>
            </a:r>
            <a:endParaRPr lang="en-US" dirty="0"/>
          </a:p>
        </p:txBody>
      </p:sp>
      <p:sp>
        <p:nvSpPr>
          <p:cNvPr id="9" name="Text 7"/>
          <p:cNvSpPr/>
          <p:nvPr/>
        </p:nvSpPr>
        <p:spPr>
          <a:xfrm>
            <a:off x="1123188" y="4858680"/>
            <a:ext cx="3204675" cy="359083"/>
          </a:xfrm>
          <a:prstGeom prst="rect">
            <a:avLst/>
          </a:prstGeom>
          <a:noFill/>
          <a:ln/>
        </p:spPr>
        <p:txBody>
          <a:bodyPr wrap="square" lIns="25400" tIns="25400" rIns="25400" bIns="25400" rtlCol="0" anchor="t">
            <a:normAutofit/>
          </a:bodyPr>
          <a:lstStyle/>
          <a:p>
            <a:pPr marL="0" indent="0" algn="l">
              <a:lnSpc>
                <a:spcPct val="130000"/>
              </a:lnSpc>
              <a:buNone/>
            </a:pPr>
            <a:r>
              <a:rPr lang="en-US" sz="1400" b="1" kern="0" spc="68" dirty="0">
                <a:solidFill>
                  <a:srgbClr val="0E83B0"/>
                </a:solidFill>
                <a:latin typeface="Public Sans" pitchFamily="34" charset="0"/>
                <a:ea typeface="Public Sans" pitchFamily="34" charset="-122"/>
                <a:cs typeface="Public Sans" pitchFamily="34" charset="-120"/>
              </a:rPr>
              <a:t>AI FOR PRODUCTIVITY</a:t>
            </a:r>
            <a:endParaRPr lang="en-US" sz="1400" dirty="0"/>
          </a:p>
        </p:txBody>
      </p:sp>
      <p:sp>
        <p:nvSpPr>
          <p:cNvPr id="10" name="Text 8"/>
          <p:cNvSpPr/>
          <p:nvPr/>
        </p:nvSpPr>
        <p:spPr>
          <a:xfrm>
            <a:off x="1123188" y="5232456"/>
            <a:ext cx="4536491" cy="464187"/>
          </a:xfrm>
          <a:prstGeom prst="rect">
            <a:avLst/>
          </a:prstGeom>
          <a:noFill/>
          <a:ln/>
        </p:spPr>
        <p:txBody>
          <a:bodyPr wrap="square" lIns="25400" tIns="25400" rIns="25400" bIns="25400" rtlCol="0" anchor="t">
            <a:normAutofit/>
          </a:bodyPr>
          <a:lstStyle/>
          <a:p>
            <a:pPr marL="0" indent="0" algn="l">
              <a:lnSpc>
                <a:spcPct val="125000"/>
              </a:lnSpc>
              <a:buNone/>
            </a:pPr>
            <a:r>
              <a:rPr lang="en-US" b="1" dirty="0">
                <a:solidFill>
                  <a:srgbClr val="013E58"/>
                </a:solidFill>
                <a:latin typeface="Public Sans" pitchFamily="34" charset="0"/>
                <a:ea typeface="Public Sans" pitchFamily="34" charset="-122"/>
                <a:cs typeface="Public Sans" pitchFamily="34" charset="-120"/>
              </a:rPr>
              <a:t>Ontology as a Supporting capability</a:t>
            </a:r>
            <a:endParaRPr lang="en-US" dirty="0"/>
          </a:p>
        </p:txBody>
      </p:sp>
      <p:sp>
        <p:nvSpPr>
          <p:cNvPr id="11" name="Text 9"/>
          <p:cNvSpPr/>
          <p:nvPr/>
        </p:nvSpPr>
        <p:spPr>
          <a:xfrm>
            <a:off x="1123188" y="5666161"/>
            <a:ext cx="4536491" cy="731047"/>
          </a:xfrm>
          <a:prstGeom prst="rect">
            <a:avLst/>
          </a:prstGeom>
          <a:noFill/>
          <a:ln/>
        </p:spPr>
        <p:txBody>
          <a:bodyPr wrap="square" lIns="25400" tIns="25400" rIns="25400" bIns="25400" rtlCol="0" anchor="t">
            <a:normAutofit/>
          </a:bodyPr>
          <a:lstStyle/>
          <a:p>
            <a:pPr marL="0" indent="0" algn="l">
              <a:buNone/>
            </a:pPr>
            <a:r>
              <a:rPr lang="en-US" dirty="0">
                <a:solidFill>
                  <a:srgbClr val="46596A"/>
                </a:solidFill>
                <a:latin typeface="Public Sans" pitchFamily="34" charset="0"/>
                <a:ea typeface="Public Sans" pitchFamily="34" charset="-122"/>
                <a:cs typeface="Public Sans" pitchFamily="34" charset="-120"/>
              </a:rPr>
              <a:t>Applied in specific, high-value AI use cases, embedded in solutions as a targeted enabler.</a:t>
            </a:r>
            <a:endParaRPr lang="en-US" dirty="0"/>
          </a:p>
        </p:txBody>
      </p:sp>
      <p:sp>
        <p:nvSpPr>
          <p:cNvPr id="13" name="Shape 11"/>
          <p:cNvSpPr/>
          <p:nvPr/>
        </p:nvSpPr>
        <p:spPr>
          <a:xfrm>
            <a:off x="6563868" y="4105967"/>
            <a:ext cx="4991100" cy="2446972"/>
          </a:xfrm>
          <a:prstGeom prst="rect">
            <a:avLst/>
          </a:prstGeom>
          <a:solidFill>
            <a:srgbClr val="FFFFFF"/>
          </a:solidFill>
          <a:ln w="38100">
            <a:solidFill>
              <a:srgbClr val="0E83B0"/>
            </a:solidFill>
            <a:prstDash val="solid"/>
          </a:ln>
        </p:spPr>
        <p:txBody>
          <a:bodyPr/>
          <a:lstStyle/>
          <a:p>
            <a:endParaRPr lang="en-CA"/>
          </a:p>
        </p:txBody>
      </p:sp>
      <p:sp>
        <p:nvSpPr>
          <p:cNvPr id="14" name="Text 12"/>
          <p:cNvSpPr/>
          <p:nvPr/>
        </p:nvSpPr>
        <p:spPr>
          <a:xfrm>
            <a:off x="6857238" y="4336202"/>
            <a:ext cx="377309" cy="640080"/>
          </a:xfrm>
          <a:prstGeom prst="rect">
            <a:avLst/>
          </a:prstGeom>
          <a:noFill/>
          <a:ln/>
        </p:spPr>
        <p:txBody>
          <a:bodyPr wrap="square" lIns="25400" tIns="25400" rIns="25400" bIns="25400" rtlCol="0" anchor="t">
            <a:normAutofit/>
          </a:bodyPr>
          <a:lstStyle/>
          <a:p>
            <a:pPr marL="0" indent="0" algn="l">
              <a:buNone/>
            </a:pPr>
            <a:r>
              <a:rPr lang="en-US" sz="3450" b="1" dirty="0">
                <a:solidFill>
                  <a:srgbClr val="0E83B0"/>
                </a:solidFill>
                <a:latin typeface="Source Serif 4" pitchFamily="34" charset="0"/>
                <a:ea typeface="Source Serif 4" pitchFamily="34" charset="-122"/>
                <a:cs typeface="Source Serif 4" pitchFamily="34" charset="-120"/>
              </a:rPr>
              <a:t>B</a:t>
            </a:r>
            <a:endParaRPr lang="en-US" sz="3450" dirty="0">
              <a:solidFill>
                <a:srgbClr val="0E83B0"/>
              </a:solidFill>
            </a:endParaRPr>
          </a:p>
        </p:txBody>
      </p:sp>
      <p:sp>
        <p:nvSpPr>
          <p:cNvPr id="15" name="Shape 13"/>
          <p:cNvSpPr/>
          <p:nvPr/>
        </p:nvSpPr>
        <p:spPr>
          <a:xfrm>
            <a:off x="10318376" y="4380288"/>
            <a:ext cx="943224" cy="439102"/>
          </a:xfrm>
          <a:prstGeom prst="rect">
            <a:avLst/>
          </a:prstGeom>
          <a:solidFill>
            <a:srgbClr val="0E83B0"/>
          </a:solidFill>
          <a:ln/>
        </p:spPr>
        <p:txBody>
          <a:bodyPr/>
          <a:lstStyle/>
          <a:p>
            <a:r>
              <a:rPr lang="en-US" b="1" dirty="0">
                <a:solidFill>
                  <a:schemeClr val="bg1"/>
                </a:solidFill>
              </a:rPr>
              <a:t>NEXT</a:t>
            </a:r>
            <a:endParaRPr lang="en-CA" b="1" dirty="0">
              <a:solidFill>
                <a:schemeClr val="bg1"/>
              </a:solidFill>
            </a:endParaRPr>
          </a:p>
        </p:txBody>
      </p:sp>
      <p:sp>
        <p:nvSpPr>
          <p:cNvPr id="17" name="Text 15"/>
          <p:cNvSpPr/>
          <p:nvPr/>
        </p:nvSpPr>
        <p:spPr>
          <a:xfrm>
            <a:off x="6857238" y="4903612"/>
            <a:ext cx="4404362" cy="422609"/>
          </a:xfrm>
          <a:prstGeom prst="rect">
            <a:avLst/>
          </a:prstGeom>
          <a:noFill/>
          <a:ln/>
        </p:spPr>
        <p:txBody>
          <a:bodyPr wrap="square" lIns="25400" tIns="25400" rIns="25400" bIns="25400" rtlCol="0" anchor="t">
            <a:normAutofit/>
          </a:bodyPr>
          <a:lstStyle/>
          <a:p>
            <a:pPr>
              <a:lnSpc>
                <a:spcPct val="130000"/>
              </a:lnSpc>
            </a:pPr>
            <a:r>
              <a:rPr lang="en-US" sz="1400" b="1" kern="0" spc="68" dirty="0">
                <a:solidFill>
                  <a:srgbClr val="0E83B0"/>
                </a:solidFill>
                <a:latin typeface="Public Sans" pitchFamily="34" charset="0"/>
                <a:ea typeface="Public Sans" pitchFamily="34" charset="-122"/>
              </a:rPr>
              <a:t>AI FOR ASSISTED AUTOMATION</a:t>
            </a:r>
          </a:p>
        </p:txBody>
      </p:sp>
      <p:sp>
        <p:nvSpPr>
          <p:cNvPr id="18" name="Text 16"/>
          <p:cNvSpPr/>
          <p:nvPr/>
        </p:nvSpPr>
        <p:spPr>
          <a:xfrm>
            <a:off x="6865885" y="5246961"/>
            <a:ext cx="4844796" cy="422609"/>
          </a:xfrm>
          <a:prstGeom prst="rect">
            <a:avLst/>
          </a:prstGeom>
          <a:noFill/>
          <a:ln/>
        </p:spPr>
        <p:txBody>
          <a:bodyPr wrap="square" lIns="25400" tIns="25400" rIns="25400" bIns="25400" rtlCol="0" anchor="t">
            <a:normAutofit/>
          </a:bodyPr>
          <a:lstStyle/>
          <a:p>
            <a:pPr>
              <a:lnSpc>
                <a:spcPct val="125000"/>
              </a:lnSpc>
            </a:pPr>
            <a:r>
              <a:rPr lang="en-US" b="1" dirty="0">
                <a:solidFill>
                  <a:srgbClr val="013E58"/>
                </a:solidFill>
                <a:latin typeface="Public Sans" pitchFamily="34" charset="0"/>
                <a:ea typeface="Public Sans" pitchFamily="34" charset="-122"/>
              </a:rPr>
              <a:t>Domain semantic layer</a:t>
            </a:r>
          </a:p>
        </p:txBody>
      </p:sp>
      <p:sp>
        <p:nvSpPr>
          <p:cNvPr id="19" name="Text 17"/>
          <p:cNvSpPr/>
          <p:nvPr/>
        </p:nvSpPr>
        <p:spPr>
          <a:xfrm>
            <a:off x="6812048" y="5617035"/>
            <a:ext cx="4536491" cy="562928"/>
          </a:xfrm>
          <a:prstGeom prst="rect">
            <a:avLst/>
          </a:prstGeom>
          <a:noFill/>
          <a:ln/>
        </p:spPr>
        <p:txBody>
          <a:bodyPr wrap="square" lIns="25400" tIns="25400" rIns="25400" bIns="25400" rtlCol="0" anchor="t">
            <a:normAutofit fontScale="92500" lnSpcReduction="10000"/>
          </a:bodyPr>
          <a:lstStyle/>
          <a:p>
            <a:r>
              <a:rPr lang="en-US" dirty="0">
                <a:solidFill>
                  <a:srgbClr val="46596A"/>
                </a:solidFill>
                <a:latin typeface="Public Sans" pitchFamily="34" charset="0"/>
                <a:ea typeface="Public Sans" pitchFamily="34" charset="-122"/>
              </a:rPr>
              <a:t>The shared business vocabulary connecting data, process, policy and agents.</a:t>
            </a:r>
          </a:p>
        </p:txBody>
      </p:sp>
      <p:sp>
        <p:nvSpPr>
          <p:cNvPr id="21" name="Shape 19"/>
          <p:cNvSpPr/>
          <p:nvPr/>
        </p:nvSpPr>
        <p:spPr>
          <a:xfrm>
            <a:off x="12297918" y="4105967"/>
            <a:ext cx="4991100" cy="2446972"/>
          </a:xfrm>
          <a:prstGeom prst="rect">
            <a:avLst/>
          </a:prstGeom>
          <a:solidFill>
            <a:schemeClr val="accent1">
              <a:lumMod val="20000"/>
              <a:lumOff val="80000"/>
            </a:schemeClr>
          </a:solidFill>
          <a:ln w="38100">
            <a:solidFill>
              <a:schemeClr val="tx2"/>
            </a:solidFill>
            <a:prstDash val="solid"/>
          </a:ln>
        </p:spPr>
        <p:txBody>
          <a:bodyPr/>
          <a:lstStyle/>
          <a:p>
            <a:endParaRPr lang="en-CA"/>
          </a:p>
        </p:txBody>
      </p:sp>
      <p:sp>
        <p:nvSpPr>
          <p:cNvPr id="22" name="Text 20"/>
          <p:cNvSpPr/>
          <p:nvPr/>
        </p:nvSpPr>
        <p:spPr>
          <a:xfrm>
            <a:off x="12591288" y="4380287"/>
            <a:ext cx="367665" cy="640080"/>
          </a:xfrm>
          <a:prstGeom prst="rect">
            <a:avLst/>
          </a:prstGeom>
          <a:noFill/>
          <a:ln/>
        </p:spPr>
        <p:txBody>
          <a:bodyPr wrap="square" lIns="25400" tIns="25400" rIns="25400" bIns="25400" rtlCol="0" anchor="t">
            <a:normAutofit/>
          </a:bodyPr>
          <a:lstStyle/>
          <a:p>
            <a:pPr marL="0" indent="0" algn="l">
              <a:buNone/>
            </a:pPr>
            <a:r>
              <a:rPr lang="en-US" sz="3450" b="1" dirty="0">
                <a:solidFill>
                  <a:schemeClr val="tx2"/>
                </a:solidFill>
                <a:latin typeface="Source Serif 4" pitchFamily="34" charset="0"/>
                <a:ea typeface="Source Serif 4" pitchFamily="34" charset="-122"/>
                <a:cs typeface="Source Serif 4" pitchFamily="34" charset="-120"/>
              </a:rPr>
              <a:t>C</a:t>
            </a:r>
            <a:endParaRPr lang="en-US" sz="3450" dirty="0">
              <a:solidFill>
                <a:schemeClr val="tx2"/>
              </a:solidFill>
            </a:endParaRPr>
          </a:p>
        </p:txBody>
      </p:sp>
      <p:sp>
        <p:nvSpPr>
          <p:cNvPr id="23" name="Shape 21"/>
          <p:cNvSpPr/>
          <p:nvPr/>
        </p:nvSpPr>
        <p:spPr>
          <a:xfrm>
            <a:off x="15897541" y="4409490"/>
            <a:ext cx="1098108" cy="417520"/>
          </a:xfrm>
          <a:prstGeom prst="rect">
            <a:avLst/>
          </a:prstGeom>
          <a:solidFill>
            <a:srgbClr val="FFFFFF"/>
          </a:solidFill>
          <a:ln w="7620">
            <a:solidFill>
              <a:srgbClr val="D7E3E8"/>
            </a:solidFill>
            <a:prstDash val="solid"/>
          </a:ln>
        </p:spPr>
        <p:txBody>
          <a:bodyPr/>
          <a:lstStyle/>
          <a:p>
            <a:r>
              <a:rPr lang="en-US" b="1" dirty="0">
                <a:solidFill>
                  <a:schemeClr val="tx2"/>
                </a:solidFill>
              </a:rPr>
              <a:t>FUTURE</a:t>
            </a:r>
            <a:endParaRPr lang="en-CA" b="1" dirty="0">
              <a:solidFill>
                <a:schemeClr val="tx2"/>
              </a:solidFill>
            </a:endParaRPr>
          </a:p>
        </p:txBody>
      </p:sp>
      <p:sp>
        <p:nvSpPr>
          <p:cNvPr id="25" name="Text 23"/>
          <p:cNvSpPr/>
          <p:nvPr/>
        </p:nvSpPr>
        <p:spPr>
          <a:xfrm>
            <a:off x="12577572" y="4913448"/>
            <a:ext cx="4844796" cy="357188"/>
          </a:xfrm>
          <a:prstGeom prst="rect">
            <a:avLst/>
          </a:prstGeom>
          <a:noFill/>
          <a:ln/>
        </p:spPr>
        <p:txBody>
          <a:bodyPr wrap="square" lIns="25400" tIns="25400" rIns="25400" bIns="25400" rtlCol="0" anchor="t">
            <a:normAutofit/>
          </a:bodyPr>
          <a:lstStyle/>
          <a:p>
            <a:pPr>
              <a:lnSpc>
                <a:spcPct val="130000"/>
              </a:lnSpc>
            </a:pPr>
            <a:r>
              <a:rPr lang="en-US" sz="1400" b="1" kern="0" spc="68" dirty="0">
                <a:solidFill>
                  <a:srgbClr val="0E83B0"/>
                </a:solidFill>
                <a:latin typeface="Public Sans" pitchFamily="34" charset="0"/>
                <a:ea typeface="Public Sans" pitchFamily="34" charset="-122"/>
              </a:rPr>
              <a:t>AI FOR AUTONOMOUS AUTOMATION</a:t>
            </a:r>
          </a:p>
        </p:txBody>
      </p:sp>
      <p:sp>
        <p:nvSpPr>
          <p:cNvPr id="26" name="Text 24"/>
          <p:cNvSpPr/>
          <p:nvPr/>
        </p:nvSpPr>
        <p:spPr>
          <a:xfrm>
            <a:off x="12591288" y="5229917"/>
            <a:ext cx="4844796" cy="485775"/>
          </a:xfrm>
          <a:prstGeom prst="rect">
            <a:avLst/>
          </a:prstGeom>
          <a:noFill/>
          <a:ln/>
        </p:spPr>
        <p:txBody>
          <a:bodyPr wrap="square" lIns="25400" tIns="25400" rIns="25400" bIns="25400" rtlCol="0" anchor="t">
            <a:normAutofit/>
          </a:bodyPr>
          <a:lstStyle/>
          <a:p>
            <a:pPr>
              <a:lnSpc>
                <a:spcPct val="125000"/>
              </a:lnSpc>
            </a:pPr>
            <a:r>
              <a:rPr lang="en-US" b="1" dirty="0">
                <a:solidFill>
                  <a:srgbClr val="013E58"/>
                </a:solidFill>
                <a:latin typeface="Public Sans" pitchFamily="34" charset="0"/>
                <a:ea typeface="Public Sans" pitchFamily="34" charset="-122"/>
              </a:rPr>
              <a:t>AI infrastructure layer</a:t>
            </a:r>
          </a:p>
        </p:txBody>
      </p:sp>
      <p:sp>
        <p:nvSpPr>
          <p:cNvPr id="27" name="Text 25"/>
          <p:cNvSpPr/>
          <p:nvPr/>
        </p:nvSpPr>
        <p:spPr>
          <a:xfrm>
            <a:off x="12591288" y="5587105"/>
            <a:ext cx="4536491" cy="729615"/>
          </a:xfrm>
          <a:prstGeom prst="rect">
            <a:avLst/>
          </a:prstGeom>
          <a:noFill/>
          <a:ln/>
        </p:spPr>
        <p:txBody>
          <a:bodyPr wrap="square" lIns="25400" tIns="25400" rIns="25400" bIns="25400" rtlCol="0" anchor="t">
            <a:normAutofit/>
          </a:bodyPr>
          <a:lstStyle/>
          <a:p>
            <a:r>
              <a:rPr lang="en-US" dirty="0">
                <a:solidFill>
                  <a:srgbClr val="46596A"/>
                </a:solidFill>
                <a:latin typeface="Public Sans" pitchFamily="34" charset="0"/>
                <a:ea typeface="Public Sans" pitchFamily="34" charset="-122"/>
              </a:rPr>
              <a:t>The semantic foundation for governing agent actions and agent-to-agent work.</a:t>
            </a:r>
          </a:p>
        </p:txBody>
      </p:sp>
      <p:sp>
        <p:nvSpPr>
          <p:cNvPr id="28" name="Shape 26"/>
          <p:cNvSpPr/>
          <p:nvPr/>
        </p:nvSpPr>
        <p:spPr>
          <a:xfrm>
            <a:off x="829818" y="6800589"/>
            <a:ext cx="10725150" cy="505063"/>
          </a:xfrm>
          <a:prstGeom prst="rect">
            <a:avLst/>
          </a:prstGeom>
          <a:solidFill>
            <a:srgbClr val="E4EEF2"/>
          </a:solidFill>
          <a:ln/>
        </p:spPr>
        <p:txBody>
          <a:bodyPr/>
          <a:lstStyle/>
          <a:p>
            <a:r>
              <a:rPr lang="en-US" b="1" dirty="0">
                <a:solidFill>
                  <a:srgbClr val="004F71"/>
                </a:solidFill>
                <a:latin typeface="Public Sans" pitchFamily="34" charset="0"/>
                <a:ea typeface="Public Sans" pitchFamily="34" charset="-122"/>
                <a:cs typeface="Public Sans" pitchFamily="34" charset="-120"/>
              </a:rPr>
              <a:t>Pattern 1 MBD &amp; FMBO Operational Intelligence Agent - </a:t>
            </a:r>
            <a:r>
              <a:rPr lang="en-US" dirty="0">
                <a:solidFill>
                  <a:srgbClr val="3C5360"/>
                </a:solidFill>
                <a:latin typeface="Public Sans" pitchFamily="34" charset="0"/>
                <a:ea typeface="Public Sans" pitchFamily="34" charset="-122"/>
                <a:cs typeface="Public Sans" pitchFamily="34" charset="-120"/>
              </a:rPr>
              <a:t>tests the A→B progression</a:t>
            </a:r>
            <a:endParaRPr lang="en-CA" dirty="0"/>
          </a:p>
        </p:txBody>
      </p:sp>
      <p:sp>
        <p:nvSpPr>
          <p:cNvPr id="29" name="Text 27"/>
          <p:cNvSpPr/>
          <p:nvPr/>
        </p:nvSpPr>
        <p:spPr>
          <a:xfrm>
            <a:off x="1651915" y="8230906"/>
            <a:ext cx="14984170" cy="571500"/>
          </a:xfrm>
          <a:prstGeom prst="rect">
            <a:avLst/>
          </a:prstGeom>
          <a:noFill/>
          <a:ln/>
        </p:spPr>
        <p:txBody>
          <a:bodyPr wrap="square" lIns="25400" tIns="25400" rIns="25400" bIns="25400" rtlCol="0" anchor="t">
            <a:normAutofit/>
          </a:bodyPr>
          <a:lstStyle/>
          <a:p>
            <a:pPr marL="0" indent="0" algn="l">
              <a:lnSpc>
                <a:spcPct val="140000"/>
              </a:lnSpc>
              <a:buNone/>
            </a:pPr>
            <a:r>
              <a:rPr lang="en-US" sz="2400" dirty="0">
                <a:solidFill>
                  <a:srgbClr val="3C5360"/>
                </a:solidFill>
                <a:latin typeface="Public Sans" pitchFamily="34" charset="0"/>
                <a:ea typeface="Public Sans" pitchFamily="34" charset="-122"/>
                <a:cs typeface="Public Sans" pitchFamily="34" charset="-120"/>
              </a:rPr>
              <a:t>The goal at each stage is </a:t>
            </a:r>
            <a:r>
              <a:rPr lang="en-US" sz="2400" i="1" dirty="0">
                <a:solidFill>
                  <a:srgbClr val="0E83B0"/>
                </a:solidFill>
                <a:latin typeface="Public Sans" pitchFamily="34" charset="0"/>
                <a:ea typeface="Public Sans" pitchFamily="34" charset="-122"/>
                <a:cs typeface="Public Sans" pitchFamily="34" charset="-120"/>
              </a:rPr>
              <a:t>sufficient precision for safe AI automation </a:t>
            </a:r>
            <a:r>
              <a:rPr lang="en-US" sz="2400" dirty="0">
                <a:solidFill>
                  <a:srgbClr val="3C5360"/>
                </a:solidFill>
                <a:latin typeface="Public Sans" pitchFamily="34" charset="0"/>
                <a:ea typeface="Public Sans" pitchFamily="34" charset="-122"/>
                <a:cs typeface="Public Sans" pitchFamily="34" charset="-120"/>
              </a:rPr>
              <a:t>— not a complete Enterprise ontology deployment.</a:t>
            </a:r>
            <a:endParaRPr lang="en-US" sz="2400" dirty="0"/>
          </a:p>
        </p:txBody>
      </p:sp>
      <p:sp>
        <p:nvSpPr>
          <p:cNvPr id="30" name="Text 28"/>
          <p:cNvSpPr/>
          <p:nvPr/>
        </p:nvSpPr>
        <p:spPr>
          <a:xfrm>
            <a:off x="914400" y="9715500"/>
            <a:ext cx="3498045" cy="171450"/>
          </a:xfrm>
          <a:prstGeom prst="rect">
            <a:avLst/>
          </a:prstGeom>
          <a:noFill/>
          <a:ln/>
        </p:spPr>
        <p:txBody>
          <a:bodyPr wrap="square" lIns="25400" tIns="25400" rIns="25400" bIns="25400" rtlCol="0" anchor="t">
            <a:normAutofit fontScale="85000" lnSpcReduction="20000"/>
          </a:bodyPr>
          <a:lstStyle/>
          <a:p>
            <a:pPr marL="0" indent="0" algn="l">
              <a:lnSpc>
                <a:spcPct val="100000"/>
              </a:lnSpc>
              <a:buNone/>
            </a:pPr>
            <a:r>
              <a:rPr lang="en-US" sz="1050" b="1" kern="0" spc="126" dirty="0">
                <a:solidFill>
                  <a:srgbClr val="9DB6C2"/>
                </a:solidFill>
                <a:latin typeface="Public Sans" pitchFamily="34" charset="0"/>
                <a:ea typeface="Public Sans" pitchFamily="34" charset="-122"/>
                <a:cs typeface="Public Sans" pitchFamily="34" charset="-120"/>
              </a:rPr>
              <a:t>AI ONTOLOGY READINESS ASSESSMENT</a:t>
            </a:r>
            <a:endParaRPr lang="en-US" sz="1050" dirty="0"/>
          </a:p>
        </p:txBody>
      </p:sp>
      <p:sp>
        <p:nvSpPr>
          <p:cNvPr id="32" name="Shape 2">
            <a:extLst>
              <a:ext uri="{FF2B5EF4-FFF2-40B4-BE49-F238E27FC236}">
                <a16:creationId xmlns:a16="http://schemas.microsoft.com/office/drawing/2014/main" id="{06169A70-5D01-E1AA-E06D-3EE66A3702D1}"/>
              </a:ext>
            </a:extLst>
          </p:cNvPr>
          <p:cNvSpPr/>
          <p:nvPr/>
        </p:nvSpPr>
        <p:spPr>
          <a:xfrm>
            <a:off x="755376" y="1950927"/>
            <a:ext cx="16459200" cy="9525"/>
          </a:xfrm>
          <a:prstGeom prst="rect">
            <a:avLst/>
          </a:prstGeom>
          <a:solidFill>
            <a:srgbClr val="D7E3E8"/>
          </a:solidFill>
          <a:ln/>
        </p:spPr>
        <p:txBody>
          <a:bodyPr/>
          <a:lstStyle/>
          <a:p>
            <a:endParaRPr lang="en-CA"/>
          </a:p>
        </p:txBody>
      </p:sp>
      <p:cxnSp>
        <p:nvCxnSpPr>
          <p:cNvPr id="36" name="Straight Arrow Connector 35">
            <a:extLst>
              <a:ext uri="{FF2B5EF4-FFF2-40B4-BE49-F238E27FC236}">
                <a16:creationId xmlns:a16="http://schemas.microsoft.com/office/drawing/2014/main" id="{F71D4D4B-5BC9-B512-F1C0-CBF2E8EC523E}"/>
              </a:ext>
            </a:extLst>
          </p:cNvPr>
          <p:cNvCxnSpPr>
            <a:stCxn id="7" idx="3"/>
          </p:cNvCxnSpPr>
          <p:nvPr/>
        </p:nvCxnSpPr>
        <p:spPr>
          <a:xfrm>
            <a:off x="5527549" y="4647143"/>
            <a:ext cx="1036319" cy="0"/>
          </a:xfrm>
          <a:prstGeom prst="straightConnector1">
            <a:avLst/>
          </a:prstGeom>
          <a:ln w="76200">
            <a:solidFill>
              <a:srgbClr val="004F7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F5FF16CA-F009-67E4-592C-446B1E8581EE}"/>
              </a:ext>
            </a:extLst>
          </p:cNvPr>
          <p:cNvCxnSpPr>
            <a:cxnSpLocks/>
            <a:stCxn id="15" idx="3"/>
          </p:cNvCxnSpPr>
          <p:nvPr/>
        </p:nvCxnSpPr>
        <p:spPr>
          <a:xfrm>
            <a:off x="11261600" y="4599839"/>
            <a:ext cx="1036318" cy="0"/>
          </a:xfrm>
          <a:prstGeom prst="straightConnector1">
            <a:avLst/>
          </a:prstGeom>
          <a:ln w="76200">
            <a:solidFill>
              <a:srgbClr val="0E83B0"/>
            </a:solidFill>
            <a:tailEnd type="triangle"/>
          </a:ln>
        </p:spPr>
        <p:style>
          <a:lnRef idx="1">
            <a:schemeClr val="accent1"/>
          </a:lnRef>
          <a:fillRef idx="0">
            <a:schemeClr val="accent1"/>
          </a:fillRef>
          <a:effectRef idx="0">
            <a:schemeClr val="accent1"/>
          </a:effectRef>
          <a:fontRef idx="minor">
            <a:schemeClr val="tx1"/>
          </a:fontRef>
        </p:style>
      </p:cxnSp>
      <p:sp>
        <p:nvSpPr>
          <p:cNvPr id="41" name="Shape 26">
            <a:extLst>
              <a:ext uri="{FF2B5EF4-FFF2-40B4-BE49-F238E27FC236}">
                <a16:creationId xmlns:a16="http://schemas.microsoft.com/office/drawing/2014/main" id="{40D326B5-BE43-6381-6820-009E2CBB4374}"/>
              </a:ext>
            </a:extLst>
          </p:cNvPr>
          <p:cNvSpPr/>
          <p:nvPr/>
        </p:nvSpPr>
        <p:spPr>
          <a:xfrm>
            <a:off x="8163339" y="7376739"/>
            <a:ext cx="9272745" cy="505063"/>
          </a:xfrm>
          <a:prstGeom prst="rect">
            <a:avLst/>
          </a:prstGeom>
          <a:solidFill>
            <a:srgbClr val="E4EEF2"/>
          </a:solidFill>
          <a:ln/>
        </p:spPr>
        <p:txBody>
          <a:bodyPr/>
          <a:lstStyle/>
          <a:p>
            <a:r>
              <a:rPr lang="en-US" b="1" dirty="0">
                <a:solidFill>
                  <a:srgbClr val="004F71"/>
                </a:solidFill>
                <a:latin typeface="Public Sans" pitchFamily="34" charset="0"/>
                <a:ea typeface="Public Sans" pitchFamily="34" charset="-122"/>
                <a:cs typeface="Public Sans" pitchFamily="34" charset="-120"/>
              </a:rPr>
              <a:t>Pattern 2 Semantic Firewall  Agent - </a:t>
            </a:r>
            <a:r>
              <a:rPr lang="en-US" dirty="0">
                <a:solidFill>
                  <a:srgbClr val="3C5360"/>
                </a:solidFill>
                <a:latin typeface="Public Sans" pitchFamily="34" charset="0"/>
                <a:ea typeface="Public Sans" pitchFamily="34" charset="-122"/>
                <a:cs typeface="Public Sans" pitchFamily="34" charset="-120"/>
              </a:rPr>
              <a:t>tests whether, when and how C is justified</a:t>
            </a:r>
            <a:endParaRPr lang="en-CA" dirty="0"/>
          </a:p>
        </p:txBody>
      </p:sp>
      <p:sp>
        <p:nvSpPr>
          <p:cNvPr id="42" name="Shape 26">
            <a:extLst>
              <a:ext uri="{FF2B5EF4-FFF2-40B4-BE49-F238E27FC236}">
                <a16:creationId xmlns:a16="http://schemas.microsoft.com/office/drawing/2014/main" id="{9D61B4E7-BCFF-F980-155B-DA4061275E06}"/>
              </a:ext>
            </a:extLst>
          </p:cNvPr>
          <p:cNvSpPr/>
          <p:nvPr/>
        </p:nvSpPr>
        <p:spPr>
          <a:xfrm>
            <a:off x="829819" y="3628126"/>
            <a:ext cx="16297960" cy="258291"/>
          </a:xfrm>
          <a:prstGeom prst="rect">
            <a:avLst/>
          </a:prstGeom>
          <a:solidFill>
            <a:srgbClr val="E4EEF2"/>
          </a:solidFill>
          <a:ln/>
        </p:spPr>
        <p:txBody>
          <a:bodyPr anchor="ctr"/>
          <a:lstStyle/>
          <a:p>
            <a:pPr algn="ctr"/>
            <a:r>
              <a:rPr lang="en-US" b="1" dirty="0">
                <a:solidFill>
                  <a:srgbClr val="004F71"/>
                </a:solidFill>
                <a:latin typeface="Public Sans" pitchFamily="34" charset="0"/>
                <a:ea typeface="Public Sans" pitchFamily="34" charset="-122"/>
                <a:cs typeface="Public Sans" pitchFamily="34" charset="-120"/>
              </a:rPr>
              <a:t>AI Evolution from AI answering to AI Acting described in three phases</a:t>
            </a:r>
            <a:endParaRPr lang="en-CA"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7F9"/>
        </a:solidFill>
        <a:effectLst/>
      </p:bgPr>
    </p:bg>
    <p:spTree>
      <p:nvGrpSpPr>
        <p:cNvPr id="1" name=""/>
        <p:cNvGrpSpPr/>
        <p:nvPr/>
      </p:nvGrpSpPr>
      <p:grpSpPr>
        <a:xfrm>
          <a:off x="0" y="0"/>
          <a:ext cx="0" cy="0"/>
          <a:chOff x="0" y="0"/>
          <a:chExt cx="0" cy="0"/>
        </a:xfrm>
      </p:grpSpPr>
      <p:sp>
        <p:nvSpPr>
          <p:cNvPr id="2" name="Text 0"/>
          <p:cNvSpPr/>
          <p:nvPr/>
        </p:nvSpPr>
        <p:spPr>
          <a:xfrm>
            <a:off x="914400" y="1123712"/>
            <a:ext cx="15465287" cy="501491"/>
          </a:xfrm>
          <a:prstGeom prst="rect">
            <a:avLst/>
          </a:prstGeom>
          <a:noFill/>
          <a:ln/>
        </p:spPr>
        <p:txBody>
          <a:bodyPr wrap="square" lIns="25400" tIns="25400" rIns="25400" bIns="25400" rtlCol="0" anchor="ctr">
            <a:normAutofit/>
          </a:bodyPr>
          <a:lstStyle/>
          <a:p>
            <a:pPr marL="0" indent="0" algn="l">
              <a:lnSpc>
                <a:spcPct val="100000"/>
              </a:lnSpc>
              <a:buNone/>
            </a:pPr>
            <a:r>
              <a:rPr lang="en-US" sz="2400" b="1" kern="0" spc="297" dirty="0">
                <a:solidFill>
                  <a:srgbClr val="0E83B0"/>
                </a:solidFill>
                <a:latin typeface="Public Sans" pitchFamily="34" charset="0"/>
                <a:ea typeface="Public Sans" pitchFamily="34" charset="-122"/>
                <a:cs typeface="Public Sans" pitchFamily="34" charset="-120"/>
              </a:rPr>
              <a:t>THE PLAN</a:t>
            </a:r>
            <a:endParaRPr lang="en-US" sz="2400" dirty="0"/>
          </a:p>
        </p:txBody>
      </p:sp>
      <p:sp>
        <p:nvSpPr>
          <p:cNvPr id="3" name="Text 1"/>
          <p:cNvSpPr/>
          <p:nvPr/>
        </p:nvSpPr>
        <p:spPr>
          <a:xfrm>
            <a:off x="914400" y="1638895"/>
            <a:ext cx="16035130" cy="592812"/>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4200" b="1" kern="0" spc="-42" dirty="0">
                <a:solidFill>
                  <a:srgbClr val="004F71"/>
                </a:solidFill>
                <a:latin typeface="Source Serif 4" pitchFamily="34" charset="0"/>
                <a:ea typeface="Source Serif 4" pitchFamily="34" charset="-122"/>
                <a:cs typeface="Source Serif 4" pitchFamily="34" charset="-120"/>
              </a:rPr>
              <a:t>12 weeks. Four phases. Three decision gates.</a:t>
            </a:r>
            <a:endParaRPr lang="en-US" sz="4200" dirty="0"/>
          </a:p>
        </p:txBody>
      </p:sp>
      <p:sp>
        <p:nvSpPr>
          <p:cNvPr id="4" name="Shape 2"/>
          <p:cNvSpPr/>
          <p:nvPr/>
        </p:nvSpPr>
        <p:spPr>
          <a:xfrm>
            <a:off x="914400" y="3431024"/>
            <a:ext cx="16459200" cy="9525"/>
          </a:xfrm>
          <a:prstGeom prst="rect">
            <a:avLst/>
          </a:prstGeom>
          <a:solidFill>
            <a:srgbClr val="D7E3E8"/>
          </a:solidFill>
          <a:ln/>
        </p:spPr>
        <p:txBody>
          <a:bodyPr/>
          <a:lstStyle/>
          <a:p>
            <a:endParaRPr lang="en-CA"/>
          </a:p>
        </p:txBody>
      </p:sp>
      <p:sp>
        <p:nvSpPr>
          <p:cNvPr id="5" name="Shape 3"/>
          <p:cNvSpPr/>
          <p:nvPr/>
        </p:nvSpPr>
        <p:spPr>
          <a:xfrm>
            <a:off x="914400" y="4497824"/>
            <a:ext cx="16459200" cy="9525"/>
          </a:xfrm>
          <a:prstGeom prst="rect">
            <a:avLst/>
          </a:prstGeom>
          <a:solidFill>
            <a:srgbClr val="D7E3E8"/>
          </a:solidFill>
          <a:ln/>
        </p:spPr>
        <p:txBody>
          <a:bodyPr/>
          <a:lstStyle/>
          <a:p>
            <a:endParaRPr lang="en-CA"/>
          </a:p>
        </p:txBody>
      </p:sp>
      <p:sp>
        <p:nvSpPr>
          <p:cNvPr id="6" name="Text 4"/>
          <p:cNvSpPr/>
          <p:nvPr/>
        </p:nvSpPr>
        <p:spPr>
          <a:xfrm>
            <a:off x="914400" y="3812024"/>
            <a:ext cx="990600" cy="350520"/>
          </a:xfrm>
          <a:prstGeom prst="rect">
            <a:avLst/>
          </a:prstGeom>
          <a:noFill/>
          <a:ln/>
        </p:spPr>
        <p:txBody>
          <a:bodyPr wrap="square" lIns="25400" tIns="25400" rIns="25400" bIns="25400" rtlCol="0" anchor="t">
            <a:normAutofit/>
          </a:bodyPr>
          <a:lstStyle/>
          <a:p>
            <a:pPr marL="0" indent="0" algn="l">
              <a:buNone/>
            </a:pPr>
            <a:r>
              <a:rPr lang="en-US" sz="1800" b="1" dirty="0">
                <a:solidFill>
                  <a:srgbClr val="0E83B0"/>
                </a:solidFill>
                <a:latin typeface="Source Serif 4" pitchFamily="34" charset="0"/>
                <a:ea typeface="Source Serif 4" pitchFamily="34" charset="-122"/>
                <a:cs typeface="Source Serif 4" pitchFamily="34" charset="-120"/>
              </a:rPr>
              <a:t>Wks 1–2</a:t>
            </a:r>
            <a:endParaRPr lang="en-US" sz="1800" dirty="0"/>
          </a:p>
        </p:txBody>
      </p:sp>
      <p:sp>
        <p:nvSpPr>
          <p:cNvPr id="7" name="Text 5"/>
          <p:cNvSpPr/>
          <p:nvPr/>
        </p:nvSpPr>
        <p:spPr>
          <a:xfrm>
            <a:off x="2095500" y="3825359"/>
            <a:ext cx="2933700" cy="32385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1875" b="1" dirty="0">
                <a:solidFill>
                  <a:srgbClr val="013E58"/>
                </a:solidFill>
                <a:latin typeface="Public Sans" pitchFamily="34" charset="0"/>
                <a:ea typeface="Public Sans" pitchFamily="34" charset="-122"/>
                <a:cs typeface="Public Sans" pitchFamily="34" charset="-120"/>
              </a:rPr>
              <a:t>Phase 1 · Mobilise</a:t>
            </a:r>
            <a:endParaRPr lang="en-US" sz="1875" dirty="0"/>
          </a:p>
        </p:txBody>
      </p:sp>
      <p:sp>
        <p:nvSpPr>
          <p:cNvPr id="8" name="Text 6"/>
          <p:cNvSpPr/>
          <p:nvPr/>
        </p:nvSpPr>
        <p:spPr>
          <a:xfrm>
            <a:off x="5029200" y="3834884"/>
            <a:ext cx="9513570" cy="3048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46596A"/>
                </a:solidFill>
                <a:latin typeface="Public Sans" pitchFamily="34" charset="0"/>
                <a:ea typeface="Public Sans" pitchFamily="34" charset="-122"/>
                <a:cs typeface="Public Sans" pitchFamily="34" charset="-120"/>
              </a:rPr>
              <a:t>Confirm both teams and ways of working.</a:t>
            </a:r>
            <a:endParaRPr lang="en-US" sz="1500" dirty="0"/>
          </a:p>
        </p:txBody>
      </p:sp>
      <p:sp>
        <p:nvSpPr>
          <p:cNvPr id="9" name="Shape 7"/>
          <p:cNvSpPr/>
          <p:nvPr/>
        </p:nvSpPr>
        <p:spPr>
          <a:xfrm>
            <a:off x="13944600" y="3648194"/>
            <a:ext cx="3429000" cy="640080"/>
          </a:xfrm>
          <a:prstGeom prst="rect">
            <a:avLst/>
          </a:prstGeom>
          <a:solidFill>
            <a:srgbClr val="004F71"/>
          </a:solidFill>
          <a:ln/>
        </p:spPr>
        <p:txBody>
          <a:bodyPr/>
          <a:lstStyle/>
          <a:p>
            <a:endParaRPr lang="en-CA"/>
          </a:p>
        </p:txBody>
      </p:sp>
      <p:sp>
        <p:nvSpPr>
          <p:cNvPr id="10" name="Text 8"/>
          <p:cNvSpPr/>
          <p:nvPr/>
        </p:nvSpPr>
        <p:spPr>
          <a:xfrm>
            <a:off x="14116050" y="3762494"/>
            <a:ext cx="3188970" cy="4495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b="1" dirty="0">
                <a:solidFill>
                  <a:srgbClr val="8FD4F0"/>
                </a:solidFill>
                <a:latin typeface="Public Sans" pitchFamily="34" charset="0"/>
                <a:ea typeface="Public Sans" pitchFamily="34" charset="-122"/>
                <a:cs typeface="Public Sans" pitchFamily="34" charset="-120"/>
              </a:rPr>
              <a:t>Gate 1 — </a:t>
            </a:r>
            <a:r>
              <a:rPr lang="en-US" sz="1200" b="1" dirty="0">
                <a:solidFill>
                  <a:srgbClr val="DCEFF6"/>
                </a:solidFill>
                <a:highlight>
                  <a:srgbClr val="004F71"/>
                </a:highlight>
                <a:latin typeface="Public Sans" pitchFamily="34" charset="0"/>
                <a:ea typeface="Public Sans" pitchFamily="34" charset="-122"/>
                <a:cs typeface="Public Sans" pitchFamily="34" charset="-120"/>
              </a:rPr>
              <a:t>approve the evaluation framework before evaluation begins.</a:t>
            </a:r>
            <a:endParaRPr lang="en-US" sz="1200" dirty="0"/>
          </a:p>
        </p:txBody>
      </p:sp>
      <p:sp>
        <p:nvSpPr>
          <p:cNvPr id="11" name="Shape 9"/>
          <p:cNvSpPr/>
          <p:nvPr/>
        </p:nvSpPr>
        <p:spPr>
          <a:xfrm>
            <a:off x="914400" y="5564624"/>
            <a:ext cx="16459200" cy="9525"/>
          </a:xfrm>
          <a:prstGeom prst="rect">
            <a:avLst/>
          </a:prstGeom>
          <a:solidFill>
            <a:srgbClr val="D7E3E8"/>
          </a:solidFill>
          <a:ln/>
        </p:spPr>
        <p:txBody>
          <a:bodyPr/>
          <a:lstStyle/>
          <a:p>
            <a:endParaRPr lang="en-CA"/>
          </a:p>
        </p:txBody>
      </p:sp>
      <p:sp>
        <p:nvSpPr>
          <p:cNvPr id="12" name="Text 10"/>
          <p:cNvSpPr/>
          <p:nvPr/>
        </p:nvSpPr>
        <p:spPr>
          <a:xfrm>
            <a:off x="914400" y="4722614"/>
            <a:ext cx="990600" cy="662940"/>
          </a:xfrm>
          <a:prstGeom prst="rect">
            <a:avLst/>
          </a:prstGeom>
          <a:noFill/>
          <a:ln/>
        </p:spPr>
        <p:txBody>
          <a:bodyPr wrap="square" lIns="25400" tIns="25400" rIns="25400" bIns="25400" rtlCol="0" anchor="t">
            <a:normAutofit/>
          </a:bodyPr>
          <a:lstStyle/>
          <a:p>
            <a:pPr marL="0" indent="0" algn="l">
              <a:buNone/>
            </a:pPr>
            <a:r>
              <a:rPr lang="en-US" sz="1800" b="1" dirty="0" err="1">
                <a:solidFill>
                  <a:srgbClr val="0E83B0"/>
                </a:solidFill>
                <a:latin typeface="Source Serif 4" pitchFamily="34" charset="0"/>
                <a:ea typeface="Source Serif 4" pitchFamily="34" charset="-122"/>
                <a:cs typeface="Source Serif 4" pitchFamily="34" charset="-120"/>
              </a:rPr>
              <a:t>Wks</a:t>
            </a:r>
            <a:r>
              <a:rPr lang="en-US" sz="1800" b="1" dirty="0">
                <a:solidFill>
                  <a:srgbClr val="0E83B0"/>
                </a:solidFill>
                <a:latin typeface="Source Serif 4" pitchFamily="34" charset="0"/>
                <a:ea typeface="Source Serif 4" pitchFamily="34" charset="-122"/>
                <a:cs typeface="Source Serif 4" pitchFamily="34" charset="-120"/>
              </a:rPr>
              <a:t> 3-10</a:t>
            </a:r>
            <a:endParaRPr lang="en-US" sz="1800" dirty="0"/>
          </a:p>
        </p:txBody>
      </p:sp>
      <p:sp>
        <p:nvSpPr>
          <p:cNvPr id="13" name="Text 11"/>
          <p:cNvSpPr/>
          <p:nvPr/>
        </p:nvSpPr>
        <p:spPr>
          <a:xfrm>
            <a:off x="2095500" y="4892159"/>
            <a:ext cx="2933700" cy="32385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1875" b="1" dirty="0">
                <a:solidFill>
                  <a:srgbClr val="013E58"/>
                </a:solidFill>
                <a:latin typeface="Public Sans" pitchFamily="34" charset="0"/>
                <a:ea typeface="Public Sans" pitchFamily="34" charset="-122"/>
                <a:cs typeface="Public Sans" pitchFamily="34" charset="-120"/>
              </a:rPr>
              <a:t>Phase 2.1 · Workstream 1</a:t>
            </a:r>
            <a:endParaRPr lang="en-US" sz="1875" dirty="0"/>
          </a:p>
        </p:txBody>
      </p:sp>
      <p:sp>
        <p:nvSpPr>
          <p:cNvPr id="14" name="Text 12"/>
          <p:cNvSpPr/>
          <p:nvPr/>
        </p:nvSpPr>
        <p:spPr>
          <a:xfrm>
            <a:off x="5029200" y="4768334"/>
            <a:ext cx="8908161" cy="57150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500" dirty="0">
                <a:solidFill>
                  <a:srgbClr val="46596A"/>
                </a:solidFill>
                <a:latin typeface="Public Sans" pitchFamily="34" charset="0"/>
                <a:ea typeface="Public Sans" pitchFamily="34" charset="-122"/>
                <a:cs typeface="Public Sans" pitchFamily="34" charset="-120"/>
              </a:rPr>
              <a:t>Measure explanation quality, impact analysis and investigation effort; assess the Fabric IQ + Foundry IQ composition.</a:t>
            </a:r>
            <a:endParaRPr lang="en-US" sz="1500" dirty="0"/>
          </a:p>
        </p:txBody>
      </p:sp>
      <p:sp>
        <p:nvSpPr>
          <p:cNvPr id="15" name="Shape 13"/>
          <p:cNvSpPr/>
          <p:nvPr/>
        </p:nvSpPr>
        <p:spPr>
          <a:xfrm>
            <a:off x="13937361" y="4754999"/>
            <a:ext cx="3429000" cy="1516380"/>
          </a:xfrm>
          <a:prstGeom prst="rect">
            <a:avLst/>
          </a:prstGeom>
          <a:solidFill>
            <a:srgbClr val="004F71"/>
          </a:solidFill>
          <a:ln/>
        </p:spPr>
        <p:txBody>
          <a:bodyPr/>
          <a:lstStyle/>
          <a:p>
            <a:endParaRPr lang="en-CA"/>
          </a:p>
        </p:txBody>
      </p:sp>
      <p:sp>
        <p:nvSpPr>
          <p:cNvPr id="16" name="Text 14"/>
          <p:cNvSpPr/>
          <p:nvPr/>
        </p:nvSpPr>
        <p:spPr>
          <a:xfrm>
            <a:off x="14064615" y="5227439"/>
            <a:ext cx="3188970" cy="4495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b="1" dirty="0">
                <a:solidFill>
                  <a:srgbClr val="8FD4F0"/>
                </a:solidFill>
                <a:latin typeface="Public Sans" pitchFamily="34" charset="0"/>
                <a:ea typeface="Public Sans" pitchFamily="34" charset="-122"/>
                <a:cs typeface="Public Sans" pitchFamily="34" charset="-120"/>
              </a:rPr>
              <a:t>Gate 2 (wk 6) — </a:t>
            </a:r>
            <a:r>
              <a:rPr lang="en-US" sz="1200" b="1" dirty="0">
                <a:solidFill>
                  <a:srgbClr val="DCEFF6"/>
                </a:solidFill>
                <a:highlight>
                  <a:srgbClr val="004F71"/>
                </a:highlight>
                <a:latin typeface="Public Sans" pitchFamily="34" charset="0"/>
                <a:ea typeface="Public Sans" pitchFamily="34" charset="-122"/>
                <a:cs typeface="Public Sans" pitchFamily="34" charset="-120"/>
              </a:rPr>
              <a:t>interim findings; confirm or adjust scope.</a:t>
            </a:r>
            <a:endParaRPr lang="en-US" sz="1200" dirty="0"/>
          </a:p>
        </p:txBody>
      </p:sp>
      <p:sp>
        <p:nvSpPr>
          <p:cNvPr id="17" name="Shape 15"/>
          <p:cNvSpPr/>
          <p:nvPr/>
        </p:nvSpPr>
        <p:spPr>
          <a:xfrm>
            <a:off x="914400" y="6616184"/>
            <a:ext cx="16459200" cy="9525"/>
          </a:xfrm>
          <a:prstGeom prst="rect">
            <a:avLst/>
          </a:prstGeom>
          <a:solidFill>
            <a:srgbClr val="D7E3E8"/>
          </a:solidFill>
          <a:ln/>
        </p:spPr>
        <p:txBody>
          <a:bodyPr/>
          <a:lstStyle/>
          <a:p>
            <a:endParaRPr lang="en-CA"/>
          </a:p>
        </p:txBody>
      </p:sp>
      <p:sp>
        <p:nvSpPr>
          <p:cNvPr id="18" name="Text 16"/>
          <p:cNvSpPr/>
          <p:nvPr/>
        </p:nvSpPr>
        <p:spPr>
          <a:xfrm>
            <a:off x="819150" y="5823704"/>
            <a:ext cx="1085850" cy="662940"/>
          </a:xfrm>
          <a:prstGeom prst="rect">
            <a:avLst/>
          </a:prstGeom>
          <a:noFill/>
          <a:ln/>
        </p:spPr>
        <p:txBody>
          <a:bodyPr wrap="square" lIns="25400" tIns="25400" rIns="25400" bIns="25400" rtlCol="0" anchor="t">
            <a:normAutofit/>
          </a:bodyPr>
          <a:lstStyle/>
          <a:p>
            <a:pPr marL="0" indent="0" algn="l">
              <a:buNone/>
            </a:pPr>
            <a:r>
              <a:rPr lang="en-US" sz="1800" b="1" dirty="0">
                <a:solidFill>
                  <a:srgbClr val="0E83B0"/>
                </a:solidFill>
                <a:latin typeface="Source Serif 4" pitchFamily="34" charset="0"/>
                <a:ea typeface="Source Serif 4" pitchFamily="34" charset="-122"/>
                <a:cs typeface="Source Serif 4" pitchFamily="34" charset="-120"/>
              </a:rPr>
              <a:t>Wks 3–10</a:t>
            </a:r>
            <a:endParaRPr lang="en-US" sz="1800" dirty="0"/>
          </a:p>
        </p:txBody>
      </p:sp>
      <p:sp>
        <p:nvSpPr>
          <p:cNvPr id="19" name="Text 17"/>
          <p:cNvSpPr/>
          <p:nvPr/>
        </p:nvSpPr>
        <p:spPr>
          <a:xfrm>
            <a:off x="2095500" y="5951339"/>
            <a:ext cx="2933700" cy="32385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1875" b="1" dirty="0">
                <a:solidFill>
                  <a:srgbClr val="013E58"/>
                </a:solidFill>
                <a:latin typeface="Public Sans" pitchFamily="34" charset="0"/>
                <a:ea typeface="Public Sans" pitchFamily="34" charset="-122"/>
                <a:cs typeface="Public Sans" pitchFamily="34" charset="-120"/>
              </a:rPr>
              <a:t>Phase 2.2 · Workstream 2</a:t>
            </a:r>
            <a:endParaRPr lang="en-US" sz="1875" dirty="0"/>
          </a:p>
        </p:txBody>
      </p:sp>
      <p:sp>
        <p:nvSpPr>
          <p:cNvPr id="20" name="Text 18"/>
          <p:cNvSpPr/>
          <p:nvPr/>
        </p:nvSpPr>
        <p:spPr>
          <a:xfrm>
            <a:off x="5029200" y="5827514"/>
            <a:ext cx="8908161" cy="571500"/>
          </a:xfrm>
          <a:prstGeom prst="rect">
            <a:avLst/>
          </a:prstGeom>
          <a:noFill/>
          <a:ln/>
        </p:spPr>
        <p:txBody>
          <a:bodyPr wrap="square" lIns="25400" tIns="25400" rIns="25400" bIns="25400" rtlCol="0" anchor="t">
            <a:normAutofit fontScale="92500" lnSpcReduction="20000"/>
          </a:bodyPr>
          <a:lstStyle/>
          <a:p>
            <a:pPr marL="0" indent="0" algn="l">
              <a:lnSpc>
                <a:spcPct val="140000"/>
              </a:lnSpc>
              <a:buNone/>
            </a:pPr>
            <a:r>
              <a:rPr lang="en-US" sz="1500" dirty="0">
                <a:solidFill>
                  <a:srgbClr val="46596A"/>
                </a:solidFill>
                <a:latin typeface="Public Sans" pitchFamily="34" charset="0"/>
                <a:ea typeface="Public Sans" pitchFamily="34" charset="-122"/>
                <a:cs typeface="Public Sans" pitchFamily="34" charset="-120"/>
              </a:rPr>
              <a:t>Stand up the non-production Semantic Firewall; test authority and policy validation; measure runtime cost. </a:t>
            </a:r>
            <a:r>
              <a:rPr lang="en-US" sz="1500" i="1" dirty="0">
                <a:solidFill>
                  <a:srgbClr val="7C95A3"/>
                </a:solidFill>
                <a:latin typeface="Public Sans" pitchFamily="34" charset="0"/>
                <a:ea typeface="Public Sans" pitchFamily="34" charset="-122"/>
                <a:cs typeface="Public Sans" pitchFamily="34" charset="-120"/>
              </a:rPr>
              <a:t>Overlaps Phase 1 by design.</a:t>
            </a:r>
            <a:endParaRPr lang="en-US" sz="1500" dirty="0"/>
          </a:p>
        </p:txBody>
      </p:sp>
      <p:sp>
        <p:nvSpPr>
          <p:cNvPr id="22" name="Shape 20"/>
          <p:cNvSpPr/>
          <p:nvPr/>
        </p:nvSpPr>
        <p:spPr>
          <a:xfrm>
            <a:off x="914400" y="7682984"/>
            <a:ext cx="16459200" cy="9525"/>
          </a:xfrm>
          <a:prstGeom prst="rect">
            <a:avLst/>
          </a:prstGeom>
          <a:solidFill>
            <a:srgbClr val="D7E3E8"/>
          </a:solidFill>
          <a:ln/>
        </p:spPr>
        <p:txBody>
          <a:bodyPr/>
          <a:lstStyle/>
          <a:p>
            <a:endParaRPr lang="en-CA"/>
          </a:p>
        </p:txBody>
      </p:sp>
      <p:sp>
        <p:nvSpPr>
          <p:cNvPr id="23" name="Text 21"/>
          <p:cNvSpPr/>
          <p:nvPr/>
        </p:nvSpPr>
        <p:spPr>
          <a:xfrm>
            <a:off x="819150" y="6840974"/>
            <a:ext cx="1181100" cy="662940"/>
          </a:xfrm>
          <a:prstGeom prst="rect">
            <a:avLst/>
          </a:prstGeom>
          <a:noFill/>
          <a:ln/>
        </p:spPr>
        <p:txBody>
          <a:bodyPr wrap="square" lIns="25400" tIns="25400" rIns="25400" bIns="25400" rtlCol="0" anchor="t">
            <a:normAutofit/>
          </a:bodyPr>
          <a:lstStyle/>
          <a:p>
            <a:pPr marL="0" indent="0" algn="l">
              <a:buNone/>
            </a:pPr>
            <a:r>
              <a:rPr lang="en-US" sz="1800" b="1" dirty="0" err="1">
                <a:solidFill>
                  <a:srgbClr val="0E83B0"/>
                </a:solidFill>
                <a:latin typeface="Source Serif 4" pitchFamily="34" charset="0"/>
                <a:ea typeface="Source Serif 4" pitchFamily="34" charset="-122"/>
                <a:cs typeface="Source Serif 4" pitchFamily="34" charset="-120"/>
              </a:rPr>
              <a:t>Wks</a:t>
            </a:r>
            <a:r>
              <a:rPr lang="en-US" sz="1800" b="1" dirty="0">
                <a:solidFill>
                  <a:srgbClr val="0E83B0"/>
                </a:solidFill>
                <a:latin typeface="Source Serif 4" pitchFamily="34" charset="0"/>
                <a:ea typeface="Source Serif 4" pitchFamily="34" charset="-122"/>
                <a:cs typeface="Source Serif 4" pitchFamily="34" charset="-120"/>
              </a:rPr>
              <a:t> 11-12</a:t>
            </a:r>
            <a:endParaRPr lang="en-US" sz="1800" dirty="0"/>
          </a:p>
        </p:txBody>
      </p:sp>
      <p:sp>
        <p:nvSpPr>
          <p:cNvPr id="24" name="Text 22"/>
          <p:cNvSpPr/>
          <p:nvPr/>
        </p:nvSpPr>
        <p:spPr>
          <a:xfrm>
            <a:off x="2095500" y="7010519"/>
            <a:ext cx="2933700" cy="323850"/>
          </a:xfrm>
          <a:prstGeom prst="rect">
            <a:avLst/>
          </a:prstGeom>
          <a:noFill/>
          <a:ln/>
        </p:spPr>
        <p:txBody>
          <a:bodyPr wrap="square" lIns="25400" tIns="25400" rIns="25400" bIns="25400" rtlCol="0" anchor="t">
            <a:normAutofit fontScale="92500" lnSpcReduction="10000"/>
          </a:bodyPr>
          <a:lstStyle/>
          <a:p>
            <a:pPr marL="0" indent="0" algn="l">
              <a:lnSpc>
                <a:spcPct val="120000"/>
              </a:lnSpc>
              <a:buNone/>
            </a:pPr>
            <a:r>
              <a:rPr lang="en-US" sz="1875" b="1" dirty="0">
                <a:solidFill>
                  <a:srgbClr val="013E58"/>
                </a:solidFill>
                <a:latin typeface="Public Sans" pitchFamily="34" charset="0"/>
                <a:ea typeface="Public Sans" pitchFamily="34" charset="-122"/>
                <a:cs typeface="Public Sans" pitchFamily="34" charset="-120"/>
              </a:rPr>
              <a:t>Phase 3 · Synthesis</a:t>
            </a:r>
            <a:endParaRPr lang="en-US" sz="1875" dirty="0"/>
          </a:p>
        </p:txBody>
      </p:sp>
      <p:sp>
        <p:nvSpPr>
          <p:cNvPr id="25" name="Text 23"/>
          <p:cNvSpPr/>
          <p:nvPr/>
        </p:nvSpPr>
        <p:spPr>
          <a:xfrm>
            <a:off x="5029200" y="6886694"/>
            <a:ext cx="8908161" cy="571500"/>
          </a:xfrm>
          <a:prstGeom prst="rect">
            <a:avLst/>
          </a:prstGeom>
          <a:noFill/>
          <a:ln/>
        </p:spPr>
        <p:txBody>
          <a:bodyPr wrap="square" lIns="25400" tIns="25400" rIns="25400" bIns="25400" rtlCol="0" anchor="t">
            <a:normAutofit fontScale="92500"/>
          </a:bodyPr>
          <a:lstStyle/>
          <a:p>
            <a:pPr marL="0" indent="0" algn="l">
              <a:lnSpc>
                <a:spcPct val="140000"/>
              </a:lnSpc>
              <a:buNone/>
            </a:pPr>
            <a:r>
              <a:rPr lang="en-US" sz="1500" dirty="0">
                <a:solidFill>
                  <a:srgbClr val="46596A"/>
                </a:solidFill>
                <a:latin typeface="Public Sans" pitchFamily="34" charset="0"/>
                <a:ea typeface="Public Sans" pitchFamily="34" charset="-122"/>
                <a:cs typeface="Public Sans" pitchFamily="34" charset="-120"/>
              </a:rPr>
              <a:t>Roadmap verdict, target architecture, governance model and a go/no-go recommendation with a costed next phase.</a:t>
            </a:r>
            <a:endParaRPr lang="en-US" sz="1500" dirty="0"/>
          </a:p>
        </p:txBody>
      </p:sp>
      <p:sp>
        <p:nvSpPr>
          <p:cNvPr id="26" name="Shape 24"/>
          <p:cNvSpPr/>
          <p:nvPr/>
        </p:nvSpPr>
        <p:spPr>
          <a:xfrm>
            <a:off x="13944600" y="6833354"/>
            <a:ext cx="3429000" cy="640080"/>
          </a:xfrm>
          <a:prstGeom prst="rect">
            <a:avLst/>
          </a:prstGeom>
          <a:solidFill>
            <a:srgbClr val="0E83B0"/>
          </a:solidFill>
          <a:ln/>
        </p:spPr>
        <p:txBody>
          <a:bodyPr/>
          <a:lstStyle/>
          <a:p>
            <a:endParaRPr lang="en-CA"/>
          </a:p>
        </p:txBody>
      </p:sp>
      <p:sp>
        <p:nvSpPr>
          <p:cNvPr id="27" name="Text 25"/>
          <p:cNvSpPr/>
          <p:nvPr/>
        </p:nvSpPr>
        <p:spPr>
          <a:xfrm>
            <a:off x="14116050" y="6947654"/>
            <a:ext cx="3188970" cy="449580"/>
          </a:xfrm>
          <a:prstGeom prst="rect">
            <a:avLst/>
          </a:prstGeom>
          <a:noFill/>
          <a:ln/>
        </p:spPr>
        <p:txBody>
          <a:bodyPr wrap="square" lIns="25400" tIns="25400" rIns="25400" bIns="25400" rtlCol="0" anchor="t">
            <a:normAutofit fontScale="92500" lnSpcReduction="20000"/>
          </a:bodyPr>
          <a:lstStyle/>
          <a:p>
            <a:pPr marL="0" indent="0" algn="l">
              <a:lnSpc>
                <a:spcPct val="135000"/>
              </a:lnSpc>
              <a:buNone/>
            </a:pPr>
            <a:r>
              <a:rPr lang="en-US" sz="1200" b="1" dirty="0">
                <a:solidFill>
                  <a:srgbClr val="FFFFFF"/>
                </a:solidFill>
                <a:latin typeface="Public Sans" pitchFamily="34" charset="0"/>
                <a:ea typeface="Public Sans" pitchFamily="34" charset="-122"/>
                <a:cs typeface="Public Sans" pitchFamily="34" charset="-120"/>
              </a:rPr>
              <a:t>Gate 3 (wk 12) — </a:t>
            </a:r>
            <a:r>
              <a:rPr lang="en-US" sz="1200" b="1" dirty="0">
                <a:solidFill>
                  <a:srgbClr val="FFFFFF"/>
                </a:solidFill>
                <a:highlight>
                  <a:srgbClr val="0E83B0"/>
                </a:highlight>
                <a:latin typeface="Public Sans" pitchFamily="34" charset="0"/>
                <a:ea typeface="Public Sans" pitchFamily="34" charset="-122"/>
                <a:cs typeface="Public Sans" pitchFamily="34" charset="-120"/>
              </a:rPr>
              <a:t>decision on whether and how to proceed.</a:t>
            </a:r>
            <a:endParaRPr lang="en-US" sz="1200" dirty="0"/>
          </a:p>
        </p:txBody>
      </p:sp>
      <p:sp>
        <p:nvSpPr>
          <p:cNvPr id="29" name="Text 27"/>
          <p:cNvSpPr/>
          <p:nvPr/>
        </p:nvSpPr>
        <p:spPr>
          <a:xfrm>
            <a:off x="914400" y="9715500"/>
            <a:ext cx="3498045" cy="171450"/>
          </a:xfrm>
          <a:prstGeom prst="rect">
            <a:avLst/>
          </a:prstGeom>
          <a:noFill/>
          <a:ln/>
        </p:spPr>
        <p:txBody>
          <a:bodyPr wrap="square" lIns="25400" tIns="25400" rIns="25400" bIns="25400" rtlCol="0" anchor="t">
            <a:normAutofit fontScale="85000" lnSpcReduction="20000"/>
          </a:bodyPr>
          <a:lstStyle/>
          <a:p>
            <a:pPr marL="0" indent="0" algn="l">
              <a:lnSpc>
                <a:spcPct val="100000"/>
              </a:lnSpc>
              <a:buNone/>
            </a:pPr>
            <a:r>
              <a:rPr lang="en-US" sz="1050" b="1" kern="0" spc="126" dirty="0">
                <a:solidFill>
                  <a:srgbClr val="9DB6C2"/>
                </a:solidFill>
                <a:latin typeface="Public Sans" pitchFamily="34" charset="0"/>
                <a:ea typeface="Public Sans" pitchFamily="34" charset="-122"/>
                <a:cs typeface="Public Sans" pitchFamily="34" charset="-120"/>
              </a:rPr>
              <a:t>AI ONTOLOGY READINESS ASSESSMENT</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2F7F9"/>
        </a:solidFill>
        <a:effectLst/>
      </p:bgPr>
    </p:bg>
    <p:spTree>
      <p:nvGrpSpPr>
        <p:cNvPr id="1" name=""/>
        <p:cNvGrpSpPr/>
        <p:nvPr/>
      </p:nvGrpSpPr>
      <p:grpSpPr>
        <a:xfrm>
          <a:off x="0" y="0"/>
          <a:ext cx="0" cy="0"/>
          <a:chOff x="0" y="0"/>
          <a:chExt cx="0" cy="0"/>
        </a:xfrm>
      </p:grpSpPr>
      <p:sp>
        <p:nvSpPr>
          <p:cNvPr id="2" name="Text 0"/>
          <p:cNvSpPr/>
          <p:nvPr/>
        </p:nvSpPr>
        <p:spPr>
          <a:xfrm>
            <a:off x="666750" y="2793444"/>
            <a:ext cx="9952578" cy="209550"/>
          </a:xfrm>
          <a:prstGeom prst="rect">
            <a:avLst/>
          </a:prstGeom>
          <a:noFill/>
          <a:ln/>
        </p:spPr>
        <p:txBody>
          <a:bodyPr wrap="square" lIns="25400" tIns="25400" rIns="25400" bIns="25400" rtlCol="0" anchor="ctr">
            <a:normAutofit fontScale="92500" lnSpcReduction="20000"/>
          </a:bodyPr>
          <a:lstStyle/>
          <a:p>
            <a:pPr marL="0" indent="0" algn="l">
              <a:lnSpc>
                <a:spcPct val="100000"/>
              </a:lnSpc>
              <a:buNone/>
            </a:pPr>
            <a:r>
              <a:rPr lang="en-US" sz="1350" b="1" kern="0" spc="297" dirty="0">
                <a:solidFill>
                  <a:srgbClr val="0E83B0"/>
                </a:solidFill>
                <a:latin typeface="Public Sans" pitchFamily="34" charset="0"/>
                <a:ea typeface="Public Sans" pitchFamily="34" charset="-122"/>
                <a:cs typeface="Public Sans" pitchFamily="34" charset="-120"/>
              </a:rPr>
              <a:t>WHAT YOU GET</a:t>
            </a:r>
            <a:endParaRPr lang="en-US" sz="1350" dirty="0"/>
          </a:p>
        </p:txBody>
      </p:sp>
      <p:sp>
        <p:nvSpPr>
          <p:cNvPr id="3" name="Text 1"/>
          <p:cNvSpPr/>
          <p:nvPr/>
        </p:nvSpPr>
        <p:spPr>
          <a:xfrm>
            <a:off x="666750" y="3193494"/>
            <a:ext cx="9952578" cy="493752"/>
          </a:xfrm>
          <a:prstGeom prst="rect">
            <a:avLst/>
          </a:prstGeom>
          <a:noFill/>
          <a:ln/>
        </p:spPr>
        <p:txBody>
          <a:bodyPr wrap="square" lIns="25400" tIns="25400" rIns="25400" bIns="25400" rtlCol="0" anchor="t">
            <a:normAutofit fontScale="92500" lnSpcReduction="20000"/>
          </a:bodyPr>
          <a:lstStyle/>
          <a:p>
            <a:pPr marL="0" indent="0" algn="l">
              <a:lnSpc>
                <a:spcPct val="104000"/>
              </a:lnSpc>
              <a:buNone/>
            </a:pPr>
            <a:r>
              <a:rPr lang="en-US" sz="3450" b="1" kern="0" spc="-34" dirty="0">
                <a:solidFill>
                  <a:srgbClr val="004F71"/>
                </a:solidFill>
                <a:latin typeface="Source Serif 4" pitchFamily="34" charset="0"/>
                <a:ea typeface="Source Serif 4" pitchFamily="34" charset="-122"/>
                <a:cs typeface="Source Serif 4" pitchFamily="34" charset="-120"/>
              </a:rPr>
              <a:t>Six evidence-based deliverables</a:t>
            </a:r>
            <a:endParaRPr lang="en-US" sz="3450" dirty="0"/>
          </a:p>
        </p:txBody>
      </p:sp>
      <p:sp>
        <p:nvSpPr>
          <p:cNvPr id="4" name="Shape 2"/>
          <p:cNvSpPr/>
          <p:nvPr/>
        </p:nvSpPr>
        <p:spPr>
          <a:xfrm>
            <a:off x="666750" y="4521637"/>
            <a:ext cx="9047798" cy="9525"/>
          </a:xfrm>
          <a:prstGeom prst="rect">
            <a:avLst/>
          </a:prstGeom>
          <a:solidFill>
            <a:srgbClr val="D7E3E8"/>
          </a:solidFill>
          <a:ln/>
        </p:spPr>
        <p:txBody>
          <a:bodyPr/>
          <a:lstStyle/>
          <a:p>
            <a:endParaRPr lang="en-CA"/>
          </a:p>
        </p:txBody>
      </p:sp>
      <p:sp>
        <p:nvSpPr>
          <p:cNvPr id="5" name="Text 3"/>
          <p:cNvSpPr/>
          <p:nvPr/>
        </p:nvSpPr>
        <p:spPr>
          <a:xfrm>
            <a:off x="666750" y="4683642"/>
            <a:ext cx="400050" cy="320040"/>
          </a:xfrm>
          <a:prstGeom prst="rect">
            <a:avLst/>
          </a:prstGeom>
          <a:noFill/>
          <a:ln/>
        </p:spPr>
        <p:txBody>
          <a:bodyPr wrap="square" lIns="25400" tIns="25400" rIns="25400" bIns="25400" rtlCol="0" anchor="t">
            <a:normAutofit/>
          </a:bodyPr>
          <a:lstStyle/>
          <a:p>
            <a:pPr marL="0" indent="0" algn="l">
              <a:buNone/>
            </a:pPr>
            <a:r>
              <a:rPr lang="en-US" sz="1650" b="1" dirty="0">
                <a:solidFill>
                  <a:srgbClr val="0E83B0"/>
                </a:solidFill>
                <a:latin typeface="Source Serif 4" pitchFamily="34" charset="0"/>
                <a:ea typeface="Source Serif 4" pitchFamily="34" charset="-122"/>
                <a:cs typeface="Source Serif 4" pitchFamily="34" charset="-120"/>
              </a:rPr>
              <a:t>01</a:t>
            </a:r>
            <a:endParaRPr lang="en-US" sz="1650" dirty="0"/>
          </a:p>
        </p:txBody>
      </p:sp>
      <p:sp>
        <p:nvSpPr>
          <p:cNvPr id="7" name="Shape 5"/>
          <p:cNvSpPr/>
          <p:nvPr/>
        </p:nvSpPr>
        <p:spPr>
          <a:xfrm>
            <a:off x="666750" y="5115997"/>
            <a:ext cx="9047798" cy="9525"/>
          </a:xfrm>
          <a:prstGeom prst="rect">
            <a:avLst/>
          </a:prstGeom>
          <a:solidFill>
            <a:srgbClr val="D7E3E8"/>
          </a:solidFill>
          <a:ln/>
        </p:spPr>
        <p:txBody>
          <a:bodyPr/>
          <a:lstStyle/>
          <a:p>
            <a:endParaRPr lang="en-CA"/>
          </a:p>
        </p:txBody>
      </p:sp>
      <p:sp>
        <p:nvSpPr>
          <p:cNvPr id="8" name="Text 6"/>
          <p:cNvSpPr/>
          <p:nvPr/>
        </p:nvSpPr>
        <p:spPr>
          <a:xfrm>
            <a:off x="666750" y="5278002"/>
            <a:ext cx="400050" cy="320040"/>
          </a:xfrm>
          <a:prstGeom prst="rect">
            <a:avLst/>
          </a:prstGeom>
          <a:noFill/>
          <a:ln/>
        </p:spPr>
        <p:txBody>
          <a:bodyPr wrap="square" lIns="25400" tIns="25400" rIns="25400" bIns="25400" rtlCol="0" anchor="t">
            <a:normAutofit/>
          </a:bodyPr>
          <a:lstStyle/>
          <a:p>
            <a:pPr marL="0" indent="0" algn="l">
              <a:buNone/>
            </a:pPr>
            <a:r>
              <a:rPr lang="en-US" sz="1650" b="1" dirty="0">
                <a:solidFill>
                  <a:srgbClr val="0E83B0"/>
                </a:solidFill>
                <a:latin typeface="Source Serif 4" pitchFamily="34" charset="0"/>
                <a:ea typeface="Source Serif 4" pitchFamily="34" charset="-122"/>
                <a:cs typeface="Source Serif 4" pitchFamily="34" charset="-120"/>
              </a:rPr>
              <a:t>02</a:t>
            </a:r>
            <a:endParaRPr lang="en-US" sz="1650" dirty="0"/>
          </a:p>
        </p:txBody>
      </p:sp>
      <p:sp>
        <p:nvSpPr>
          <p:cNvPr id="9" name="Text 7"/>
          <p:cNvSpPr/>
          <p:nvPr/>
        </p:nvSpPr>
        <p:spPr>
          <a:xfrm>
            <a:off x="1181100" y="4681657"/>
            <a:ext cx="7838742" cy="320040"/>
          </a:xfrm>
          <a:prstGeom prst="rect">
            <a:avLst/>
          </a:prstGeom>
          <a:noFill/>
          <a:ln/>
        </p:spPr>
        <p:txBody>
          <a:bodyPr wrap="square" lIns="25400" tIns="25400" rIns="25400" bIns="25400" rtlCol="0" anchor="t">
            <a:normAutofit fontScale="85000" lnSpcReduction="10000"/>
          </a:bodyPr>
          <a:lstStyle/>
          <a:p>
            <a:pPr marL="0" indent="0" algn="l">
              <a:lnSpc>
                <a:spcPct val="135000"/>
              </a:lnSpc>
              <a:buNone/>
            </a:pPr>
            <a:r>
              <a:rPr lang="en-US" sz="1575" dirty="0">
                <a:solidFill>
                  <a:srgbClr val="2C3743"/>
                </a:solidFill>
                <a:latin typeface="Public Sans" pitchFamily="34" charset="0"/>
                <a:ea typeface="Public Sans" pitchFamily="34" charset="-122"/>
                <a:cs typeface="Public Sans" pitchFamily="34" charset="-120"/>
              </a:rPr>
              <a:t>Evidence on whether ontology </a:t>
            </a:r>
            <a:r>
              <a:rPr lang="en-US" sz="1575" b="1" dirty="0">
                <a:solidFill>
                  <a:srgbClr val="013E58"/>
                </a:solidFill>
                <a:latin typeface="Public Sans" pitchFamily="34" charset="0"/>
                <a:ea typeface="Public Sans" pitchFamily="34" charset="-122"/>
                <a:cs typeface="Public Sans" pitchFamily="34" charset="-120"/>
              </a:rPr>
              <a:t>improves Business operational AI outcomes </a:t>
            </a:r>
            <a:r>
              <a:rPr lang="en-US" sz="1575" dirty="0">
                <a:solidFill>
                  <a:srgbClr val="2C3743"/>
                </a:solidFill>
                <a:latin typeface="Public Sans" pitchFamily="34" charset="0"/>
                <a:ea typeface="Public Sans" pitchFamily="34" charset="-122"/>
                <a:cs typeface="Public Sans" pitchFamily="34" charset="-120"/>
              </a:rPr>
              <a:t>(Pattern 1).</a:t>
            </a:r>
            <a:endParaRPr lang="en-US" sz="1575" dirty="0"/>
          </a:p>
        </p:txBody>
      </p:sp>
      <p:sp>
        <p:nvSpPr>
          <p:cNvPr id="10" name="Shape 8"/>
          <p:cNvSpPr/>
          <p:nvPr/>
        </p:nvSpPr>
        <p:spPr>
          <a:xfrm>
            <a:off x="666750" y="5710357"/>
            <a:ext cx="9047798" cy="9525"/>
          </a:xfrm>
          <a:prstGeom prst="rect">
            <a:avLst/>
          </a:prstGeom>
          <a:solidFill>
            <a:srgbClr val="D7E3E8"/>
          </a:solidFill>
          <a:ln/>
        </p:spPr>
        <p:txBody>
          <a:bodyPr/>
          <a:lstStyle/>
          <a:p>
            <a:endParaRPr lang="en-CA"/>
          </a:p>
        </p:txBody>
      </p:sp>
      <p:sp>
        <p:nvSpPr>
          <p:cNvPr id="11" name="Text 9"/>
          <p:cNvSpPr/>
          <p:nvPr/>
        </p:nvSpPr>
        <p:spPr>
          <a:xfrm>
            <a:off x="666750" y="5872362"/>
            <a:ext cx="400050" cy="320040"/>
          </a:xfrm>
          <a:prstGeom prst="rect">
            <a:avLst/>
          </a:prstGeom>
          <a:noFill/>
          <a:ln/>
        </p:spPr>
        <p:txBody>
          <a:bodyPr wrap="square" lIns="25400" tIns="25400" rIns="25400" bIns="25400" rtlCol="0" anchor="t">
            <a:normAutofit/>
          </a:bodyPr>
          <a:lstStyle/>
          <a:p>
            <a:pPr marL="0" indent="0" algn="l">
              <a:buNone/>
            </a:pPr>
            <a:r>
              <a:rPr lang="en-US" sz="1650" b="1" dirty="0">
                <a:solidFill>
                  <a:srgbClr val="0E83B0"/>
                </a:solidFill>
                <a:latin typeface="Source Serif 4" pitchFamily="34" charset="0"/>
                <a:ea typeface="Source Serif 4" pitchFamily="34" charset="-122"/>
                <a:cs typeface="Source Serif 4" pitchFamily="34" charset="-120"/>
              </a:rPr>
              <a:t>03</a:t>
            </a:r>
            <a:endParaRPr lang="en-US" sz="1650" dirty="0"/>
          </a:p>
        </p:txBody>
      </p:sp>
      <p:sp>
        <p:nvSpPr>
          <p:cNvPr id="12" name="Text 10"/>
          <p:cNvSpPr/>
          <p:nvPr/>
        </p:nvSpPr>
        <p:spPr>
          <a:xfrm>
            <a:off x="1181100" y="5276017"/>
            <a:ext cx="8426529" cy="32004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575" dirty="0">
                <a:solidFill>
                  <a:srgbClr val="2C3743"/>
                </a:solidFill>
                <a:latin typeface="Public Sans" pitchFamily="34" charset="0"/>
                <a:ea typeface="Public Sans" pitchFamily="34" charset="-122"/>
                <a:cs typeface="Public Sans" pitchFamily="34" charset="-120"/>
              </a:rPr>
              <a:t>A grounded read on the </a:t>
            </a:r>
            <a:r>
              <a:rPr lang="en-US" sz="1575" b="1" dirty="0">
                <a:solidFill>
                  <a:srgbClr val="013E58"/>
                </a:solidFill>
                <a:latin typeface="Public Sans" pitchFamily="34" charset="0"/>
                <a:ea typeface="Public Sans" pitchFamily="34" charset="-122"/>
                <a:cs typeface="Public Sans" pitchFamily="34" charset="-120"/>
              </a:rPr>
              <a:t>Semantic Firewall's feasibility, cost and limits </a:t>
            </a:r>
            <a:r>
              <a:rPr lang="en-US" sz="1575" dirty="0">
                <a:solidFill>
                  <a:srgbClr val="2C3743"/>
                </a:solidFill>
                <a:latin typeface="Public Sans" pitchFamily="34" charset="0"/>
                <a:ea typeface="Public Sans" pitchFamily="34" charset="-122"/>
                <a:cs typeface="Public Sans" pitchFamily="34" charset="-120"/>
              </a:rPr>
              <a:t>(Pattern 2).</a:t>
            </a:r>
            <a:endParaRPr lang="en-US" sz="1575" dirty="0"/>
          </a:p>
        </p:txBody>
      </p:sp>
      <p:sp>
        <p:nvSpPr>
          <p:cNvPr id="13" name="Shape 11"/>
          <p:cNvSpPr/>
          <p:nvPr/>
        </p:nvSpPr>
        <p:spPr>
          <a:xfrm>
            <a:off x="666750" y="6304717"/>
            <a:ext cx="9047798" cy="9525"/>
          </a:xfrm>
          <a:prstGeom prst="rect">
            <a:avLst/>
          </a:prstGeom>
          <a:solidFill>
            <a:srgbClr val="D7E3E8"/>
          </a:solidFill>
          <a:ln/>
        </p:spPr>
        <p:txBody>
          <a:bodyPr/>
          <a:lstStyle/>
          <a:p>
            <a:endParaRPr lang="en-CA"/>
          </a:p>
        </p:txBody>
      </p:sp>
      <p:sp>
        <p:nvSpPr>
          <p:cNvPr id="14" name="Text 12"/>
          <p:cNvSpPr/>
          <p:nvPr/>
        </p:nvSpPr>
        <p:spPr>
          <a:xfrm>
            <a:off x="666750" y="6466722"/>
            <a:ext cx="400050" cy="320040"/>
          </a:xfrm>
          <a:prstGeom prst="rect">
            <a:avLst/>
          </a:prstGeom>
          <a:noFill/>
          <a:ln/>
        </p:spPr>
        <p:txBody>
          <a:bodyPr wrap="square" lIns="25400" tIns="25400" rIns="25400" bIns="25400" rtlCol="0" anchor="t">
            <a:normAutofit/>
          </a:bodyPr>
          <a:lstStyle/>
          <a:p>
            <a:pPr marL="0" indent="0" algn="l">
              <a:buNone/>
            </a:pPr>
            <a:r>
              <a:rPr lang="en-US" sz="1650" b="1" dirty="0">
                <a:solidFill>
                  <a:srgbClr val="0E83B0"/>
                </a:solidFill>
                <a:latin typeface="Source Serif 4" pitchFamily="34" charset="0"/>
                <a:ea typeface="Source Serif 4" pitchFamily="34" charset="-122"/>
                <a:cs typeface="Source Serif 4" pitchFamily="34" charset="-120"/>
              </a:rPr>
              <a:t>04</a:t>
            </a:r>
            <a:endParaRPr lang="en-US" sz="1650" dirty="0"/>
          </a:p>
        </p:txBody>
      </p:sp>
      <p:sp>
        <p:nvSpPr>
          <p:cNvPr id="15" name="Text 13"/>
          <p:cNvSpPr/>
          <p:nvPr/>
        </p:nvSpPr>
        <p:spPr>
          <a:xfrm>
            <a:off x="1181100" y="5870377"/>
            <a:ext cx="7957530" cy="32004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575" dirty="0">
                <a:solidFill>
                  <a:srgbClr val="2C3743"/>
                </a:solidFill>
                <a:latin typeface="Public Sans" pitchFamily="34" charset="0"/>
                <a:ea typeface="Public Sans" pitchFamily="34" charset="-122"/>
                <a:cs typeface="Public Sans" pitchFamily="34" charset="-120"/>
              </a:rPr>
              <a:t>A </a:t>
            </a:r>
            <a:r>
              <a:rPr lang="en-US" sz="1575" b="1" dirty="0">
                <a:solidFill>
                  <a:srgbClr val="013E58"/>
                </a:solidFill>
                <a:latin typeface="Public Sans" pitchFamily="34" charset="0"/>
                <a:ea typeface="Public Sans" pitchFamily="34" charset="-122"/>
                <a:cs typeface="Public Sans" pitchFamily="34" charset="-120"/>
              </a:rPr>
              <a:t>target architecture </a:t>
            </a:r>
            <a:r>
              <a:rPr lang="en-US" sz="1575" dirty="0">
                <a:solidFill>
                  <a:srgbClr val="2C3743"/>
                </a:solidFill>
                <a:latin typeface="Public Sans" pitchFamily="34" charset="0"/>
                <a:ea typeface="Public Sans" pitchFamily="34" charset="-122"/>
                <a:cs typeface="Public Sans" pitchFamily="34" charset="-120"/>
              </a:rPr>
              <a:t>for the BoC semantic stack (Fabric / Foundry / Work IQ).</a:t>
            </a:r>
            <a:endParaRPr lang="en-US" sz="1575" dirty="0"/>
          </a:p>
        </p:txBody>
      </p:sp>
      <p:sp>
        <p:nvSpPr>
          <p:cNvPr id="16" name="Shape 14"/>
          <p:cNvSpPr/>
          <p:nvPr/>
        </p:nvSpPr>
        <p:spPr>
          <a:xfrm>
            <a:off x="666750" y="6899077"/>
            <a:ext cx="9047798" cy="9525"/>
          </a:xfrm>
          <a:prstGeom prst="rect">
            <a:avLst/>
          </a:prstGeom>
          <a:solidFill>
            <a:srgbClr val="D7E3E8"/>
          </a:solidFill>
          <a:ln/>
        </p:spPr>
        <p:txBody>
          <a:bodyPr/>
          <a:lstStyle/>
          <a:p>
            <a:endParaRPr lang="en-CA"/>
          </a:p>
        </p:txBody>
      </p:sp>
      <p:sp>
        <p:nvSpPr>
          <p:cNvPr id="17" name="Text 15"/>
          <p:cNvSpPr/>
          <p:nvPr/>
        </p:nvSpPr>
        <p:spPr>
          <a:xfrm>
            <a:off x="666750" y="7061082"/>
            <a:ext cx="400050" cy="320040"/>
          </a:xfrm>
          <a:prstGeom prst="rect">
            <a:avLst/>
          </a:prstGeom>
          <a:noFill/>
          <a:ln/>
        </p:spPr>
        <p:txBody>
          <a:bodyPr wrap="square" lIns="25400" tIns="25400" rIns="25400" bIns="25400" rtlCol="0" anchor="t">
            <a:normAutofit/>
          </a:bodyPr>
          <a:lstStyle/>
          <a:p>
            <a:pPr marL="0" indent="0" algn="l">
              <a:buNone/>
            </a:pPr>
            <a:r>
              <a:rPr lang="en-US" sz="1650" b="1" dirty="0">
                <a:solidFill>
                  <a:srgbClr val="0E83B0"/>
                </a:solidFill>
                <a:latin typeface="Source Serif 4" pitchFamily="34" charset="0"/>
                <a:ea typeface="Source Serif 4" pitchFamily="34" charset="-122"/>
                <a:cs typeface="Source Serif 4" pitchFamily="34" charset="-120"/>
              </a:rPr>
              <a:t>05</a:t>
            </a:r>
            <a:endParaRPr lang="en-US" sz="1650" dirty="0"/>
          </a:p>
        </p:txBody>
      </p:sp>
      <p:sp>
        <p:nvSpPr>
          <p:cNvPr id="18" name="Text 16"/>
          <p:cNvSpPr/>
          <p:nvPr/>
        </p:nvSpPr>
        <p:spPr>
          <a:xfrm>
            <a:off x="1181100" y="6464737"/>
            <a:ext cx="7414141" cy="32004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575" dirty="0">
                <a:solidFill>
                  <a:srgbClr val="2C3743"/>
                </a:solidFill>
                <a:latin typeface="Public Sans" pitchFamily="34" charset="0"/>
                <a:ea typeface="Public Sans" pitchFamily="34" charset="-122"/>
                <a:cs typeface="Public Sans" pitchFamily="34" charset="-120"/>
              </a:rPr>
              <a:t>An </a:t>
            </a:r>
            <a:r>
              <a:rPr lang="en-US" sz="1575" b="1" dirty="0">
                <a:solidFill>
                  <a:srgbClr val="013E58"/>
                </a:solidFill>
                <a:latin typeface="Public Sans" pitchFamily="34" charset="0"/>
                <a:ea typeface="Public Sans" pitchFamily="34" charset="-122"/>
                <a:cs typeface="Public Sans" pitchFamily="34" charset="-120"/>
              </a:rPr>
              <a:t>ontology high level governance &amp; operating model proposal </a:t>
            </a:r>
            <a:r>
              <a:rPr lang="en-US" sz="1575" dirty="0">
                <a:solidFill>
                  <a:srgbClr val="2C3743"/>
                </a:solidFill>
                <a:latin typeface="Public Sans" pitchFamily="34" charset="0"/>
                <a:ea typeface="Public Sans" pitchFamily="34" charset="-122"/>
                <a:cs typeface="Public Sans" pitchFamily="34" charset="-120"/>
              </a:rPr>
              <a:t>— central vs domain-owned.</a:t>
            </a:r>
            <a:endParaRPr lang="en-US" sz="1575" dirty="0"/>
          </a:p>
        </p:txBody>
      </p:sp>
      <p:sp>
        <p:nvSpPr>
          <p:cNvPr id="20" name="Text 18"/>
          <p:cNvSpPr/>
          <p:nvPr/>
        </p:nvSpPr>
        <p:spPr>
          <a:xfrm>
            <a:off x="1181100" y="7059096"/>
            <a:ext cx="5494663" cy="320040"/>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1575" dirty="0">
                <a:solidFill>
                  <a:srgbClr val="2C3743"/>
                </a:solidFill>
                <a:latin typeface="Public Sans" pitchFamily="34" charset="0"/>
                <a:ea typeface="Public Sans" pitchFamily="34" charset="-122"/>
                <a:cs typeface="Public Sans" pitchFamily="34" charset="-120"/>
              </a:rPr>
              <a:t>A </a:t>
            </a:r>
            <a:r>
              <a:rPr lang="en-US" sz="1575" b="1" dirty="0">
                <a:solidFill>
                  <a:srgbClr val="013E58"/>
                </a:solidFill>
                <a:latin typeface="Public Sans" pitchFamily="34" charset="0"/>
                <a:ea typeface="Public Sans" pitchFamily="34" charset="-122"/>
                <a:cs typeface="Public Sans" pitchFamily="34" charset="-120"/>
              </a:rPr>
              <a:t>lessons-learned analysis </a:t>
            </a:r>
            <a:r>
              <a:rPr lang="en-US" sz="1575" dirty="0">
                <a:solidFill>
                  <a:srgbClr val="2C3743"/>
                </a:solidFill>
                <a:latin typeface="Public Sans" pitchFamily="34" charset="0"/>
                <a:ea typeface="Public Sans" pitchFamily="34" charset="-122"/>
                <a:cs typeface="Public Sans" pitchFamily="34" charset="-120"/>
              </a:rPr>
              <a:t>across both workstreams.</a:t>
            </a:r>
            <a:endParaRPr lang="en-US" sz="1575" dirty="0"/>
          </a:p>
        </p:txBody>
      </p:sp>
      <p:sp>
        <p:nvSpPr>
          <p:cNvPr id="21" name="Shape 19"/>
          <p:cNvSpPr/>
          <p:nvPr/>
        </p:nvSpPr>
        <p:spPr>
          <a:xfrm>
            <a:off x="10381298" y="0"/>
            <a:ext cx="7906703" cy="10287000"/>
          </a:xfrm>
          <a:prstGeom prst="rect">
            <a:avLst/>
          </a:prstGeom>
          <a:solidFill>
            <a:srgbClr val="004F71"/>
          </a:solidFill>
          <a:ln/>
        </p:spPr>
        <p:txBody>
          <a:bodyPr/>
          <a:lstStyle/>
          <a:p>
            <a:endParaRPr lang="en-CA"/>
          </a:p>
        </p:txBody>
      </p:sp>
      <p:sp>
        <p:nvSpPr>
          <p:cNvPr id="22" name="Shape 20"/>
          <p:cNvSpPr/>
          <p:nvPr/>
        </p:nvSpPr>
        <p:spPr>
          <a:xfrm>
            <a:off x="10990898" y="3275767"/>
            <a:ext cx="323850" cy="19050"/>
          </a:xfrm>
          <a:prstGeom prst="rect">
            <a:avLst/>
          </a:prstGeom>
          <a:solidFill>
            <a:srgbClr val="29ABE2"/>
          </a:solidFill>
          <a:ln/>
        </p:spPr>
        <p:txBody>
          <a:bodyPr/>
          <a:lstStyle/>
          <a:p>
            <a:endParaRPr lang="en-CA"/>
          </a:p>
        </p:txBody>
      </p:sp>
      <p:sp>
        <p:nvSpPr>
          <p:cNvPr id="23" name="Text 21"/>
          <p:cNvSpPr/>
          <p:nvPr/>
        </p:nvSpPr>
        <p:spPr>
          <a:xfrm>
            <a:off x="11448098" y="3189088"/>
            <a:ext cx="1326998" cy="349241"/>
          </a:xfrm>
          <a:prstGeom prst="rect">
            <a:avLst/>
          </a:prstGeom>
          <a:noFill/>
          <a:ln/>
        </p:spPr>
        <p:txBody>
          <a:bodyPr wrap="square" lIns="0" tIns="0" rIns="0" bIns="0" rtlCol="0" anchor="t">
            <a:normAutofit/>
          </a:bodyPr>
          <a:lstStyle/>
          <a:p>
            <a:pPr marL="0" indent="0" algn="l">
              <a:lnSpc>
                <a:spcPct val="100000"/>
              </a:lnSpc>
              <a:buNone/>
            </a:pPr>
            <a:r>
              <a:rPr lang="en-US" b="1" kern="0" spc="255" dirty="0">
                <a:solidFill>
                  <a:srgbClr val="8FD4F0"/>
                </a:solidFill>
                <a:latin typeface="Public Sans" pitchFamily="34" charset="0"/>
                <a:ea typeface="Public Sans" pitchFamily="34" charset="-122"/>
                <a:cs typeface="Public Sans" pitchFamily="34" charset="-120"/>
              </a:rPr>
              <a:t>THE ASK</a:t>
            </a:r>
            <a:endParaRPr lang="en-US" dirty="0"/>
          </a:p>
        </p:txBody>
      </p:sp>
      <p:sp>
        <p:nvSpPr>
          <p:cNvPr id="24" name="Text 22"/>
          <p:cNvSpPr/>
          <p:nvPr/>
        </p:nvSpPr>
        <p:spPr>
          <a:xfrm>
            <a:off x="11314748" y="5127132"/>
            <a:ext cx="6106477" cy="1217342"/>
          </a:xfrm>
          <a:prstGeom prst="rect">
            <a:avLst/>
          </a:prstGeom>
          <a:noFill/>
          <a:ln/>
        </p:spPr>
        <p:txBody>
          <a:bodyPr wrap="square" lIns="25400" tIns="25400" rIns="25400" bIns="25400" rtlCol="0" anchor="t">
            <a:normAutofit/>
          </a:bodyPr>
          <a:lstStyle/>
          <a:p>
            <a:pPr marL="0" indent="0" algn="ctr">
              <a:lnSpc>
                <a:spcPct val="118000"/>
              </a:lnSpc>
              <a:buNone/>
            </a:pPr>
            <a:r>
              <a:rPr lang="en-US" sz="2850" b="1" dirty="0">
                <a:solidFill>
                  <a:srgbClr val="FFFFFF"/>
                </a:solidFill>
                <a:latin typeface="Source Serif 4" pitchFamily="34" charset="0"/>
                <a:ea typeface="Source Serif 4" pitchFamily="34" charset="-122"/>
                <a:cs typeface="Source Serif 4" pitchFamily="34" charset="-120"/>
              </a:rPr>
              <a:t>Approval to proceed with the </a:t>
            </a:r>
          </a:p>
          <a:p>
            <a:pPr marL="0" indent="0" algn="ctr">
              <a:lnSpc>
                <a:spcPct val="118000"/>
              </a:lnSpc>
              <a:buNone/>
            </a:pPr>
            <a:r>
              <a:rPr lang="en-US" sz="2850" b="1" dirty="0">
                <a:solidFill>
                  <a:srgbClr val="FFFFFF"/>
                </a:solidFill>
                <a:latin typeface="Source Serif 4" pitchFamily="34" charset="0"/>
                <a:ea typeface="Source Serif 4" pitchFamily="34" charset="-122"/>
                <a:cs typeface="Source Serif 4" pitchFamily="34" charset="-120"/>
              </a:rPr>
              <a:t>ontology assessment.</a:t>
            </a:r>
            <a:endParaRPr lang="en-US" sz="2850" dirty="0"/>
          </a:p>
        </p:txBody>
      </p:sp>
      <p:sp>
        <p:nvSpPr>
          <p:cNvPr id="33" name="Shape 31"/>
          <p:cNvSpPr/>
          <p:nvPr/>
        </p:nvSpPr>
        <p:spPr>
          <a:xfrm>
            <a:off x="16830675" y="9658350"/>
            <a:ext cx="161925" cy="247650"/>
          </a:xfrm>
          <a:prstGeom prst="rect">
            <a:avLst/>
          </a:prstGeom>
          <a:solidFill>
            <a:srgbClr val="277191">
              <a:alpha val="50000"/>
            </a:srgbClr>
          </a:solidFill>
          <a:ln/>
        </p:spPr>
        <p:txBody>
          <a:bodyPr/>
          <a:lstStyle/>
          <a:p>
            <a:endParaRPr lang="en-CA"/>
          </a:p>
        </p:txBody>
      </p:sp>
      <p:sp>
        <p:nvSpPr>
          <p:cNvPr id="34" name="Shape 32"/>
          <p:cNvSpPr/>
          <p:nvPr/>
        </p:nvSpPr>
        <p:spPr>
          <a:xfrm>
            <a:off x="17097375" y="9525000"/>
            <a:ext cx="161925" cy="381000"/>
          </a:xfrm>
          <a:prstGeom prst="rect">
            <a:avLst/>
          </a:prstGeom>
          <a:solidFill>
            <a:srgbClr val="277191">
              <a:alpha val="70000"/>
            </a:srgbClr>
          </a:solidFill>
          <a:ln/>
        </p:spPr>
        <p:txBody>
          <a:bodyPr/>
          <a:lstStyle/>
          <a:p>
            <a:endParaRPr lang="en-CA"/>
          </a:p>
        </p:txBody>
      </p:sp>
      <p:sp>
        <p:nvSpPr>
          <p:cNvPr id="35" name="Shape 33"/>
          <p:cNvSpPr/>
          <p:nvPr/>
        </p:nvSpPr>
        <p:spPr>
          <a:xfrm>
            <a:off x="17364075" y="9620250"/>
            <a:ext cx="161925" cy="285750"/>
          </a:xfrm>
          <a:prstGeom prst="rect">
            <a:avLst/>
          </a:prstGeom>
          <a:solidFill>
            <a:srgbClr val="277191">
              <a:alpha val="60000"/>
            </a:srgbClr>
          </a:solidFill>
          <a:ln/>
        </p:spPr>
        <p:txBody>
          <a:bodyPr/>
          <a:lstStyle/>
          <a:p>
            <a:endParaRPr lang="en-CA"/>
          </a:p>
        </p:txBody>
      </p:sp>
      <p:sp>
        <p:nvSpPr>
          <p:cNvPr id="36" name="Shape 34"/>
          <p:cNvSpPr/>
          <p:nvPr/>
        </p:nvSpPr>
        <p:spPr>
          <a:xfrm>
            <a:off x="17630775" y="9448800"/>
            <a:ext cx="161925" cy="457200"/>
          </a:xfrm>
          <a:prstGeom prst="rect">
            <a:avLst/>
          </a:prstGeom>
          <a:solidFill>
            <a:srgbClr val="277191"/>
          </a:solidFill>
          <a:ln/>
        </p:spPr>
        <p:txBody>
          <a:bodyPr/>
          <a:lstStyle/>
          <a:p>
            <a:endParaRPr lang="en-CA"/>
          </a:p>
        </p:txBody>
      </p:sp>
      <p:sp>
        <p:nvSpPr>
          <p:cNvPr id="37" name="Shape 35"/>
          <p:cNvSpPr/>
          <p:nvPr/>
        </p:nvSpPr>
        <p:spPr>
          <a:xfrm>
            <a:off x="17897475" y="9582150"/>
            <a:ext cx="161925" cy="323850"/>
          </a:xfrm>
          <a:prstGeom prst="rect">
            <a:avLst/>
          </a:prstGeom>
          <a:solidFill>
            <a:srgbClr val="277191">
              <a:alpha val="65000"/>
            </a:srgbClr>
          </a:solidFill>
          <a:ln/>
        </p:spPr>
        <p:txBody>
          <a:bodyPr/>
          <a:lstStyle/>
          <a:p>
            <a:endParaRPr lang="en-CA"/>
          </a:p>
        </p:txBody>
      </p:sp>
      <p:sp>
        <p:nvSpPr>
          <p:cNvPr id="38" name="Shape 36"/>
          <p:cNvSpPr/>
          <p:nvPr/>
        </p:nvSpPr>
        <p:spPr>
          <a:xfrm>
            <a:off x="18164175" y="9486900"/>
            <a:ext cx="161925" cy="419100"/>
          </a:xfrm>
          <a:prstGeom prst="rect">
            <a:avLst/>
          </a:prstGeom>
          <a:solidFill>
            <a:srgbClr val="277191">
              <a:alpha val="80000"/>
            </a:srgbClr>
          </a:solidFill>
          <a:ln/>
        </p:spPr>
        <p:txBody>
          <a:bodyPr/>
          <a:lstStyle/>
          <a:p>
            <a:endParaRPr lang="en-CA"/>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6BCD45-6DD9-C992-D528-CEE4D649A9A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7E1B9F9-9AE4-0572-B983-27957762C9AD}"/>
              </a:ext>
            </a:extLst>
          </p:cNvPr>
          <p:cNvSpPr/>
          <p:nvPr/>
        </p:nvSpPr>
        <p:spPr>
          <a:xfrm>
            <a:off x="1194435" y="900113"/>
            <a:ext cx="9000000" cy="411480"/>
          </a:xfrm>
          <a:prstGeom prst="rect">
            <a:avLst/>
          </a:prstGeom>
          <a:noFill/>
          <a:ln/>
        </p:spPr>
        <p:txBody>
          <a:bodyPr wrap="square" rtlCol="0" anchor="ctr"/>
          <a:lstStyle/>
          <a:p>
            <a:r>
              <a:rPr lang="en-US" sz="1350" b="1" kern="0" spc="750" dirty="0">
                <a:solidFill>
                  <a:srgbClr val="F5A623"/>
                </a:solidFill>
                <a:latin typeface="Calibri" pitchFamily="34" charset="0"/>
                <a:ea typeface="Calibri" pitchFamily="34" charset="-122"/>
                <a:cs typeface="Calibri" pitchFamily="34" charset="-120"/>
              </a:rPr>
              <a:t>5 / AI AGENT EVOLUTION</a:t>
            </a:r>
            <a:endParaRPr lang="en-US" sz="1350" dirty="0"/>
          </a:p>
        </p:txBody>
      </p:sp>
      <p:sp>
        <p:nvSpPr>
          <p:cNvPr id="3" name="Text 1">
            <a:extLst>
              <a:ext uri="{FF2B5EF4-FFF2-40B4-BE49-F238E27FC236}">
                <a16:creationId xmlns:a16="http://schemas.microsoft.com/office/drawing/2014/main" id="{EC2A8274-729F-1A59-CEC6-24CEB1F0B1D4}"/>
              </a:ext>
            </a:extLst>
          </p:cNvPr>
          <p:cNvSpPr/>
          <p:nvPr/>
        </p:nvSpPr>
        <p:spPr>
          <a:xfrm>
            <a:off x="1194435" y="1311593"/>
            <a:ext cx="15773400" cy="960120"/>
          </a:xfrm>
          <a:prstGeom prst="rect">
            <a:avLst/>
          </a:prstGeom>
          <a:noFill/>
          <a:ln/>
        </p:spPr>
        <p:txBody>
          <a:bodyPr wrap="square" lIns="0" tIns="0" rIns="0" bIns="0" rtlCol="0" anchor="t"/>
          <a:lstStyle/>
          <a:p>
            <a:r>
              <a:rPr lang="en-US" sz="5400" dirty="0">
                <a:solidFill>
                  <a:srgbClr val="F5F5F7"/>
                </a:solidFill>
                <a:latin typeface="Georgia" pitchFamily="34" charset="0"/>
                <a:ea typeface="Georgia" pitchFamily="34" charset="-122"/>
                <a:cs typeface="Georgia" pitchFamily="34" charset="-120"/>
              </a:rPr>
              <a:t>Evolution of AI Agent</a:t>
            </a:r>
            <a:endParaRPr lang="en-US" sz="5400" dirty="0"/>
          </a:p>
        </p:txBody>
      </p:sp>
      <p:sp>
        <p:nvSpPr>
          <p:cNvPr id="20" name="Subtitle">
            <a:extLst>
              <a:ext uri="{FF2B5EF4-FFF2-40B4-BE49-F238E27FC236}">
                <a16:creationId xmlns:a16="http://schemas.microsoft.com/office/drawing/2014/main" id="{E0CF0BB6-C8E2-655E-2A7D-978961E329C0}"/>
              </a:ext>
            </a:extLst>
          </p:cNvPr>
          <p:cNvSpPr/>
          <p:nvPr/>
        </p:nvSpPr>
        <p:spPr>
          <a:xfrm>
            <a:off x="1194435" y="2203193"/>
            <a:ext cx="15773400" cy="480000"/>
          </a:xfrm>
          <a:prstGeom prst="rect">
            <a:avLst/>
          </a:prstGeom>
          <a:noFill/>
          <a:ln/>
        </p:spPr>
        <p:txBody>
          <a:bodyPr wrap="square" lIns="0" tIns="0" rIns="0" bIns="0" rtlCol="0" anchor="t"/>
          <a:lstStyle/>
          <a:p>
            <a:r>
              <a:rPr lang="en-US" sz="2400" i="1" dirty="0">
                <a:solidFill>
                  <a:srgbClr val="9AA0A8"/>
                </a:solidFill>
                <a:latin typeface="Georgia" pitchFamily="34" charset="0"/>
              </a:rPr>
              <a:t>Maturing from documentation-driven assumptions to orchestrated, model and ontology grounded reasoning.</a:t>
            </a:r>
            <a:endParaRPr lang="en-US" sz="2400" i="1" dirty="0"/>
          </a:p>
        </p:txBody>
      </p:sp>
      <p:sp>
        <p:nvSpPr>
          <p:cNvPr id="25" name="Slide Number Placeholder 0">
            <a:extLst>
              <a:ext uri="{FF2B5EF4-FFF2-40B4-BE49-F238E27FC236}">
                <a16:creationId xmlns:a16="http://schemas.microsoft.com/office/drawing/2014/main" id="{D6E390F9-C152-B445-F94F-3E3D2264A0DD}"/>
              </a:ext>
            </a:extLst>
          </p:cNvPr>
          <p:cNvSpPr>
            <a:spLocks noGrp="1"/>
          </p:cNvSpPr>
          <p:nvPr>
            <p:ph type="sldNum" sz="quarter" idx="4294967295"/>
          </p:nvPr>
        </p:nvSpPr>
        <p:spPr>
          <a:xfrm>
            <a:off x="11430000" y="6510528"/>
            <a:ext cx="457200" cy="274320"/>
          </a:xfrm>
          <a:prstGeom prst="rect">
            <a:avLst/>
          </a:prstGeom>
          <a:extLst>
            <a:ext uri="{C572A759-6A51-4108-AA02-DFA0A04FC94B}">
              <ma14:wrappingTextBoxFlag xmlns:ma14="http://schemas.microsoft.com/office/mac/drawingml/2011/main" xmlns="" val="0"/>
            </a:ext>
          </a:extLst>
        </p:spPr>
        <p:txBody>
          <a:bodyPr/>
          <a:lstStyle>
            <a:lvl1pPr marL="0" algn="l" defTabSz="914400" rtl="0" eaLnBrk="1" latinLnBrk="0" hangingPunct="1">
              <a:defRPr sz="850" kern="1200">
                <a:solidFill>
                  <a:srgbClr val="5C6068"/>
                </a:solidFill>
                <a:latin typeface="Calibri"/>
                <a:ea typeface="Calibri"/>
                <a:cs typeface="Calibri"/>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F7021451-1387-4CA6-816F-3879F97B5CBC}" type="slidenum">
              <a:rPr lang="en-US" smtClean="0"/>
              <a:pPr algn="r"/>
              <a:t>9</a:t>
            </a:fld>
            <a:endParaRPr lang="en-US"/>
          </a:p>
        </p:txBody>
      </p:sp>
      <p:sp>
        <p:nvSpPr>
          <p:cNvPr id="21" name="Card 1">
            <a:extLst>
              <a:ext uri="{FF2B5EF4-FFF2-40B4-BE49-F238E27FC236}">
                <a16:creationId xmlns:a16="http://schemas.microsoft.com/office/drawing/2014/main" id="{ED16F70B-7F22-3FE4-5ACA-5A7650122B1B}"/>
              </a:ext>
            </a:extLst>
          </p:cNvPr>
          <p:cNvSpPr/>
          <p:nvPr/>
        </p:nvSpPr>
        <p:spPr>
          <a:xfrm>
            <a:off x="494884" y="2846642"/>
            <a:ext cx="4483874" cy="6540246"/>
          </a:xfrm>
          <a:prstGeom prst="rect">
            <a:avLst/>
          </a:prstGeom>
          <a:solidFill>
            <a:srgbClr val="16191F"/>
          </a:solidFill>
          <a:ln w="9525">
            <a:solidFill>
              <a:srgbClr val="262A31"/>
            </a:solidFill>
            <a:prstDash val="solid"/>
          </a:ln>
        </p:spPr>
        <p:txBody>
          <a:bodyPr/>
          <a:lstStyle/>
          <a:p>
            <a:endParaRPr lang="en-CA" sz="2700"/>
          </a:p>
        </p:txBody>
      </p:sp>
      <p:sp>
        <p:nvSpPr>
          <p:cNvPr id="22" name="Badge 1">
            <a:extLst>
              <a:ext uri="{FF2B5EF4-FFF2-40B4-BE49-F238E27FC236}">
                <a16:creationId xmlns:a16="http://schemas.microsoft.com/office/drawing/2014/main" id="{58C9675C-5E9D-5328-B75C-FCA4F8FDAB19}"/>
              </a:ext>
            </a:extLst>
          </p:cNvPr>
          <p:cNvSpPr/>
          <p:nvPr/>
        </p:nvSpPr>
        <p:spPr>
          <a:xfrm>
            <a:off x="644032" y="2981642"/>
            <a:ext cx="2743202" cy="473139"/>
          </a:xfrm>
          <a:prstGeom prst="rect">
            <a:avLst/>
          </a:prstGeom>
          <a:noFill/>
          <a:ln/>
        </p:spPr>
        <p:txBody>
          <a:bodyPr wrap="square" lIns="0" tIns="0" rIns="0" bIns="0" rtlCol="0" anchor="ctr"/>
          <a:lstStyle/>
          <a:p>
            <a:r>
              <a:rPr lang="en-US" sz="2400" dirty="0">
                <a:solidFill>
                  <a:srgbClr val="E0654F"/>
                </a:solidFill>
                <a:latin typeface="Georgia" pitchFamily="34" charset="0"/>
                <a:ea typeface="Georgia" pitchFamily="34" charset="-122"/>
                <a:cs typeface="Georgia" pitchFamily="34" charset="-120"/>
              </a:rPr>
              <a:t>Phase</a:t>
            </a:r>
            <a:r>
              <a:rPr lang="en-US" sz="3000" dirty="0">
                <a:solidFill>
                  <a:srgbClr val="E0654F"/>
                </a:solidFill>
                <a:latin typeface="Georgia" pitchFamily="34" charset="0"/>
                <a:ea typeface="Georgia" pitchFamily="34" charset="-122"/>
                <a:cs typeface="Georgia" pitchFamily="34" charset="-120"/>
              </a:rPr>
              <a:t> 1</a:t>
            </a:r>
            <a:endParaRPr lang="en-US" sz="3000" dirty="0"/>
          </a:p>
        </p:txBody>
      </p:sp>
      <p:sp>
        <p:nvSpPr>
          <p:cNvPr id="23" name="Rule 1">
            <a:extLst>
              <a:ext uri="{FF2B5EF4-FFF2-40B4-BE49-F238E27FC236}">
                <a16:creationId xmlns:a16="http://schemas.microsoft.com/office/drawing/2014/main" id="{D55E6D17-9E67-9A85-8E33-F55EEE6739D3}"/>
              </a:ext>
            </a:extLst>
          </p:cNvPr>
          <p:cNvSpPr/>
          <p:nvPr/>
        </p:nvSpPr>
        <p:spPr>
          <a:xfrm flipV="1">
            <a:off x="628652" y="3897423"/>
            <a:ext cx="3771896" cy="13449"/>
          </a:xfrm>
          <a:prstGeom prst="line">
            <a:avLst/>
          </a:prstGeom>
          <a:noFill/>
          <a:ln w="12700">
            <a:solidFill>
              <a:srgbClr val="E0654F"/>
            </a:solidFill>
            <a:prstDash val="solid"/>
          </a:ln>
        </p:spPr>
        <p:txBody>
          <a:bodyPr/>
          <a:lstStyle/>
          <a:p>
            <a:endParaRPr lang="en-CA" sz="2700"/>
          </a:p>
        </p:txBody>
      </p:sp>
      <p:sp>
        <p:nvSpPr>
          <p:cNvPr id="24" name="Title 1">
            <a:extLst>
              <a:ext uri="{FF2B5EF4-FFF2-40B4-BE49-F238E27FC236}">
                <a16:creationId xmlns:a16="http://schemas.microsoft.com/office/drawing/2014/main" id="{8F4F7619-4162-EA00-C1A8-347E3D903C9E}"/>
              </a:ext>
            </a:extLst>
          </p:cNvPr>
          <p:cNvSpPr txBox="1"/>
          <p:nvPr/>
        </p:nvSpPr>
        <p:spPr>
          <a:xfrm>
            <a:off x="644028" y="3395903"/>
            <a:ext cx="3699369" cy="473139"/>
          </a:xfrm>
          <a:prstGeom prst="rect">
            <a:avLst/>
          </a:prstGeom>
          <a:noFill/>
        </p:spPr>
        <p:txBody>
          <a:bodyPr wrap="square" lIns="0" tIns="0" rIns="0" bIns="0" rtlCol="0" anchor="t"/>
          <a:lstStyle/>
          <a:p>
            <a:r>
              <a:rPr lang="en-US" sz="2100" dirty="0">
                <a:solidFill>
                  <a:srgbClr val="E0654F"/>
                </a:solidFill>
                <a:latin typeface="Georgia" panose="02040502050405020303" pitchFamily="18" charset="0"/>
              </a:rPr>
              <a:t>Documentation AI </a:t>
            </a:r>
            <a:r>
              <a:rPr lang="en-US" sz="2100">
                <a:solidFill>
                  <a:srgbClr val="E0654F"/>
                </a:solidFill>
                <a:latin typeface="Georgia" panose="02040502050405020303" pitchFamily="18" charset="0"/>
              </a:rPr>
              <a:t>agent</a:t>
            </a:r>
            <a:endParaRPr lang="en-CA" sz="2400" dirty="0"/>
          </a:p>
        </p:txBody>
      </p:sp>
      <p:sp>
        <p:nvSpPr>
          <p:cNvPr id="26" name="Body 1">
            <a:extLst>
              <a:ext uri="{FF2B5EF4-FFF2-40B4-BE49-F238E27FC236}">
                <a16:creationId xmlns:a16="http://schemas.microsoft.com/office/drawing/2014/main" id="{A55B4432-CDBD-AA9D-8E03-0E2ECEFA8EF3}"/>
              </a:ext>
            </a:extLst>
          </p:cNvPr>
          <p:cNvSpPr/>
          <p:nvPr/>
        </p:nvSpPr>
        <p:spPr>
          <a:xfrm>
            <a:off x="628652" y="4087968"/>
            <a:ext cx="4200525" cy="2960232"/>
          </a:xfrm>
          <a:prstGeom prst="rect">
            <a:avLst/>
          </a:prstGeom>
          <a:noFill/>
          <a:ln/>
        </p:spPr>
        <p:txBody>
          <a:bodyPr wrap="square" lIns="0" tIns="0" rIns="0" bIns="0" rtlCol="0" anchor="t"/>
          <a:lstStyle/>
          <a:p>
            <a:pPr>
              <a:spcBef>
                <a:spcPts val="300"/>
              </a:spcBef>
            </a:pPr>
            <a:r>
              <a:rPr lang="en-US" i="1" dirty="0">
                <a:solidFill>
                  <a:srgbClr val="C7CCD2"/>
                </a:solidFill>
                <a:latin typeface="Calibri" pitchFamily="34" charset="0"/>
              </a:rPr>
              <a:t>Unstructured, dispersed, low-quality information scattered across documentation forced the agent to make assumptions.</a:t>
            </a:r>
          </a:p>
          <a:p>
            <a:pPr>
              <a:spcBef>
                <a:spcPts val="1050"/>
              </a:spcBef>
            </a:pPr>
            <a:r>
              <a:rPr lang="en-US" sz="2100" b="1" dirty="0">
                <a:solidFill>
                  <a:srgbClr val="E0654F"/>
                </a:solidFill>
                <a:latin typeface="Calibri" pitchFamily="34" charset="0"/>
              </a:rPr>
              <a:t>Results</a:t>
            </a:r>
          </a:p>
          <a:p>
            <a:pPr marL="300038" indent="-300038">
              <a:spcBef>
                <a:spcPts val="450"/>
              </a:spcBef>
              <a:buFont typeface="Wingdings" panose="05000000000000000000" pitchFamily="2" charset="2"/>
              <a:buChar char="§"/>
            </a:pPr>
            <a:r>
              <a:rPr lang="en-US" dirty="0">
                <a:solidFill>
                  <a:srgbClr val="F5F5F7"/>
                </a:solidFill>
                <a:latin typeface="Calibri" pitchFamily="34" charset="0"/>
              </a:rPr>
              <a:t>High rate of hallucination</a:t>
            </a:r>
          </a:p>
          <a:p>
            <a:pPr marL="300038" indent="-300038">
              <a:spcBef>
                <a:spcPts val="450"/>
              </a:spcBef>
              <a:buFont typeface="Wingdings" panose="05000000000000000000" pitchFamily="2" charset="2"/>
              <a:buChar char="§"/>
            </a:pPr>
            <a:r>
              <a:rPr lang="en-US" dirty="0">
                <a:solidFill>
                  <a:srgbClr val="F5F5F7"/>
                </a:solidFill>
                <a:latin typeface="Calibri" pitchFamily="34" charset="0"/>
              </a:rPr>
              <a:t>High rate of semantic errors</a:t>
            </a:r>
          </a:p>
          <a:p>
            <a:pPr marL="300038" indent="-300038">
              <a:spcBef>
                <a:spcPts val="450"/>
              </a:spcBef>
              <a:buFont typeface="Wingdings" panose="05000000000000000000" pitchFamily="2" charset="2"/>
              <a:buChar char="§"/>
            </a:pPr>
            <a:r>
              <a:rPr lang="en-US" dirty="0">
                <a:solidFill>
                  <a:srgbClr val="F5F5F7"/>
                </a:solidFill>
                <a:latin typeface="Calibri" pitchFamily="34" charset="0"/>
              </a:rPr>
              <a:t>Vague responses</a:t>
            </a:r>
            <a:br>
              <a:rPr lang="en-US" dirty="0">
                <a:solidFill>
                  <a:srgbClr val="F5F5F7"/>
                </a:solidFill>
                <a:latin typeface="Calibri" pitchFamily="34" charset="0"/>
              </a:rPr>
            </a:br>
            <a:endParaRPr lang="en-US" dirty="0">
              <a:solidFill>
                <a:srgbClr val="F5F5F7"/>
              </a:solidFill>
              <a:latin typeface="Calibri" pitchFamily="34" charset="0"/>
            </a:endParaRPr>
          </a:p>
          <a:p>
            <a:pPr>
              <a:spcBef>
                <a:spcPts val="450"/>
              </a:spcBef>
            </a:pPr>
            <a:endParaRPr lang="en-US" b="1" dirty="0">
              <a:solidFill>
                <a:srgbClr val="E0654F"/>
              </a:solidFill>
              <a:latin typeface="Calibri" pitchFamily="34" charset="0"/>
            </a:endParaRPr>
          </a:p>
          <a:p>
            <a:pPr>
              <a:spcBef>
                <a:spcPts val="450"/>
              </a:spcBef>
            </a:pPr>
            <a:r>
              <a:rPr lang="en-US" b="1" dirty="0">
                <a:solidFill>
                  <a:srgbClr val="E0654F"/>
                </a:solidFill>
                <a:latin typeface="Calibri" pitchFamily="34" charset="0"/>
              </a:rPr>
              <a:t>AI Agent Architecture</a:t>
            </a:r>
            <a:endParaRPr lang="en-US" dirty="0">
              <a:solidFill>
                <a:srgbClr val="F5F5F7"/>
              </a:solidFill>
              <a:latin typeface="Calibri" pitchFamily="34" charset="0"/>
            </a:endParaRPr>
          </a:p>
        </p:txBody>
      </p:sp>
      <p:sp>
        <p:nvSpPr>
          <p:cNvPr id="27" name="Connector Chevron 1">
            <a:extLst>
              <a:ext uri="{FF2B5EF4-FFF2-40B4-BE49-F238E27FC236}">
                <a16:creationId xmlns:a16="http://schemas.microsoft.com/office/drawing/2014/main" id="{508DB80F-7836-38A1-40B2-796EA058F995}"/>
              </a:ext>
            </a:extLst>
          </p:cNvPr>
          <p:cNvSpPr/>
          <p:nvPr/>
        </p:nvSpPr>
        <p:spPr>
          <a:xfrm>
            <a:off x="5077701" y="5337410"/>
            <a:ext cx="450000" cy="450000"/>
          </a:xfrm>
          <a:prstGeom prst="chevron">
            <a:avLst/>
          </a:prstGeom>
          <a:solidFill>
            <a:srgbClr val="F5A623"/>
          </a:solidFill>
          <a:ln>
            <a:noFill/>
          </a:ln>
        </p:spPr>
        <p:txBody>
          <a:bodyPr/>
          <a:lstStyle/>
          <a:p>
            <a:endParaRPr lang="en-CA" sz="2700"/>
          </a:p>
        </p:txBody>
      </p:sp>
      <p:sp>
        <p:nvSpPr>
          <p:cNvPr id="28" name="Rectangle: Rounded Corners 27">
            <a:extLst>
              <a:ext uri="{FF2B5EF4-FFF2-40B4-BE49-F238E27FC236}">
                <a16:creationId xmlns:a16="http://schemas.microsoft.com/office/drawing/2014/main" id="{28C85221-B67D-D908-8D1C-A4B4243D0591}"/>
              </a:ext>
            </a:extLst>
          </p:cNvPr>
          <p:cNvSpPr/>
          <p:nvPr/>
        </p:nvSpPr>
        <p:spPr>
          <a:xfrm>
            <a:off x="1814515" y="7590729"/>
            <a:ext cx="1200149" cy="617901"/>
          </a:xfrm>
          <a:prstGeom prst="roundRect">
            <a:avLst>
              <a:gd name="adj" fmla="val 10417"/>
            </a:avLst>
          </a:prstGeom>
          <a:solidFill>
            <a:srgbClr val="E0654F"/>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50" dirty="0"/>
              <a:t>Single AI Worker</a:t>
            </a:r>
            <a:endParaRPr lang="en-CA" sz="1650" dirty="0"/>
          </a:p>
        </p:txBody>
      </p:sp>
      <p:pic>
        <p:nvPicPr>
          <p:cNvPr id="34" name="Graphic 33" descr="Books on shelf with solid fill">
            <a:extLst>
              <a:ext uri="{FF2B5EF4-FFF2-40B4-BE49-F238E27FC236}">
                <a16:creationId xmlns:a16="http://schemas.microsoft.com/office/drawing/2014/main" id="{E05C782B-7DF7-7CD2-59FB-03022C0F1133}"/>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15491" y="7587410"/>
            <a:ext cx="617901" cy="617901"/>
          </a:xfrm>
          <a:prstGeom prst="rect">
            <a:avLst/>
          </a:prstGeom>
        </p:spPr>
      </p:pic>
      <p:cxnSp>
        <p:nvCxnSpPr>
          <p:cNvPr id="36" name="Straight Arrow Connector 35">
            <a:extLst>
              <a:ext uri="{FF2B5EF4-FFF2-40B4-BE49-F238E27FC236}">
                <a16:creationId xmlns:a16="http://schemas.microsoft.com/office/drawing/2014/main" id="{00700B3B-BE42-15C0-3753-E2352FC82527}"/>
              </a:ext>
            </a:extLst>
          </p:cNvPr>
          <p:cNvCxnSpPr>
            <a:cxnSpLocks/>
            <a:stCxn id="34" idx="3"/>
            <a:endCxn id="28" idx="1"/>
          </p:cNvCxnSpPr>
          <p:nvPr/>
        </p:nvCxnSpPr>
        <p:spPr>
          <a:xfrm>
            <a:off x="1533392" y="7896361"/>
            <a:ext cx="281123" cy="332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p:nvGrpSpPr>
          <p:cNvPr id="48" name="Group 47">
            <a:extLst>
              <a:ext uri="{FF2B5EF4-FFF2-40B4-BE49-F238E27FC236}">
                <a16:creationId xmlns:a16="http://schemas.microsoft.com/office/drawing/2014/main" id="{73D6DC0E-BBFF-F604-A125-FA819384E4FE}"/>
              </a:ext>
            </a:extLst>
          </p:cNvPr>
          <p:cNvGrpSpPr/>
          <p:nvPr/>
        </p:nvGrpSpPr>
        <p:grpSpPr>
          <a:xfrm>
            <a:off x="3618515" y="7620154"/>
            <a:ext cx="810608" cy="438113"/>
            <a:chOff x="4586510" y="4870950"/>
            <a:chExt cx="540405" cy="292075"/>
          </a:xfrm>
        </p:grpSpPr>
        <p:sp>
          <p:nvSpPr>
            <p:cNvPr id="41" name="Oval 40">
              <a:extLst>
                <a:ext uri="{FF2B5EF4-FFF2-40B4-BE49-F238E27FC236}">
                  <a16:creationId xmlns:a16="http://schemas.microsoft.com/office/drawing/2014/main" id="{7F2293BF-B329-B267-6FE9-E43EE5E02917}"/>
                </a:ext>
              </a:extLst>
            </p:cNvPr>
            <p:cNvSpPr/>
            <p:nvPr/>
          </p:nvSpPr>
          <p:spPr>
            <a:xfrm>
              <a:off x="4953223" y="4870950"/>
              <a:ext cx="115788" cy="115788"/>
            </a:xfrm>
            <a:prstGeom prst="ellipse">
              <a:avLst/>
            </a:prstGeom>
            <a:solidFill>
              <a:srgbClr val="E0654F"/>
            </a:solidFill>
            <a:ln w="7441" cap="flat">
              <a:noFill/>
              <a:prstDash val="solid"/>
              <a:miter/>
            </a:ln>
          </p:spPr>
          <p:txBody>
            <a:bodyPr/>
            <a:lstStyle/>
            <a:p>
              <a:endParaRPr lang="en-CA" sz="2700"/>
            </a:p>
          </p:txBody>
        </p:sp>
        <p:sp>
          <p:nvSpPr>
            <p:cNvPr id="42" name="Oval 41">
              <a:extLst>
                <a:ext uri="{FF2B5EF4-FFF2-40B4-BE49-F238E27FC236}">
                  <a16:creationId xmlns:a16="http://schemas.microsoft.com/office/drawing/2014/main" id="{0AA8838F-0B7C-F0D8-E719-6C96B35BE3E4}"/>
                </a:ext>
              </a:extLst>
            </p:cNvPr>
            <p:cNvSpPr/>
            <p:nvPr/>
          </p:nvSpPr>
          <p:spPr>
            <a:xfrm>
              <a:off x="4644479" y="4870950"/>
              <a:ext cx="115788" cy="115788"/>
            </a:xfrm>
            <a:prstGeom prst="ellipse">
              <a:avLst/>
            </a:prstGeom>
            <a:solidFill>
              <a:srgbClr val="E0654F"/>
            </a:solidFill>
            <a:ln w="7441" cap="flat">
              <a:noFill/>
              <a:prstDash val="solid"/>
              <a:miter/>
            </a:ln>
          </p:spPr>
          <p:txBody>
            <a:bodyPr/>
            <a:lstStyle/>
            <a:p>
              <a:endParaRPr lang="en-CA" sz="2700"/>
            </a:p>
          </p:txBody>
        </p:sp>
        <p:sp>
          <p:nvSpPr>
            <p:cNvPr id="43" name="Freeform: Shape 42">
              <a:extLst>
                <a:ext uri="{FF2B5EF4-FFF2-40B4-BE49-F238E27FC236}">
                  <a16:creationId xmlns:a16="http://schemas.microsoft.com/office/drawing/2014/main" id="{B5748E46-963B-0DE1-4525-4784C6313ACA}"/>
                </a:ext>
              </a:extLst>
            </p:cNvPr>
            <p:cNvSpPr/>
            <p:nvPr/>
          </p:nvSpPr>
          <p:spPr>
            <a:xfrm>
              <a:off x="4917281" y="5002439"/>
              <a:ext cx="209634" cy="115937"/>
            </a:xfrm>
            <a:custGeom>
              <a:avLst/>
              <a:gdLst>
                <a:gd name="csX0" fmla="*/ 198090 w 209634"/>
                <a:gd name="csY0" fmla="*/ 34454 h 115937"/>
                <a:gd name="csX1" fmla="*/ 141461 w 209634"/>
                <a:gd name="csY1" fmla="*/ 7442 h 115937"/>
                <a:gd name="csX2" fmla="*/ 93836 w 209634"/>
                <a:gd name="csY2" fmla="*/ 0 h 115937"/>
                <a:gd name="csX3" fmla="*/ 46286 w 209634"/>
                <a:gd name="csY3" fmla="*/ 7442 h 115937"/>
                <a:gd name="csX4" fmla="*/ 2679 w 209634"/>
                <a:gd name="csY4" fmla="*/ 26194 h 115937"/>
                <a:gd name="csX5" fmla="*/ 0 w 209634"/>
                <a:gd name="csY5" fmla="*/ 29245 h 115937"/>
                <a:gd name="csX6" fmla="*/ 59531 w 209634"/>
                <a:gd name="csY6" fmla="*/ 59011 h 115937"/>
                <a:gd name="csX7" fmla="*/ 81260 w 209634"/>
                <a:gd name="csY7" fmla="*/ 102692 h 115937"/>
                <a:gd name="csX8" fmla="*/ 81260 w 209634"/>
                <a:gd name="csY8" fmla="*/ 115938 h 115937"/>
                <a:gd name="csX9" fmla="*/ 209624 w 209634"/>
                <a:gd name="csY9" fmla="*/ 115938 h 115937"/>
                <a:gd name="csX10" fmla="*/ 209624 w 209634"/>
                <a:gd name="csY10" fmla="*/ 57671 h 115937"/>
                <a:gd name="csX11" fmla="*/ 198090 w 209634"/>
                <a:gd name="csY11" fmla="*/ 34454 h 1159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09634" h="115937">
                  <a:moveTo>
                    <a:pt x="198090" y="34454"/>
                  </a:moveTo>
                  <a:cubicBezTo>
                    <a:pt x="181387" y="21464"/>
                    <a:pt x="162067" y="12249"/>
                    <a:pt x="141461" y="7442"/>
                  </a:cubicBezTo>
                  <a:cubicBezTo>
                    <a:pt x="125973" y="2917"/>
                    <a:pt x="109965" y="416"/>
                    <a:pt x="93836" y="0"/>
                  </a:cubicBezTo>
                  <a:cubicBezTo>
                    <a:pt x="77694" y="-36"/>
                    <a:pt x="61645" y="2475"/>
                    <a:pt x="46286" y="7442"/>
                  </a:cubicBezTo>
                  <a:cubicBezTo>
                    <a:pt x="30914" y="11535"/>
                    <a:pt x="16223" y="17852"/>
                    <a:pt x="2679" y="26194"/>
                  </a:cubicBezTo>
                  <a:lnTo>
                    <a:pt x="0" y="29245"/>
                  </a:lnTo>
                  <a:cubicBezTo>
                    <a:pt x="21635" y="35085"/>
                    <a:pt x="41878" y="45207"/>
                    <a:pt x="59531" y="59011"/>
                  </a:cubicBezTo>
                  <a:cubicBezTo>
                    <a:pt x="73407" y="69205"/>
                    <a:pt x="81501" y="85476"/>
                    <a:pt x="81260" y="102692"/>
                  </a:cubicBezTo>
                  <a:lnTo>
                    <a:pt x="81260" y="115938"/>
                  </a:lnTo>
                  <a:lnTo>
                    <a:pt x="209624" y="115938"/>
                  </a:lnTo>
                  <a:lnTo>
                    <a:pt x="209624" y="57671"/>
                  </a:lnTo>
                  <a:cubicBezTo>
                    <a:pt x="209878" y="48496"/>
                    <a:pt x="205555" y="39795"/>
                    <a:pt x="198090" y="34454"/>
                  </a:cubicBezTo>
                  <a:close/>
                </a:path>
              </a:pathLst>
            </a:custGeom>
            <a:solidFill>
              <a:srgbClr val="E0654F"/>
            </a:solidFill>
            <a:ln w="7441" cap="flat">
              <a:noFill/>
              <a:prstDash val="solid"/>
              <a:miter/>
            </a:ln>
          </p:spPr>
          <p:txBody>
            <a:bodyPr/>
            <a:lstStyle/>
            <a:p>
              <a:endParaRPr lang="en-CA" sz="2700"/>
            </a:p>
          </p:txBody>
        </p:sp>
        <p:sp>
          <p:nvSpPr>
            <p:cNvPr id="44" name="Freeform: Shape 43">
              <a:extLst>
                <a:ext uri="{FF2B5EF4-FFF2-40B4-BE49-F238E27FC236}">
                  <a16:creationId xmlns:a16="http://schemas.microsoft.com/office/drawing/2014/main" id="{A50C04AC-7A24-3881-EF8D-AAA4CAB44D39}"/>
                </a:ext>
              </a:extLst>
            </p:cNvPr>
            <p:cNvSpPr/>
            <p:nvPr/>
          </p:nvSpPr>
          <p:spPr>
            <a:xfrm>
              <a:off x="4586510" y="5002439"/>
              <a:ext cx="209922" cy="115937"/>
            </a:xfrm>
            <a:custGeom>
              <a:avLst/>
              <a:gdLst>
                <a:gd name="csX0" fmla="*/ 128662 w 209922"/>
                <a:gd name="csY0" fmla="*/ 102692 h 115937"/>
                <a:gd name="csX1" fmla="*/ 149572 w 209922"/>
                <a:gd name="csY1" fmla="*/ 59755 h 115937"/>
                <a:gd name="csX2" fmla="*/ 150391 w 209922"/>
                <a:gd name="csY2" fmla="*/ 59011 h 115937"/>
                <a:gd name="csX3" fmla="*/ 151358 w 209922"/>
                <a:gd name="csY3" fmla="*/ 58341 h 115937"/>
                <a:gd name="csX4" fmla="*/ 209922 w 209922"/>
                <a:gd name="csY4" fmla="*/ 29320 h 115937"/>
                <a:gd name="csX5" fmla="*/ 205680 w 209922"/>
                <a:gd name="csY5" fmla="*/ 24483 h 115937"/>
                <a:gd name="csX6" fmla="*/ 163413 w 209922"/>
                <a:gd name="csY6" fmla="*/ 7442 h 115937"/>
                <a:gd name="csX7" fmla="*/ 115863 w 209922"/>
                <a:gd name="csY7" fmla="*/ 1 h 115937"/>
                <a:gd name="csX8" fmla="*/ 68238 w 209922"/>
                <a:gd name="csY8" fmla="*/ 7442 h 115937"/>
                <a:gd name="csX9" fmla="*/ 11609 w 209922"/>
                <a:gd name="csY9" fmla="*/ 34454 h 115937"/>
                <a:gd name="csX10" fmla="*/ 0 w 209922"/>
                <a:gd name="csY10" fmla="*/ 57671 h 115937"/>
                <a:gd name="csX11" fmla="*/ 0 w 209922"/>
                <a:gd name="csY11" fmla="*/ 115938 h 115937"/>
                <a:gd name="csX12" fmla="*/ 128662 w 209922"/>
                <a:gd name="csY12" fmla="*/ 115938 h 1159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09922" h="115937">
                  <a:moveTo>
                    <a:pt x="128662" y="102692"/>
                  </a:moveTo>
                  <a:cubicBezTo>
                    <a:pt x="128674" y="85929"/>
                    <a:pt x="136383" y="70100"/>
                    <a:pt x="149572" y="59755"/>
                  </a:cubicBezTo>
                  <a:lnTo>
                    <a:pt x="150391" y="59011"/>
                  </a:lnTo>
                  <a:lnTo>
                    <a:pt x="151358" y="58341"/>
                  </a:lnTo>
                  <a:cubicBezTo>
                    <a:pt x="169221" y="45630"/>
                    <a:pt x="188988" y="35834"/>
                    <a:pt x="209922" y="29320"/>
                  </a:cubicBezTo>
                  <a:cubicBezTo>
                    <a:pt x="208434" y="27757"/>
                    <a:pt x="207020" y="26120"/>
                    <a:pt x="205680" y="24483"/>
                  </a:cubicBezTo>
                  <a:cubicBezTo>
                    <a:pt x="192478" y="16813"/>
                    <a:pt x="178244" y="11074"/>
                    <a:pt x="163413" y="7442"/>
                  </a:cubicBezTo>
                  <a:cubicBezTo>
                    <a:pt x="147950" y="2923"/>
                    <a:pt x="131967" y="422"/>
                    <a:pt x="115863" y="1"/>
                  </a:cubicBezTo>
                  <a:cubicBezTo>
                    <a:pt x="99695" y="-41"/>
                    <a:pt x="83622" y="2470"/>
                    <a:pt x="68238" y="7442"/>
                  </a:cubicBezTo>
                  <a:cubicBezTo>
                    <a:pt x="47920" y="13047"/>
                    <a:pt x="28751" y="22191"/>
                    <a:pt x="11609" y="34454"/>
                  </a:cubicBezTo>
                  <a:cubicBezTo>
                    <a:pt x="4390" y="40009"/>
                    <a:pt x="114" y="48564"/>
                    <a:pt x="0" y="57671"/>
                  </a:cubicBezTo>
                  <a:lnTo>
                    <a:pt x="0" y="115938"/>
                  </a:lnTo>
                  <a:lnTo>
                    <a:pt x="128662" y="115938"/>
                  </a:lnTo>
                  <a:close/>
                </a:path>
              </a:pathLst>
            </a:custGeom>
            <a:solidFill>
              <a:srgbClr val="E0654F"/>
            </a:solidFill>
            <a:ln w="7441" cap="flat">
              <a:noFill/>
              <a:prstDash val="solid"/>
              <a:miter/>
            </a:ln>
          </p:spPr>
          <p:txBody>
            <a:bodyPr/>
            <a:lstStyle/>
            <a:p>
              <a:endParaRPr lang="en-CA" sz="2700"/>
            </a:p>
          </p:txBody>
        </p:sp>
        <p:sp>
          <p:nvSpPr>
            <p:cNvPr id="45" name="Freeform: Shape 44">
              <a:extLst>
                <a:ext uri="{FF2B5EF4-FFF2-40B4-BE49-F238E27FC236}">
                  <a16:creationId xmlns:a16="http://schemas.microsoft.com/office/drawing/2014/main" id="{793A887A-AF09-2885-65E3-82F332E45B8F}"/>
                </a:ext>
              </a:extLst>
            </p:cNvPr>
            <p:cNvSpPr/>
            <p:nvPr/>
          </p:nvSpPr>
          <p:spPr>
            <a:xfrm>
              <a:off x="4740919" y="5047533"/>
              <a:ext cx="231660" cy="115492"/>
            </a:xfrm>
            <a:custGeom>
              <a:avLst/>
              <a:gdLst>
                <a:gd name="csX0" fmla="*/ 0 w 231660"/>
                <a:gd name="csY0" fmla="*/ 115492 h 115492"/>
                <a:gd name="csX1" fmla="*/ 0 w 231660"/>
                <a:gd name="csY1" fmla="*/ 57598 h 115492"/>
                <a:gd name="csX2" fmla="*/ 11609 w 231660"/>
                <a:gd name="csY2" fmla="*/ 34455 h 115492"/>
                <a:gd name="csX3" fmla="*/ 68238 w 231660"/>
                <a:gd name="csY3" fmla="*/ 7443 h 115492"/>
                <a:gd name="csX4" fmla="*/ 115788 w 231660"/>
                <a:gd name="csY4" fmla="*/ 1 h 115492"/>
                <a:gd name="csX5" fmla="*/ 163413 w 231660"/>
                <a:gd name="csY5" fmla="*/ 7443 h 115492"/>
                <a:gd name="csX6" fmla="*/ 220042 w 231660"/>
                <a:gd name="csY6" fmla="*/ 34455 h 115492"/>
                <a:gd name="csX7" fmla="*/ 231651 w 231660"/>
                <a:gd name="csY7" fmla="*/ 57598 h 115492"/>
                <a:gd name="csX8" fmla="*/ 231651 w 231660"/>
                <a:gd name="csY8" fmla="*/ 115492 h 115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31660" h="115492">
                  <a:moveTo>
                    <a:pt x="0" y="115492"/>
                  </a:moveTo>
                  <a:lnTo>
                    <a:pt x="0" y="57598"/>
                  </a:lnTo>
                  <a:cubicBezTo>
                    <a:pt x="35" y="48492"/>
                    <a:pt x="4331" y="39928"/>
                    <a:pt x="11609" y="34455"/>
                  </a:cubicBezTo>
                  <a:cubicBezTo>
                    <a:pt x="28716" y="22134"/>
                    <a:pt x="47897" y="12985"/>
                    <a:pt x="68238" y="7443"/>
                  </a:cubicBezTo>
                  <a:cubicBezTo>
                    <a:pt x="83590" y="2444"/>
                    <a:pt x="99643" y="-69"/>
                    <a:pt x="115788" y="1"/>
                  </a:cubicBezTo>
                  <a:cubicBezTo>
                    <a:pt x="131921" y="380"/>
                    <a:pt x="147934" y="2883"/>
                    <a:pt x="163413" y="7443"/>
                  </a:cubicBezTo>
                  <a:cubicBezTo>
                    <a:pt x="184042" y="12187"/>
                    <a:pt x="203374" y="21408"/>
                    <a:pt x="220042" y="34455"/>
                  </a:cubicBezTo>
                  <a:cubicBezTo>
                    <a:pt x="227534" y="39747"/>
                    <a:pt x="231890" y="48429"/>
                    <a:pt x="231651" y="57598"/>
                  </a:cubicBezTo>
                  <a:lnTo>
                    <a:pt x="231651" y="115492"/>
                  </a:lnTo>
                  <a:close/>
                </a:path>
              </a:pathLst>
            </a:custGeom>
            <a:solidFill>
              <a:srgbClr val="E0654F"/>
            </a:solidFill>
            <a:ln w="7441" cap="flat">
              <a:noFill/>
              <a:prstDash val="solid"/>
              <a:miter/>
            </a:ln>
          </p:spPr>
          <p:txBody>
            <a:bodyPr/>
            <a:lstStyle/>
            <a:p>
              <a:endParaRPr lang="en-CA" sz="2700"/>
            </a:p>
          </p:txBody>
        </p:sp>
        <p:sp>
          <p:nvSpPr>
            <p:cNvPr id="46" name="Oval 45">
              <a:extLst>
                <a:ext uri="{FF2B5EF4-FFF2-40B4-BE49-F238E27FC236}">
                  <a16:creationId xmlns:a16="http://schemas.microsoft.com/office/drawing/2014/main" id="{59A99D2E-9372-21CF-C03F-4665FE7B2C69}"/>
                </a:ext>
              </a:extLst>
            </p:cNvPr>
            <p:cNvSpPr/>
            <p:nvPr/>
          </p:nvSpPr>
          <p:spPr>
            <a:xfrm>
              <a:off x="4798814" y="4915971"/>
              <a:ext cx="115788" cy="115788"/>
            </a:xfrm>
            <a:prstGeom prst="ellipse">
              <a:avLst/>
            </a:prstGeom>
            <a:solidFill>
              <a:srgbClr val="E0654F"/>
            </a:solidFill>
            <a:ln w="7441" cap="flat">
              <a:noFill/>
              <a:prstDash val="solid"/>
              <a:miter/>
            </a:ln>
          </p:spPr>
          <p:txBody>
            <a:bodyPr/>
            <a:lstStyle/>
            <a:p>
              <a:endParaRPr lang="en-CA" sz="2700"/>
            </a:p>
          </p:txBody>
        </p:sp>
      </p:grpSp>
      <p:cxnSp>
        <p:nvCxnSpPr>
          <p:cNvPr id="49" name="Straight Arrow Connector 48">
            <a:extLst>
              <a:ext uri="{FF2B5EF4-FFF2-40B4-BE49-F238E27FC236}">
                <a16:creationId xmlns:a16="http://schemas.microsoft.com/office/drawing/2014/main" id="{02612DA2-25A7-B7CE-A01A-3E75257B9DF0}"/>
              </a:ext>
            </a:extLst>
          </p:cNvPr>
          <p:cNvCxnSpPr>
            <a:cxnSpLocks/>
            <a:stCxn id="28" idx="3"/>
          </p:cNvCxnSpPr>
          <p:nvPr/>
        </p:nvCxnSpPr>
        <p:spPr>
          <a:xfrm>
            <a:off x="3014663" y="7899680"/>
            <a:ext cx="603852" cy="4214"/>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52" name="Card 1">
            <a:extLst>
              <a:ext uri="{FF2B5EF4-FFF2-40B4-BE49-F238E27FC236}">
                <a16:creationId xmlns:a16="http://schemas.microsoft.com/office/drawing/2014/main" id="{8626DAA5-E967-0B6A-E742-8B54C1524BB0}"/>
              </a:ext>
            </a:extLst>
          </p:cNvPr>
          <p:cNvSpPr/>
          <p:nvPr/>
        </p:nvSpPr>
        <p:spPr>
          <a:xfrm>
            <a:off x="5596659" y="2846642"/>
            <a:ext cx="4649286" cy="6540246"/>
          </a:xfrm>
          <a:prstGeom prst="rect">
            <a:avLst/>
          </a:prstGeom>
          <a:solidFill>
            <a:srgbClr val="16191F"/>
          </a:solidFill>
          <a:ln w="9525">
            <a:solidFill>
              <a:srgbClr val="262A31"/>
            </a:solidFill>
            <a:prstDash val="solid"/>
          </a:ln>
        </p:spPr>
        <p:txBody>
          <a:bodyPr/>
          <a:lstStyle/>
          <a:p>
            <a:endParaRPr lang="en-CA" sz="2700"/>
          </a:p>
        </p:txBody>
      </p:sp>
      <p:sp>
        <p:nvSpPr>
          <p:cNvPr id="53" name="Badge 1">
            <a:extLst>
              <a:ext uri="{FF2B5EF4-FFF2-40B4-BE49-F238E27FC236}">
                <a16:creationId xmlns:a16="http://schemas.microsoft.com/office/drawing/2014/main" id="{5CFE629D-769D-03AE-B6F1-CB611F50BC8F}"/>
              </a:ext>
            </a:extLst>
          </p:cNvPr>
          <p:cNvSpPr/>
          <p:nvPr/>
        </p:nvSpPr>
        <p:spPr>
          <a:xfrm>
            <a:off x="5817484" y="2981642"/>
            <a:ext cx="2743202" cy="473139"/>
          </a:xfrm>
          <a:prstGeom prst="rect">
            <a:avLst/>
          </a:prstGeom>
          <a:noFill/>
          <a:ln/>
        </p:spPr>
        <p:txBody>
          <a:bodyPr wrap="square" lIns="0" tIns="0" rIns="0" bIns="0" rtlCol="0" anchor="ctr"/>
          <a:lstStyle/>
          <a:p>
            <a:r>
              <a:rPr lang="en-US" sz="2400" dirty="0">
                <a:solidFill>
                  <a:srgbClr val="FFC000"/>
                </a:solidFill>
                <a:latin typeface="Georgia" pitchFamily="34" charset="0"/>
                <a:ea typeface="Georgia" pitchFamily="34" charset="-122"/>
                <a:cs typeface="Georgia" pitchFamily="34" charset="-120"/>
              </a:rPr>
              <a:t>Phase</a:t>
            </a:r>
            <a:r>
              <a:rPr lang="en-US" sz="3000" dirty="0">
                <a:solidFill>
                  <a:srgbClr val="FFC000"/>
                </a:solidFill>
                <a:latin typeface="Georgia" pitchFamily="34" charset="0"/>
                <a:ea typeface="Georgia" pitchFamily="34" charset="-122"/>
                <a:cs typeface="Georgia" pitchFamily="34" charset="-120"/>
              </a:rPr>
              <a:t> 2</a:t>
            </a:r>
            <a:endParaRPr lang="en-US" sz="3000" dirty="0">
              <a:solidFill>
                <a:srgbClr val="FFC000"/>
              </a:solidFill>
            </a:endParaRPr>
          </a:p>
        </p:txBody>
      </p:sp>
      <p:sp>
        <p:nvSpPr>
          <p:cNvPr id="54" name="Rule 1">
            <a:extLst>
              <a:ext uri="{FF2B5EF4-FFF2-40B4-BE49-F238E27FC236}">
                <a16:creationId xmlns:a16="http://schemas.microsoft.com/office/drawing/2014/main" id="{CC79EFB0-A287-B502-CA47-56FDB545FAF0}"/>
              </a:ext>
            </a:extLst>
          </p:cNvPr>
          <p:cNvSpPr/>
          <p:nvPr/>
        </p:nvSpPr>
        <p:spPr>
          <a:xfrm flipV="1">
            <a:off x="5802104" y="3882297"/>
            <a:ext cx="4323791" cy="28575"/>
          </a:xfrm>
          <a:prstGeom prst="line">
            <a:avLst/>
          </a:prstGeom>
          <a:noFill/>
          <a:ln w="12700">
            <a:solidFill>
              <a:srgbClr val="FFC000"/>
            </a:solidFill>
            <a:prstDash val="solid"/>
          </a:ln>
        </p:spPr>
        <p:txBody>
          <a:bodyPr/>
          <a:lstStyle/>
          <a:p>
            <a:endParaRPr lang="en-CA" sz="2700"/>
          </a:p>
        </p:txBody>
      </p:sp>
      <p:sp>
        <p:nvSpPr>
          <p:cNvPr id="55" name="Title 1">
            <a:extLst>
              <a:ext uri="{FF2B5EF4-FFF2-40B4-BE49-F238E27FC236}">
                <a16:creationId xmlns:a16="http://schemas.microsoft.com/office/drawing/2014/main" id="{88119EA4-AE26-9015-34B0-24CAB1FD16F1}"/>
              </a:ext>
            </a:extLst>
          </p:cNvPr>
          <p:cNvSpPr txBox="1"/>
          <p:nvPr/>
        </p:nvSpPr>
        <p:spPr>
          <a:xfrm>
            <a:off x="5817479" y="3395903"/>
            <a:ext cx="4323791" cy="473139"/>
          </a:xfrm>
          <a:prstGeom prst="rect">
            <a:avLst/>
          </a:prstGeom>
          <a:noFill/>
        </p:spPr>
        <p:txBody>
          <a:bodyPr wrap="square" lIns="0" tIns="0" rIns="0" bIns="0" rtlCol="0" anchor="t"/>
          <a:lstStyle/>
          <a:p>
            <a:r>
              <a:rPr lang="en-US" sz="2100" dirty="0">
                <a:solidFill>
                  <a:srgbClr val="FFC000"/>
                </a:solidFill>
                <a:latin typeface="Georgia" panose="02040502050405020303" pitchFamily="18" charset="0"/>
              </a:rPr>
              <a:t>Excel as consolidated source of truth</a:t>
            </a:r>
            <a:endParaRPr lang="en-CA" sz="2400" dirty="0">
              <a:solidFill>
                <a:srgbClr val="FFC000"/>
              </a:solidFill>
            </a:endParaRPr>
          </a:p>
        </p:txBody>
      </p:sp>
      <p:sp>
        <p:nvSpPr>
          <p:cNvPr id="56" name="Body 1">
            <a:extLst>
              <a:ext uri="{FF2B5EF4-FFF2-40B4-BE49-F238E27FC236}">
                <a16:creationId xmlns:a16="http://schemas.microsoft.com/office/drawing/2014/main" id="{A8DB1655-D9B3-A2F0-8EAE-B6CB30B7EE30}"/>
              </a:ext>
            </a:extLst>
          </p:cNvPr>
          <p:cNvSpPr/>
          <p:nvPr/>
        </p:nvSpPr>
        <p:spPr>
          <a:xfrm>
            <a:off x="5802104" y="4087968"/>
            <a:ext cx="4200525" cy="2960232"/>
          </a:xfrm>
          <a:prstGeom prst="rect">
            <a:avLst/>
          </a:prstGeom>
          <a:noFill/>
          <a:ln/>
        </p:spPr>
        <p:txBody>
          <a:bodyPr wrap="square" lIns="0" tIns="0" rIns="0" bIns="0" rtlCol="0" anchor="t"/>
          <a:lstStyle/>
          <a:p>
            <a:pPr>
              <a:spcBef>
                <a:spcPts val="300"/>
              </a:spcBef>
            </a:pPr>
            <a:r>
              <a:rPr lang="en-US" i="1" dirty="0">
                <a:solidFill>
                  <a:srgbClr val="C7CCD2"/>
                </a:solidFill>
                <a:latin typeface="Calibri" pitchFamily="34" charset="0"/>
              </a:rPr>
              <a:t>Consolidating business knowledge into a structured Excel repository.</a:t>
            </a:r>
          </a:p>
          <a:p>
            <a:pPr>
              <a:spcBef>
                <a:spcPts val="300"/>
              </a:spcBef>
            </a:pPr>
            <a:endParaRPr lang="en-US" i="1" dirty="0">
              <a:solidFill>
                <a:srgbClr val="C7CCD2"/>
              </a:solidFill>
              <a:latin typeface="Calibri" pitchFamily="34" charset="0"/>
            </a:endParaRPr>
          </a:p>
          <a:p>
            <a:pPr>
              <a:spcBef>
                <a:spcPts val="1050"/>
              </a:spcBef>
            </a:pPr>
            <a:r>
              <a:rPr lang="en-US" sz="2100" b="1" dirty="0">
                <a:solidFill>
                  <a:srgbClr val="FFC000"/>
                </a:solidFill>
                <a:latin typeface="Calibri" pitchFamily="34" charset="0"/>
              </a:rPr>
              <a:t>Results</a:t>
            </a:r>
          </a:p>
          <a:p>
            <a:pPr marL="300038" indent="-300038">
              <a:spcBef>
                <a:spcPts val="450"/>
              </a:spcBef>
              <a:buFont typeface="Wingdings" panose="05000000000000000000" pitchFamily="2" charset="2"/>
              <a:buChar char="§"/>
            </a:pPr>
            <a:r>
              <a:rPr lang="en-US" dirty="0">
                <a:solidFill>
                  <a:srgbClr val="F5F5F7"/>
                </a:solidFill>
                <a:latin typeface="Calibri" pitchFamily="34" charset="0"/>
              </a:rPr>
              <a:t>Reduce rate of hallucination</a:t>
            </a:r>
          </a:p>
          <a:p>
            <a:pPr marL="300038" indent="-300038">
              <a:spcBef>
                <a:spcPts val="450"/>
              </a:spcBef>
              <a:buFont typeface="Wingdings" panose="05000000000000000000" pitchFamily="2" charset="2"/>
              <a:buChar char="§"/>
            </a:pPr>
            <a:r>
              <a:rPr lang="en-US" dirty="0">
                <a:solidFill>
                  <a:srgbClr val="F5F5F7"/>
                </a:solidFill>
                <a:latin typeface="Calibri" pitchFamily="34" charset="0"/>
              </a:rPr>
              <a:t>High rate of semantic errors</a:t>
            </a:r>
          </a:p>
          <a:p>
            <a:pPr marL="300038" indent="-300038">
              <a:spcBef>
                <a:spcPts val="450"/>
              </a:spcBef>
              <a:buFont typeface="Wingdings" panose="05000000000000000000" pitchFamily="2" charset="2"/>
              <a:buChar char="§"/>
            </a:pPr>
            <a:r>
              <a:rPr lang="en-US" dirty="0">
                <a:solidFill>
                  <a:srgbClr val="F5F5F7"/>
                </a:solidFill>
                <a:latin typeface="Calibri" pitchFamily="34" charset="0"/>
              </a:rPr>
              <a:t>Better responses for simple scenarios</a:t>
            </a:r>
            <a:br>
              <a:rPr lang="en-US" dirty="0">
                <a:solidFill>
                  <a:srgbClr val="F5F5F7"/>
                </a:solidFill>
                <a:latin typeface="Calibri" pitchFamily="34" charset="0"/>
              </a:rPr>
            </a:br>
            <a:endParaRPr lang="en-US" dirty="0">
              <a:solidFill>
                <a:srgbClr val="F5F5F7"/>
              </a:solidFill>
              <a:latin typeface="Calibri" pitchFamily="34" charset="0"/>
            </a:endParaRPr>
          </a:p>
          <a:p>
            <a:pPr>
              <a:spcBef>
                <a:spcPts val="450"/>
              </a:spcBef>
            </a:pPr>
            <a:endParaRPr lang="en-US" b="1" dirty="0">
              <a:solidFill>
                <a:srgbClr val="FFC000"/>
              </a:solidFill>
              <a:latin typeface="Calibri" pitchFamily="34" charset="0"/>
            </a:endParaRPr>
          </a:p>
          <a:p>
            <a:pPr>
              <a:spcBef>
                <a:spcPts val="450"/>
              </a:spcBef>
            </a:pPr>
            <a:r>
              <a:rPr lang="en-US" b="1" dirty="0">
                <a:solidFill>
                  <a:srgbClr val="FFC000"/>
                </a:solidFill>
                <a:latin typeface="Calibri" pitchFamily="34" charset="0"/>
              </a:rPr>
              <a:t>AI Agent Architecture</a:t>
            </a:r>
            <a:endParaRPr lang="en-US" dirty="0">
              <a:solidFill>
                <a:srgbClr val="FFC000"/>
              </a:solidFill>
              <a:latin typeface="Calibri" pitchFamily="34" charset="0"/>
            </a:endParaRPr>
          </a:p>
        </p:txBody>
      </p:sp>
      <p:sp>
        <p:nvSpPr>
          <p:cNvPr id="57" name="Rectangle: Rounded Corners 56">
            <a:extLst>
              <a:ext uri="{FF2B5EF4-FFF2-40B4-BE49-F238E27FC236}">
                <a16:creationId xmlns:a16="http://schemas.microsoft.com/office/drawing/2014/main" id="{3B371133-BBF0-1C39-A2EA-A3B97673971C}"/>
              </a:ext>
            </a:extLst>
          </p:cNvPr>
          <p:cNvSpPr/>
          <p:nvPr/>
        </p:nvSpPr>
        <p:spPr>
          <a:xfrm>
            <a:off x="7102267" y="7576442"/>
            <a:ext cx="1200149" cy="617901"/>
          </a:xfrm>
          <a:prstGeom prst="roundRect">
            <a:avLst>
              <a:gd name="adj" fmla="val 10417"/>
            </a:avLst>
          </a:prstGeom>
          <a:solidFill>
            <a:srgbClr val="FFA5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50" dirty="0">
                <a:solidFill>
                  <a:schemeClr val="tx1"/>
                </a:solidFill>
              </a:rPr>
              <a:t>Single AI Worker</a:t>
            </a:r>
            <a:endParaRPr lang="en-CA" sz="1650" dirty="0">
              <a:solidFill>
                <a:schemeClr val="tx1"/>
              </a:solidFill>
            </a:endParaRPr>
          </a:p>
        </p:txBody>
      </p:sp>
      <p:cxnSp>
        <p:nvCxnSpPr>
          <p:cNvPr id="59" name="Straight Arrow Connector 58">
            <a:extLst>
              <a:ext uri="{FF2B5EF4-FFF2-40B4-BE49-F238E27FC236}">
                <a16:creationId xmlns:a16="http://schemas.microsoft.com/office/drawing/2014/main" id="{1E7D154B-7005-2FE8-8F35-24CBADDBD881}"/>
              </a:ext>
            </a:extLst>
          </p:cNvPr>
          <p:cNvCxnSpPr>
            <a:cxnSpLocks/>
            <a:stCxn id="73" idx="3"/>
            <a:endCxn id="57" idx="1"/>
          </p:cNvCxnSpPr>
          <p:nvPr/>
        </p:nvCxnSpPr>
        <p:spPr>
          <a:xfrm>
            <a:off x="6796896" y="7880141"/>
            <a:ext cx="305370" cy="5252"/>
          </a:xfrm>
          <a:prstGeom prst="straightConnector1">
            <a:avLst/>
          </a:prstGeom>
          <a:ln>
            <a:solidFill>
              <a:srgbClr val="FFC000"/>
            </a:solidFill>
            <a:tailEnd type="triangle"/>
          </a:ln>
        </p:spPr>
        <p:style>
          <a:lnRef idx="1">
            <a:schemeClr val="accent2"/>
          </a:lnRef>
          <a:fillRef idx="0">
            <a:schemeClr val="accent2"/>
          </a:fillRef>
          <a:effectRef idx="0">
            <a:schemeClr val="accent2"/>
          </a:effectRef>
          <a:fontRef idx="minor">
            <a:schemeClr val="tx1"/>
          </a:fontRef>
        </p:style>
      </p:cxnSp>
      <p:grpSp>
        <p:nvGrpSpPr>
          <p:cNvPr id="60" name="Group 59">
            <a:extLst>
              <a:ext uri="{FF2B5EF4-FFF2-40B4-BE49-F238E27FC236}">
                <a16:creationId xmlns:a16="http://schemas.microsoft.com/office/drawing/2014/main" id="{19B4FD4F-BC65-CC09-A250-52E6703B4166}"/>
              </a:ext>
            </a:extLst>
          </p:cNvPr>
          <p:cNvGrpSpPr/>
          <p:nvPr/>
        </p:nvGrpSpPr>
        <p:grpSpPr>
          <a:xfrm>
            <a:off x="8906267" y="7605866"/>
            <a:ext cx="810608" cy="438113"/>
            <a:chOff x="4586510" y="4870950"/>
            <a:chExt cx="540405" cy="292075"/>
          </a:xfrm>
        </p:grpSpPr>
        <p:sp>
          <p:nvSpPr>
            <p:cNvPr id="61" name="Oval 60">
              <a:extLst>
                <a:ext uri="{FF2B5EF4-FFF2-40B4-BE49-F238E27FC236}">
                  <a16:creationId xmlns:a16="http://schemas.microsoft.com/office/drawing/2014/main" id="{9CB9A9AC-BDE1-05D3-4B5D-823285464A9F}"/>
                </a:ext>
              </a:extLst>
            </p:cNvPr>
            <p:cNvSpPr/>
            <p:nvPr/>
          </p:nvSpPr>
          <p:spPr>
            <a:xfrm>
              <a:off x="4953223" y="4870950"/>
              <a:ext cx="115788" cy="115788"/>
            </a:xfrm>
            <a:prstGeom prst="ellipse">
              <a:avLst/>
            </a:prstGeom>
            <a:solidFill>
              <a:srgbClr val="E0654F"/>
            </a:solidFill>
            <a:ln w="7441" cap="flat">
              <a:noFill/>
              <a:prstDash val="solid"/>
              <a:miter/>
            </a:ln>
          </p:spPr>
          <p:txBody>
            <a:bodyPr/>
            <a:lstStyle/>
            <a:p>
              <a:endParaRPr lang="en-CA" sz="2700"/>
            </a:p>
          </p:txBody>
        </p:sp>
        <p:sp>
          <p:nvSpPr>
            <p:cNvPr id="62" name="Oval 61">
              <a:extLst>
                <a:ext uri="{FF2B5EF4-FFF2-40B4-BE49-F238E27FC236}">
                  <a16:creationId xmlns:a16="http://schemas.microsoft.com/office/drawing/2014/main" id="{6D2988D8-0125-9002-D0CA-3B6BDC9AE806}"/>
                </a:ext>
              </a:extLst>
            </p:cNvPr>
            <p:cNvSpPr/>
            <p:nvPr/>
          </p:nvSpPr>
          <p:spPr>
            <a:xfrm>
              <a:off x="4644479" y="4870950"/>
              <a:ext cx="115788" cy="115788"/>
            </a:xfrm>
            <a:prstGeom prst="ellipse">
              <a:avLst/>
            </a:prstGeom>
            <a:solidFill>
              <a:srgbClr val="E0654F"/>
            </a:solidFill>
            <a:ln w="7441" cap="flat">
              <a:noFill/>
              <a:prstDash val="solid"/>
              <a:miter/>
            </a:ln>
          </p:spPr>
          <p:txBody>
            <a:bodyPr/>
            <a:lstStyle/>
            <a:p>
              <a:endParaRPr lang="en-CA" sz="2700"/>
            </a:p>
          </p:txBody>
        </p:sp>
        <p:sp>
          <p:nvSpPr>
            <p:cNvPr id="63" name="Freeform: Shape 62">
              <a:extLst>
                <a:ext uri="{FF2B5EF4-FFF2-40B4-BE49-F238E27FC236}">
                  <a16:creationId xmlns:a16="http://schemas.microsoft.com/office/drawing/2014/main" id="{3D42B8B8-32A5-3684-094D-2BC7DB412BC9}"/>
                </a:ext>
              </a:extLst>
            </p:cNvPr>
            <p:cNvSpPr/>
            <p:nvPr/>
          </p:nvSpPr>
          <p:spPr>
            <a:xfrm>
              <a:off x="4917281" y="5002439"/>
              <a:ext cx="209634" cy="115937"/>
            </a:xfrm>
            <a:custGeom>
              <a:avLst/>
              <a:gdLst>
                <a:gd name="csX0" fmla="*/ 198090 w 209634"/>
                <a:gd name="csY0" fmla="*/ 34454 h 115937"/>
                <a:gd name="csX1" fmla="*/ 141461 w 209634"/>
                <a:gd name="csY1" fmla="*/ 7442 h 115937"/>
                <a:gd name="csX2" fmla="*/ 93836 w 209634"/>
                <a:gd name="csY2" fmla="*/ 0 h 115937"/>
                <a:gd name="csX3" fmla="*/ 46286 w 209634"/>
                <a:gd name="csY3" fmla="*/ 7442 h 115937"/>
                <a:gd name="csX4" fmla="*/ 2679 w 209634"/>
                <a:gd name="csY4" fmla="*/ 26194 h 115937"/>
                <a:gd name="csX5" fmla="*/ 0 w 209634"/>
                <a:gd name="csY5" fmla="*/ 29245 h 115937"/>
                <a:gd name="csX6" fmla="*/ 59531 w 209634"/>
                <a:gd name="csY6" fmla="*/ 59011 h 115937"/>
                <a:gd name="csX7" fmla="*/ 81260 w 209634"/>
                <a:gd name="csY7" fmla="*/ 102692 h 115937"/>
                <a:gd name="csX8" fmla="*/ 81260 w 209634"/>
                <a:gd name="csY8" fmla="*/ 115938 h 115937"/>
                <a:gd name="csX9" fmla="*/ 209624 w 209634"/>
                <a:gd name="csY9" fmla="*/ 115938 h 115937"/>
                <a:gd name="csX10" fmla="*/ 209624 w 209634"/>
                <a:gd name="csY10" fmla="*/ 57671 h 115937"/>
                <a:gd name="csX11" fmla="*/ 198090 w 209634"/>
                <a:gd name="csY11" fmla="*/ 34454 h 1159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09634" h="115937">
                  <a:moveTo>
                    <a:pt x="198090" y="34454"/>
                  </a:moveTo>
                  <a:cubicBezTo>
                    <a:pt x="181387" y="21464"/>
                    <a:pt x="162067" y="12249"/>
                    <a:pt x="141461" y="7442"/>
                  </a:cubicBezTo>
                  <a:cubicBezTo>
                    <a:pt x="125973" y="2917"/>
                    <a:pt x="109965" y="416"/>
                    <a:pt x="93836" y="0"/>
                  </a:cubicBezTo>
                  <a:cubicBezTo>
                    <a:pt x="77694" y="-36"/>
                    <a:pt x="61645" y="2475"/>
                    <a:pt x="46286" y="7442"/>
                  </a:cubicBezTo>
                  <a:cubicBezTo>
                    <a:pt x="30914" y="11535"/>
                    <a:pt x="16223" y="17852"/>
                    <a:pt x="2679" y="26194"/>
                  </a:cubicBezTo>
                  <a:lnTo>
                    <a:pt x="0" y="29245"/>
                  </a:lnTo>
                  <a:cubicBezTo>
                    <a:pt x="21635" y="35085"/>
                    <a:pt x="41878" y="45207"/>
                    <a:pt x="59531" y="59011"/>
                  </a:cubicBezTo>
                  <a:cubicBezTo>
                    <a:pt x="73407" y="69205"/>
                    <a:pt x="81501" y="85476"/>
                    <a:pt x="81260" y="102692"/>
                  </a:cubicBezTo>
                  <a:lnTo>
                    <a:pt x="81260" y="115938"/>
                  </a:lnTo>
                  <a:lnTo>
                    <a:pt x="209624" y="115938"/>
                  </a:lnTo>
                  <a:lnTo>
                    <a:pt x="209624" y="57671"/>
                  </a:lnTo>
                  <a:cubicBezTo>
                    <a:pt x="209878" y="48496"/>
                    <a:pt x="205555" y="39795"/>
                    <a:pt x="198090" y="34454"/>
                  </a:cubicBezTo>
                  <a:close/>
                </a:path>
              </a:pathLst>
            </a:custGeom>
            <a:solidFill>
              <a:srgbClr val="E0654F"/>
            </a:solidFill>
            <a:ln w="7441" cap="flat">
              <a:noFill/>
              <a:prstDash val="solid"/>
              <a:miter/>
            </a:ln>
          </p:spPr>
          <p:txBody>
            <a:bodyPr/>
            <a:lstStyle/>
            <a:p>
              <a:endParaRPr lang="en-CA" sz="2700"/>
            </a:p>
          </p:txBody>
        </p:sp>
        <p:sp>
          <p:nvSpPr>
            <p:cNvPr id="64" name="Freeform: Shape 63">
              <a:extLst>
                <a:ext uri="{FF2B5EF4-FFF2-40B4-BE49-F238E27FC236}">
                  <a16:creationId xmlns:a16="http://schemas.microsoft.com/office/drawing/2014/main" id="{9F71BD41-A7E5-1A8A-1E8B-61EFFD289C58}"/>
                </a:ext>
              </a:extLst>
            </p:cNvPr>
            <p:cNvSpPr/>
            <p:nvPr/>
          </p:nvSpPr>
          <p:spPr>
            <a:xfrm>
              <a:off x="4586510" y="5002439"/>
              <a:ext cx="209922" cy="115937"/>
            </a:xfrm>
            <a:custGeom>
              <a:avLst/>
              <a:gdLst>
                <a:gd name="csX0" fmla="*/ 128662 w 209922"/>
                <a:gd name="csY0" fmla="*/ 102692 h 115937"/>
                <a:gd name="csX1" fmla="*/ 149572 w 209922"/>
                <a:gd name="csY1" fmla="*/ 59755 h 115937"/>
                <a:gd name="csX2" fmla="*/ 150391 w 209922"/>
                <a:gd name="csY2" fmla="*/ 59011 h 115937"/>
                <a:gd name="csX3" fmla="*/ 151358 w 209922"/>
                <a:gd name="csY3" fmla="*/ 58341 h 115937"/>
                <a:gd name="csX4" fmla="*/ 209922 w 209922"/>
                <a:gd name="csY4" fmla="*/ 29320 h 115937"/>
                <a:gd name="csX5" fmla="*/ 205680 w 209922"/>
                <a:gd name="csY5" fmla="*/ 24483 h 115937"/>
                <a:gd name="csX6" fmla="*/ 163413 w 209922"/>
                <a:gd name="csY6" fmla="*/ 7442 h 115937"/>
                <a:gd name="csX7" fmla="*/ 115863 w 209922"/>
                <a:gd name="csY7" fmla="*/ 1 h 115937"/>
                <a:gd name="csX8" fmla="*/ 68238 w 209922"/>
                <a:gd name="csY8" fmla="*/ 7442 h 115937"/>
                <a:gd name="csX9" fmla="*/ 11609 w 209922"/>
                <a:gd name="csY9" fmla="*/ 34454 h 115937"/>
                <a:gd name="csX10" fmla="*/ 0 w 209922"/>
                <a:gd name="csY10" fmla="*/ 57671 h 115937"/>
                <a:gd name="csX11" fmla="*/ 0 w 209922"/>
                <a:gd name="csY11" fmla="*/ 115938 h 115937"/>
                <a:gd name="csX12" fmla="*/ 128662 w 209922"/>
                <a:gd name="csY12" fmla="*/ 115938 h 1159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09922" h="115937">
                  <a:moveTo>
                    <a:pt x="128662" y="102692"/>
                  </a:moveTo>
                  <a:cubicBezTo>
                    <a:pt x="128674" y="85929"/>
                    <a:pt x="136383" y="70100"/>
                    <a:pt x="149572" y="59755"/>
                  </a:cubicBezTo>
                  <a:lnTo>
                    <a:pt x="150391" y="59011"/>
                  </a:lnTo>
                  <a:lnTo>
                    <a:pt x="151358" y="58341"/>
                  </a:lnTo>
                  <a:cubicBezTo>
                    <a:pt x="169221" y="45630"/>
                    <a:pt x="188988" y="35834"/>
                    <a:pt x="209922" y="29320"/>
                  </a:cubicBezTo>
                  <a:cubicBezTo>
                    <a:pt x="208434" y="27757"/>
                    <a:pt x="207020" y="26120"/>
                    <a:pt x="205680" y="24483"/>
                  </a:cubicBezTo>
                  <a:cubicBezTo>
                    <a:pt x="192478" y="16813"/>
                    <a:pt x="178244" y="11074"/>
                    <a:pt x="163413" y="7442"/>
                  </a:cubicBezTo>
                  <a:cubicBezTo>
                    <a:pt x="147950" y="2923"/>
                    <a:pt x="131967" y="422"/>
                    <a:pt x="115863" y="1"/>
                  </a:cubicBezTo>
                  <a:cubicBezTo>
                    <a:pt x="99695" y="-41"/>
                    <a:pt x="83622" y="2470"/>
                    <a:pt x="68238" y="7442"/>
                  </a:cubicBezTo>
                  <a:cubicBezTo>
                    <a:pt x="47920" y="13047"/>
                    <a:pt x="28751" y="22191"/>
                    <a:pt x="11609" y="34454"/>
                  </a:cubicBezTo>
                  <a:cubicBezTo>
                    <a:pt x="4390" y="40009"/>
                    <a:pt x="114" y="48564"/>
                    <a:pt x="0" y="57671"/>
                  </a:cubicBezTo>
                  <a:lnTo>
                    <a:pt x="0" y="115938"/>
                  </a:lnTo>
                  <a:lnTo>
                    <a:pt x="128662" y="115938"/>
                  </a:lnTo>
                  <a:close/>
                </a:path>
              </a:pathLst>
            </a:custGeom>
            <a:solidFill>
              <a:srgbClr val="E0654F"/>
            </a:solidFill>
            <a:ln w="7441" cap="flat">
              <a:noFill/>
              <a:prstDash val="solid"/>
              <a:miter/>
            </a:ln>
          </p:spPr>
          <p:txBody>
            <a:bodyPr/>
            <a:lstStyle/>
            <a:p>
              <a:endParaRPr lang="en-CA" sz="2700"/>
            </a:p>
          </p:txBody>
        </p:sp>
        <p:sp>
          <p:nvSpPr>
            <p:cNvPr id="65" name="Freeform: Shape 64">
              <a:extLst>
                <a:ext uri="{FF2B5EF4-FFF2-40B4-BE49-F238E27FC236}">
                  <a16:creationId xmlns:a16="http://schemas.microsoft.com/office/drawing/2014/main" id="{EFD393B7-32AF-AB2A-8EA7-16BC9A76B1FF}"/>
                </a:ext>
              </a:extLst>
            </p:cNvPr>
            <p:cNvSpPr/>
            <p:nvPr/>
          </p:nvSpPr>
          <p:spPr>
            <a:xfrm>
              <a:off x="4740919" y="5047533"/>
              <a:ext cx="231660" cy="115492"/>
            </a:xfrm>
            <a:custGeom>
              <a:avLst/>
              <a:gdLst>
                <a:gd name="csX0" fmla="*/ 0 w 231660"/>
                <a:gd name="csY0" fmla="*/ 115492 h 115492"/>
                <a:gd name="csX1" fmla="*/ 0 w 231660"/>
                <a:gd name="csY1" fmla="*/ 57598 h 115492"/>
                <a:gd name="csX2" fmla="*/ 11609 w 231660"/>
                <a:gd name="csY2" fmla="*/ 34455 h 115492"/>
                <a:gd name="csX3" fmla="*/ 68238 w 231660"/>
                <a:gd name="csY3" fmla="*/ 7443 h 115492"/>
                <a:gd name="csX4" fmla="*/ 115788 w 231660"/>
                <a:gd name="csY4" fmla="*/ 1 h 115492"/>
                <a:gd name="csX5" fmla="*/ 163413 w 231660"/>
                <a:gd name="csY5" fmla="*/ 7443 h 115492"/>
                <a:gd name="csX6" fmla="*/ 220042 w 231660"/>
                <a:gd name="csY6" fmla="*/ 34455 h 115492"/>
                <a:gd name="csX7" fmla="*/ 231651 w 231660"/>
                <a:gd name="csY7" fmla="*/ 57598 h 115492"/>
                <a:gd name="csX8" fmla="*/ 231651 w 231660"/>
                <a:gd name="csY8" fmla="*/ 115492 h 115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31660" h="115492">
                  <a:moveTo>
                    <a:pt x="0" y="115492"/>
                  </a:moveTo>
                  <a:lnTo>
                    <a:pt x="0" y="57598"/>
                  </a:lnTo>
                  <a:cubicBezTo>
                    <a:pt x="35" y="48492"/>
                    <a:pt x="4331" y="39928"/>
                    <a:pt x="11609" y="34455"/>
                  </a:cubicBezTo>
                  <a:cubicBezTo>
                    <a:pt x="28716" y="22134"/>
                    <a:pt x="47897" y="12985"/>
                    <a:pt x="68238" y="7443"/>
                  </a:cubicBezTo>
                  <a:cubicBezTo>
                    <a:pt x="83590" y="2444"/>
                    <a:pt x="99643" y="-69"/>
                    <a:pt x="115788" y="1"/>
                  </a:cubicBezTo>
                  <a:cubicBezTo>
                    <a:pt x="131921" y="380"/>
                    <a:pt x="147934" y="2883"/>
                    <a:pt x="163413" y="7443"/>
                  </a:cubicBezTo>
                  <a:cubicBezTo>
                    <a:pt x="184042" y="12187"/>
                    <a:pt x="203374" y="21408"/>
                    <a:pt x="220042" y="34455"/>
                  </a:cubicBezTo>
                  <a:cubicBezTo>
                    <a:pt x="227534" y="39747"/>
                    <a:pt x="231890" y="48429"/>
                    <a:pt x="231651" y="57598"/>
                  </a:cubicBezTo>
                  <a:lnTo>
                    <a:pt x="231651" y="115492"/>
                  </a:lnTo>
                  <a:close/>
                </a:path>
              </a:pathLst>
            </a:custGeom>
            <a:solidFill>
              <a:srgbClr val="E0654F"/>
            </a:solidFill>
            <a:ln w="7441" cap="flat">
              <a:noFill/>
              <a:prstDash val="solid"/>
              <a:miter/>
            </a:ln>
          </p:spPr>
          <p:txBody>
            <a:bodyPr/>
            <a:lstStyle/>
            <a:p>
              <a:endParaRPr lang="en-CA" sz="2700"/>
            </a:p>
          </p:txBody>
        </p:sp>
        <p:sp>
          <p:nvSpPr>
            <p:cNvPr id="66" name="Oval 65">
              <a:extLst>
                <a:ext uri="{FF2B5EF4-FFF2-40B4-BE49-F238E27FC236}">
                  <a16:creationId xmlns:a16="http://schemas.microsoft.com/office/drawing/2014/main" id="{1CC2B9E7-BD1E-DA06-E4BF-4F2DAE8DF3B0}"/>
                </a:ext>
              </a:extLst>
            </p:cNvPr>
            <p:cNvSpPr/>
            <p:nvPr/>
          </p:nvSpPr>
          <p:spPr>
            <a:xfrm>
              <a:off x="4798814" y="4915971"/>
              <a:ext cx="115788" cy="115788"/>
            </a:xfrm>
            <a:prstGeom prst="ellipse">
              <a:avLst/>
            </a:prstGeom>
            <a:solidFill>
              <a:srgbClr val="E0654F"/>
            </a:solidFill>
            <a:ln w="7441" cap="flat">
              <a:noFill/>
              <a:prstDash val="solid"/>
              <a:miter/>
            </a:ln>
          </p:spPr>
          <p:txBody>
            <a:bodyPr/>
            <a:lstStyle/>
            <a:p>
              <a:endParaRPr lang="en-CA" sz="2700"/>
            </a:p>
          </p:txBody>
        </p:sp>
      </p:grpSp>
      <p:cxnSp>
        <p:nvCxnSpPr>
          <p:cNvPr id="67" name="Straight Arrow Connector 66">
            <a:extLst>
              <a:ext uri="{FF2B5EF4-FFF2-40B4-BE49-F238E27FC236}">
                <a16:creationId xmlns:a16="http://schemas.microsoft.com/office/drawing/2014/main" id="{7032B225-ECF0-27BB-A780-829A9E12632F}"/>
              </a:ext>
            </a:extLst>
          </p:cNvPr>
          <p:cNvCxnSpPr>
            <a:cxnSpLocks/>
            <a:stCxn id="57" idx="3"/>
            <a:endCxn id="64" idx="10"/>
          </p:cNvCxnSpPr>
          <p:nvPr/>
        </p:nvCxnSpPr>
        <p:spPr>
          <a:xfrm>
            <a:off x="8302415" y="7885393"/>
            <a:ext cx="603852" cy="4214"/>
          </a:xfrm>
          <a:prstGeom prst="straightConnector1">
            <a:avLst/>
          </a:prstGeom>
          <a:ln>
            <a:solidFill>
              <a:schemeClr val="accent4"/>
            </a:solidFill>
            <a:tailEnd type="triangle"/>
          </a:ln>
        </p:spPr>
        <p:style>
          <a:lnRef idx="1">
            <a:schemeClr val="accent2"/>
          </a:lnRef>
          <a:fillRef idx="0">
            <a:schemeClr val="accent2"/>
          </a:fillRef>
          <a:effectRef idx="0">
            <a:schemeClr val="accent2"/>
          </a:effectRef>
          <a:fontRef idx="minor">
            <a:schemeClr val="tx1"/>
          </a:fontRef>
        </p:style>
      </p:cxnSp>
      <p:pic>
        <p:nvPicPr>
          <p:cNvPr id="73" name="Picture 72">
            <a:extLst>
              <a:ext uri="{FF2B5EF4-FFF2-40B4-BE49-F238E27FC236}">
                <a16:creationId xmlns:a16="http://schemas.microsoft.com/office/drawing/2014/main" id="{33973F30-F64E-680C-6BD2-8855631F7A16}"/>
              </a:ext>
            </a:extLst>
          </p:cNvPr>
          <p:cNvPicPr>
            <a:picLocks noChangeAspect="1"/>
          </p:cNvPicPr>
          <p:nvPr/>
        </p:nvPicPr>
        <p:blipFill>
          <a:blip r:embed="rId4"/>
          <a:stretch>
            <a:fillRect/>
          </a:stretch>
        </p:blipFill>
        <p:spPr>
          <a:xfrm>
            <a:off x="6182861" y="7573123"/>
            <a:ext cx="614036" cy="614036"/>
          </a:xfrm>
          <a:prstGeom prst="rect">
            <a:avLst/>
          </a:prstGeom>
        </p:spPr>
      </p:pic>
      <p:sp>
        <p:nvSpPr>
          <p:cNvPr id="75" name="Connector Chevron 1">
            <a:extLst>
              <a:ext uri="{FF2B5EF4-FFF2-40B4-BE49-F238E27FC236}">
                <a16:creationId xmlns:a16="http://schemas.microsoft.com/office/drawing/2014/main" id="{611FB874-136B-460E-51A1-48125727A085}"/>
              </a:ext>
            </a:extLst>
          </p:cNvPr>
          <p:cNvSpPr/>
          <p:nvPr/>
        </p:nvSpPr>
        <p:spPr>
          <a:xfrm>
            <a:off x="10344456" y="5308835"/>
            <a:ext cx="450000" cy="450000"/>
          </a:xfrm>
          <a:prstGeom prst="chevron">
            <a:avLst/>
          </a:prstGeom>
          <a:solidFill>
            <a:srgbClr val="5FB37E"/>
          </a:solidFill>
          <a:ln>
            <a:noFill/>
          </a:ln>
        </p:spPr>
        <p:txBody>
          <a:bodyPr/>
          <a:lstStyle/>
          <a:p>
            <a:endParaRPr lang="en-CA" sz="2700"/>
          </a:p>
        </p:txBody>
      </p:sp>
      <p:sp>
        <p:nvSpPr>
          <p:cNvPr id="76" name="Card 1">
            <a:extLst>
              <a:ext uri="{FF2B5EF4-FFF2-40B4-BE49-F238E27FC236}">
                <a16:creationId xmlns:a16="http://schemas.microsoft.com/office/drawing/2014/main" id="{B1286A1E-4F63-91C6-7B81-BF9AC4D32C27}"/>
              </a:ext>
            </a:extLst>
          </p:cNvPr>
          <p:cNvSpPr/>
          <p:nvPr/>
        </p:nvSpPr>
        <p:spPr>
          <a:xfrm>
            <a:off x="10891988" y="2818067"/>
            <a:ext cx="5438625" cy="6540246"/>
          </a:xfrm>
          <a:prstGeom prst="rect">
            <a:avLst/>
          </a:prstGeom>
          <a:solidFill>
            <a:srgbClr val="16191F"/>
          </a:solidFill>
          <a:ln w="9525">
            <a:solidFill>
              <a:srgbClr val="262A31"/>
            </a:solidFill>
            <a:prstDash val="solid"/>
          </a:ln>
        </p:spPr>
        <p:txBody>
          <a:bodyPr/>
          <a:lstStyle/>
          <a:p>
            <a:endParaRPr lang="en-CA" sz="2700"/>
          </a:p>
        </p:txBody>
      </p:sp>
      <p:sp>
        <p:nvSpPr>
          <p:cNvPr id="77" name="Badge 1">
            <a:extLst>
              <a:ext uri="{FF2B5EF4-FFF2-40B4-BE49-F238E27FC236}">
                <a16:creationId xmlns:a16="http://schemas.microsoft.com/office/drawing/2014/main" id="{12B22E88-9CF8-0414-C55F-AE619F6991D9}"/>
              </a:ext>
            </a:extLst>
          </p:cNvPr>
          <p:cNvSpPr/>
          <p:nvPr/>
        </p:nvSpPr>
        <p:spPr>
          <a:xfrm>
            <a:off x="11112814" y="2953067"/>
            <a:ext cx="2743202" cy="473139"/>
          </a:xfrm>
          <a:prstGeom prst="rect">
            <a:avLst/>
          </a:prstGeom>
          <a:noFill/>
          <a:ln/>
        </p:spPr>
        <p:txBody>
          <a:bodyPr wrap="square" lIns="0" tIns="0" rIns="0" bIns="0" rtlCol="0" anchor="ctr"/>
          <a:lstStyle/>
          <a:p>
            <a:r>
              <a:rPr lang="en-US" sz="2400" dirty="0">
                <a:solidFill>
                  <a:srgbClr val="5FB37E"/>
                </a:solidFill>
                <a:latin typeface="Georgia" pitchFamily="34" charset="0"/>
                <a:ea typeface="Georgia" pitchFamily="34" charset="-122"/>
                <a:cs typeface="Georgia" pitchFamily="34" charset="-120"/>
              </a:rPr>
              <a:t>Phase</a:t>
            </a:r>
            <a:r>
              <a:rPr lang="en-US" sz="3000" dirty="0">
                <a:solidFill>
                  <a:srgbClr val="5FB37E"/>
                </a:solidFill>
                <a:latin typeface="Georgia" pitchFamily="34" charset="0"/>
                <a:ea typeface="Georgia" pitchFamily="34" charset="-122"/>
                <a:cs typeface="Georgia" pitchFamily="34" charset="-120"/>
              </a:rPr>
              <a:t> 3</a:t>
            </a:r>
            <a:endParaRPr lang="en-US" sz="3000" dirty="0">
              <a:solidFill>
                <a:srgbClr val="5FB37E"/>
              </a:solidFill>
            </a:endParaRPr>
          </a:p>
        </p:txBody>
      </p:sp>
      <p:sp>
        <p:nvSpPr>
          <p:cNvPr id="78" name="Rule 1">
            <a:extLst>
              <a:ext uri="{FF2B5EF4-FFF2-40B4-BE49-F238E27FC236}">
                <a16:creationId xmlns:a16="http://schemas.microsoft.com/office/drawing/2014/main" id="{00C810EE-2EC2-B471-3DE3-497888ED1C58}"/>
              </a:ext>
            </a:extLst>
          </p:cNvPr>
          <p:cNvSpPr/>
          <p:nvPr/>
        </p:nvSpPr>
        <p:spPr>
          <a:xfrm flipV="1">
            <a:off x="11097434" y="3882297"/>
            <a:ext cx="4061604" cy="0"/>
          </a:xfrm>
          <a:prstGeom prst="line">
            <a:avLst/>
          </a:prstGeom>
          <a:noFill/>
          <a:ln w="12700">
            <a:solidFill>
              <a:srgbClr val="5FB37E"/>
            </a:solidFill>
            <a:prstDash val="solid"/>
          </a:ln>
        </p:spPr>
        <p:txBody>
          <a:bodyPr/>
          <a:lstStyle/>
          <a:p>
            <a:endParaRPr lang="en-CA" sz="2700"/>
          </a:p>
        </p:txBody>
      </p:sp>
      <p:sp>
        <p:nvSpPr>
          <p:cNvPr id="79" name="Title 1">
            <a:extLst>
              <a:ext uri="{FF2B5EF4-FFF2-40B4-BE49-F238E27FC236}">
                <a16:creationId xmlns:a16="http://schemas.microsoft.com/office/drawing/2014/main" id="{772AECE0-EDB0-929F-9E11-2F93CE675C93}"/>
              </a:ext>
            </a:extLst>
          </p:cNvPr>
          <p:cNvSpPr txBox="1"/>
          <p:nvPr/>
        </p:nvSpPr>
        <p:spPr>
          <a:xfrm>
            <a:off x="11112809" y="3367328"/>
            <a:ext cx="4185149" cy="473139"/>
          </a:xfrm>
          <a:prstGeom prst="rect">
            <a:avLst/>
          </a:prstGeom>
          <a:noFill/>
        </p:spPr>
        <p:txBody>
          <a:bodyPr wrap="square" lIns="0" tIns="0" rIns="0" bIns="0" rtlCol="0" anchor="t"/>
          <a:lstStyle/>
          <a:p>
            <a:r>
              <a:rPr lang="en-US" sz="2100" dirty="0">
                <a:solidFill>
                  <a:srgbClr val="5FB37E"/>
                </a:solidFill>
                <a:latin typeface="Georgia" panose="02040502050405020303" pitchFamily="18" charset="0"/>
              </a:rPr>
              <a:t>Operational semantic </a:t>
            </a:r>
            <a:r>
              <a:rPr lang="en-US" sz="2100">
                <a:solidFill>
                  <a:srgbClr val="5FB37E"/>
                </a:solidFill>
                <a:latin typeface="Georgia" panose="02040502050405020303" pitchFamily="18" charset="0"/>
              </a:rPr>
              <a:t>intelligence</a:t>
            </a:r>
            <a:endParaRPr lang="en-CA" sz="2400" dirty="0">
              <a:solidFill>
                <a:srgbClr val="5FB37E"/>
              </a:solidFill>
            </a:endParaRPr>
          </a:p>
        </p:txBody>
      </p:sp>
      <p:sp>
        <p:nvSpPr>
          <p:cNvPr id="80" name="Body 1">
            <a:extLst>
              <a:ext uri="{FF2B5EF4-FFF2-40B4-BE49-F238E27FC236}">
                <a16:creationId xmlns:a16="http://schemas.microsoft.com/office/drawing/2014/main" id="{92E6B679-044E-44E8-8EC6-3C6934C6F962}"/>
              </a:ext>
            </a:extLst>
          </p:cNvPr>
          <p:cNvSpPr/>
          <p:nvPr/>
        </p:nvSpPr>
        <p:spPr>
          <a:xfrm>
            <a:off x="11097433" y="4059393"/>
            <a:ext cx="5061743" cy="2960232"/>
          </a:xfrm>
          <a:prstGeom prst="rect">
            <a:avLst/>
          </a:prstGeom>
          <a:noFill/>
          <a:ln/>
        </p:spPr>
        <p:txBody>
          <a:bodyPr wrap="square" lIns="0" tIns="0" rIns="0" bIns="0" rtlCol="0" anchor="t"/>
          <a:lstStyle/>
          <a:p>
            <a:pPr>
              <a:spcBef>
                <a:spcPts val="300"/>
              </a:spcBef>
            </a:pPr>
            <a:r>
              <a:rPr lang="en-US" i="1" dirty="0">
                <a:solidFill>
                  <a:srgbClr val="C7CCD2"/>
                </a:solidFill>
                <a:latin typeface="Calibri" pitchFamily="34" charset="0"/>
              </a:rPr>
              <a:t>The solution evolves by combining structured business data, relationship modeling, and an ontology graph with a multi-agent validation pattern (Worker → Semantic Judge → Ontology Judge → Orchestrator).</a:t>
            </a:r>
          </a:p>
          <a:p>
            <a:pPr>
              <a:spcBef>
                <a:spcPts val="1050"/>
              </a:spcBef>
            </a:pPr>
            <a:r>
              <a:rPr lang="en-US" sz="2100" b="1" dirty="0">
                <a:solidFill>
                  <a:srgbClr val="5FB37E"/>
                </a:solidFill>
                <a:latin typeface="Calibri" pitchFamily="34" charset="0"/>
              </a:rPr>
              <a:t>Results (expected)</a:t>
            </a:r>
          </a:p>
          <a:p>
            <a:pPr marL="300038" indent="-300038">
              <a:spcBef>
                <a:spcPts val="450"/>
              </a:spcBef>
              <a:buFont typeface="Wingdings" panose="05000000000000000000" pitchFamily="2" charset="2"/>
              <a:buChar char="§"/>
            </a:pPr>
            <a:r>
              <a:rPr lang="en-US" dirty="0">
                <a:solidFill>
                  <a:srgbClr val="F5F5F7"/>
                </a:solidFill>
                <a:latin typeface="Calibri" pitchFamily="34" charset="0"/>
              </a:rPr>
              <a:t>Control over hallucination</a:t>
            </a:r>
          </a:p>
          <a:p>
            <a:pPr marL="300038" indent="-300038">
              <a:spcBef>
                <a:spcPts val="450"/>
              </a:spcBef>
              <a:buFont typeface="Wingdings" panose="05000000000000000000" pitchFamily="2" charset="2"/>
              <a:buChar char="§"/>
            </a:pPr>
            <a:r>
              <a:rPr lang="en-US" dirty="0">
                <a:solidFill>
                  <a:srgbClr val="F5F5F7"/>
                </a:solidFill>
                <a:latin typeface="Calibri" pitchFamily="34" charset="0"/>
              </a:rPr>
              <a:t>Prevention of semantic errors</a:t>
            </a:r>
          </a:p>
          <a:p>
            <a:pPr marL="300038" indent="-300038">
              <a:spcBef>
                <a:spcPts val="450"/>
              </a:spcBef>
              <a:buFont typeface="Wingdings" panose="05000000000000000000" pitchFamily="2" charset="2"/>
              <a:buChar char="§"/>
            </a:pPr>
            <a:r>
              <a:rPr lang="en-US" dirty="0">
                <a:solidFill>
                  <a:srgbClr val="F5F5F7"/>
                </a:solidFill>
                <a:latin typeface="Calibri" pitchFamily="34" charset="0"/>
              </a:rPr>
              <a:t>What if and complex follow up questions</a:t>
            </a:r>
          </a:p>
          <a:p>
            <a:pPr>
              <a:spcBef>
                <a:spcPts val="450"/>
              </a:spcBef>
            </a:pPr>
            <a:endParaRPr lang="en-US" b="1" dirty="0">
              <a:solidFill>
                <a:srgbClr val="5FB37E"/>
              </a:solidFill>
              <a:latin typeface="Calibri" pitchFamily="34" charset="0"/>
            </a:endParaRPr>
          </a:p>
          <a:p>
            <a:pPr>
              <a:spcBef>
                <a:spcPts val="450"/>
              </a:spcBef>
            </a:pPr>
            <a:r>
              <a:rPr lang="en-US" b="1" dirty="0">
                <a:solidFill>
                  <a:srgbClr val="5FB37E"/>
                </a:solidFill>
                <a:latin typeface="Calibri" pitchFamily="34" charset="0"/>
              </a:rPr>
              <a:t>AI Agent Architecture</a:t>
            </a:r>
            <a:endParaRPr lang="en-US" dirty="0">
              <a:solidFill>
                <a:srgbClr val="5FB37E"/>
              </a:solidFill>
              <a:latin typeface="Calibri" pitchFamily="34" charset="0"/>
            </a:endParaRPr>
          </a:p>
        </p:txBody>
      </p:sp>
      <p:sp>
        <p:nvSpPr>
          <p:cNvPr id="81" name="Rectangle: Rounded Corners 80">
            <a:extLst>
              <a:ext uri="{FF2B5EF4-FFF2-40B4-BE49-F238E27FC236}">
                <a16:creationId xmlns:a16="http://schemas.microsoft.com/office/drawing/2014/main" id="{3503CB0F-C08E-730D-7B6E-A6A7B0131702}"/>
              </a:ext>
            </a:extLst>
          </p:cNvPr>
          <p:cNvSpPr/>
          <p:nvPr/>
        </p:nvSpPr>
        <p:spPr>
          <a:xfrm>
            <a:off x="12773027" y="7533580"/>
            <a:ext cx="1610624" cy="467537"/>
          </a:xfrm>
          <a:prstGeom prst="roundRect">
            <a:avLst>
              <a:gd name="adj" fmla="val 10417"/>
            </a:avLst>
          </a:prstGeom>
          <a:solidFill>
            <a:srgbClr val="5FB37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50" dirty="0"/>
              <a:t>AI Worker</a:t>
            </a:r>
            <a:endParaRPr lang="en-CA" sz="1650" dirty="0"/>
          </a:p>
        </p:txBody>
      </p:sp>
      <p:cxnSp>
        <p:nvCxnSpPr>
          <p:cNvPr id="82" name="Straight Arrow Connector 81">
            <a:extLst>
              <a:ext uri="{FF2B5EF4-FFF2-40B4-BE49-F238E27FC236}">
                <a16:creationId xmlns:a16="http://schemas.microsoft.com/office/drawing/2014/main" id="{0493A06D-B6F3-64BB-53FC-1E8E0193A7BE}"/>
              </a:ext>
            </a:extLst>
          </p:cNvPr>
          <p:cNvCxnSpPr>
            <a:cxnSpLocks/>
            <a:stCxn id="94" idx="3"/>
            <a:endCxn id="81" idx="1"/>
          </p:cNvCxnSpPr>
          <p:nvPr/>
        </p:nvCxnSpPr>
        <p:spPr>
          <a:xfrm flipV="1">
            <a:off x="12290983" y="7767349"/>
            <a:ext cx="482045" cy="1118"/>
          </a:xfrm>
          <a:prstGeom prst="straightConnector1">
            <a:avLst/>
          </a:prstGeom>
          <a:ln>
            <a:solidFill>
              <a:srgbClr val="5FB37E"/>
            </a:solidFill>
            <a:tailEnd type="triangle"/>
          </a:ln>
        </p:spPr>
        <p:style>
          <a:lnRef idx="1">
            <a:schemeClr val="accent2"/>
          </a:lnRef>
          <a:fillRef idx="0">
            <a:schemeClr val="accent2"/>
          </a:fillRef>
          <a:effectRef idx="0">
            <a:schemeClr val="accent2"/>
          </a:effectRef>
          <a:fontRef idx="minor">
            <a:schemeClr val="tx1"/>
          </a:fontRef>
        </p:style>
      </p:cxnSp>
      <p:grpSp>
        <p:nvGrpSpPr>
          <p:cNvPr id="83" name="Group 82">
            <a:extLst>
              <a:ext uri="{FF2B5EF4-FFF2-40B4-BE49-F238E27FC236}">
                <a16:creationId xmlns:a16="http://schemas.microsoft.com/office/drawing/2014/main" id="{7438B73E-AF51-F607-E6EC-FB3CFC5AD05E}"/>
              </a:ext>
            </a:extLst>
          </p:cNvPr>
          <p:cNvGrpSpPr/>
          <p:nvPr/>
        </p:nvGrpSpPr>
        <p:grpSpPr>
          <a:xfrm>
            <a:off x="14882279" y="7479683"/>
            <a:ext cx="810608" cy="438113"/>
            <a:chOff x="4586510" y="4870950"/>
            <a:chExt cx="540405" cy="292075"/>
          </a:xfrm>
        </p:grpSpPr>
        <p:sp>
          <p:nvSpPr>
            <p:cNvPr id="84" name="Oval 83">
              <a:extLst>
                <a:ext uri="{FF2B5EF4-FFF2-40B4-BE49-F238E27FC236}">
                  <a16:creationId xmlns:a16="http://schemas.microsoft.com/office/drawing/2014/main" id="{BB29999D-FBBA-0677-5CDC-D6D14780A8FE}"/>
                </a:ext>
              </a:extLst>
            </p:cNvPr>
            <p:cNvSpPr/>
            <p:nvPr/>
          </p:nvSpPr>
          <p:spPr>
            <a:xfrm>
              <a:off x="4953223" y="4870950"/>
              <a:ext cx="115788" cy="115788"/>
            </a:xfrm>
            <a:prstGeom prst="ellipse">
              <a:avLst/>
            </a:prstGeom>
            <a:solidFill>
              <a:srgbClr val="E0654F"/>
            </a:solidFill>
            <a:ln w="7441" cap="flat">
              <a:noFill/>
              <a:prstDash val="solid"/>
              <a:miter/>
            </a:ln>
          </p:spPr>
          <p:txBody>
            <a:bodyPr/>
            <a:lstStyle/>
            <a:p>
              <a:endParaRPr lang="en-CA" sz="2700"/>
            </a:p>
          </p:txBody>
        </p:sp>
        <p:sp>
          <p:nvSpPr>
            <p:cNvPr id="85" name="Oval 84">
              <a:extLst>
                <a:ext uri="{FF2B5EF4-FFF2-40B4-BE49-F238E27FC236}">
                  <a16:creationId xmlns:a16="http://schemas.microsoft.com/office/drawing/2014/main" id="{EA03F7AC-0F03-03A8-6C45-BC2C03BF3A4E}"/>
                </a:ext>
              </a:extLst>
            </p:cNvPr>
            <p:cNvSpPr/>
            <p:nvPr/>
          </p:nvSpPr>
          <p:spPr>
            <a:xfrm>
              <a:off x="4644479" y="4870950"/>
              <a:ext cx="115788" cy="115788"/>
            </a:xfrm>
            <a:prstGeom prst="ellipse">
              <a:avLst/>
            </a:prstGeom>
            <a:solidFill>
              <a:srgbClr val="E0654F"/>
            </a:solidFill>
            <a:ln w="7441" cap="flat">
              <a:noFill/>
              <a:prstDash val="solid"/>
              <a:miter/>
            </a:ln>
          </p:spPr>
          <p:txBody>
            <a:bodyPr/>
            <a:lstStyle/>
            <a:p>
              <a:endParaRPr lang="en-CA" sz="2700"/>
            </a:p>
          </p:txBody>
        </p:sp>
        <p:sp>
          <p:nvSpPr>
            <p:cNvPr id="86" name="Freeform: Shape 85">
              <a:extLst>
                <a:ext uri="{FF2B5EF4-FFF2-40B4-BE49-F238E27FC236}">
                  <a16:creationId xmlns:a16="http://schemas.microsoft.com/office/drawing/2014/main" id="{B5EFEF64-24A8-14E7-8B9D-B42C5FB184CD}"/>
                </a:ext>
              </a:extLst>
            </p:cNvPr>
            <p:cNvSpPr/>
            <p:nvPr/>
          </p:nvSpPr>
          <p:spPr>
            <a:xfrm>
              <a:off x="4917281" y="5002439"/>
              <a:ext cx="209634" cy="115937"/>
            </a:xfrm>
            <a:custGeom>
              <a:avLst/>
              <a:gdLst>
                <a:gd name="csX0" fmla="*/ 198090 w 209634"/>
                <a:gd name="csY0" fmla="*/ 34454 h 115937"/>
                <a:gd name="csX1" fmla="*/ 141461 w 209634"/>
                <a:gd name="csY1" fmla="*/ 7442 h 115937"/>
                <a:gd name="csX2" fmla="*/ 93836 w 209634"/>
                <a:gd name="csY2" fmla="*/ 0 h 115937"/>
                <a:gd name="csX3" fmla="*/ 46286 w 209634"/>
                <a:gd name="csY3" fmla="*/ 7442 h 115937"/>
                <a:gd name="csX4" fmla="*/ 2679 w 209634"/>
                <a:gd name="csY4" fmla="*/ 26194 h 115937"/>
                <a:gd name="csX5" fmla="*/ 0 w 209634"/>
                <a:gd name="csY5" fmla="*/ 29245 h 115937"/>
                <a:gd name="csX6" fmla="*/ 59531 w 209634"/>
                <a:gd name="csY6" fmla="*/ 59011 h 115937"/>
                <a:gd name="csX7" fmla="*/ 81260 w 209634"/>
                <a:gd name="csY7" fmla="*/ 102692 h 115937"/>
                <a:gd name="csX8" fmla="*/ 81260 w 209634"/>
                <a:gd name="csY8" fmla="*/ 115938 h 115937"/>
                <a:gd name="csX9" fmla="*/ 209624 w 209634"/>
                <a:gd name="csY9" fmla="*/ 115938 h 115937"/>
                <a:gd name="csX10" fmla="*/ 209624 w 209634"/>
                <a:gd name="csY10" fmla="*/ 57671 h 115937"/>
                <a:gd name="csX11" fmla="*/ 198090 w 209634"/>
                <a:gd name="csY11" fmla="*/ 34454 h 1159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209634" h="115937">
                  <a:moveTo>
                    <a:pt x="198090" y="34454"/>
                  </a:moveTo>
                  <a:cubicBezTo>
                    <a:pt x="181387" y="21464"/>
                    <a:pt x="162067" y="12249"/>
                    <a:pt x="141461" y="7442"/>
                  </a:cubicBezTo>
                  <a:cubicBezTo>
                    <a:pt x="125973" y="2917"/>
                    <a:pt x="109965" y="416"/>
                    <a:pt x="93836" y="0"/>
                  </a:cubicBezTo>
                  <a:cubicBezTo>
                    <a:pt x="77694" y="-36"/>
                    <a:pt x="61645" y="2475"/>
                    <a:pt x="46286" y="7442"/>
                  </a:cubicBezTo>
                  <a:cubicBezTo>
                    <a:pt x="30914" y="11535"/>
                    <a:pt x="16223" y="17852"/>
                    <a:pt x="2679" y="26194"/>
                  </a:cubicBezTo>
                  <a:lnTo>
                    <a:pt x="0" y="29245"/>
                  </a:lnTo>
                  <a:cubicBezTo>
                    <a:pt x="21635" y="35085"/>
                    <a:pt x="41878" y="45207"/>
                    <a:pt x="59531" y="59011"/>
                  </a:cubicBezTo>
                  <a:cubicBezTo>
                    <a:pt x="73407" y="69205"/>
                    <a:pt x="81501" y="85476"/>
                    <a:pt x="81260" y="102692"/>
                  </a:cubicBezTo>
                  <a:lnTo>
                    <a:pt x="81260" y="115938"/>
                  </a:lnTo>
                  <a:lnTo>
                    <a:pt x="209624" y="115938"/>
                  </a:lnTo>
                  <a:lnTo>
                    <a:pt x="209624" y="57671"/>
                  </a:lnTo>
                  <a:cubicBezTo>
                    <a:pt x="209878" y="48496"/>
                    <a:pt x="205555" y="39795"/>
                    <a:pt x="198090" y="34454"/>
                  </a:cubicBezTo>
                  <a:close/>
                </a:path>
              </a:pathLst>
            </a:custGeom>
            <a:solidFill>
              <a:srgbClr val="E0654F"/>
            </a:solidFill>
            <a:ln w="7441" cap="flat">
              <a:noFill/>
              <a:prstDash val="solid"/>
              <a:miter/>
            </a:ln>
          </p:spPr>
          <p:txBody>
            <a:bodyPr/>
            <a:lstStyle/>
            <a:p>
              <a:endParaRPr lang="en-CA" sz="2700"/>
            </a:p>
          </p:txBody>
        </p:sp>
        <p:sp>
          <p:nvSpPr>
            <p:cNvPr id="87" name="Freeform: Shape 86">
              <a:extLst>
                <a:ext uri="{FF2B5EF4-FFF2-40B4-BE49-F238E27FC236}">
                  <a16:creationId xmlns:a16="http://schemas.microsoft.com/office/drawing/2014/main" id="{6A53F5F2-C8DE-50D6-D3AD-241465A7CBB6}"/>
                </a:ext>
              </a:extLst>
            </p:cNvPr>
            <p:cNvSpPr/>
            <p:nvPr/>
          </p:nvSpPr>
          <p:spPr>
            <a:xfrm>
              <a:off x="4586510" y="5002439"/>
              <a:ext cx="209922" cy="115937"/>
            </a:xfrm>
            <a:custGeom>
              <a:avLst/>
              <a:gdLst>
                <a:gd name="csX0" fmla="*/ 128662 w 209922"/>
                <a:gd name="csY0" fmla="*/ 102692 h 115937"/>
                <a:gd name="csX1" fmla="*/ 149572 w 209922"/>
                <a:gd name="csY1" fmla="*/ 59755 h 115937"/>
                <a:gd name="csX2" fmla="*/ 150391 w 209922"/>
                <a:gd name="csY2" fmla="*/ 59011 h 115937"/>
                <a:gd name="csX3" fmla="*/ 151358 w 209922"/>
                <a:gd name="csY3" fmla="*/ 58341 h 115937"/>
                <a:gd name="csX4" fmla="*/ 209922 w 209922"/>
                <a:gd name="csY4" fmla="*/ 29320 h 115937"/>
                <a:gd name="csX5" fmla="*/ 205680 w 209922"/>
                <a:gd name="csY5" fmla="*/ 24483 h 115937"/>
                <a:gd name="csX6" fmla="*/ 163413 w 209922"/>
                <a:gd name="csY6" fmla="*/ 7442 h 115937"/>
                <a:gd name="csX7" fmla="*/ 115863 w 209922"/>
                <a:gd name="csY7" fmla="*/ 1 h 115937"/>
                <a:gd name="csX8" fmla="*/ 68238 w 209922"/>
                <a:gd name="csY8" fmla="*/ 7442 h 115937"/>
                <a:gd name="csX9" fmla="*/ 11609 w 209922"/>
                <a:gd name="csY9" fmla="*/ 34454 h 115937"/>
                <a:gd name="csX10" fmla="*/ 0 w 209922"/>
                <a:gd name="csY10" fmla="*/ 57671 h 115937"/>
                <a:gd name="csX11" fmla="*/ 0 w 209922"/>
                <a:gd name="csY11" fmla="*/ 115938 h 115937"/>
                <a:gd name="csX12" fmla="*/ 128662 w 209922"/>
                <a:gd name="csY12" fmla="*/ 115938 h 11593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09922" h="115937">
                  <a:moveTo>
                    <a:pt x="128662" y="102692"/>
                  </a:moveTo>
                  <a:cubicBezTo>
                    <a:pt x="128674" y="85929"/>
                    <a:pt x="136383" y="70100"/>
                    <a:pt x="149572" y="59755"/>
                  </a:cubicBezTo>
                  <a:lnTo>
                    <a:pt x="150391" y="59011"/>
                  </a:lnTo>
                  <a:lnTo>
                    <a:pt x="151358" y="58341"/>
                  </a:lnTo>
                  <a:cubicBezTo>
                    <a:pt x="169221" y="45630"/>
                    <a:pt x="188988" y="35834"/>
                    <a:pt x="209922" y="29320"/>
                  </a:cubicBezTo>
                  <a:cubicBezTo>
                    <a:pt x="208434" y="27757"/>
                    <a:pt x="207020" y="26120"/>
                    <a:pt x="205680" y="24483"/>
                  </a:cubicBezTo>
                  <a:cubicBezTo>
                    <a:pt x="192478" y="16813"/>
                    <a:pt x="178244" y="11074"/>
                    <a:pt x="163413" y="7442"/>
                  </a:cubicBezTo>
                  <a:cubicBezTo>
                    <a:pt x="147950" y="2923"/>
                    <a:pt x="131967" y="422"/>
                    <a:pt x="115863" y="1"/>
                  </a:cubicBezTo>
                  <a:cubicBezTo>
                    <a:pt x="99695" y="-41"/>
                    <a:pt x="83622" y="2470"/>
                    <a:pt x="68238" y="7442"/>
                  </a:cubicBezTo>
                  <a:cubicBezTo>
                    <a:pt x="47920" y="13047"/>
                    <a:pt x="28751" y="22191"/>
                    <a:pt x="11609" y="34454"/>
                  </a:cubicBezTo>
                  <a:cubicBezTo>
                    <a:pt x="4390" y="40009"/>
                    <a:pt x="114" y="48564"/>
                    <a:pt x="0" y="57671"/>
                  </a:cubicBezTo>
                  <a:lnTo>
                    <a:pt x="0" y="115938"/>
                  </a:lnTo>
                  <a:lnTo>
                    <a:pt x="128662" y="115938"/>
                  </a:lnTo>
                  <a:close/>
                </a:path>
              </a:pathLst>
            </a:custGeom>
            <a:solidFill>
              <a:srgbClr val="E0654F"/>
            </a:solidFill>
            <a:ln w="7441" cap="flat">
              <a:noFill/>
              <a:prstDash val="solid"/>
              <a:miter/>
            </a:ln>
          </p:spPr>
          <p:txBody>
            <a:bodyPr/>
            <a:lstStyle/>
            <a:p>
              <a:endParaRPr lang="en-CA" sz="2700"/>
            </a:p>
          </p:txBody>
        </p:sp>
        <p:sp>
          <p:nvSpPr>
            <p:cNvPr id="88" name="Freeform: Shape 87">
              <a:extLst>
                <a:ext uri="{FF2B5EF4-FFF2-40B4-BE49-F238E27FC236}">
                  <a16:creationId xmlns:a16="http://schemas.microsoft.com/office/drawing/2014/main" id="{5A45D67F-CE86-2FB7-0C8D-617337E4E15F}"/>
                </a:ext>
              </a:extLst>
            </p:cNvPr>
            <p:cNvSpPr/>
            <p:nvPr/>
          </p:nvSpPr>
          <p:spPr>
            <a:xfrm>
              <a:off x="4740919" y="5047533"/>
              <a:ext cx="231660" cy="115492"/>
            </a:xfrm>
            <a:custGeom>
              <a:avLst/>
              <a:gdLst>
                <a:gd name="csX0" fmla="*/ 0 w 231660"/>
                <a:gd name="csY0" fmla="*/ 115492 h 115492"/>
                <a:gd name="csX1" fmla="*/ 0 w 231660"/>
                <a:gd name="csY1" fmla="*/ 57598 h 115492"/>
                <a:gd name="csX2" fmla="*/ 11609 w 231660"/>
                <a:gd name="csY2" fmla="*/ 34455 h 115492"/>
                <a:gd name="csX3" fmla="*/ 68238 w 231660"/>
                <a:gd name="csY3" fmla="*/ 7443 h 115492"/>
                <a:gd name="csX4" fmla="*/ 115788 w 231660"/>
                <a:gd name="csY4" fmla="*/ 1 h 115492"/>
                <a:gd name="csX5" fmla="*/ 163413 w 231660"/>
                <a:gd name="csY5" fmla="*/ 7443 h 115492"/>
                <a:gd name="csX6" fmla="*/ 220042 w 231660"/>
                <a:gd name="csY6" fmla="*/ 34455 h 115492"/>
                <a:gd name="csX7" fmla="*/ 231651 w 231660"/>
                <a:gd name="csY7" fmla="*/ 57598 h 115492"/>
                <a:gd name="csX8" fmla="*/ 231651 w 231660"/>
                <a:gd name="csY8" fmla="*/ 115492 h 11549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231660" h="115492">
                  <a:moveTo>
                    <a:pt x="0" y="115492"/>
                  </a:moveTo>
                  <a:lnTo>
                    <a:pt x="0" y="57598"/>
                  </a:lnTo>
                  <a:cubicBezTo>
                    <a:pt x="35" y="48492"/>
                    <a:pt x="4331" y="39928"/>
                    <a:pt x="11609" y="34455"/>
                  </a:cubicBezTo>
                  <a:cubicBezTo>
                    <a:pt x="28716" y="22134"/>
                    <a:pt x="47897" y="12985"/>
                    <a:pt x="68238" y="7443"/>
                  </a:cubicBezTo>
                  <a:cubicBezTo>
                    <a:pt x="83590" y="2444"/>
                    <a:pt x="99643" y="-69"/>
                    <a:pt x="115788" y="1"/>
                  </a:cubicBezTo>
                  <a:cubicBezTo>
                    <a:pt x="131921" y="380"/>
                    <a:pt x="147934" y="2883"/>
                    <a:pt x="163413" y="7443"/>
                  </a:cubicBezTo>
                  <a:cubicBezTo>
                    <a:pt x="184042" y="12187"/>
                    <a:pt x="203374" y="21408"/>
                    <a:pt x="220042" y="34455"/>
                  </a:cubicBezTo>
                  <a:cubicBezTo>
                    <a:pt x="227534" y="39747"/>
                    <a:pt x="231890" y="48429"/>
                    <a:pt x="231651" y="57598"/>
                  </a:cubicBezTo>
                  <a:lnTo>
                    <a:pt x="231651" y="115492"/>
                  </a:lnTo>
                  <a:close/>
                </a:path>
              </a:pathLst>
            </a:custGeom>
            <a:solidFill>
              <a:srgbClr val="E0654F"/>
            </a:solidFill>
            <a:ln w="7441" cap="flat">
              <a:noFill/>
              <a:prstDash val="solid"/>
              <a:miter/>
            </a:ln>
          </p:spPr>
          <p:txBody>
            <a:bodyPr/>
            <a:lstStyle/>
            <a:p>
              <a:endParaRPr lang="en-CA" sz="2700"/>
            </a:p>
          </p:txBody>
        </p:sp>
        <p:sp>
          <p:nvSpPr>
            <p:cNvPr id="89" name="Oval 88">
              <a:extLst>
                <a:ext uri="{FF2B5EF4-FFF2-40B4-BE49-F238E27FC236}">
                  <a16:creationId xmlns:a16="http://schemas.microsoft.com/office/drawing/2014/main" id="{8287FCD8-3413-22A7-D510-E91941D0E834}"/>
                </a:ext>
              </a:extLst>
            </p:cNvPr>
            <p:cNvSpPr/>
            <p:nvPr/>
          </p:nvSpPr>
          <p:spPr>
            <a:xfrm>
              <a:off x="4798814" y="4915971"/>
              <a:ext cx="115788" cy="115788"/>
            </a:xfrm>
            <a:prstGeom prst="ellipse">
              <a:avLst/>
            </a:prstGeom>
            <a:solidFill>
              <a:srgbClr val="E0654F"/>
            </a:solidFill>
            <a:ln w="7441" cap="flat">
              <a:noFill/>
              <a:prstDash val="solid"/>
              <a:miter/>
            </a:ln>
          </p:spPr>
          <p:txBody>
            <a:bodyPr/>
            <a:lstStyle/>
            <a:p>
              <a:endParaRPr lang="en-CA" sz="2700"/>
            </a:p>
          </p:txBody>
        </p:sp>
      </p:grpSp>
      <p:cxnSp>
        <p:nvCxnSpPr>
          <p:cNvPr id="90" name="Straight Arrow Connector 89">
            <a:extLst>
              <a:ext uri="{FF2B5EF4-FFF2-40B4-BE49-F238E27FC236}">
                <a16:creationId xmlns:a16="http://schemas.microsoft.com/office/drawing/2014/main" id="{23819B0B-9D5B-CD5D-7DF7-F4E00F8DDD94}"/>
              </a:ext>
            </a:extLst>
          </p:cNvPr>
          <p:cNvCxnSpPr>
            <a:cxnSpLocks/>
            <a:stCxn id="81" idx="3"/>
          </p:cNvCxnSpPr>
          <p:nvPr/>
        </p:nvCxnSpPr>
        <p:spPr>
          <a:xfrm flipV="1">
            <a:off x="14383651" y="7763423"/>
            <a:ext cx="498629" cy="3926"/>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pic>
        <p:nvPicPr>
          <p:cNvPr id="94" name="Graphic 93" descr="Database with solid fill">
            <a:extLst>
              <a:ext uri="{FF2B5EF4-FFF2-40B4-BE49-F238E27FC236}">
                <a16:creationId xmlns:a16="http://schemas.microsoft.com/office/drawing/2014/main" id="{C79D45AC-82E5-C5F5-0EB1-1F969A9F662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605182" y="7425566"/>
            <a:ext cx="685800" cy="685800"/>
          </a:xfrm>
          <a:prstGeom prst="rect">
            <a:avLst/>
          </a:prstGeom>
        </p:spPr>
      </p:pic>
      <p:sp>
        <p:nvSpPr>
          <p:cNvPr id="99" name="Rectangle: Rounded Corners 98">
            <a:extLst>
              <a:ext uri="{FF2B5EF4-FFF2-40B4-BE49-F238E27FC236}">
                <a16:creationId xmlns:a16="http://schemas.microsoft.com/office/drawing/2014/main" id="{20702D8A-6121-01A9-4CFC-46A1BAA52E2D}"/>
              </a:ext>
            </a:extLst>
          </p:cNvPr>
          <p:cNvSpPr/>
          <p:nvPr/>
        </p:nvSpPr>
        <p:spPr>
          <a:xfrm>
            <a:off x="12773027" y="8143991"/>
            <a:ext cx="1628775" cy="498464"/>
          </a:xfrm>
          <a:prstGeom prst="roundRect">
            <a:avLst>
              <a:gd name="adj" fmla="val 10417"/>
            </a:avLst>
          </a:prstGeom>
          <a:solidFill>
            <a:srgbClr val="5FB37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50" dirty="0"/>
              <a:t>Judge hallucinations</a:t>
            </a:r>
            <a:endParaRPr lang="en-CA" sz="1650" dirty="0"/>
          </a:p>
        </p:txBody>
      </p:sp>
      <p:sp>
        <p:nvSpPr>
          <p:cNvPr id="100" name="Rectangle: Rounded Corners 99">
            <a:extLst>
              <a:ext uri="{FF2B5EF4-FFF2-40B4-BE49-F238E27FC236}">
                <a16:creationId xmlns:a16="http://schemas.microsoft.com/office/drawing/2014/main" id="{D334CBD2-6ED4-D6AF-0231-2F82C130B5B0}"/>
              </a:ext>
            </a:extLst>
          </p:cNvPr>
          <p:cNvSpPr/>
          <p:nvPr/>
        </p:nvSpPr>
        <p:spPr>
          <a:xfrm>
            <a:off x="12773027" y="8748754"/>
            <a:ext cx="1628775" cy="498464"/>
          </a:xfrm>
          <a:prstGeom prst="roundRect">
            <a:avLst>
              <a:gd name="adj" fmla="val 10417"/>
            </a:avLst>
          </a:prstGeom>
          <a:solidFill>
            <a:srgbClr val="5FB37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50" dirty="0"/>
              <a:t>Judge Ontology</a:t>
            </a:r>
            <a:endParaRPr lang="en-CA" sz="1650" dirty="0"/>
          </a:p>
        </p:txBody>
      </p:sp>
      <p:cxnSp>
        <p:nvCxnSpPr>
          <p:cNvPr id="106" name="Connector: Elbow 105">
            <a:extLst>
              <a:ext uri="{FF2B5EF4-FFF2-40B4-BE49-F238E27FC236}">
                <a16:creationId xmlns:a16="http://schemas.microsoft.com/office/drawing/2014/main" id="{00D6FDAE-E74C-6298-61AD-6AE7825F7C6D}"/>
              </a:ext>
            </a:extLst>
          </p:cNvPr>
          <p:cNvCxnSpPr>
            <a:endCxn id="99" idx="1"/>
          </p:cNvCxnSpPr>
          <p:nvPr/>
        </p:nvCxnSpPr>
        <p:spPr>
          <a:xfrm rot="5400000">
            <a:off x="12446388" y="8057060"/>
            <a:ext cx="662802" cy="9525"/>
          </a:xfrm>
          <a:prstGeom prst="curvedConnector4">
            <a:avLst>
              <a:gd name="adj1" fmla="val 5331"/>
              <a:gd name="adj2" fmla="val 3550000"/>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109" name="Connector: Elbow 105">
            <a:extLst>
              <a:ext uri="{FF2B5EF4-FFF2-40B4-BE49-F238E27FC236}">
                <a16:creationId xmlns:a16="http://schemas.microsoft.com/office/drawing/2014/main" id="{7D727E50-41C3-579A-639A-3EA3B7DAD112}"/>
              </a:ext>
            </a:extLst>
          </p:cNvPr>
          <p:cNvCxnSpPr>
            <a:cxnSpLocks/>
            <a:stCxn id="99" idx="1"/>
            <a:endCxn id="100" idx="1"/>
          </p:cNvCxnSpPr>
          <p:nvPr/>
        </p:nvCxnSpPr>
        <p:spPr>
          <a:xfrm rot="10800000" flipV="1">
            <a:off x="12773027" y="8393222"/>
            <a:ext cx="19050" cy="604763"/>
          </a:xfrm>
          <a:prstGeom prst="curvedConnector3">
            <a:avLst>
              <a:gd name="adj1" fmla="val 1800000"/>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112" name="Connector: Elbow 105">
            <a:extLst>
              <a:ext uri="{FF2B5EF4-FFF2-40B4-BE49-F238E27FC236}">
                <a16:creationId xmlns:a16="http://schemas.microsoft.com/office/drawing/2014/main" id="{FC322D40-F552-BD34-A8C9-B74C3D31056F}"/>
              </a:ext>
            </a:extLst>
          </p:cNvPr>
          <p:cNvCxnSpPr>
            <a:cxnSpLocks/>
            <a:stCxn id="100" idx="3"/>
            <a:endCxn id="81" idx="3"/>
          </p:cNvCxnSpPr>
          <p:nvPr/>
        </p:nvCxnSpPr>
        <p:spPr>
          <a:xfrm flipH="1" flipV="1">
            <a:off x="14383651" y="7767349"/>
            <a:ext cx="18152" cy="1230638"/>
          </a:xfrm>
          <a:prstGeom prst="curvedConnector3">
            <a:avLst>
              <a:gd name="adj1" fmla="val -1889100"/>
            </a:avLst>
          </a:prstGeom>
          <a:ln>
            <a:tailEnd type="triangle"/>
          </a:ln>
        </p:spPr>
        <p:style>
          <a:lnRef idx="1">
            <a:schemeClr val="accent6"/>
          </a:lnRef>
          <a:fillRef idx="0">
            <a:schemeClr val="accent6"/>
          </a:fillRef>
          <a:effectRef idx="0">
            <a:schemeClr val="accent6"/>
          </a:effectRef>
          <a:fontRef idx="minor">
            <a:schemeClr val="tx1"/>
          </a:fontRef>
        </p:style>
      </p:cxnSp>
      <p:cxnSp>
        <p:nvCxnSpPr>
          <p:cNvPr id="115" name="Connector: Elbow 105">
            <a:extLst>
              <a:ext uri="{FF2B5EF4-FFF2-40B4-BE49-F238E27FC236}">
                <a16:creationId xmlns:a16="http://schemas.microsoft.com/office/drawing/2014/main" id="{36F5EEEE-B5C2-3606-C32A-7E6752701539}"/>
              </a:ext>
            </a:extLst>
          </p:cNvPr>
          <p:cNvCxnSpPr>
            <a:cxnSpLocks/>
            <a:stCxn id="99" idx="3"/>
            <a:endCxn id="81" idx="3"/>
          </p:cNvCxnSpPr>
          <p:nvPr/>
        </p:nvCxnSpPr>
        <p:spPr>
          <a:xfrm flipH="1" flipV="1">
            <a:off x="14383651" y="7767348"/>
            <a:ext cx="18152" cy="625875"/>
          </a:xfrm>
          <a:prstGeom prst="curvedConnector3">
            <a:avLst>
              <a:gd name="adj1" fmla="val -1416825"/>
            </a:avLst>
          </a:prstGeom>
          <a:ln>
            <a:tailEnd type="triangle"/>
          </a:ln>
        </p:spPr>
        <p:style>
          <a:lnRef idx="1">
            <a:schemeClr val="accent6"/>
          </a:lnRef>
          <a:fillRef idx="0">
            <a:schemeClr val="accent6"/>
          </a:fillRef>
          <a:effectRef idx="0">
            <a:schemeClr val="accent6"/>
          </a:effectRef>
          <a:fontRef idx="minor">
            <a:schemeClr val="tx1"/>
          </a:fontRef>
        </p:style>
      </p:cxnSp>
      <p:sp>
        <p:nvSpPr>
          <p:cNvPr id="5" name="Arrow: Left 4">
            <a:hlinkClick r:id="rId6" action="ppaction://hlinksldjump"/>
            <a:extLst>
              <a:ext uri="{FF2B5EF4-FFF2-40B4-BE49-F238E27FC236}">
                <a16:creationId xmlns:a16="http://schemas.microsoft.com/office/drawing/2014/main" id="{6EFA9016-8399-EA62-4A4B-0B3F177FF708}"/>
              </a:ext>
            </a:extLst>
          </p:cNvPr>
          <p:cNvSpPr/>
          <p:nvPr/>
        </p:nvSpPr>
        <p:spPr>
          <a:xfrm>
            <a:off x="15297958" y="914400"/>
            <a:ext cx="978408" cy="828735"/>
          </a:xfrm>
          <a:prstGeom prst="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Back</a:t>
            </a:r>
            <a:endParaRPr lang="en-CA" dirty="0"/>
          </a:p>
        </p:txBody>
      </p:sp>
    </p:spTree>
    <p:extLst>
      <p:ext uri="{BB962C8B-B14F-4D97-AF65-F5344CB8AC3E}">
        <p14:creationId xmlns:p14="http://schemas.microsoft.com/office/powerpoint/2010/main" val="33824118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343</TotalTime>
  <Words>2513</Words>
  <Application>Microsoft Office PowerPoint</Application>
  <PresentationFormat>Custom</PresentationFormat>
  <Paragraphs>189</Paragraphs>
  <Slides>9</Slides>
  <Notes>9</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Aptos</vt:lpstr>
      <vt:lpstr>Arial</vt:lpstr>
      <vt:lpstr>Calibri</vt:lpstr>
      <vt:lpstr>Georgia</vt:lpstr>
      <vt:lpstr>Public Sans</vt:lpstr>
      <vt:lpstr>Source Serif 4</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Pavel Aleman</cp:lastModifiedBy>
  <cp:revision>2</cp:revision>
  <dcterms:created xsi:type="dcterms:W3CDTF">2026-06-24T12:04:47Z</dcterms:created>
  <dcterms:modified xsi:type="dcterms:W3CDTF">2026-10-15T21:06:38Z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aebacc78-dcc9-4733-835b-33704aeb5fb9_Enabled">
    <vt:lpwstr>true</vt:lpwstr>
  </property>
  <property fmtid="{D5CDD505-2E9C-101B-9397-08002B2CF9AE}" pid="3" name="MSIP_Label_aebacc78-dcc9-4733-835b-33704aeb5fb9_SetDate">
    <vt:lpwstr>2026-06-24T12:18:26Z</vt:lpwstr>
  </property>
  <property fmtid="{D5CDD505-2E9C-101B-9397-08002B2CF9AE}" pid="4" name="MSIP_Label_aebacc78-dcc9-4733-835b-33704aeb5fb9_Method">
    <vt:lpwstr>Privileged</vt:lpwstr>
  </property>
  <property fmtid="{D5CDD505-2E9C-101B-9397-08002B2CF9AE}" pid="5" name="MSIP_Label_aebacc78-dcc9-4733-835b-33704aeb5fb9_Name">
    <vt:lpwstr>Non-Sensitive - Non-Délicat</vt:lpwstr>
  </property>
  <property fmtid="{D5CDD505-2E9C-101B-9397-08002B2CF9AE}" pid="6" name="MSIP_Label_aebacc78-dcc9-4733-835b-33704aeb5fb9_SiteId">
    <vt:lpwstr>164f988b-a2f4-4584-aeaa-21bd4a0234bc</vt:lpwstr>
  </property>
  <property fmtid="{D5CDD505-2E9C-101B-9397-08002B2CF9AE}" pid="7" name="MSIP_Label_aebacc78-dcc9-4733-835b-33704aeb5fb9_ActionId">
    <vt:lpwstr>b8ba3123-effc-4680-97a3-c16c202e3fd7</vt:lpwstr>
  </property>
  <property fmtid="{D5CDD505-2E9C-101B-9397-08002B2CF9AE}" pid="8" name="MSIP_Label_aebacc78-dcc9-4733-835b-33704aeb5fb9_ContentBits">
    <vt:lpwstr>1</vt:lpwstr>
  </property>
  <property fmtid="{D5CDD505-2E9C-101B-9397-08002B2CF9AE}" pid="9" name="MSIP_Label_aebacc78-dcc9-4733-835b-33704aeb5fb9_Tag">
    <vt:lpwstr>10, 0, 1, 1</vt:lpwstr>
  </property>
  <property fmtid="{D5CDD505-2E9C-101B-9397-08002B2CF9AE}" pid="10" name="ClassificationContentMarkingHeaderLocations">
    <vt:lpwstr>Office Theme:3</vt:lpwstr>
  </property>
  <property fmtid="{D5CDD505-2E9C-101B-9397-08002B2CF9AE}" pid="11" name="ClassificationContentMarkingHeaderText">
    <vt:lpwstr>Category/Catégorie: Non-Sensitive/Non-Délicat</vt:lpwstr>
  </property>
</Properties>
</file>