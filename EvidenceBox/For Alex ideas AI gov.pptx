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-1344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E788-CB26-7867-11DD-C4C2BD852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48D42-91B8-3574-69BC-98C5C8DE4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089F2-1F88-E6E1-D155-6281F919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3079F-97D5-858D-AC7F-E0FA47F9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D8B92-4E93-54F6-1A7C-0D9D2EDA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680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C44C-0978-691B-A456-D88B6C72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28B9-F614-7A8F-6DAF-B8C423AC9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9EF8B-2DAB-1B82-3DDB-C314BAE5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D9F5B-0248-5B1F-33FA-C9B421F9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18C-2039-C2E3-65C5-AE893168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7590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CCE4-665A-450C-F4F8-5A1C166D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54802-F8FF-8B0A-9F28-F32EDAAC5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A6571-79F9-D7F1-DE88-5704744A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87EE7-917E-72D6-87D8-D9D4E521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A0BD-A6A9-1324-9912-8E8B0176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257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63CF-3FAB-9972-0D6B-A5D3F601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0F1F6-6622-757E-695B-E25D5BC6E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D8724-B93D-0AD7-AA71-20A37A3FE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412F3-0848-9441-AA47-A5715B4F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D7DAC-77E6-7E09-AA6B-34E0DF0F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6A5BF-628F-3DFD-1889-4AFE44D1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557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04A9-31AB-A05E-AA78-1134E102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CD3C1-47D2-E4A7-40EC-97C95CEE9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33EC1-FC83-B5C0-99DA-DC3BCDAB9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A8806-9621-8B47-37C9-62EF9174C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4E1D7-4CF9-CF86-99B4-5F579527C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AD2D1A-EA86-A862-CCCC-63787B6D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DE668-FE3C-6232-8FFC-C9D3F3FC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3D0C4-6495-177F-35A2-A44DE8B9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204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BB36-A21F-A16E-F89A-7018325F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98E15A-84A9-677D-C9CE-871BA0E7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27436-34E3-8868-E854-D5681FC6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7A7C0-2699-BADC-80EF-9CB9DBB9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98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41B4D-BF88-05CF-8A89-E10D202E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0DAD2-1B75-6D93-A52E-30089632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AF7E2-9241-AA3D-544E-B8EAA74F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047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6243-07F8-6EE4-9755-82A167D9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65C63-4D62-4171-EE80-0466C4CC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B9DA5-34C7-6B4E-F9BD-5A4771C7A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0C470-0E49-DC15-C9F6-9176E8E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22192-E67F-8AA3-8CEC-7B9FFD70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4A746-16AA-34F6-E3E1-B3AB85A2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542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7AB5-D1FB-1739-E284-A3DEF59AB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B291F-D523-1710-7EE1-ABE681DBF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33A7D-3C77-1F79-AD16-D87E8241B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5CB2C-4F51-C916-A1C0-EF322EB7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EA870-B24F-7371-C5D6-215C3184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1C2EC-7108-3FAE-DDAC-09038298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134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4FA1-6A62-E747-6719-CB062D64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3329B-F6F6-5144-29F9-DA715E12A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8F630-8E18-5820-D2E8-9B4703CB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5B90-0E7D-C7E2-47D4-D26D9C5B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83F61-58DC-90C3-3751-51BF051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9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7AB87-52D0-4279-6322-A9CDD1A9E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142AA-D6D7-8C05-BAEB-E4131B01C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28076-01CE-4D79-3852-ABE7613C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CE14-EE94-A983-B410-990E12D1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7120A-2A69-C4D2-D60F-8F0B9ADD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52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61C0B-478F-AE13-1AF3-F370CAE9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CB80B-9593-2C49-80A8-7D67B527C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0D77F-B4DC-80E3-160A-67EC16D54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778B0-F2FF-470B-A8BD-B4D95B43C7B4}" type="datetimeFigureOut">
              <a:rPr lang="en-CA" smtClean="0"/>
              <a:t>10/10/26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6A6EF-C0B7-7FC3-CFF2-E1CC8761E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B037C-AF9E-34C2-9036-C6CAC80CC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68C1F-4F45-4AB8-92DE-5EB749A957BC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B058C-6286-9818-9480-D51739C8A0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518650" y="63500"/>
            <a:ext cx="2635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Category/Catégorie: Non-Sensitive/Non-Délicat</a:t>
            </a:r>
          </a:p>
        </p:txBody>
      </p:sp>
    </p:spTree>
    <p:extLst>
      <p:ext uri="{BB962C8B-B14F-4D97-AF65-F5344CB8AC3E}">
        <p14:creationId xmlns:p14="http://schemas.microsoft.com/office/powerpoint/2010/main" val="17608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D53913-6887-D65D-7BDF-2F8C65E0EDF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0EE46-6CD2-3C5F-2D50-8021A8607158}"/>
              </a:ext>
            </a:extLst>
          </p:cNvPr>
          <p:cNvSpPr/>
          <p:nvPr/>
        </p:nvSpPr>
        <p:spPr>
          <a:xfrm>
            <a:off x="34747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36A324-31E2-5381-EF98-EBA42AB9AFF7}"/>
              </a:ext>
            </a:extLst>
          </p:cNvPr>
          <p:cNvSpPr/>
          <p:nvPr/>
        </p:nvSpPr>
        <p:spPr>
          <a:xfrm>
            <a:off x="96926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5D186A-7DB6-444B-41BF-2BE9EC65C68D}"/>
              </a:ext>
            </a:extLst>
          </p:cNvPr>
          <p:cNvSpPr/>
          <p:nvPr/>
        </p:nvSpPr>
        <p:spPr>
          <a:xfrm>
            <a:off x="1591056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5D8070-4235-3ABE-3854-A5B9FEF722E5}"/>
              </a:ext>
            </a:extLst>
          </p:cNvPr>
          <p:cNvSpPr/>
          <p:nvPr/>
        </p:nvSpPr>
        <p:spPr>
          <a:xfrm>
            <a:off x="2212848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36A6F-DA76-3DC8-C675-F6A9D8298291}"/>
              </a:ext>
            </a:extLst>
          </p:cNvPr>
          <p:cNvSpPr/>
          <p:nvPr/>
        </p:nvSpPr>
        <p:spPr>
          <a:xfrm>
            <a:off x="2834640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AF5AC5-2026-0CF7-A087-AFCE6580750F}"/>
              </a:ext>
            </a:extLst>
          </p:cNvPr>
          <p:cNvSpPr/>
          <p:nvPr/>
        </p:nvSpPr>
        <p:spPr>
          <a:xfrm>
            <a:off x="345643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E32385-EF98-EF2F-CBF2-EE32BF5F86D4}"/>
              </a:ext>
            </a:extLst>
          </p:cNvPr>
          <p:cNvSpPr/>
          <p:nvPr/>
        </p:nvSpPr>
        <p:spPr>
          <a:xfrm>
            <a:off x="407822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CEE84E-30F2-DB39-974D-558339CB6575}"/>
              </a:ext>
            </a:extLst>
          </p:cNvPr>
          <p:cNvSpPr txBox="1"/>
          <p:nvPr/>
        </p:nvSpPr>
        <p:spPr>
          <a:xfrm>
            <a:off x="201168" y="749808"/>
            <a:ext cx="11109960" cy="5303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3100" b="1">
                <a:solidFill>
                  <a:srgbClr val="16182F"/>
                </a:solidFill>
                <a:latin typeface="Aptos Display"/>
              </a:rPr>
              <a:t>Purpose of AI Governance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335266-528B-B601-86BA-27216D76F818}"/>
              </a:ext>
            </a:extLst>
          </p:cNvPr>
          <p:cNvSpPr txBox="1"/>
          <p:nvPr/>
        </p:nvSpPr>
        <p:spPr>
          <a:xfrm>
            <a:off x="475488" y="1426464"/>
            <a:ext cx="10561320" cy="42062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>
                <a:solidFill>
                  <a:srgbClr val="5A6573"/>
                </a:solidFill>
                <a:latin typeface="Aptos"/>
              </a:rPr>
              <a:t>Create the conditions to use AI responsibly</a:t>
            </a:r>
            <a:r>
              <a:rPr lang="en-US" sz="1650" b="0">
                <a:solidFill>
                  <a:srgbClr val="5A6573"/>
                </a:solidFill>
                <a:latin typeface="Aptos"/>
              </a:rPr>
              <a:t> while </a:t>
            </a:r>
            <a:r>
              <a:rPr sz="1650" b="0">
                <a:solidFill>
                  <a:srgbClr val="5A6573"/>
                </a:solidFill>
                <a:latin typeface="Aptos"/>
              </a:rPr>
              <a:t>balancing innovation, risk management, trust, and business alignment.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425749-C6E6-C332-2CDA-3A2919062622}"/>
              </a:ext>
            </a:extLst>
          </p:cNvPr>
          <p:cNvSpPr/>
          <p:nvPr/>
        </p:nvSpPr>
        <p:spPr>
          <a:xfrm>
            <a:off x="4050791" y="2148840"/>
            <a:ext cx="10972" cy="3255264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2ED94D-D430-D24A-E650-69B0132D17CC}"/>
              </a:ext>
            </a:extLst>
          </p:cNvPr>
          <p:cNvSpPr/>
          <p:nvPr/>
        </p:nvSpPr>
        <p:spPr>
          <a:xfrm>
            <a:off x="7799832" y="2148840"/>
            <a:ext cx="10972" cy="3255264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0E01A5-F601-A174-E809-A06DCE3B1E36}"/>
              </a:ext>
            </a:extLst>
          </p:cNvPr>
          <p:cNvSpPr/>
          <p:nvPr/>
        </p:nvSpPr>
        <p:spPr>
          <a:xfrm>
            <a:off x="475488" y="2057400"/>
            <a:ext cx="3401568" cy="91440"/>
          </a:xfrm>
          <a:prstGeom prst="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3000442B-6A26-7C0C-F3B3-73AFD7B1230F}"/>
              </a:ext>
            </a:extLst>
          </p:cNvPr>
          <p:cNvSpPr/>
          <p:nvPr/>
        </p:nvSpPr>
        <p:spPr>
          <a:xfrm>
            <a:off x="640080" y="2368296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34B713-20C2-5548-5E25-B1553435CA49}"/>
              </a:ext>
            </a:extLst>
          </p:cNvPr>
          <p:cNvSpPr txBox="1"/>
          <p:nvPr/>
        </p:nvSpPr>
        <p:spPr>
          <a:xfrm>
            <a:off x="896112" y="2276856"/>
            <a:ext cx="2898648" cy="32918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>
                <a:solidFill>
                  <a:srgbClr val="FF4E01"/>
                </a:solidFill>
                <a:latin typeface="Aptos"/>
              </a:rPr>
              <a:t>RESPONSIBLE AI USE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1C389B-27F5-C0F3-3EC8-3A0E7FE8CA8C}"/>
              </a:ext>
            </a:extLst>
          </p:cNvPr>
          <p:cNvSpPr txBox="1"/>
          <p:nvPr/>
        </p:nvSpPr>
        <p:spPr>
          <a:xfrm>
            <a:off x="658368" y="2834640"/>
            <a:ext cx="3035808" cy="62179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1">
                <a:solidFill>
                  <a:srgbClr val="1F2A37"/>
                </a:solidFill>
                <a:latin typeface="Aptos"/>
              </a:rPr>
              <a:t>Trustworthy, ethical
initiatives</a:t>
            </a:r>
          </a:p>
        </p:txBody>
      </p:sp>
      <p:sp>
        <p:nvSpPr>
          <p:cNvPr id="37" name="Rounded Rectangle 17">
            <a:extLst>
              <a:ext uri="{FF2B5EF4-FFF2-40B4-BE49-F238E27FC236}">
                <a16:creationId xmlns:a16="http://schemas.microsoft.com/office/drawing/2014/main" id="{ED2C9B85-C22A-945E-30E8-488E2ED24DDB}"/>
              </a:ext>
            </a:extLst>
          </p:cNvPr>
          <p:cNvSpPr/>
          <p:nvPr/>
        </p:nvSpPr>
        <p:spPr>
          <a:xfrm>
            <a:off x="658368" y="3611880"/>
            <a:ext cx="1444752" cy="347472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Framework</a:t>
            </a:r>
          </a:p>
        </p:txBody>
      </p:sp>
      <p:sp>
        <p:nvSpPr>
          <p:cNvPr id="39" name="Rounded Rectangle 18">
            <a:extLst>
              <a:ext uri="{FF2B5EF4-FFF2-40B4-BE49-F238E27FC236}">
                <a16:creationId xmlns:a16="http://schemas.microsoft.com/office/drawing/2014/main" id="{3F549A30-8B46-2862-14E0-475773733B13}"/>
              </a:ext>
            </a:extLst>
          </p:cNvPr>
          <p:cNvSpPr/>
          <p:nvPr/>
        </p:nvSpPr>
        <p:spPr>
          <a:xfrm>
            <a:off x="2249424" y="3611880"/>
            <a:ext cx="1444752" cy="347472"/>
          </a:xfrm>
          <a:prstGeom prst="roundRect">
            <a:avLst/>
          </a:prstGeom>
          <a:solidFill>
            <a:srgbClr val="FFC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Trust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E43D5F-DF3B-F788-C273-9F89E21D357F}"/>
              </a:ext>
            </a:extLst>
          </p:cNvPr>
          <p:cNvSpPr txBox="1"/>
          <p:nvPr/>
        </p:nvSpPr>
        <p:spPr>
          <a:xfrm>
            <a:off x="658368" y="4142231"/>
            <a:ext cx="3035808" cy="12984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20" b="0">
                <a:solidFill>
                  <a:srgbClr val="1F2A37"/>
                </a:solidFill>
                <a:latin typeface="Aptos"/>
              </a:rPr>
              <a:t>Establishes a robust framework so AI initiatives are conducted responsibly, ethically, and in alignment with the Bank’s goals.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F569D5-48B9-C11D-AECE-C16C064FC243}"/>
              </a:ext>
            </a:extLst>
          </p:cNvPr>
          <p:cNvSpPr/>
          <p:nvPr/>
        </p:nvSpPr>
        <p:spPr>
          <a:xfrm>
            <a:off x="4224528" y="2057400"/>
            <a:ext cx="3401568" cy="91440"/>
          </a:xfrm>
          <a:prstGeom prst="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11B87FE8-467F-15EB-1150-D089CA392566}"/>
              </a:ext>
            </a:extLst>
          </p:cNvPr>
          <p:cNvSpPr/>
          <p:nvPr/>
        </p:nvSpPr>
        <p:spPr>
          <a:xfrm>
            <a:off x="4389120" y="2368296"/>
            <a:ext cx="155448" cy="155448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10C496-B461-BDBE-49C1-BD24EEB2C9AF}"/>
              </a:ext>
            </a:extLst>
          </p:cNvPr>
          <p:cNvSpPr txBox="1"/>
          <p:nvPr/>
        </p:nvSpPr>
        <p:spPr>
          <a:xfrm>
            <a:off x="4645152" y="2276856"/>
            <a:ext cx="2898648" cy="32918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>
                <a:solidFill>
                  <a:srgbClr val="002856"/>
                </a:solidFill>
                <a:latin typeface="Aptos"/>
              </a:rPr>
              <a:t>RISK &amp; COMPLIANCE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3540E-7617-62FB-9CD7-B56941A65748}"/>
              </a:ext>
            </a:extLst>
          </p:cNvPr>
          <p:cNvSpPr txBox="1"/>
          <p:nvPr/>
        </p:nvSpPr>
        <p:spPr>
          <a:xfrm>
            <a:off x="4407408" y="2834640"/>
            <a:ext cx="3035808" cy="62179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1">
                <a:solidFill>
                  <a:srgbClr val="1F2A37"/>
                </a:solidFill>
                <a:latin typeface="Aptos"/>
              </a:rPr>
              <a:t>Oversight that
manages exposure</a:t>
            </a:r>
          </a:p>
        </p:txBody>
      </p:sp>
      <p:sp>
        <p:nvSpPr>
          <p:cNvPr id="51" name="Rounded Rectangle 24">
            <a:extLst>
              <a:ext uri="{FF2B5EF4-FFF2-40B4-BE49-F238E27FC236}">
                <a16:creationId xmlns:a16="http://schemas.microsoft.com/office/drawing/2014/main" id="{7F15BAC8-916E-F518-03A2-A2ED1C1E51EB}"/>
              </a:ext>
            </a:extLst>
          </p:cNvPr>
          <p:cNvSpPr/>
          <p:nvPr/>
        </p:nvSpPr>
        <p:spPr>
          <a:xfrm>
            <a:off x="4407408" y="3611880"/>
            <a:ext cx="1444752" cy="347472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Controls</a:t>
            </a:r>
          </a:p>
        </p:txBody>
      </p:sp>
      <p:sp>
        <p:nvSpPr>
          <p:cNvPr id="53" name="Rounded Rectangle 25">
            <a:extLst>
              <a:ext uri="{FF2B5EF4-FFF2-40B4-BE49-F238E27FC236}">
                <a16:creationId xmlns:a16="http://schemas.microsoft.com/office/drawing/2014/main" id="{005F250B-65AB-0AF0-92F8-8E4589C275D4}"/>
              </a:ext>
            </a:extLst>
          </p:cNvPr>
          <p:cNvSpPr/>
          <p:nvPr/>
        </p:nvSpPr>
        <p:spPr>
          <a:xfrm>
            <a:off x="5998464" y="3611880"/>
            <a:ext cx="1444752" cy="347472"/>
          </a:xfrm>
          <a:prstGeom prst="round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Compliance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0508E8-0216-DD35-E4BC-E4E7C0D7A5E6}"/>
              </a:ext>
            </a:extLst>
          </p:cNvPr>
          <p:cNvSpPr txBox="1"/>
          <p:nvPr/>
        </p:nvSpPr>
        <p:spPr>
          <a:xfrm>
            <a:off x="4407408" y="4142231"/>
            <a:ext cx="3035808" cy="12984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20" b="0">
                <a:solidFill>
                  <a:srgbClr val="1F2A37"/>
                </a:solidFill>
                <a:latin typeface="Aptos"/>
              </a:rPr>
              <a:t>Defines oversight and compliance measures needed to mitigate risk throughout the AI lifecycle.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FF68E5C-0B10-01F2-6D22-9F2963B1A623}"/>
              </a:ext>
            </a:extLst>
          </p:cNvPr>
          <p:cNvSpPr/>
          <p:nvPr/>
        </p:nvSpPr>
        <p:spPr>
          <a:xfrm>
            <a:off x="7973568" y="2057400"/>
            <a:ext cx="3401568" cy="91440"/>
          </a:xfrm>
          <a:prstGeom prst="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28">
            <a:extLst>
              <a:ext uri="{FF2B5EF4-FFF2-40B4-BE49-F238E27FC236}">
                <a16:creationId xmlns:a16="http://schemas.microsoft.com/office/drawing/2014/main" id="{D8EC3A69-70D3-D5D4-C836-6EF265C2F2EA}"/>
              </a:ext>
            </a:extLst>
          </p:cNvPr>
          <p:cNvSpPr/>
          <p:nvPr/>
        </p:nvSpPr>
        <p:spPr>
          <a:xfrm>
            <a:off x="8138160" y="2368296"/>
            <a:ext cx="155448" cy="155448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652583-0607-B4D0-C1F3-967B9822AC8F}"/>
              </a:ext>
            </a:extLst>
          </p:cNvPr>
          <p:cNvSpPr txBox="1"/>
          <p:nvPr/>
        </p:nvSpPr>
        <p:spPr>
          <a:xfrm>
            <a:off x="8394192" y="2276856"/>
            <a:ext cx="2898648" cy="32918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>
                <a:solidFill>
                  <a:srgbClr val="06C4B0"/>
                </a:solidFill>
                <a:latin typeface="Aptos"/>
              </a:rPr>
              <a:t>BUSINESS ALIGNMENT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5D5C58-9032-34C1-071D-416C873A2196}"/>
              </a:ext>
            </a:extLst>
          </p:cNvPr>
          <p:cNvSpPr txBox="1"/>
          <p:nvPr/>
        </p:nvSpPr>
        <p:spPr>
          <a:xfrm>
            <a:off x="8156448" y="2834640"/>
            <a:ext cx="3035808" cy="62179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1">
                <a:solidFill>
                  <a:srgbClr val="1F2A37"/>
                </a:solidFill>
                <a:latin typeface="Aptos"/>
              </a:rPr>
              <a:t>AI efforts tied to
priorities</a:t>
            </a:r>
          </a:p>
        </p:txBody>
      </p:sp>
      <p:sp>
        <p:nvSpPr>
          <p:cNvPr id="65" name="Rounded Rectangle 31">
            <a:extLst>
              <a:ext uri="{FF2B5EF4-FFF2-40B4-BE49-F238E27FC236}">
                <a16:creationId xmlns:a16="http://schemas.microsoft.com/office/drawing/2014/main" id="{7A2D2EF6-E6B2-BEDD-309E-A41E397D69B1}"/>
              </a:ext>
            </a:extLst>
          </p:cNvPr>
          <p:cNvSpPr/>
          <p:nvPr/>
        </p:nvSpPr>
        <p:spPr>
          <a:xfrm>
            <a:off x="8156448" y="3611880"/>
            <a:ext cx="1444752" cy="347472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Goals</a:t>
            </a:r>
          </a:p>
        </p:txBody>
      </p:sp>
      <p:sp>
        <p:nvSpPr>
          <p:cNvPr id="67" name="Rounded Rectangle 32">
            <a:extLst>
              <a:ext uri="{FF2B5EF4-FFF2-40B4-BE49-F238E27FC236}">
                <a16:creationId xmlns:a16="http://schemas.microsoft.com/office/drawing/2014/main" id="{EFAB08DC-711E-7B7B-7428-17D1D93A3C7A}"/>
              </a:ext>
            </a:extLst>
          </p:cNvPr>
          <p:cNvSpPr/>
          <p:nvPr/>
        </p:nvSpPr>
        <p:spPr>
          <a:xfrm>
            <a:off x="9747504" y="3611880"/>
            <a:ext cx="1444752" cy="347472"/>
          </a:xfrm>
          <a:prstGeom prst="roundRect">
            <a:avLst/>
          </a:prstGeom>
          <a:solidFill>
            <a:srgbClr val="B4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Owners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46D517-2907-42F4-9462-C847B5818781}"/>
              </a:ext>
            </a:extLst>
          </p:cNvPr>
          <p:cNvSpPr txBox="1"/>
          <p:nvPr/>
        </p:nvSpPr>
        <p:spPr>
          <a:xfrm>
            <a:off x="8156448" y="4142231"/>
            <a:ext cx="3035808" cy="12984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20" b="0">
                <a:solidFill>
                  <a:srgbClr val="1F2A37"/>
                </a:solidFill>
                <a:latin typeface="Aptos"/>
              </a:rPr>
              <a:t>Connects AI activity to business objectives while fostering trust, accountability, and decision ownership.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69BDE82-A1E8-F5C3-7063-28D194D00892}"/>
              </a:ext>
            </a:extLst>
          </p:cNvPr>
          <p:cNvSpPr/>
          <p:nvPr/>
        </p:nvSpPr>
        <p:spPr>
          <a:xfrm>
            <a:off x="685800" y="5687568"/>
            <a:ext cx="10835640" cy="22860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35">
            <a:extLst>
              <a:ext uri="{FF2B5EF4-FFF2-40B4-BE49-F238E27FC236}">
                <a16:creationId xmlns:a16="http://schemas.microsoft.com/office/drawing/2014/main" id="{CEC15756-6A3B-CFE4-6F1F-5B211CB460C1}"/>
              </a:ext>
            </a:extLst>
          </p:cNvPr>
          <p:cNvSpPr/>
          <p:nvPr/>
        </p:nvSpPr>
        <p:spPr>
          <a:xfrm>
            <a:off x="1051560" y="5879592"/>
            <a:ext cx="10085832" cy="438912"/>
          </a:xfrm>
          <a:prstGeom prst="roundRect">
            <a:avLst/>
          </a:prstGeom>
          <a:solidFill>
            <a:srgbClr val="B4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450" b="1">
                <a:solidFill>
                  <a:srgbClr val="0A8C7D"/>
                </a:solidFill>
                <a:latin typeface="Aptos"/>
              </a:rPr>
              <a:t>Outcome: AI scales with confidence, transparency, and accountable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446648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2138FD-7732-C168-2EE4-5775FDB324A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97BC7-F2C9-5C68-D2BD-B6A955248F57}"/>
              </a:ext>
            </a:extLst>
          </p:cNvPr>
          <p:cNvSpPr/>
          <p:nvPr/>
        </p:nvSpPr>
        <p:spPr>
          <a:xfrm>
            <a:off x="34747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57F46-9400-78FD-45EC-5AF5AC53B10C}"/>
              </a:ext>
            </a:extLst>
          </p:cNvPr>
          <p:cNvSpPr/>
          <p:nvPr/>
        </p:nvSpPr>
        <p:spPr>
          <a:xfrm>
            <a:off x="96926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24C2EE-7998-06FB-CDA8-9BA118E28286}"/>
              </a:ext>
            </a:extLst>
          </p:cNvPr>
          <p:cNvSpPr/>
          <p:nvPr/>
        </p:nvSpPr>
        <p:spPr>
          <a:xfrm>
            <a:off x="1591056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296E28-09E2-0266-4F01-99EFC07FE2E0}"/>
              </a:ext>
            </a:extLst>
          </p:cNvPr>
          <p:cNvSpPr/>
          <p:nvPr/>
        </p:nvSpPr>
        <p:spPr>
          <a:xfrm>
            <a:off x="2212848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01C4A9-549D-82D9-453F-CC015CD2AB9F}"/>
              </a:ext>
            </a:extLst>
          </p:cNvPr>
          <p:cNvSpPr/>
          <p:nvPr/>
        </p:nvSpPr>
        <p:spPr>
          <a:xfrm>
            <a:off x="2834640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1A05B6-0E62-0B87-C195-DE1F1C742834}"/>
              </a:ext>
            </a:extLst>
          </p:cNvPr>
          <p:cNvSpPr/>
          <p:nvPr/>
        </p:nvSpPr>
        <p:spPr>
          <a:xfrm>
            <a:off x="345643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8D3C34-255F-81FB-8999-A17567C5E63A}"/>
              </a:ext>
            </a:extLst>
          </p:cNvPr>
          <p:cNvSpPr/>
          <p:nvPr/>
        </p:nvSpPr>
        <p:spPr>
          <a:xfrm>
            <a:off x="407822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5855E-C6CF-B615-51B6-DC310B2C87DD}"/>
              </a:ext>
            </a:extLst>
          </p:cNvPr>
          <p:cNvSpPr txBox="1"/>
          <p:nvPr/>
        </p:nvSpPr>
        <p:spPr>
          <a:xfrm>
            <a:off x="201168" y="713232"/>
            <a:ext cx="11155680" cy="7498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3050" b="1">
                <a:solidFill>
                  <a:srgbClr val="16182F"/>
                </a:solidFill>
                <a:latin typeface="Aptos Display"/>
              </a:rPr>
              <a:t>Guiding Principles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1BD462-9D19-F7EC-4315-BA654CD2451E}"/>
              </a:ext>
            </a:extLst>
          </p:cNvPr>
          <p:cNvSpPr txBox="1"/>
          <p:nvPr/>
        </p:nvSpPr>
        <p:spPr>
          <a:xfrm>
            <a:off x="475488" y="1572768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20" b="0">
                <a:solidFill>
                  <a:srgbClr val="5A6573"/>
                </a:solidFill>
                <a:latin typeface="Aptos"/>
              </a:rPr>
              <a:t>A practical control lens for expanding governance across monitoring, guardrails, and traceability.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81FDDD-268E-26DB-0A78-6331DD62EE4B}"/>
              </a:ext>
            </a:extLst>
          </p:cNvPr>
          <p:cNvSpPr/>
          <p:nvPr/>
        </p:nvSpPr>
        <p:spPr>
          <a:xfrm>
            <a:off x="475488" y="3858768"/>
            <a:ext cx="10835640" cy="13716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7C48E0-6470-B6DE-EC76-D888D6054621}"/>
              </a:ext>
            </a:extLst>
          </p:cNvPr>
          <p:cNvSpPr/>
          <p:nvPr/>
        </p:nvSpPr>
        <p:spPr>
          <a:xfrm>
            <a:off x="5888736" y="2176272"/>
            <a:ext cx="10972" cy="3547872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E7B419-2314-27B7-A55C-651F77AD69EC}"/>
              </a:ext>
            </a:extLst>
          </p:cNvPr>
          <p:cNvSpPr/>
          <p:nvPr/>
        </p:nvSpPr>
        <p:spPr>
          <a:xfrm>
            <a:off x="658368" y="2267712"/>
            <a:ext cx="4754880" cy="82296"/>
          </a:xfrm>
          <a:prstGeom prst="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BC9D4C49-9DF4-D40B-87B3-87FAEC6CC6BC}"/>
              </a:ext>
            </a:extLst>
          </p:cNvPr>
          <p:cNvSpPr/>
          <p:nvPr/>
        </p:nvSpPr>
        <p:spPr>
          <a:xfrm>
            <a:off x="676656" y="2542032"/>
            <a:ext cx="146304" cy="146304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E3A31A-FBD9-2982-AF4F-73DB0C4D53C9}"/>
              </a:ext>
            </a:extLst>
          </p:cNvPr>
          <p:cNvSpPr txBox="1"/>
          <p:nvPr/>
        </p:nvSpPr>
        <p:spPr>
          <a:xfrm>
            <a:off x="932688" y="2450592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>
                <a:solidFill>
                  <a:srgbClr val="FF4E01"/>
                </a:solidFill>
                <a:latin typeface="Aptos"/>
              </a:rPr>
              <a:t>01  LEVERAGE &amp; EXPAND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F8BCAFCA-9228-B1DC-0CD1-F6C9A9D506C3}"/>
              </a:ext>
            </a:extLst>
          </p:cNvPr>
          <p:cNvSpPr/>
          <p:nvPr/>
        </p:nvSpPr>
        <p:spPr>
          <a:xfrm>
            <a:off x="3986783" y="2423160"/>
            <a:ext cx="1298448" cy="310896"/>
          </a:xfrm>
          <a:prstGeom prst="roundRect">
            <a:avLst/>
          </a:prstGeom>
          <a:solidFill>
            <a:srgbClr val="FFC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Scope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406B18-46F7-42A4-383A-B3828380C320}"/>
              </a:ext>
            </a:extLst>
          </p:cNvPr>
          <p:cNvSpPr txBox="1"/>
          <p:nvPr/>
        </p:nvSpPr>
        <p:spPr>
          <a:xfrm>
            <a:off x="676656" y="2889504"/>
            <a:ext cx="4626864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820" b="1">
                <a:solidFill>
                  <a:srgbClr val="1F2A37"/>
                </a:solidFill>
                <a:latin typeface="Aptos"/>
              </a:rPr>
              <a:t>Use existing controls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C9BBA8-9D43-4571-991E-20FEDA0181CF}"/>
              </a:ext>
            </a:extLst>
          </p:cNvPr>
          <p:cNvSpPr txBox="1"/>
          <p:nvPr/>
        </p:nvSpPr>
        <p:spPr>
          <a:xfrm>
            <a:off x="676656" y="3346704"/>
            <a:ext cx="4626864" cy="51206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60" b="0">
                <a:solidFill>
                  <a:srgbClr val="1F2A37"/>
                </a:solidFill>
                <a:latin typeface="Aptos"/>
              </a:rPr>
              <a:t>Broaden scope across policies, frameworks, and TPRM.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B1F25D-052F-F68A-26CD-D16D4058F34B}"/>
              </a:ext>
            </a:extLst>
          </p:cNvPr>
          <p:cNvSpPr/>
          <p:nvPr/>
        </p:nvSpPr>
        <p:spPr>
          <a:xfrm>
            <a:off x="6172200" y="2267712"/>
            <a:ext cx="4754880" cy="82296"/>
          </a:xfrm>
          <a:prstGeom prst="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08F36368-84C5-F423-81B6-21F0B738555E}"/>
              </a:ext>
            </a:extLst>
          </p:cNvPr>
          <p:cNvSpPr/>
          <p:nvPr/>
        </p:nvSpPr>
        <p:spPr>
          <a:xfrm>
            <a:off x="6190488" y="2542032"/>
            <a:ext cx="146304" cy="146304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F181F0-6CA2-D521-9335-AE0ECDB3FD7B}"/>
              </a:ext>
            </a:extLst>
          </p:cNvPr>
          <p:cNvSpPr txBox="1"/>
          <p:nvPr/>
        </p:nvSpPr>
        <p:spPr>
          <a:xfrm>
            <a:off x="6446520" y="2450592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>
                <a:solidFill>
                  <a:srgbClr val="002856"/>
                </a:solidFill>
                <a:latin typeface="Aptos"/>
              </a:rPr>
              <a:t>02  CONTINUOUS MONITORING</a:t>
            </a:r>
          </a:p>
        </p:txBody>
      </p:sp>
      <p:sp>
        <p:nvSpPr>
          <p:cNvPr id="45" name="Rounded Rectangle 22">
            <a:extLst>
              <a:ext uri="{FF2B5EF4-FFF2-40B4-BE49-F238E27FC236}">
                <a16:creationId xmlns:a16="http://schemas.microsoft.com/office/drawing/2014/main" id="{310C87DA-8B15-90BF-CD2A-57C61B8BB956}"/>
              </a:ext>
            </a:extLst>
          </p:cNvPr>
          <p:cNvSpPr/>
          <p:nvPr/>
        </p:nvSpPr>
        <p:spPr>
          <a:xfrm>
            <a:off x="9500615" y="2423160"/>
            <a:ext cx="1298448" cy="310896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Monitor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39C07D-C041-A489-CFB3-D15ED8204360}"/>
              </a:ext>
            </a:extLst>
          </p:cNvPr>
          <p:cNvSpPr txBox="1"/>
          <p:nvPr/>
        </p:nvSpPr>
        <p:spPr>
          <a:xfrm>
            <a:off x="6190488" y="2889504"/>
            <a:ext cx="4626864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820" b="1">
                <a:solidFill>
                  <a:srgbClr val="1F2A37"/>
                </a:solidFill>
                <a:latin typeface="Aptos"/>
              </a:rPr>
              <a:t>Monitor continuously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858A2-8193-636A-7639-C8C7893450FB}"/>
              </a:ext>
            </a:extLst>
          </p:cNvPr>
          <p:cNvSpPr txBox="1"/>
          <p:nvPr/>
        </p:nvSpPr>
        <p:spPr>
          <a:xfrm>
            <a:off x="6190488" y="3346704"/>
            <a:ext cx="4626864" cy="51206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60" b="0">
                <a:solidFill>
                  <a:srgbClr val="1F2A37"/>
                </a:solidFill>
                <a:latin typeface="Aptos"/>
              </a:rPr>
              <a:t>Build ongoing visibility into AI activity and control performance.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E3C888-6A2F-9A24-24A8-A8D9241ECC73}"/>
              </a:ext>
            </a:extLst>
          </p:cNvPr>
          <p:cNvSpPr/>
          <p:nvPr/>
        </p:nvSpPr>
        <p:spPr>
          <a:xfrm>
            <a:off x="658368" y="4114800"/>
            <a:ext cx="4754880" cy="82296"/>
          </a:xfrm>
          <a:prstGeom prst="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6">
            <a:extLst>
              <a:ext uri="{FF2B5EF4-FFF2-40B4-BE49-F238E27FC236}">
                <a16:creationId xmlns:a16="http://schemas.microsoft.com/office/drawing/2014/main" id="{BEB07561-FE82-2D84-FF11-E7953E4F4E0B}"/>
              </a:ext>
            </a:extLst>
          </p:cNvPr>
          <p:cNvSpPr/>
          <p:nvPr/>
        </p:nvSpPr>
        <p:spPr>
          <a:xfrm>
            <a:off x="676656" y="4389120"/>
            <a:ext cx="146304" cy="146304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35937F-556A-2DB5-29AB-3354FFCCC31F}"/>
              </a:ext>
            </a:extLst>
          </p:cNvPr>
          <p:cNvSpPr txBox="1"/>
          <p:nvPr/>
        </p:nvSpPr>
        <p:spPr>
          <a:xfrm>
            <a:off x="932688" y="4297680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>
                <a:solidFill>
                  <a:srgbClr val="06C4B0"/>
                </a:solidFill>
                <a:latin typeface="Aptos"/>
              </a:rPr>
              <a:t>03  MODEL + HUMAN GUARDRAILS</a:t>
            </a:r>
          </a:p>
        </p:txBody>
      </p:sp>
      <p:sp>
        <p:nvSpPr>
          <p:cNvPr id="57" name="Rounded Rectangle 28">
            <a:extLst>
              <a:ext uri="{FF2B5EF4-FFF2-40B4-BE49-F238E27FC236}">
                <a16:creationId xmlns:a16="http://schemas.microsoft.com/office/drawing/2014/main" id="{5A4FDD8B-3251-1DC9-E237-09DB96521945}"/>
              </a:ext>
            </a:extLst>
          </p:cNvPr>
          <p:cNvSpPr/>
          <p:nvPr/>
        </p:nvSpPr>
        <p:spPr>
          <a:xfrm>
            <a:off x="3986783" y="4270248"/>
            <a:ext cx="1298448" cy="310896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Guardrails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78D469-BF93-549D-8649-B24AAABCBF36}"/>
              </a:ext>
            </a:extLst>
          </p:cNvPr>
          <p:cNvSpPr txBox="1"/>
          <p:nvPr/>
        </p:nvSpPr>
        <p:spPr>
          <a:xfrm>
            <a:off x="676656" y="4736592"/>
            <a:ext cx="4626864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820" b="1">
                <a:solidFill>
                  <a:srgbClr val="1F2A37"/>
                </a:solidFill>
                <a:latin typeface="Aptos"/>
              </a:rPr>
              <a:t>Balance safeguards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66A6D1-EA1A-F720-F5DD-717B81D858D4}"/>
              </a:ext>
            </a:extLst>
          </p:cNvPr>
          <p:cNvSpPr txBox="1"/>
          <p:nvPr/>
        </p:nvSpPr>
        <p:spPr>
          <a:xfrm>
            <a:off x="676656" y="5193792"/>
            <a:ext cx="4626864" cy="51206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60" b="0">
                <a:solidFill>
                  <a:srgbClr val="1F2A37"/>
                </a:solidFill>
                <a:latin typeface="Aptos"/>
              </a:rPr>
              <a:t>Include guardrails for both model outputs and human decision-making.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1D3B33-BF57-2DA0-8915-2409C746A0D3}"/>
              </a:ext>
            </a:extLst>
          </p:cNvPr>
          <p:cNvSpPr/>
          <p:nvPr/>
        </p:nvSpPr>
        <p:spPr>
          <a:xfrm>
            <a:off x="6172200" y="4114800"/>
            <a:ext cx="4754880" cy="82296"/>
          </a:xfrm>
          <a:prstGeom prst="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32">
            <a:extLst>
              <a:ext uri="{FF2B5EF4-FFF2-40B4-BE49-F238E27FC236}">
                <a16:creationId xmlns:a16="http://schemas.microsoft.com/office/drawing/2014/main" id="{0A311B5B-D875-539A-AE24-F7E91F8A0B1D}"/>
              </a:ext>
            </a:extLst>
          </p:cNvPr>
          <p:cNvSpPr/>
          <p:nvPr/>
        </p:nvSpPr>
        <p:spPr>
          <a:xfrm>
            <a:off x="6190488" y="4389120"/>
            <a:ext cx="146304" cy="146304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DEFBA8-D10A-3E42-7DC0-D4A0464F7BDD}"/>
              </a:ext>
            </a:extLst>
          </p:cNvPr>
          <p:cNvSpPr txBox="1"/>
          <p:nvPr/>
        </p:nvSpPr>
        <p:spPr>
          <a:xfrm>
            <a:off x="6446520" y="4297680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>
                <a:solidFill>
                  <a:srgbClr val="FF4E01"/>
                </a:solidFill>
                <a:latin typeface="Aptos"/>
              </a:rPr>
              <a:t>04  INFORMATION QUALITY</a:t>
            </a:r>
          </a:p>
        </p:txBody>
      </p:sp>
      <p:sp>
        <p:nvSpPr>
          <p:cNvPr id="69" name="Rounded Rectangle 34">
            <a:extLst>
              <a:ext uri="{FF2B5EF4-FFF2-40B4-BE49-F238E27FC236}">
                <a16:creationId xmlns:a16="http://schemas.microsoft.com/office/drawing/2014/main" id="{D7E1C7B7-3DF8-FE3E-E973-004F5002066E}"/>
              </a:ext>
            </a:extLst>
          </p:cNvPr>
          <p:cNvSpPr/>
          <p:nvPr/>
        </p:nvSpPr>
        <p:spPr>
          <a:xfrm>
            <a:off x="9500615" y="4270248"/>
            <a:ext cx="1298448" cy="310896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Trace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C85BF7-15CC-D120-4DC2-1A711550CBFE}"/>
              </a:ext>
            </a:extLst>
          </p:cNvPr>
          <p:cNvSpPr txBox="1"/>
          <p:nvPr/>
        </p:nvSpPr>
        <p:spPr>
          <a:xfrm>
            <a:off x="6190488" y="4736592"/>
            <a:ext cx="4626864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820" b="1">
                <a:solidFill>
                  <a:srgbClr val="1F2A37"/>
                </a:solidFill>
                <a:latin typeface="Aptos"/>
              </a:rPr>
              <a:t>Trace inputs and outputs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CABE457-A484-22EE-33C5-350565C83548}"/>
              </a:ext>
            </a:extLst>
          </p:cNvPr>
          <p:cNvSpPr txBox="1"/>
          <p:nvPr/>
        </p:nvSpPr>
        <p:spPr>
          <a:xfrm>
            <a:off x="6190488" y="5193792"/>
            <a:ext cx="4626864" cy="51206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60" b="0">
                <a:solidFill>
                  <a:srgbClr val="1F2A37"/>
                </a:solidFill>
                <a:latin typeface="Aptos"/>
              </a:rPr>
              <a:t>Integrate prompts, outputs, and traceability into information quality practices.</a:t>
            </a:r>
          </a:p>
        </p:txBody>
      </p:sp>
      <p:sp>
        <p:nvSpPr>
          <p:cNvPr id="75" name="Rounded Rectangle 37">
            <a:extLst>
              <a:ext uri="{FF2B5EF4-FFF2-40B4-BE49-F238E27FC236}">
                <a16:creationId xmlns:a16="http://schemas.microsoft.com/office/drawing/2014/main" id="{1BA53BF8-E81C-2E1B-E888-05B9C2B8496C}"/>
              </a:ext>
            </a:extLst>
          </p:cNvPr>
          <p:cNvSpPr/>
          <p:nvPr/>
        </p:nvSpPr>
        <p:spPr>
          <a:xfrm>
            <a:off x="658368" y="6108192"/>
            <a:ext cx="10085832" cy="384048"/>
          </a:xfrm>
          <a:prstGeom prst="roundRect">
            <a:avLst/>
          </a:prstGeom>
          <a:solidFill>
            <a:srgbClr val="B4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/>
            <a:endParaRPr sz="1450" b="1">
              <a:solidFill>
                <a:srgbClr val="0A8C7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7275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11BCB0-0356-0CAC-AACE-371D3ACBB6D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71023-9583-3BB3-8D87-252DFE77CE58}"/>
              </a:ext>
            </a:extLst>
          </p:cNvPr>
          <p:cNvSpPr/>
          <p:nvPr/>
        </p:nvSpPr>
        <p:spPr>
          <a:xfrm>
            <a:off x="34747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680BA-0C0B-9BCC-52EC-0274258C2776}"/>
              </a:ext>
            </a:extLst>
          </p:cNvPr>
          <p:cNvSpPr/>
          <p:nvPr/>
        </p:nvSpPr>
        <p:spPr>
          <a:xfrm>
            <a:off x="96926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CEA3A-4C76-55DF-B70C-CDBB53B98312}"/>
              </a:ext>
            </a:extLst>
          </p:cNvPr>
          <p:cNvSpPr/>
          <p:nvPr/>
        </p:nvSpPr>
        <p:spPr>
          <a:xfrm>
            <a:off x="1591056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C3990A-3415-40D3-FBBD-4CD73BCC2941}"/>
              </a:ext>
            </a:extLst>
          </p:cNvPr>
          <p:cNvSpPr/>
          <p:nvPr/>
        </p:nvSpPr>
        <p:spPr>
          <a:xfrm>
            <a:off x="2212848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3DD73D-788D-6635-1C32-37A5D4E5B038}"/>
              </a:ext>
            </a:extLst>
          </p:cNvPr>
          <p:cNvSpPr/>
          <p:nvPr/>
        </p:nvSpPr>
        <p:spPr>
          <a:xfrm>
            <a:off x="2834640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50F1A-2810-D1D3-422C-3A33CAE270C2}"/>
              </a:ext>
            </a:extLst>
          </p:cNvPr>
          <p:cNvSpPr/>
          <p:nvPr/>
        </p:nvSpPr>
        <p:spPr>
          <a:xfrm>
            <a:off x="345643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F5F084-3F30-AE6C-2740-C3625BDABDCA}"/>
              </a:ext>
            </a:extLst>
          </p:cNvPr>
          <p:cNvSpPr/>
          <p:nvPr/>
        </p:nvSpPr>
        <p:spPr>
          <a:xfrm>
            <a:off x="407822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956A2E-03CA-7AE6-6161-3DFB510A1CEC}"/>
              </a:ext>
            </a:extLst>
          </p:cNvPr>
          <p:cNvSpPr txBox="1"/>
          <p:nvPr/>
        </p:nvSpPr>
        <p:spPr>
          <a:xfrm>
            <a:off x="347472" y="713232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800" b="1">
                <a:solidFill>
                  <a:srgbClr val="16182F"/>
                </a:solidFill>
                <a:latin typeface="Aptos Display"/>
              </a:rPr>
              <a:t>AI Risk </a:t>
            </a:r>
            <a:r>
              <a:rPr lang="en-CA" sz="2800" b="1">
                <a:solidFill>
                  <a:srgbClr val="16182F"/>
                </a:solidFill>
                <a:latin typeface="Aptos Display"/>
              </a:rPr>
              <a:t> </a:t>
            </a:r>
            <a:r>
              <a:rPr sz="2800" b="1">
                <a:solidFill>
                  <a:srgbClr val="16182F"/>
                </a:solidFill>
                <a:latin typeface="Aptos Display"/>
              </a:rPr>
              <a:t>– Top 10 Taxonomy Categories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12192-1B18-0EEF-68E2-CF3D663F5A7D}"/>
              </a:ext>
            </a:extLst>
          </p:cNvPr>
          <p:cNvSpPr txBox="1"/>
          <p:nvPr/>
        </p:nvSpPr>
        <p:spPr>
          <a:xfrm>
            <a:off x="475488" y="1280160"/>
            <a:ext cx="1083564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lang="en-US" sz="1500" b="0">
                <a:solidFill>
                  <a:srgbClr val="5A6573"/>
                </a:solidFill>
                <a:latin typeface="Aptos"/>
              </a:rPr>
              <a:t>A modern table view of where AI risk concentrates, with Tier 1 items clearly separated from the broader Tier 2 watchlist.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2EAF157B-586F-25F1-A0B9-DBEA94A4CBE2}"/>
              </a:ext>
            </a:extLst>
          </p:cNvPr>
          <p:cNvSpPr/>
          <p:nvPr/>
        </p:nvSpPr>
        <p:spPr>
          <a:xfrm>
            <a:off x="475488" y="1719072"/>
            <a:ext cx="2331720" cy="347472"/>
          </a:xfrm>
          <a:prstGeom prst="roundRect">
            <a:avLst/>
          </a:prstGeom>
          <a:solidFill>
            <a:srgbClr val="FF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3  Tier 1 — Very High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971408DA-8776-3CAA-FB2F-C33D12D0963C}"/>
              </a:ext>
            </a:extLst>
          </p:cNvPr>
          <p:cNvSpPr/>
          <p:nvPr/>
        </p:nvSpPr>
        <p:spPr>
          <a:xfrm>
            <a:off x="2926080" y="1719072"/>
            <a:ext cx="1965960" cy="347472"/>
          </a:xfrm>
          <a:prstGeom prst="roundRect">
            <a:avLst/>
          </a:prstGeom>
          <a:solidFill>
            <a:srgbClr val="D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/>
            <a:r>
              <a:rPr sz="1400" b="1">
                <a:solidFill>
                  <a:srgbClr val="0A8C7D"/>
                </a:solidFill>
                <a:latin typeface="Aptos"/>
              </a:rPr>
              <a:t>7  Tier 2 — High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D6D074-0E04-722E-EFFE-A7077A86CD06}"/>
              </a:ext>
            </a:extLst>
          </p:cNvPr>
          <p:cNvSpPr txBox="1"/>
          <p:nvPr/>
        </p:nvSpPr>
        <p:spPr>
          <a:xfrm>
            <a:off x="8229600" y="1764792"/>
            <a:ext cx="3035808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lang="en-US" sz="1400" b="1">
                <a:solidFill>
                  <a:srgbClr val="5A6573"/>
                </a:solidFill>
                <a:latin typeface="Aptos"/>
              </a:rPr>
              <a:t>Prioritize governance, data, and cyber controls first.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E97FF22-B7A8-0C68-F72C-959EFB183185}"/>
              </a:ext>
            </a:extLst>
          </p:cNvPr>
          <p:cNvGraphicFramePr>
            <a:graphicFrameLocks noGrp="1"/>
          </p:cNvGraphicFramePr>
          <p:nvPr/>
        </p:nvGraphicFramePr>
        <p:xfrm>
          <a:off x="475488" y="2212848"/>
          <a:ext cx="11228832" cy="4407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FFFFFF"/>
                          </a:solidFill>
                          <a:latin typeface="Aptos"/>
                        </a:rPr>
                        <a:t>Taxonomy Category</a:t>
                      </a:r>
                    </a:p>
                  </a:txBody>
                  <a:tcPr marL="73152" marR="73152" marT="18288" marB="18288">
                    <a:solidFill>
                      <a:srgbClr val="0058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FFFFFF"/>
                          </a:solidFill>
                          <a:latin typeface="Aptos"/>
                        </a:rPr>
                        <a:t>Key AI Risk</a:t>
                      </a:r>
                    </a:p>
                  </a:txBody>
                  <a:tcPr marL="73152" marR="73152" marT="18288" marB="18288">
                    <a:solidFill>
                      <a:srgbClr val="0058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FFFFFF"/>
                          </a:solidFill>
                          <a:latin typeface="Aptos"/>
                        </a:rPr>
                        <a:t>Inherent Risk Rating</a:t>
                      </a:r>
                    </a:p>
                  </a:txBody>
                  <a:tcPr marL="73152" marR="73152" marT="18288" marB="18288">
                    <a:solidFill>
                      <a:srgbClr val="0058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Governance &amp; Strategic Planning</a:t>
                      </a:r>
                    </a:p>
                  </a:txBody>
                  <a:tcPr marL="73152" marR="73152" marT="18288" marB="18288"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Fragmented AI governance and accountability</a:t>
                      </a:r>
                    </a:p>
                  </a:txBody>
                  <a:tcPr marL="73152" marR="73152" marT="18288" marB="18288"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Tier 1 — Very High</a:t>
                      </a:r>
                    </a:p>
                  </a:txBody>
                  <a:tcPr marL="73152" marR="73152" marT="18288" marB="18288">
                    <a:solidFill>
                      <a:srgbClr val="FF4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Data / Regulatory Compliance</a:t>
                      </a:r>
                    </a:p>
                  </a:txBody>
                  <a:tcPr marL="73152" marR="73152" marT="18288" marB="18288"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Sensitive data handling and privacy obligations</a:t>
                      </a:r>
                    </a:p>
                  </a:txBody>
                  <a:tcPr marL="73152" marR="73152" marT="18288" marB="18288"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Tier 1 — Very High</a:t>
                      </a:r>
                    </a:p>
                  </a:txBody>
                  <a:tcPr marL="73152" marR="73152" marT="18288" marB="18288">
                    <a:solidFill>
                      <a:srgbClr val="FF4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Cyber</a:t>
                      </a:r>
                    </a:p>
                  </a:txBody>
                  <a:tcPr marL="73152" marR="73152" marT="18288" marB="18288"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AI-driven threats and data compromise</a:t>
                      </a:r>
                    </a:p>
                  </a:txBody>
                  <a:tcPr marL="73152" marR="73152" marT="18288" marB="18288"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Tier 1 — Very High</a:t>
                      </a:r>
                    </a:p>
                  </a:txBody>
                  <a:tcPr marL="73152" marR="73152" marT="18288" marB="18288">
                    <a:solidFill>
                      <a:srgbClr val="FF4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Regulatory Compliance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Non-compliance with evolving AI laws and policies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A8C7D"/>
                          </a:solidFill>
                          <a:latin typeface="Aptos"/>
                        </a:rPr>
                        <a:t>Tier 2 — High</a:t>
                      </a:r>
                    </a:p>
                  </a:txBody>
                  <a:tcPr marL="73152" marR="73152" marT="18288" marB="18288">
                    <a:solidFill>
                      <a:srgbClr val="D8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73152" marR="73152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Unreliable AI outputs: bias, hallucinations, drift</a:t>
                      </a:r>
                    </a:p>
                  </a:txBody>
                  <a:tcPr marL="73152" marR="73152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A8C7D"/>
                          </a:solidFill>
                          <a:latin typeface="Aptos"/>
                        </a:rPr>
                        <a:t>Tier 2 — High</a:t>
                      </a:r>
                    </a:p>
                  </a:txBody>
                  <a:tcPr marL="73152" marR="73152" marT="18288" marB="18288">
                    <a:solidFill>
                      <a:srgbClr val="D8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Trust &amp; Credibility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Loss of public trust from opaque or inappropriate use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A8C7D"/>
                          </a:solidFill>
                          <a:latin typeface="Aptos"/>
                        </a:rPr>
                        <a:t>Tier 2 — High</a:t>
                      </a:r>
                    </a:p>
                  </a:txBody>
                  <a:tcPr marL="73152" marR="73152" marT="18288" marB="18288">
                    <a:solidFill>
                      <a:srgbClr val="D8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Third Party</a:t>
                      </a:r>
                    </a:p>
                  </a:txBody>
                  <a:tcPr marL="73152" marR="73152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Risk from external AI vendors and tools</a:t>
                      </a:r>
                    </a:p>
                  </a:txBody>
                  <a:tcPr marL="73152" marR="73152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A8C7D"/>
                          </a:solidFill>
                          <a:latin typeface="Aptos"/>
                        </a:rPr>
                        <a:t>Tier 2 — High</a:t>
                      </a:r>
                    </a:p>
                  </a:txBody>
                  <a:tcPr marL="73152" marR="73152" marT="18288" marB="18288">
                    <a:solidFill>
                      <a:srgbClr val="D8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Conduct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Misuse of AI by staff or non-compliant behavior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A8C7D"/>
                          </a:solidFill>
                          <a:latin typeface="Aptos"/>
                        </a:rPr>
                        <a:t>Tier 2 — High</a:t>
                      </a:r>
                    </a:p>
                  </a:txBody>
                  <a:tcPr marL="73152" marR="73152" marT="18288" marB="18288">
                    <a:solidFill>
                      <a:srgbClr val="D8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People / Workforce &amp; Culture</a:t>
                      </a:r>
                    </a:p>
                  </a:txBody>
                  <a:tcPr marL="73152" marR="73152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Insufficient AI skills, awareness, and readiness</a:t>
                      </a:r>
                    </a:p>
                  </a:txBody>
                  <a:tcPr marL="73152" marR="73152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A8C7D"/>
                          </a:solidFill>
                          <a:latin typeface="Aptos"/>
                        </a:rPr>
                        <a:t>Tier 2 — High</a:t>
                      </a:r>
                    </a:p>
                  </a:txBody>
                  <a:tcPr marL="73152" marR="73152" marT="18288" marB="18288">
                    <a:solidFill>
                      <a:srgbClr val="D8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Technology / Recovery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Weak monitoring, resilience, or recovery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A8C7D"/>
                          </a:solidFill>
                          <a:latin typeface="Aptos"/>
                        </a:rPr>
                        <a:t>Tier 2 — High</a:t>
                      </a:r>
                    </a:p>
                  </a:txBody>
                  <a:tcPr marL="73152" marR="73152" marT="18288" marB="18288">
                    <a:solidFill>
                      <a:srgbClr val="D8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45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27183BF-92F2-BE52-ECEE-760A90240680}"/>
              </a:ext>
            </a:extLst>
          </p:cNvPr>
          <p:cNvSpPr txBox="1">
            <a:spLocks/>
          </p:cNvSpPr>
          <p:nvPr/>
        </p:nvSpPr>
        <p:spPr>
          <a:xfrm>
            <a:off x="420624" y="341532"/>
            <a:ext cx="11473904" cy="97200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>
                <a:solidFill>
                  <a:srgbClr val="002856"/>
                </a:solidFill>
              </a:rPr>
              <a:t>AI Governance Oversight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FB1C22A-2760-5244-1446-971FB552550C}"/>
              </a:ext>
            </a:extLst>
          </p:cNvPr>
          <p:cNvSpPr txBox="1">
            <a:spLocks/>
          </p:cNvSpPr>
          <p:nvPr/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6C39CE-BFB6-4B5C-A3F2-F05151101EA7}" type="slidenum">
              <a:rPr lang="en-CA" sz="1100" smtClean="0"/>
              <a:pPr/>
              <a:t>4</a:t>
            </a:fld>
            <a:endParaRPr lang="en-CA" sz="11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F0AD4-EEA3-DED6-3C1D-B7C1F41F2392}"/>
              </a:ext>
            </a:extLst>
          </p:cNvPr>
          <p:cNvSpPr/>
          <p:nvPr/>
        </p:nvSpPr>
        <p:spPr>
          <a:xfrm>
            <a:off x="448056" y="1335024"/>
            <a:ext cx="713232" cy="41148"/>
          </a:xfrm>
          <a:prstGeom prst="rect">
            <a:avLst/>
          </a:prstGeom>
          <a:solidFill>
            <a:srgbClr val="FF4E01"/>
          </a:solidFill>
          <a:ln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419AA-5B26-C3BB-21EF-662C0148A8EE}"/>
              </a:ext>
            </a:extLst>
          </p:cNvPr>
          <p:cNvSpPr txBox="1"/>
          <p:nvPr/>
        </p:nvSpPr>
        <p:spPr>
          <a:xfrm>
            <a:off x="1261872" y="1234440"/>
            <a:ext cx="6492240" cy="292608"/>
          </a:xfrm>
          <a:prstGeom prst="rect">
            <a:avLst/>
          </a:prstGeom>
          <a:noFill/>
        </p:spPr>
        <p:txBody>
          <a:bodyPr wrap="square" lIns="18288" tIns="1828" rIns="18288" bIns="1828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600" b="0">
                <a:solidFill>
                  <a:srgbClr val="181B33"/>
                </a:solidFill>
                <a:latin typeface="Open Sans"/>
              </a:rPr>
              <a:t>Accountability spine, operating network, and escalation paths</a:t>
            </a:r>
          </a:p>
        </p:txBody>
      </p:sp>
      <p:cxnSp>
        <p:nvCxnSpPr>
          <p:cNvPr id="6" name="Connector 68">
            <a:extLst>
              <a:ext uri="{FF2B5EF4-FFF2-40B4-BE49-F238E27FC236}">
                <a16:creationId xmlns:a16="http://schemas.microsoft.com/office/drawing/2014/main" id="{864F0865-B061-84DD-F59E-F843FB71F6C0}"/>
              </a:ext>
            </a:extLst>
          </p:cNvPr>
          <p:cNvCxnSpPr/>
          <p:nvPr/>
        </p:nvCxnSpPr>
        <p:spPr>
          <a:xfrm>
            <a:off x="8028431" y="1353312"/>
            <a:ext cx="0" cy="4700016"/>
          </a:xfrm>
          <a:prstGeom prst="line">
            <a:avLst/>
          </a:prstGeom>
          <a:ln w="12700">
            <a:solidFill>
              <a:srgbClr val="B2BE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9">
            <a:extLst>
              <a:ext uri="{FF2B5EF4-FFF2-40B4-BE49-F238E27FC236}">
                <a16:creationId xmlns:a16="http://schemas.microsoft.com/office/drawing/2014/main" id="{BFE9E7F3-F9E5-BD4E-FE1E-78DDC23CBCFD}"/>
              </a:ext>
            </a:extLst>
          </p:cNvPr>
          <p:cNvCxnSpPr/>
          <p:nvPr/>
        </p:nvCxnSpPr>
        <p:spPr>
          <a:xfrm flipV="1">
            <a:off x="4069080" y="3493008"/>
            <a:ext cx="0" cy="475488"/>
          </a:xfrm>
          <a:prstGeom prst="line">
            <a:avLst/>
          </a:prstGeom>
          <a:ln w="13970">
            <a:solidFill>
              <a:srgbClr val="0028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2">
            <a:extLst>
              <a:ext uri="{FF2B5EF4-FFF2-40B4-BE49-F238E27FC236}">
                <a16:creationId xmlns:a16="http://schemas.microsoft.com/office/drawing/2014/main" id="{F9663FBF-BC6B-A3BC-4E81-8EECA3E412ED}"/>
              </a:ext>
            </a:extLst>
          </p:cNvPr>
          <p:cNvCxnSpPr/>
          <p:nvPr/>
        </p:nvCxnSpPr>
        <p:spPr>
          <a:xfrm flipH="1">
            <a:off x="1536192" y="3968496"/>
            <a:ext cx="2532888" cy="0"/>
          </a:xfrm>
          <a:prstGeom prst="line">
            <a:avLst/>
          </a:prstGeom>
          <a:ln w="13970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73">
            <a:extLst>
              <a:ext uri="{FF2B5EF4-FFF2-40B4-BE49-F238E27FC236}">
                <a16:creationId xmlns:a16="http://schemas.microsoft.com/office/drawing/2014/main" id="{6E88F518-B505-E094-CFF1-AF1F47170E96}"/>
              </a:ext>
            </a:extLst>
          </p:cNvPr>
          <p:cNvCxnSpPr/>
          <p:nvPr/>
        </p:nvCxnSpPr>
        <p:spPr>
          <a:xfrm>
            <a:off x="4069080" y="3968496"/>
            <a:ext cx="2377440" cy="0"/>
          </a:xfrm>
          <a:prstGeom prst="line">
            <a:avLst/>
          </a:prstGeom>
          <a:ln w="13970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4">
            <a:extLst>
              <a:ext uri="{FF2B5EF4-FFF2-40B4-BE49-F238E27FC236}">
                <a16:creationId xmlns:a16="http://schemas.microsoft.com/office/drawing/2014/main" id="{ACD9595F-48EA-6B5D-8C81-5C078B5735AC}"/>
              </a:ext>
            </a:extLst>
          </p:cNvPr>
          <p:cNvCxnSpPr/>
          <p:nvPr/>
        </p:nvCxnSpPr>
        <p:spPr>
          <a:xfrm>
            <a:off x="1536192" y="3968496"/>
            <a:ext cx="0" cy="109728"/>
          </a:xfrm>
          <a:prstGeom prst="line">
            <a:avLst/>
          </a:prstGeom>
          <a:ln w="13970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75">
            <a:extLst>
              <a:ext uri="{FF2B5EF4-FFF2-40B4-BE49-F238E27FC236}">
                <a16:creationId xmlns:a16="http://schemas.microsoft.com/office/drawing/2014/main" id="{3348AA70-18A9-9A89-0182-96F1F7878526}"/>
              </a:ext>
            </a:extLst>
          </p:cNvPr>
          <p:cNvCxnSpPr>
            <a:cxnSpLocks/>
          </p:cNvCxnSpPr>
          <p:nvPr/>
        </p:nvCxnSpPr>
        <p:spPr>
          <a:xfrm>
            <a:off x="4069079" y="3993150"/>
            <a:ext cx="0" cy="142289"/>
          </a:xfrm>
          <a:prstGeom prst="line">
            <a:avLst/>
          </a:prstGeom>
          <a:ln w="13970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76">
            <a:extLst>
              <a:ext uri="{FF2B5EF4-FFF2-40B4-BE49-F238E27FC236}">
                <a16:creationId xmlns:a16="http://schemas.microsoft.com/office/drawing/2014/main" id="{38D3DBC0-00E6-C237-4A3C-84DC7B1BD8E5}"/>
              </a:ext>
            </a:extLst>
          </p:cNvPr>
          <p:cNvCxnSpPr/>
          <p:nvPr/>
        </p:nvCxnSpPr>
        <p:spPr>
          <a:xfrm>
            <a:off x="6446520" y="3968496"/>
            <a:ext cx="0" cy="109728"/>
          </a:xfrm>
          <a:prstGeom prst="line">
            <a:avLst/>
          </a:prstGeom>
          <a:ln w="13970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77">
            <a:extLst>
              <a:ext uri="{FF2B5EF4-FFF2-40B4-BE49-F238E27FC236}">
                <a16:creationId xmlns:a16="http://schemas.microsoft.com/office/drawing/2014/main" id="{0A8D3120-7F6C-2B88-7EC3-A2AB37332393}"/>
              </a:ext>
            </a:extLst>
          </p:cNvPr>
          <p:cNvCxnSpPr/>
          <p:nvPr/>
        </p:nvCxnSpPr>
        <p:spPr>
          <a:xfrm>
            <a:off x="2331720" y="5047488"/>
            <a:ext cx="612648" cy="0"/>
          </a:xfrm>
          <a:prstGeom prst="line">
            <a:avLst/>
          </a:prstGeom>
          <a:ln w="13970">
            <a:solidFill>
              <a:srgbClr val="0028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78">
            <a:extLst>
              <a:ext uri="{FF2B5EF4-FFF2-40B4-BE49-F238E27FC236}">
                <a16:creationId xmlns:a16="http://schemas.microsoft.com/office/drawing/2014/main" id="{56153844-99C4-07B8-4B48-96C9E1386B54}"/>
              </a:ext>
            </a:extLst>
          </p:cNvPr>
          <p:cNvSpPr/>
          <p:nvPr/>
        </p:nvSpPr>
        <p:spPr>
          <a:xfrm>
            <a:off x="3236976" y="1700784"/>
            <a:ext cx="1664208" cy="402336"/>
          </a:xfrm>
          <a:prstGeom prst="roundRect">
            <a:avLst/>
          </a:prstGeom>
          <a:solidFill>
            <a:srgbClr val="B4EDE7"/>
          </a:solidFill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500" b="0">
                <a:solidFill>
                  <a:schemeClr val="tx1"/>
                </a:solidFill>
                <a:latin typeface="Open Sans"/>
              </a:rPr>
              <a:t>BoC Board</a:t>
            </a:r>
            <a:endParaRPr sz="1500" b="0">
              <a:solidFill>
                <a:schemeClr val="tx1"/>
              </a:solidFill>
              <a:latin typeface="Open Sans"/>
            </a:endParaRPr>
          </a:p>
        </p:txBody>
      </p:sp>
      <p:sp>
        <p:nvSpPr>
          <p:cNvPr id="15" name="Rounded Rectangle 79">
            <a:extLst>
              <a:ext uri="{FF2B5EF4-FFF2-40B4-BE49-F238E27FC236}">
                <a16:creationId xmlns:a16="http://schemas.microsoft.com/office/drawing/2014/main" id="{2FF0FD53-4B4C-9306-D5AF-942E36E98013}"/>
              </a:ext>
            </a:extLst>
          </p:cNvPr>
          <p:cNvSpPr/>
          <p:nvPr/>
        </p:nvSpPr>
        <p:spPr>
          <a:xfrm>
            <a:off x="3236976" y="2304288"/>
            <a:ext cx="1664208" cy="402336"/>
          </a:xfrm>
          <a:prstGeom prst="roundRect">
            <a:avLst/>
          </a:prstGeom>
          <a:solidFill>
            <a:srgbClr val="B4EDE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500" b="0">
                <a:solidFill>
                  <a:schemeClr val="tx1"/>
                </a:solidFill>
                <a:latin typeface="Open Sans"/>
              </a:rPr>
              <a:t>EC</a:t>
            </a:r>
            <a:endParaRPr sz="1500" b="0">
              <a:solidFill>
                <a:schemeClr val="tx1"/>
              </a:solidFill>
              <a:latin typeface="Open Sans"/>
            </a:endParaRPr>
          </a:p>
        </p:txBody>
      </p:sp>
      <p:sp>
        <p:nvSpPr>
          <p:cNvPr id="16" name="Rounded Rectangle 80">
            <a:extLst>
              <a:ext uri="{FF2B5EF4-FFF2-40B4-BE49-F238E27FC236}">
                <a16:creationId xmlns:a16="http://schemas.microsoft.com/office/drawing/2014/main" id="{2EFE1825-0B0D-F546-82B7-31063AB690F6}"/>
              </a:ext>
            </a:extLst>
          </p:cNvPr>
          <p:cNvSpPr/>
          <p:nvPr/>
        </p:nvSpPr>
        <p:spPr>
          <a:xfrm>
            <a:off x="2761487" y="2904588"/>
            <a:ext cx="2615184" cy="585216"/>
          </a:xfrm>
          <a:prstGeom prst="roundRect">
            <a:avLst/>
          </a:prstGeom>
          <a:solidFill>
            <a:srgbClr val="002856"/>
          </a:solidFill>
          <a:ln w="12700">
            <a:solidFill>
              <a:srgbClr val="002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600" b="1">
                <a:solidFill>
                  <a:srgbClr val="FFFFFF"/>
                </a:solidFill>
                <a:latin typeface="Poppins SemiBold"/>
              </a:rPr>
              <a:t>AI Advisory</a:t>
            </a:r>
          </a:p>
          <a:p>
            <a:pPr algn="ctr">
              <a:spcAft>
                <a:spcPts val="0"/>
              </a:spcAft>
            </a:pPr>
            <a:r>
              <a:rPr lang="en-CA" sz="1600" b="1">
                <a:solidFill>
                  <a:srgbClr val="FFFFFF"/>
                </a:solidFill>
                <a:latin typeface="Poppins SemiBold"/>
              </a:rPr>
              <a:t>Committee</a:t>
            </a:r>
          </a:p>
        </p:txBody>
      </p:sp>
      <p:sp>
        <p:nvSpPr>
          <p:cNvPr id="17" name="Rounded Rectangle 81">
            <a:extLst>
              <a:ext uri="{FF2B5EF4-FFF2-40B4-BE49-F238E27FC236}">
                <a16:creationId xmlns:a16="http://schemas.microsoft.com/office/drawing/2014/main" id="{2CDCBEAF-8D3A-341E-9C50-819643588784}"/>
              </a:ext>
            </a:extLst>
          </p:cNvPr>
          <p:cNvSpPr/>
          <p:nvPr/>
        </p:nvSpPr>
        <p:spPr>
          <a:xfrm>
            <a:off x="603504" y="4123944"/>
            <a:ext cx="7424927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A0E47F-90CB-2BC5-90BC-C4D5BE059778}"/>
              </a:ext>
            </a:extLst>
          </p:cNvPr>
          <p:cNvSpPr txBox="1">
            <a:spLocks/>
          </p:cNvSpPr>
          <p:nvPr/>
        </p:nvSpPr>
        <p:spPr>
          <a:xfrm>
            <a:off x="822960" y="4096512"/>
            <a:ext cx="2148840" cy="256032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002856"/>
                </a:solidFill>
                <a:latin typeface="Poppins SemiBold"/>
              </a:rPr>
              <a:t>OPERATING FUNCTIONS</a:t>
            </a:r>
          </a:p>
        </p:txBody>
      </p:sp>
      <p:cxnSp>
        <p:nvCxnSpPr>
          <p:cNvPr id="19" name="Connector 83">
            <a:extLst>
              <a:ext uri="{FF2B5EF4-FFF2-40B4-BE49-F238E27FC236}">
                <a16:creationId xmlns:a16="http://schemas.microsoft.com/office/drawing/2014/main" id="{59E2847E-3DA9-9E94-80E2-1E14958516AE}"/>
              </a:ext>
            </a:extLst>
          </p:cNvPr>
          <p:cNvCxnSpPr/>
          <p:nvPr/>
        </p:nvCxnSpPr>
        <p:spPr>
          <a:xfrm>
            <a:off x="2697480" y="4370832"/>
            <a:ext cx="0" cy="1225296"/>
          </a:xfrm>
          <a:prstGeom prst="line">
            <a:avLst/>
          </a:prstGeom>
          <a:ln w="1270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84">
            <a:extLst>
              <a:ext uri="{FF2B5EF4-FFF2-40B4-BE49-F238E27FC236}">
                <a16:creationId xmlns:a16="http://schemas.microsoft.com/office/drawing/2014/main" id="{7C845EC7-E913-C45C-B5D1-C38E126D14FF}"/>
              </a:ext>
            </a:extLst>
          </p:cNvPr>
          <p:cNvCxnSpPr/>
          <p:nvPr/>
        </p:nvCxnSpPr>
        <p:spPr>
          <a:xfrm>
            <a:off x="4681728" y="4370832"/>
            <a:ext cx="0" cy="1225296"/>
          </a:xfrm>
          <a:prstGeom prst="line">
            <a:avLst/>
          </a:prstGeom>
          <a:ln w="1270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763482-8EB0-557D-62BE-C30EC703FF6F}"/>
              </a:ext>
            </a:extLst>
          </p:cNvPr>
          <p:cNvSpPr txBox="1">
            <a:spLocks/>
          </p:cNvSpPr>
          <p:nvPr/>
        </p:nvSpPr>
        <p:spPr>
          <a:xfrm>
            <a:off x="713232" y="4462272"/>
            <a:ext cx="1719072" cy="256032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800" b="1">
                <a:solidFill>
                  <a:srgbClr val="002856"/>
                </a:solidFill>
                <a:latin typeface="Poppins SemiBold"/>
              </a:rPr>
              <a:t>Vulnerability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3C1B6F-EA9D-3683-9D3D-533C01CF5BFD}"/>
              </a:ext>
            </a:extLst>
          </p:cNvPr>
          <p:cNvSpPr txBox="1">
            <a:spLocks/>
          </p:cNvSpPr>
          <p:nvPr/>
        </p:nvSpPr>
        <p:spPr>
          <a:xfrm>
            <a:off x="713232" y="4736592"/>
            <a:ext cx="1719072" cy="228600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600" b="0">
                <a:solidFill>
                  <a:srgbClr val="181B33"/>
                </a:solidFill>
                <a:latin typeface="Open Sans"/>
              </a:rPr>
              <a:t>ITS-DMD</a:t>
            </a:r>
          </a:p>
        </p:txBody>
      </p:sp>
      <p:sp>
        <p:nvSpPr>
          <p:cNvPr id="23" name="Rounded Rectangle 87">
            <a:extLst>
              <a:ext uri="{FF2B5EF4-FFF2-40B4-BE49-F238E27FC236}">
                <a16:creationId xmlns:a16="http://schemas.microsoft.com/office/drawing/2014/main" id="{CE9ED1CA-D3A1-68DC-1716-FB5855CC9AE8}"/>
              </a:ext>
            </a:extLst>
          </p:cNvPr>
          <p:cNvSpPr/>
          <p:nvPr/>
        </p:nvSpPr>
        <p:spPr>
          <a:xfrm>
            <a:off x="877824" y="5193792"/>
            <a:ext cx="1408176" cy="38404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ITS-Cyber</a:t>
            </a:r>
          </a:p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Teams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2297D-0877-4EE9-C8B1-72D855F9D3BD}"/>
              </a:ext>
            </a:extLst>
          </p:cNvPr>
          <p:cNvSpPr txBox="1"/>
          <p:nvPr/>
        </p:nvSpPr>
        <p:spPr>
          <a:xfrm>
            <a:off x="2779776" y="4407408"/>
            <a:ext cx="1792224" cy="420624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600" b="1">
                <a:solidFill>
                  <a:srgbClr val="002856"/>
                </a:solidFill>
                <a:latin typeface="Poppins SemiBold"/>
              </a:rPr>
              <a:t>AI</a:t>
            </a:r>
          </a:p>
          <a:p>
            <a:pPr algn="ctr">
              <a:spcAft>
                <a:spcPts val="0"/>
              </a:spcAft>
            </a:pPr>
            <a:r>
              <a:rPr lang="en-CA" sz="1600" b="1">
                <a:solidFill>
                  <a:srgbClr val="002856"/>
                </a:solidFill>
                <a:latin typeface="Poppins SemiBold"/>
              </a:rPr>
              <a:t>Enablement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81044A-1DFF-EC4E-1980-1A84798CB51B}"/>
              </a:ext>
            </a:extLst>
          </p:cNvPr>
          <p:cNvSpPr txBox="1"/>
          <p:nvPr/>
        </p:nvSpPr>
        <p:spPr>
          <a:xfrm>
            <a:off x="2944368" y="4828032"/>
            <a:ext cx="1463040" cy="228600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600" b="0">
                <a:solidFill>
                  <a:srgbClr val="181B33"/>
                </a:solidFill>
                <a:latin typeface="Open Sans"/>
              </a:rPr>
              <a:t>DDS-DMD</a:t>
            </a:r>
            <a:endParaRPr sz="1600" b="0">
              <a:solidFill>
                <a:srgbClr val="004F71"/>
              </a:solidFill>
              <a:latin typeface="Open Sans"/>
            </a:endParaRPr>
          </a:p>
        </p:txBody>
      </p:sp>
      <p:sp>
        <p:nvSpPr>
          <p:cNvPr id="26" name="Rounded Rectangle 90">
            <a:extLst>
              <a:ext uri="{FF2B5EF4-FFF2-40B4-BE49-F238E27FC236}">
                <a16:creationId xmlns:a16="http://schemas.microsoft.com/office/drawing/2014/main" id="{DE0723A2-6426-DE6F-5D3B-C1FF53EF712A}"/>
              </a:ext>
            </a:extLst>
          </p:cNvPr>
          <p:cNvSpPr/>
          <p:nvPr/>
        </p:nvSpPr>
        <p:spPr>
          <a:xfrm>
            <a:off x="2944368" y="5248656"/>
            <a:ext cx="1481328" cy="384048"/>
          </a:xfrm>
          <a:prstGeom prst="roundRect">
            <a:avLst/>
          </a:prstGeom>
          <a:solidFill>
            <a:srgbClr val="FF4E01"/>
          </a:solidFill>
          <a:ln w="762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FFFFFF"/>
                </a:solidFill>
                <a:latin typeface="Open Sans"/>
              </a:rPr>
              <a:t>DDS </a:t>
            </a:r>
            <a:r>
              <a:rPr sz="1400" b="0">
                <a:solidFill>
                  <a:srgbClr val="FFFFFF"/>
                </a:solidFill>
                <a:latin typeface="Open Sans"/>
              </a:rPr>
              <a:t>Teams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823FCE-484D-E947-D252-6DC19044064E}"/>
              </a:ext>
            </a:extLst>
          </p:cNvPr>
          <p:cNvSpPr txBox="1"/>
          <p:nvPr/>
        </p:nvSpPr>
        <p:spPr>
          <a:xfrm>
            <a:off x="4956048" y="4462272"/>
            <a:ext cx="2670048" cy="256032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800" b="1">
                <a:solidFill>
                  <a:srgbClr val="002856"/>
                </a:solidFill>
                <a:latin typeface="Poppins SemiBold"/>
              </a:rPr>
              <a:t>Risk Alignment</a:t>
            </a:r>
            <a:endParaRPr sz="1800" b="1">
              <a:solidFill>
                <a:srgbClr val="004F71"/>
              </a:solidFill>
              <a:latin typeface="Poppins SemiBol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1BA092-EADB-7107-70EC-192756CD2F9E}"/>
              </a:ext>
            </a:extLst>
          </p:cNvPr>
          <p:cNvSpPr txBox="1"/>
          <p:nvPr/>
        </p:nvSpPr>
        <p:spPr>
          <a:xfrm>
            <a:off x="5513832" y="4736592"/>
            <a:ext cx="1554480" cy="228600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600" b="0">
                <a:solidFill>
                  <a:srgbClr val="181B33"/>
                </a:solidFill>
                <a:latin typeface="Open Sans"/>
              </a:rPr>
              <a:t>SOs</a:t>
            </a:r>
            <a:endParaRPr sz="1600" b="0">
              <a:solidFill>
                <a:srgbClr val="004F71"/>
              </a:solidFill>
              <a:latin typeface="Open Sans"/>
            </a:endParaRPr>
          </a:p>
        </p:txBody>
      </p:sp>
      <p:sp>
        <p:nvSpPr>
          <p:cNvPr id="29" name="Rounded Rectangle 93">
            <a:extLst>
              <a:ext uri="{FF2B5EF4-FFF2-40B4-BE49-F238E27FC236}">
                <a16:creationId xmlns:a16="http://schemas.microsoft.com/office/drawing/2014/main" id="{A439F451-CE90-9C23-CE0B-2C5891E53E1D}"/>
              </a:ext>
            </a:extLst>
          </p:cNvPr>
          <p:cNvSpPr/>
          <p:nvPr/>
        </p:nvSpPr>
        <p:spPr>
          <a:xfrm>
            <a:off x="5029200" y="5047488"/>
            <a:ext cx="621792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TPRM</a:t>
            </a:r>
            <a:endParaRPr sz="1400" b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0" name="Rounded Rectangle 94">
            <a:extLst>
              <a:ext uri="{FF2B5EF4-FFF2-40B4-BE49-F238E27FC236}">
                <a16:creationId xmlns:a16="http://schemas.microsoft.com/office/drawing/2014/main" id="{1A70DAE2-C348-0437-4FC1-353B7BFD7FEA}"/>
              </a:ext>
            </a:extLst>
          </p:cNvPr>
          <p:cNvSpPr>
            <a:spLocks/>
          </p:cNvSpPr>
          <p:nvPr/>
        </p:nvSpPr>
        <p:spPr>
          <a:xfrm>
            <a:off x="5724144" y="5047488"/>
            <a:ext cx="548640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ERO</a:t>
            </a:r>
          </a:p>
        </p:txBody>
      </p:sp>
      <p:sp>
        <p:nvSpPr>
          <p:cNvPr id="31" name="Rounded Rectangle 95">
            <a:extLst>
              <a:ext uri="{FF2B5EF4-FFF2-40B4-BE49-F238E27FC236}">
                <a16:creationId xmlns:a16="http://schemas.microsoft.com/office/drawing/2014/main" id="{D83F5902-B6B0-D921-BEF1-A19EFB0D7BBA}"/>
              </a:ext>
            </a:extLst>
          </p:cNvPr>
          <p:cNvSpPr>
            <a:spLocks/>
          </p:cNvSpPr>
          <p:nvPr/>
        </p:nvSpPr>
        <p:spPr>
          <a:xfrm>
            <a:off x="6345936" y="5047488"/>
            <a:ext cx="640080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PACE</a:t>
            </a:r>
          </a:p>
        </p:txBody>
      </p:sp>
      <p:sp>
        <p:nvSpPr>
          <p:cNvPr id="32" name="Rounded Rectangle 96">
            <a:extLst>
              <a:ext uri="{FF2B5EF4-FFF2-40B4-BE49-F238E27FC236}">
                <a16:creationId xmlns:a16="http://schemas.microsoft.com/office/drawing/2014/main" id="{EE5B3024-D0D3-FAD5-D274-056BE427D871}"/>
              </a:ext>
            </a:extLst>
          </p:cNvPr>
          <p:cNvSpPr/>
          <p:nvPr/>
        </p:nvSpPr>
        <p:spPr>
          <a:xfrm>
            <a:off x="7059168" y="5047488"/>
            <a:ext cx="566928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AUD</a:t>
            </a:r>
            <a:endParaRPr sz="1400" b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3" name="Rounded Rectangle 97">
            <a:extLst>
              <a:ext uri="{FF2B5EF4-FFF2-40B4-BE49-F238E27FC236}">
                <a16:creationId xmlns:a16="http://schemas.microsoft.com/office/drawing/2014/main" id="{982A50EF-6DE2-84FE-A16D-6BFCB40CA76E}"/>
              </a:ext>
            </a:extLst>
          </p:cNvPr>
          <p:cNvSpPr/>
          <p:nvPr/>
        </p:nvSpPr>
        <p:spPr>
          <a:xfrm>
            <a:off x="4956048" y="5385816"/>
            <a:ext cx="640080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Legal</a:t>
            </a:r>
            <a:endParaRPr sz="1400" b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4" name="Rounded Rectangle 98">
            <a:extLst>
              <a:ext uri="{FF2B5EF4-FFF2-40B4-BE49-F238E27FC236}">
                <a16:creationId xmlns:a16="http://schemas.microsoft.com/office/drawing/2014/main" id="{DE8D3769-7B68-AC1E-727D-FF8AEC15EF20}"/>
              </a:ext>
            </a:extLst>
          </p:cNvPr>
          <p:cNvSpPr/>
          <p:nvPr/>
        </p:nvSpPr>
        <p:spPr>
          <a:xfrm>
            <a:off x="5669280" y="5385816"/>
            <a:ext cx="1078992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Compliance</a:t>
            </a:r>
            <a:endParaRPr sz="1400" b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5" name="Rounded Rectangle 99">
            <a:extLst>
              <a:ext uri="{FF2B5EF4-FFF2-40B4-BE49-F238E27FC236}">
                <a16:creationId xmlns:a16="http://schemas.microsoft.com/office/drawing/2014/main" id="{373954BD-2DF4-10A2-B1C1-CE5C5EE1779F}"/>
              </a:ext>
            </a:extLst>
          </p:cNvPr>
          <p:cNvSpPr/>
          <p:nvPr/>
        </p:nvSpPr>
        <p:spPr>
          <a:xfrm>
            <a:off x="6821424" y="5385816"/>
            <a:ext cx="658368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CMCO</a:t>
            </a:r>
            <a:endParaRPr sz="1400" b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6" name="Rounded Rectangle 100">
            <a:extLst>
              <a:ext uri="{FF2B5EF4-FFF2-40B4-BE49-F238E27FC236}">
                <a16:creationId xmlns:a16="http://schemas.microsoft.com/office/drawing/2014/main" id="{0D334FC0-5D99-6570-77C0-95D16045FBFB}"/>
              </a:ext>
            </a:extLst>
          </p:cNvPr>
          <p:cNvSpPr/>
          <p:nvPr/>
        </p:nvSpPr>
        <p:spPr>
          <a:xfrm>
            <a:off x="7552944" y="5385816"/>
            <a:ext cx="347472" cy="292608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HR</a:t>
            </a:r>
            <a:endParaRPr sz="1400" b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550F40-EB7B-912E-03B3-2E08C6C17EC4}"/>
              </a:ext>
            </a:extLst>
          </p:cNvPr>
          <p:cNvSpPr/>
          <p:nvPr/>
        </p:nvSpPr>
        <p:spPr>
          <a:xfrm>
            <a:off x="384048" y="4014215"/>
            <a:ext cx="274320" cy="274320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ECFE0BB-EF7A-F44D-9B98-658DFB40E633}"/>
              </a:ext>
            </a:extLst>
          </p:cNvPr>
          <p:cNvSpPr/>
          <p:nvPr/>
        </p:nvSpPr>
        <p:spPr>
          <a:xfrm>
            <a:off x="2450592" y="3136392"/>
            <a:ext cx="274320" cy="274320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1541380-7246-551A-74C9-184731553744}"/>
              </a:ext>
            </a:extLst>
          </p:cNvPr>
          <p:cNvSpPr/>
          <p:nvPr/>
        </p:nvSpPr>
        <p:spPr>
          <a:xfrm>
            <a:off x="2340864" y="4956048"/>
            <a:ext cx="274320" cy="274320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DD90E17-DCDE-F329-DE68-EA4CA01B7C52}"/>
              </a:ext>
            </a:extLst>
          </p:cNvPr>
          <p:cNvSpPr/>
          <p:nvPr/>
        </p:nvSpPr>
        <p:spPr>
          <a:xfrm>
            <a:off x="2816352" y="1810512"/>
            <a:ext cx="274320" cy="274320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066D7F-9E99-01B0-4191-79CE136E0C68}"/>
              </a:ext>
            </a:extLst>
          </p:cNvPr>
          <p:cNvSpPr txBox="1"/>
          <p:nvPr/>
        </p:nvSpPr>
        <p:spPr>
          <a:xfrm>
            <a:off x="475488" y="6044184"/>
            <a:ext cx="804672" cy="256032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800" b="0">
                <a:solidFill>
                  <a:srgbClr val="002856"/>
                </a:solidFill>
                <a:latin typeface="Open Sans"/>
              </a:rPr>
              <a:t>LEGEND</a:t>
            </a:r>
          </a:p>
        </p:txBody>
      </p:sp>
      <p:cxnSp>
        <p:nvCxnSpPr>
          <p:cNvPr id="42" name="Connector 106">
            <a:extLst>
              <a:ext uri="{FF2B5EF4-FFF2-40B4-BE49-F238E27FC236}">
                <a16:creationId xmlns:a16="http://schemas.microsoft.com/office/drawing/2014/main" id="{407BDB67-C109-DC88-13D2-647EABF695B8}"/>
              </a:ext>
            </a:extLst>
          </p:cNvPr>
          <p:cNvCxnSpPr/>
          <p:nvPr/>
        </p:nvCxnSpPr>
        <p:spPr>
          <a:xfrm>
            <a:off x="1161288" y="6181344"/>
            <a:ext cx="338328" cy="0"/>
          </a:xfrm>
          <a:prstGeom prst="line">
            <a:avLst/>
          </a:prstGeom>
          <a:ln w="13970">
            <a:solidFill>
              <a:srgbClr val="0028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556962B-1C17-01EE-E1C3-728B896ADCA4}"/>
              </a:ext>
            </a:extLst>
          </p:cNvPr>
          <p:cNvSpPr txBox="1"/>
          <p:nvPr/>
        </p:nvSpPr>
        <p:spPr>
          <a:xfrm>
            <a:off x="1604772" y="6053328"/>
            <a:ext cx="1051560" cy="274320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181B33"/>
                </a:solidFill>
                <a:latin typeface="Open Sans"/>
              </a:rPr>
              <a:t>Direct</a:t>
            </a:r>
            <a:r>
              <a:rPr lang="en-CA" sz="800" b="0">
                <a:solidFill>
                  <a:srgbClr val="181B33"/>
                </a:solidFill>
                <a:latin typeface="Open Sans"/>
              </a:rPr>
              <a:t> reporting</a:t>
            </a:r>
            <a:endParaRPr sz="800" b="0">
              <a:solidFill>
                <a:srgbClr val="181B33"/>
              </a:solidFill>
              <a:latin typeface="Open Sans"/>
            </a:endParaRPr>
          </a:p>
        </p:txBody>
      </p:sp>
      <p:cxnSp>
        <p:nvCxnSpPr>
          <p:cNvPr id="44" name="Connector 108">
            <a:extLst>
              <a:ext uri="{FF2B5EF4-FFF2-40B4-BE49-F238E27FC236}">
                <a16:creationId xmlns:a16="http://schemas.microsoft.com/office/drawing/2014/main" id="{EC82B580-88DF-90C7-6382-131720D97663}"/>
              </a:ext>
            </a:extLst>
          </p:cNvPr>
          <p:cNvCxnSpPr/>
          <p:nvPr/>
        </p:nvCxnSpPr>
        <p:spPr>
          <a:xfrm>
            <a:off x="2518767" y="6215952"/>
            <a:ext cx="338328" cy="0"/>
          </a:xfrm>
          <a:prstGeom prst="line">
            <a:avLst/>
          </a:prstGeom>
          <a:ln w="13970">
            <a:solidFill>
              <a:srgbClr val="0028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0028AC0-F7AB-CF5C-D360-AF23FC7E0D5C}"/>
              </a:ext>
            </a:extLst>
          </p:cNvPr>
          <p:cNvSpPr txBox="1"/>
          <p:nvPr/>
        </p:nvSpPr>
        <p:spPr>
          <a:xfrm>
            <a:off x="2928687" y="6062472"/>
            <a:ext cx="896112" cy="274320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181B33"/>
                </a:solidFill>
                <a:latin typeface="Open Sans"/>
              </a:rPr>
              <a:t>As </a:t>
            </a:r>
            <a:r>
              <a:rPr lang="en-CA" sz="800" b="0">
                <a:solidFill>
                  <a:srgbClr val="181B33"/>
                </a:solidFill>
                <a:latin typeface="Open Sans"/>
              </a:rPr>
              <a:t>needed</a:t>
            </a:r>
            <a:endParaRPr sz="800" b="0">
              <a:solidFill>
                <a:srgbClr val="181B33"/>
              </a:solidFill>
              <a:latin typeface="Open Sans"/>
            </a:endParaRPr>
          </a:p>
        </p:txBody>
      </p:sp>
      <p:sp>
        <p:nvSpPr>
          <p:cNvPr id="46" name="Rounded Rectangle 110">
            <a:extLst>
              <a:ext uri="{FF2B5EF4-FFF2-40B4-BE49-F238E27FC236}">
                <a16:creationId xmlns:a16="http://schemas.microsoft.com/office/drawing/2014/main" id="{EAB2CE9D-0AB5-57AB-EF72-A6CDE816AFD9}"/>
              </a:ext>
            </a:extLst>
          </p:cNvPr>
          <p:cNvSpPr/>
          <p:nvPr/>
        </p:nvSpPr>
        <p:spPr>
          <a:xfrm>
            <a:off x="3598630" y="6090539"/>
            <a:ext cx="664096" cy="237744"/>
          </a:xfrm>
          <a:prstGeom prst="roundRect">
            <a:avLst/>
          </a:prstGeom>
          <a:solidFill>
            <a:srgbClr val="FF4E01"/>
          </a:solidFill>
          <a:ln w="762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Open Sans"/>
              </a:rPr>
              <a:t>Primary</a:t>
            </a:r>
          </a:p>
        </p:txBody>
      </p:sp>
      <p:sp>
        <p:nvSpPr>
          <p:cNvPr id="47" name="Rounded Rectangle 111">
            <a:extLst>
              <a:ext uri="{FF2B5EF4-FFF2-40B4-BE49-F238E27FC236}">
                <a16:creationId xmlns:a16="http://schemas.microsoft.com/office/drawing/2014/main" id="{AC7CB52F-E453-EDD4-4F95-0CDE933E3373}"/>
              </a:ext>
            </a:extLst>
          </p:cNvPr>
          <p:cNvSpPr/>
          <p:nvPr/>
        </p:nvSpPr>
        <p:spPr>
          <a:xfrm>
            <a:off x="4327750" y="6083808"/>
            <a:ext cx="768096" cy="237744"/>
          </a:xfrm>
          <a:prstGeom prst="roundRect">
            <a:avLst/>
          </a:prstGeom>
          <a:solidFill>
            <a:srgbClr val="B2BECC"/>
          </a:solidFill>
          <a:ln w="7620">
            <a:solidFill>
              <a:srgbClr val="B2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800" b="0">
                <a:solidFill>
                  <a:srgbClr val="181B33"/>
                </a:solidFill>
                <a:latin typeface="Open Sans"/>
              </a:rPr>
              <a:t>Supporting</a:t>
            </a:r>
          </a:p>
        </p:txBody>
      </p:sp>
      <p:sp>
        <p:nvSpPr>
          <p:cNvPr id="48" name="Rounded Rectangle 112">
            <a:extLst>
              <a:ext uri="{FF2B5EF4-FFF2-40B4-BE49-F238E27FC236}">
                <a16:creationId xmlns:a16="http://schemas.microsoft.com/office/drawing/2014/main" id="{90759E94-C1A6-2162-F3F3-C6C55871B52D}"/>
              </a:ext>
            </a:extLst>
          </p:cNvPr>
          <p:cNvSpPr/>
          <p:nvPr/>
        </p:nvSpPr>
        <p:spPr>
          <a:xfrm>
            <a:off x="5147532" y="6080760"/>
            <a:ext cx="634524" cy="229990"/>
          </a:xfrm>
          <a:prstGeom prst="roundRect">
            <a:avLst/>
          </a:prstGeom>
          <a:solidFill>
            <a:srgbClr val="B4EDE7"/>
          </a:solidFill>
          <a:ln w="7620">
            <a:solidFill>
              <a:srgbClr val="0A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" rIns="18288" bIns="3657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800" b="0">
                <a:solidFill>
                  <a:schemeClr val="tx1"/>
                </a:solidFill>
                <a:latin typeface="Open Sans"/>
              </a:rPr>
              <a:t>Oversight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52B15B-B14D-E79B-39B2-D539B7CF7C7E}"/>
              </a:ext>
            </a:extLst>
          </p:cNvPr>
          <p:cNvSpPr txBox="1"/>
          <p:nvPr/>
        </p:nvSpPr>
        <p:spPr>
          <a:xfrm>
            <a:off x="8321040" y="1536192"/>
            <a:ext cx="3108960" cy="329184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800" b="1">
                <a:solidFill>
                  <a:srgbClr val="002856"/>
                </a:solidFill>
                <a:latin typeface="Poppins SemiBold"/>
              </a:rPr>
              <a:t>How governance works</a:t>
            </a:r>
          </a:p>
        </p:txBody>
      </p:sp>
      <p:cxnSp>
        <p:nvCxnSpPr>
          <p:cNvPr id="50" name="Connector 114">
            <a:extLst>
              <a:ext uri="{FF2B5EF4-FFF2-40B4-BE49-F238E27FC236}">
                <a16:creationId xmlns:a16="http://schemas.microsoft.com/office/drawing/2014/main" id="{061D80B7-BCFC-E982-95DD-A30473A4C150}"/>
              </a:ext>
            </a:extLst>
          </p:cNvPr>
          <p:cNvCxnSpPr/>
          <p:nvPr/>
        </p:nvCxnSpPr>
        <p:spPr>
          <a:xfrm>
            <a:off x="8467344" y="2057400"/>
            <a:ext cx="0" cy="3300984"/>
          </a:xfrm>
          <a:prstGeom prst="line">
            <a:avLst/>
          </a:prstGeom>
          <a:ln w="1270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DA8E399-9FBD-C8A2-4DA1-DE4D2A95098F}"/>
              </a:ext>
            </a:extLst>
          </p:cNvPr>
          <p:cNvSpPr>
            <a:spLocks/>
          </p:cNvSpPr>
          <p:nvPr/>
        </p:nvSpPr>
        <p:spPr>
          <a:xfrm>
            <a:off x="8321040" y="2020824"/>
            <a:ext cx="292608" cy="292608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493669-ABB6-1C63-1BF4-31DF8EFFAFFD}"/>
              </a:ext>
            </a:extLst>
          </p:cNvPr>
          <p:cNvSpPr txBox="1">
            <a:spLocks/>
          </p:cNvSpPr>
          <p:nvPr/>
        </p:nvSpPr>
        <p:spPr>
          <a:xfrm>
            <a:off x="8759952" y="2029968"/>
            <a:ext cx="3044952" cy="384048"/>
          </a:xfrm>
          <a:prstGeom prst="rect">
            <a:avLst/>
          </a:prstGeom>
          <a:noFill/>
        </p:spPr>
        <p:txBody>
          <a:bodyPr wrap="square" lIns="18288" tIns="914" rIns="18288" bIns="91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>
                <a:solidFill>
                  <a:srgbClr val="181B33"/>
                </a:solidFill>
                <a:latin typeface="Open Sans"/>
              </a:rPr>
              <a:t>Functions are overseen by an SO.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6E331A5-3C6E-6230-2FB1-BFD8218DCD6B}"/>
              </a:ext>
            </a:extLst>
          </p:cNvPr>
          <p:cNvSpPr>
            <a:spLocks/>
          </p:cNvSpPr>
          <p:nvPr/>
        </p:nvSpPr>
        <p:spPr>
          <a:xfrm>
            <a:off x="8321040" y="2706624"/>
            <a:ext cx="292608" cy="292608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FDBB97-6EC7-EC6A-D6B3-3ED4DF669945}"/>
              </a:ext>
            </a:extLst>
          </p:cNvPr>
          <p:cNvSpPr txBox="1">
            <a:spLocks/>
          </p:cNvSpPr>
          <p:nvPr/>
        </p:nvSpPr>
        <p:spPr>
          <a:xfrm>
            <a:off x="8759952" y="2715768"/>
            <a:ext cx="3044952" cy="841248"/>
          </a:xfrm>
          <a:prstGeom prst="rect">
            <a:avLst/>
          </a:prstGeom>
          <a:noFill/>
        </p:spPr>
        <p:txBody>
          <a:bodyPr wrap="square" lIns="18288" tIns="914" rIns="18288" bIns="91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>
                <a:solidFill>
                  <a:srgbClr val="181B33"/>
                </a:solidFill>
                <a:latin typeface="Open Sans"/>
              </a:rPr>
              <a:t>The AI Advisory Committee, chaired by the DDS-DMD with representation from all functions, establishes and oversees the governance approach.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4A1EF27-468E-C652-BA0F-4B06DCA41140}"/>
              </a:ext>
            </a:extLst>
          </p:cNvPr>
          <p:cNvSpPr>
            <a:spLocks/>
          </p:cNvSpPr>
          <p:nvPr/>
        </p:nvSpPr>
        <p:spPr>
          <a:xfrm>
            <a:off x="8321040" y="3785615"/>
            <a:ext cx="292608" cy="292608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252C06-0711-9112-2D94-FB1AFE55FD06}"/>
              </a:ext>
            </a:extLst>
          </p:cNvPr>
          <p:cNvSpPr txBox="1">
            <a:spLocks/>
          </p:cNvSpPr>
          <p:nvPr/>
        </p:nvSpPr>
        <p:spPr>
          <a:xfrm>
            <a:off x="8759952" y="3794759"/>
            <a:ext cx="3044952" cy="658368"/>
          </a:xfrm>
          <a:prstGeom prst="rect">
            <a:avLst/>
          </a:prstGeom>
          <a:noFill/>
        </p:spPr>
        <p:txBody>
          <a:bodyPr wrap="square" lIns="18288" tIns="914" rIns="18288" bIns="91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>
                <a:solidFill>
                  <a:srgbClr val="181B33"/>
                </a:solidFill>
                <a:latin typeface="Open Sans"/>
              </a:rPr>
              <a:t>Primary functions engage other internal groups and functions to coordinate efforts as needed.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8632A35-B396-06FE-D664-34EE384555DA}"/>
              </a:ext>
            </a:extLst>
          </p:cNvPr>
          <p:cNvSpPr>
            <a:spLocks/>
          </p:cNvSpPr>
          <p:nvPr/>
        </p:nvSpPr>
        <p:spPr>
          <a:xfrm>
            <a:off x="8321040" y="4736592"/>
            <a:ext cx="292608" cy="292608"/>
          </a:xfrm>
          <a:prstGeom prst="ellipse">
            <a:avLst/>
          </a:prstGeom>
          <a:solidFill>
            <a:srgbClr val="FF4E01"/>
          </a:solidFill>
          <a:ln w="10160">
            <a:solidFill>
              <a:srgbClr val="FF4E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FFFFFF"/>
                </a:solidFill>
                <a:latin typeface="Poppins SemiBold"/>
              </a:rPr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893F4A-226B-96D4-7B45-F8A180F1521A}"/>
              </a:ext>
            </a:extLst>
          </p:cNvPr>
          <p:cNvSpPr txBox="1">
            <a:spLocks/>
          </p:cNvSpPr>
          <p:nvPr/>
        </p:nvSpPr>
        <p:spPr>
          <a:xfrm>
            <a:off x="8759952" y="4745736"/>
            <a:ext cx="3044952" cy="384048"/>
          </a:xfrm>
          <a:prstGeom prst="rect">
            <a:avLst/>
          </a:prstGeom>
          <a:noFill/>
        </p:spPr>
        <p:txBody>
          <a:bodyPr wrap="square" lIns="18288" tIns="914" rIns="18288" bIns="91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>
                <a:solidFill>
                  <a:srgbClr val="181B33"/>
                </a:solidFill>
                <a:latin typeface="Open Sans"/>
              </a:rPr>
              <a:t>Updates to EC and the Board are provided as needed.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622836A-BC19-CAB2-44FA-3617049089C3}"/>
              </a:ext>
            </a:extLst>
          </p:cNvPr>
          <p:cNvSpPr/>
          <p:nvPr/>
        </p:nvSpPr>
        <p:spPr>
          <a:xfrm>
            <a:off x="438912" y="6537960"/>
            <a:ext cx="11338560" cy="27432"/>
          </a:xfrm>
          <a:prstGeom prst="rect">
            <a:avLst/>
          </a:prstGeom>
          <a:solidFill>
            <a:srgbClr val="FFCAB3"/>
          </a:solidFill>
          <a:ln>
            <a:solidFill>
              <a:srgbClr val="FFC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108">
            <a:extLst>
              <a:ext uri="{FF2B5EF4-FFF2-40B4-BE49-F238E27FC236}">
                <a16:creationId xmlns:a16="http://schemas.microsoft.com/office/drawing/2014/main" id="{F5A60223-4A55-4689-D5FD-4F06678F112A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4069079" y="2706624"/>
            <a:ext cx="1" cy="197964"/>
          </a:xfrm>
          <a:prstGeom prst="line">
            <a:avLst/>
          </a:prstGeom>
          <a:ln w="13970">
            <a:solidFill>
              <a:srgbClr val="0028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108">
            <a:extLst>
              <a:ext uri="{FF2B5EF4-FFF2-40B4-BE49-F238E27FC236}">
                <a16:creationId xmlns:a16="http://schemas.microsoft.com/office/drawing/2014/main" id="{01F69415-A942-B30B-509D-E737952BC06F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V="1">
            <a:off x="4069080" y="2103120"/>
            <a:ext cx="0" cy="201168"/>
          </a:xfrm>
          <a:prstGeom prst="line">
            <a:avLst/>
          </a:prstGeom>
          <a:ln w="13970">
            <a:solidFill>
              <a:srgbClr val="0028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108">
            <a:extLst>
              <a:ext uri="{FF2B5EF4-FFF2-40B4-BE49-F238E27FC236}">
                <a16:creationId xmlns:a16="http://schemas.microsoft.com/office/drawing/2014/main" id="{CFBEBAF5-01AA-A921-5F93-BAFA30A13FEB}"/>
              </a:ext>
            </a:extLst>
          </p:cNvPr>
          <p:cNvCxnSpPr/>
          <p:nvPr/>
        </p:nvCxnSpPr>
        <p:spPr>
          <a:xfrm>
            <a:off x="5376671" y="3197196"/>
            <a:ext cx="338328" cy="0"/>
          </a:xfrm>
          <a:prstGeom prst="line">
            <a:avLst/>
          </a:prstGeom>
          <a:ln w="13970">
            <a:solidFill>
              <a:srgbClr val="0028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F78DFAD-C6F8-4F71-09B6-4F0B9366749F}"/>
              </a:ext>
            </a:extLst>
          </p:cNvPr>
          <p:cNvSpPr/>
          <p:nvPr/>
        </p:nvSpPr>
        <p:spPr>
          <a:xfrm>
            <a:off x="5699398" y="2864239"/>
            <a:ext cx="1810076" cy="665914"/>
          </a:xfrm>
          <a:prstGeom prst="roundRect">
            <a:avLst/>
          </a:prstGeom>
          <a:solidFill>
            <a:srgbClr val="B4EDE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+mj-lt"/>
              </a:rPr>
              <a:t>AI Priority Governance Committee</a:t>
            </a:r>
            <a:endParaRPr lang="en-CA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285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D88E57A-4A71-F1C3-AB28-CB700B739D2C}"/>
              </a:ext>
            </a:extLst>
          </p:cNvPr>
          <p:cNvSpPr txBox="1">
            <a:spLocks/>
          </p:cNvSpPr>
          <p:nvPr/>
        </p:nvSpPr>
        <p:spPr>
          <a:xfrm>
            <a:off x="201168" y="548640"/>
            <a:ext cx="11475720" cy="6583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000" b="1">
                <a:solidFill>
                  <a:srgbClr val="16182F"/>
                </a:solidFill>
                <a:latin typeface="Aptos Display"/>
              </a:rPr>
              <a:t>AI Governance Pillars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C6DAAB4-ED4C-885E-136D-5829013B7D4B}"/>
              </a:ext>
            </a:extLst>
          </p:cNvPr>
          <p:cNvSpPr txBox="1">
            <a:spLocks/>
          </p:cNvSpPr>
          <p:nvPr/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6C39CE-BFB6-4B5C-A3F2-F05151101EA7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ED8B9-0875-2F26-8487-F37597677057}"/>
              </a:ext>
            </a:extLst>
          </p:cNvPr>
          <p:cNvSpPr txBox="1"/>
          <p:nvPr/>
        </p:nvSpPr>
        <p:spPr>
          <a:xfrm>
            <a:off x="475488" y="1389888"/>
            <a:ext cx="11064240" cy="3657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0" i="0">
                <a:solidFill>
                  <a:srgbClr val="5A6573"/>
                </a:solidFill>
                <a:latin typeface="Aptos"/>
              </a:rPr>
              <a:t>Three mutually reinforcing pillars define accountability, set guardrails, and make AI activity observable across its lifecycle.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700DE-2358-404F-FA13-80CB7CF3D295}"/>
              </a:ext>
            </a:extLst>
          </p:cNvPr>
          <p:cNvSpPr/>
          <p:nvPr/>
        </p:nvSpPr>
        <p:spPr>
          <a:xfrm>
            <a:off x="4050791" y="2048256"/>
            <a:ext cx="10972" cy="3246120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9EFD8F-B06C-AC72-C0E6-640B4FA0D6AA}"/>
              </a:ext>
            </a:extLst>
          </p:cNvPr>
          <p:cNvSpPr/>
          <p:nvPr/>
        </p:nvSpPr>
        <p:spPr>
          <a:xfrm>
            <a:off x="7799832" y="2048256"/>
            <a:ext cx="10972" cy="3246120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8882E-5333-0E6F-0ACF-2AD9EF020DF6}"/>
              </a:ext>
            </a:extLst>
          </p:cNvPr>
          <p:cNvSpPr/>
          <p:nvPr/>
        </p:nvSpPr>
        <p:spPr>
          <a:xfrm>
            <a:off x="475488" y="1956816"/>
            <a:ext cx="3401568" cy="91440"/>
          </a:xfrm>
          <a:prstGeom prst="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F2365D9C-9799-012B-2B22-A24846F3686C}"/>
              </a:ext>
            </a:extLst>
          </p:cNvPr>
          <p:cNvSpPr/>
          <p:nvPr/>
        </p:nvSpPr>
        <p:spPr>
          <a:xfrm>
            <a:off x="640080" y="2258568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07070-CF6D-BD1D-F500-F7E1A65AA48A}"/>
              </a:ext>
            </a:extLst>
          </p:cNvPr>
          <p:cNvSpPr txBox="1"/>
          <p:nvPr/>
        </p:nvSpPr>
        <p:spPr>
          <a:xfrm>
            <a:off x="896112" y="2167128"/>
            <a:ext cx="2898648" cy="3017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 i="0">
                <a:solidFill>
                  <a:srgbClr val="FF4E01"/>
                </a:solidFill>
                <a:latin typeface="Aptos"/>
              </a:rPr>
              <a:t>GOVERNANCE OPERATING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9FF5C-D030-7552-7A97-67E99B454681}"/>
              </a:ext>
            </a:extLst>
          </p:cNvPr>
          <p:cNvSpPr txBox="1"/>
          <p:nvPr/>
        </p:nvSpPr>
        <p:spPr>
          <a:xfrm>
            <a:off x="658368" y="2706624"/>
            <a:ext cx="3035808" cy="56692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1" i="0">
                <a:solidFill>
                  <a:srgbClr val="1F2A37"/>
                </a:solidFill>
                <a:latin typeface="Aptos"/>
              </a:rPr>
              <a:t>Clear ownership for AI decisions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7C4E5BC3-079C-E678-EA59-E450658F7BD9}"/>
              </a:ext>
            </a:extLst>
          </p:cNvPr>
          <p:cNvSpPr/>
          <p:nvPr/>
        </p:nvSpPr>
        <p:spPr>
          <a:xfrm>
            <a:off x="658368" y="3447288"/>
            <a:ext cx="1444752" cy="347472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Decisions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C0DE7A7D-3772-9F08-987B-9276C0AB1F5B}"/>
              </a:ext>
            </a:extLst>
          </p:cNvPr>
          <p:cNvSpPr/>
          <p:nvPr/>
        </p:nvSpPr>
        <p:spPr>
          <a:xfrm>
            <a:off x="2249424" y="3447288"/>
            <a:ext cx="1444752" cy="347472"/>
          </a:xfrm>
          <a:prstGeom prst="roundRect">
            <a:avLst/>
          </a:prstGeom>
          <a:solidFill>
            <a:srgbClr val="FFC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Owners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F98706-EB3B-9DB1-2231-C288FA175429}"/>
              </a:ext>
            </a:extLst>
          </p:cNvPr>
          <p:cNvSpPr txBox="1"/>
          <p:nvPr/>
        </p:nvSpPr>
        <p:spPr>
          <a:xfrm>
            <a:off x="658368" y="3968496"/>
            <a:ext cx="3035808" cy="13898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60" b="0" i="0">
                <a:solidFill>
                  <a:srgbClr val="1F2A37"/>
                </a:solidFill>
                <a:latin typeface="Aptos"/>
              </a:rPr>
              <a:t>Defines who is responsible for AI, how decisions are made, and how accountability is maintained across the Bank.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CDBAC8-3B21-5209-972A-3F239F7E5B55}"/>
              </a:ext>
            </a:extLst>
          </p:cNvPr>
          <p:cNvSpPr/>
          <p:nvPr/>
        </p:nvSpPr>
        <p:spPr>
          <a:xfrm>
            <a:off x="4224528" y="1956816"/>
            <a:ext cx="3401568" cy="91440"/>
          </a:xfrm>
          <a:prstGeom prst="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6DD0C10C-7F08-E4D4-2C1C-7D5F240939AD}"/>
              </a:ext>
            </a:extLst>
          </p:cNvPr>
          <p:cNvSpPr/>
          <p:nvPr/>
        </p:nvSpPr>
        <p:spPr>
          <a:xfrm>
            <a:off x="4389120" y="2258568"/>
            <a:ext cx="155448" cy="155448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740BAE-EE39-578F-B291-C2514F7B0BBA}"/>
              </a:ext>
            </a:extLst>
          </p:cNvPr>
          <p:cNvSpPr txBox="1"/>
          <p:nvPr/>
        </p:nvSpPr>
        <p:spPr>
          <a:xfrm>
            <a:off x="4645152" y="2167128"/>
            <a:ext cx="2898648" cy="3017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 i="0">
                <a:solidFill>
                  <a:srgbClr val="002856"/>
                </a:solidFill>
                <a:latin typeface="Aptos"/>
              </a:rPr>
              <a:t>POLICIES &amp; CONTROLS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CA67B8-B8E6-9B58-3DFD-3EC24276358B}"/>
              </a:ext>
            </a:extLst>
          </p:cNvPr>
          <p:cNvSpPr txBox="1"/>
          <p:nvPr/>
        </p:nvSpPr>
        <p:spPr>
          <a:xfrm>
            <a:off x="4407408" y="2706624"/>
            <a:ext cx="3035808" cy="56692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1" i="0">
                <a:solidFill>
                  <a:srgbClr val="1F2A37"/>
                </a:solidFill>
                <a:latin typeface="Aptos"/>
              </a:rPr>
              <a:t>Consistent standards and rules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484DC50C-4AE1-F531-AB85-D028EE861CA7}"/>
              </a:ext>
            </a:extLst>
          </p:cNvPr>
          <p:cNvSpPr/>
          <p:nvPr/>
        </p:nvSpPr>
        <p:spPr>
          <a:xfrm>
            <a:off x="4407408" y="3447288"/>
            <a:ext cx="1444752" cy="347472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Standards</a:t>
            </a: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70756123-0577-F5B7-EA38-555C60377064}"/>
              </a:ext>
            </a:extLst>
          </p:cNvPr>
          <p:cNvSpPr/>
          <p:nvPr/>
        </p:nvSpPr>
        <p:spPr>
          <a:xfrm>
            <a:off x="5998464" y="3447288"/>
            <a:ext cx="1444752" cy="347472"/>
          </a:xfrm>
          <a:prstGeom prst="round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Guardrails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830312-ACE5-43FC-DB3B-FD2FE6A660A9}"/>
              </a:ext>
            </a:extLst>
          </p:cNvPr>
          <p:cNvSpPr txBox="1"/>
          <p:nvPr/>
        </p:nvSpPr>
        <p:spPr>
          <a:xfrm>
            <a:off x="4407408" y="3968496"/>
            <a:ext cx="3035808" cy="13898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60" b="0" i="0">
                <a:solidFill>
                  <a:srgbClr val="1F2A37"/>
                </a:solidFill>
                <a:latin typeface="Aptos"/>
              </a:rPr>
              <a:t>Establishes the principles, standards, and controls that govern how AI is designed, developed, acquired, and used.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CB4E29-0E19-747A-1076-CABC525D0532}"/>
              </a:ext>
            </a:extLst>
          </p:cNvPr>
          <p:cNvSpPr/>
          <p:nvPr/>
        </p:nvSpPr>
        <p:spPr>
          <a:xfrm>
            <a:off x="7973568" y="1956816"/>
            <a:ext cx="3401568" cy="91440"/>
          </a:xfrm>
          <a:prstGeom prst="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2">
            <a:extLst>
              <a:ext uri="{FF2B5EF4-FFF2-40B4-BE49-F238E27FC236}">
                <a16:creationId xmlns:a16="http://schemas.microsoft.com/office/drawing/2014/main" id="{41127E6B-C615-B447-A435-3D2A276AD63D}"/>
              </a:ext>
            </a:extLst>
          </p:cNvPr>
          <p:cNvSpPr/>
          <p:nvPr/>
        </p:nvSpPr>
        <p:spPr>
          <a:xfrm>
            <a:off x="8138160" y="2258568"/>
            <a:ext cx="155448" cy="155448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338608-F9B2-A042-B91C-1161F8FB96FF}"/>
              </a:ext>
            </a:extLst>
          </p:cNvPr>
          <p:cNvSpPr txBox="1"/>
          <p:nvPr/>
        </p:nvSpPr>
        <p:spPr>
          <a:xfrm>
            <a:off x="8394192" y="2167128"/>
            <a:ext cx="2898648" cy="3017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 i="0">
                <a:solidFill>
                  <a:srgbClr val="06C4B0"/>
                </a:solidFill>
                <a:latin typeface="Aptos"/>
              </a:rPr>
              <a:t>OVERSIGHT SYSTEMS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BCCDAE-E4AF-7670-F468-C50FD904111E}"/>
              </a:ext>
            </a:extLst>
          </p:cNvPr>
          <p:cNvSpPr txBox="1"/>
          <p:nvPr/>
        </p:nvSpPr>
        <p:spPr>
          <a:xfrm>
            <a:off x="8156448" y="2706624"/>
            <a:ext cx="3035808" cy="56692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1" i="0">
                <a:solidFill>
                  <a:srgbClr val="1F2A37"/>
                </a:solidFill>
                <a:latin typeface="Aptos"/>
              </a:rPr>
              <a:t>Technology-enabled assurance</a:t>
            </a:r>
          </a:p>
        </p:txBody>
      </p:sp>
      <p:sp>
        <p:nvSpPr>
          <p:cNvPr id="25" name="Rounded Rectangle 25">
            <a:extLst>
              <a:ext uri="{FF2B5EF4-FFF2-40B4-BE49-F238E27FC236}">
                <a16:creationId xmlns:a16="http://schemas.microsoft.com/office/drawing/2014/main" id="{A772AAE6-99F0-FDF7-B849-D08BA09FF0D6}"/>
              </a:ext>
            </a:extLst>
          </p:cNvPr>
          <p:cNvSpPr/>
          <p:nvPr/>
        </p:nvSpPr>
        <p:spPr>
          <a:xfrm>
            <a:off x="8156448" y="3447288"/>
            <a:ext cx="1444752" cy="347472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Monitoring</a:t>
            </a:r>
          </a:p>
        </p:txBody>
      </p:sp>
      <p:sp>
        <p:nvSpPr>
          <p:cNvPr id="26" name="Rounded Rectangle 26">
            <a:extLst>
              <a:ext uri="{FF2B5EF4-FFF2-40B4-BE49-F238E27FC236}">
                <a16:creationId xmlns:a16="http://schemas.microsoft.com/office/drawing/2014/main" id="{BE3537D7-F9DE-1142-4FF9-CFCE4E3CC129}"/>
              </a:ext>
            </a:extLst>
          </p:cNvPr>
          <p:cNvSpPr/>
          <p:nvPr/>
        </p:nvSpPr>
        <p:spPr>
          <a:xfrm>
            <a:off x="9747504" y="3447288"/>
            <a:ext cx="1444752" cy="347472"/>
          </a:xfrm>
          <a:prstGeom prst="roundRect">
            <a:avLst/>
          </a:prstGeom>
          <a:solidFill>
            <a:srgbClr val="B4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400" b="1">
                <a:solidFill>
                  <a:srgbClr val="1F2A37"/>
                </a:solidFill>
                <a:latin typeface="Aptos"/>
              </a:rPr>
              <a:t>Assurance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6A1F9E-0782-7FE6-E59F-185F2673666C}"/>
              </a:ext>
            </a:extLst>
          </p:cNvPr>
          <p:cNvSpPr txBox="1"/>
          <p:nvPr/>
        </p:nvSpPr>
        <p:spPr>
          <a:xfrm>
            <a:off x="8156448" y="3968496"/>
            <a:ext cx="3035808" cy="13898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60" b="0" i="0">
                <a:solidFill>
                  <a:srgbClr val="1F2A37"/>
                </a:solidFill>
                <a:latin typeface="Aptos"/>
              </a:rPr>
              <a:t>Provides visibility, monitoring, and assurance capabilities that make AI activity observable, evaluable, and auditable.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D6EF8A-DDFF-2C63-CAC7-81102EB64D56}"/>
              </a:ext>
            </a:extLst>
          </p:cNvPr>
          <p:cNvSpPr/>
          <p:nvPr/>
        </p:nvSpPr>
        <p:spPr>
          <a:xfrm>
            <a:off x="685800" y="5696712"/>
            <a:ext cx="10835640" cy="22860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9">
            <a:extLst>
              <a:ext uri="{FF2B5EF4-FFF2-40B4-BE49-F238E27FC236}">
                <a16:creationId xmlns:a16="http://schemas.microsoft.com/office/drawing/2014/main" id="{36F31BD2-DB72-1232-E257-82F75564295E}"/>
              </a:ext>
            </a:extLst>
          </p:cNvPr>
          <p:cNvSpPr/>
          <p:nvPr/>
        </p:nvSpPr>
        <p:spPr>
          <a:xfrm>
            <a:off x="1078992" y="5870448"/>
            <a:ext cx="10021824" cy="475488"/>
          </a:xfrm>
          <a:prstGeom prst="roundRect">
            <a:avLst/>
          </a:prstGeom>
          <a:solidFill>
            <a:srgbClr val="B4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400" b="1">
                <a:solidFill>
                  <a:srgbClr val="0A8C7D"/>
                </a:solidFill>
                <a:latin typeface="Aptos"/>
              </a:rPr>
              <a:t>AI Governance integrated within existing Bank processes across all relevant departments
and functions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0996E2-B269-3D58-A6D5-FE3F6A21F70B}"/>
              </a:ext>
            </a:extLst>
          </p:cNvPr>
          <p:cNvSpPr txBox="1"/>
          <p:nvPr/>
        </p:nvSpPr>
        <p:spPr>
          <a:xfrm>
            <a:off x="596239" y="6492875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Source:  Gartner</a:t>
            </a:r>
            <a:endParaRPr lang="en-CA" sz="1600"/>
          </a:p>
        </p:txBody>
      </p:sp>
    </p:spTree>
    <p:extLst>
      <p:ext uri="{BB962C8B-B14F-4D97-AF65-F5344CB8AC3E}">
        <p14:creationId xmlns:p14="http://schemas.microsoft.com/office/powerpoint/2010/main" val="287860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13778F7-8157-C82A-7C0E-E207660BC935}"/>
              </a:ext>
            </a:extLst>
          </p:cNvPr>
          <p:cNvSpPr txBox="1">
            <a:spLocks/>
          </p:cNvSpPr>
          <p:nvPr/>
        </p:nvSpPr>
        <p:spPr>
          <a:xfrm>
            <a:off x="197884" y="510500"/>
            <a:ext cx="11473904" cy="97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Key Components of AI Governance</a:t>
            </a:r>
            <a:endParaRPr lang="en-CA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4100C23-DB2A-8C21-3511-FCF918C579B3}"/>
              </a:ext>
            </a:extLst>
          </p:cNvPr>
          <p:cNvSpPr txBox="1">
            <a:spLocks/>
          </p:cNvSpPr>
          <p:nvPr/>
        </p:nvSpPr>
        <p:spPr>
          <a:xfrm>
            <a:off x="11671788" y="6601062"/>
            <a:ext cx="520211" cy="2569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6C39CE-BFB6-4B5C-A3F2-F05151101EA7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4" name="tb">
            <a:extLst>
              <a:ext uri="{FF2B5EF4-FFF2-40B4-BE49-F238E27FC236}">
                <a16:creationId xmlns:a16="http://schemas.microsoft.com/office/drawing/2014/main" id="{F9EA923F-6247-B920-5172-12EDF098B029}"/>
              </a:ext>
            </a:extLst>
          </p:cNvPr>
          <p:cNvSpPr txBox="1"/>
          <p:nvPr/>
        </p:nvSpPr>
        <p:spPr>
          <a:xfrm>
            <a:off x="5670000" y="1500000"/>
            <a:ext cx="105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5A6573"/>
                </a:solidFill>
              </a:rPr>
              <a:t>Status:</a:t>
            </a:r>
          </a:p>
        </p:txBody>
      </p:sp>
      <p:sp>
        <p:nvSpPr>
          <p:cNvPr id="5" name="chip">
            <a:extLst>
              <a:ext uri="{FF2B5EF4-FFF2-40B4-BE49-F238E27FC236}">
                <a16:creationId xmlns:a16="http://schemas.microsoft.com/office/drawing/2014/main" id="{7D59982C-DC5B-79F7-5AAB-B910A7E94539}"/>
              </a:ext>
            </a:extLst>
          </p:cNvPr>
          <p:cNvSpPr/>
          <p:nvPr/>
        </p:nvSpPr>
        <p:spPr>
          <a:xfrm>
            <a:off x="6820000" y="1525000"/>
            <a:ext cx="210000" cy="210000"/>
          </a:xfrm>
          <a:prstGeom prst="roundRect">
            <a:avLst>
              <a:gd name="adj" fmla="val 30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 fontScale="55000" lnSpcReduction="20000"/>
          </a:bodyPr>
          <a:lstStyle/>
          <a:p>
            <a:pPr algn="ctr"/>
            <a:endParaRPr/>
          </a:p>
        </p:txBody>
      </p:sp>
      <p:sp>
        <p:nvSpPr>
          <p:cNvPr id="6" name="tb">
            <a:extLst>
              <a:ext uri="{FF2B5EF4-FFF2-40B4-BE49-F238E27FC236}">
                <a16:creationId xmlns:a16="http://schemas.microsoft.com/office/drawing/2014/main" id="{E997A8D1-B311-906E-CDA4-5FAEC955EB94}"/>
              </a:ext>
            </a:extLst>
          </p:cNvPr>
          <p:cNvSpPr txBox="1"/>
          <p:nvPr/>
        </p:nvSpPr>
        <p:spPr>
          <a:xfrm>
            <a:off x="7120000" y="1500000"/>
            <a:ext cx="118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1F2A37"/>
                </a:solidFill>
              </a:rPr>
              <a:t>In place</a:t>
            </a:r>
          </a:p>
        </p:txBody>
      </p:sp>
      <p:sp>
        <p:nvSpPr>
          <p:cNvPr id="7" name="chip">
            <a:extLst>
              <a:ext uri="{FF2B5EF4-FFF2-40B4-BE49-F238E27FC236}">
                <a16:creationId xmlns:a16="http://schemas.microsoft.com/office/drawing/2014/main" id="{7672C9DE-1A22-B8AE-789A-27BE22531988}"/>
              </a:ext>
            </a:extLst>
          </p:cNvPr>
          <p:cNvSpPr/>
          <p:nvPr/>
        </p:nvSpPr>
        <p:spPr>
          <a:xfrm>
            <a:off x="8470000" y="1525000"/>
            <a:ext cx="210000" cy="210000"/>
          </a:xfrm>
          <a:prstGeom prst="roundRect">
            <a:avLst>
              <a:gd name="adj" fmla="val 30000"/>
            </a:avLst>
          </a:prstGeom>
          <a:solidFill>
            <a:srgbClr val="B2BECC"/>
          </a:solidFill>
        </p:spPr>
        <p:txBody>
          <a:bodyPr wrap="square" lIns="73152" tIns="18288" rIns="73152" bIns="18288" anchor="ctr">
            <a:normAutofit fontScale="55000" lnSpcReduction="20000"/>
          </a:bodyPr>
          <a:lstStyle/>
          <a:p>
            <a:pPr algn="ctr"/>
            <a:endParaRPr/>
          </a:p>
        </p:txBody>
      </p:sp>
      <p:sp>
        <p:nvSpPr>
          <p:cNvPr id="8" name="tb">
            <a:extLst>
              <a:ext uri="{FF2B5EF4-FFF2-40B4-BE49-F238E27FC236}">
                <a16:creationId xmlns:a16="http://schemas.microsoft.com/office/drawing/2014/main" id="{7A691F17-3D49-6298-92A3-5555FB1EEB34}"/>
              </a:ext>
            </a:extLst>
          </p:cNvPr>
          <p:cNvSpPr txBox="1"/>
          <p:nvPr/>
        </p:nvSpPr>
        <p:spPr>
          <a:xfrm>
            <a:off x="8770000" y="1500000"/>
            <a:ext cx="118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1F2A37"/>
                </a:solidFill>
              </a:rPr>
              <a:t>In progress</a:t>
            </a:r>
          </a:p>
        </p:txBody>
      </p:sp>
      <p:sp>
        <p:nvSpPr>
          <p:cNvPr id="9" name="chip">
            <a:extLst>
              <a:ext uri="{FF2B5EF4-FFF2-40B4-BE49-F238E27FC236}">
                <a16:creationId xmlns:a16="http://schemas.microsoft.com/office/drawing/2014/main" id="{48CEF956-670E-BC76-8585-E1E8F54A26E2}"/>
              </a:ext>
            </a:extLst>
          </p:cNvPr>
          <p:cNvSpPr/>
          <p:nvPr/>
        </p:nvSpPr>
        <p:spPr>
          <a:xfrm>
            <a:off x="10120000" y="1525000"/>
            <a:ext cx="210000" cy="21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856"/>
            </a:solidFill>
            <a:prstDash val="dash"/>
          </a:ln>
        </p:spPr>
        <p:txBody>
          <a:bodyPr wrap="square" lIns="73152" tIns="18288" rIns="73152" bIns="18288" anchor="ctr">
            <a:normAutofit fontScale="55000" lnSpcReduction="20000"/>
          </a:bodyPr>
          <a:lstStyle/>
          <a:p>
            <a:pPr algn="ctr"/>
            <a:endParaRPr/>
          </a:p>
        </p:txBody>
      </p:sp>
      <p:sp>
        <p:nvSpPr>
          <p:cNvPr id="10" name="tb">
            <a:extLst>
              <a:ext uri="{FF2B5EF4-FFF2-40B4-BE49-F238E27FC236}">
                <a16:creationId xmlns:a16="http://schemas.microsoft.com/office/drawing/2014/main" id="{49B75905-73A7-E90B-DC13-11A61BF017C5}"/>
              </a:ext>
            </a:extLst>
          </p:cNvPr>
          <p:cNvSpPr txBox="1"/>
          <p:nvPr/>
        </p:nvSpPr>
        <p:spPr>
          <a:xfrm>
            <a:off x="10420000" y="1500000"/>
            <a:ext cx="118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1F2A37"/>
                </a:solidFill>
              </a:rPr>
              <a:t>Considering</a:t>
            </a:r>
          </a:p>
        </p:txBody>
      </p:sp>
      <p:sp>
        <p:nvSpPr>
          <p:cNvPr id="11" name="tb">
            <a:extLst>
              <a:ext uri="{FF2B5EF4-FFF2-40B4-BE49-F238E27FC236}">
                <a16:creationId xmlns:a16="http://schemas.microsoft.com/office/drawing/2014/main" id="{7A22AC0F-EB11-8292-E812-34DC5CD25660}"/>
              </a:ext>
            </a:extLst>
          </p:cNvPr>
          <p:cNvSpPr txBox="1"/>
          <p:nvPr/>
        </p:nvSpPr>
        <p:spPr>
          <a:xfrm>
            <a:off x="840000" y="1860000"/>
            <a:ext cx="1076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FF4E01"/>
                </a:solidFill>
              </a:rPr>
              <a:t>GOVERNANCE OPERATING MODEL</a:t>
            </a:r>
          </a:p>
        </p:txBody>
      </p:sp>
      <p:sp>
        <p:nvSpPr>
          <p:cNvPr id="12" name="chip">
            <a:extLst>
              <a:ext uri="{FF2B5EF4-FFF2-40B4-BE49-F238E27FC236}">
                <a16:creationId xmlns:a16="http://schemas.microsoft.com/office/drawing/2014/main" id="{9CEBC6FB-E90F-701A-D012-907606701E45}"/>
              </a:ext>
            </a:extLst>
          </p:cNvPr>
          <p:cNvSpPr/>
          <p:nvPr/>
        </p:nvSpPr>
        <p:spPr>
          <a:xfrm>
            <a:off x="520000" y="220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FF4E01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High-Impact AI Definition</a:t>
            </a:r>
          </a:p>
        </p:txBody>
      </p:sp>
      <p:sp>
        <p:nvSpPr>
          <p:cNvPr id="13" name="chip">
            <a:extLst>
              <a:ext uri="{FF2B5EF4-FFF2-40B4-BE49-F238E27FC236}">
                <a16:creationId xmlns:a16="http://schemas.microsoft.com/office/drawing/2014/main" id="{9071B01D-4F7C-C2A7-5ACF-ECAEEC357170}"/>
              </a:ext>
            </a:extLst>
          </p:cNvPr>
          <p:cNvSpPr/>
          <p:nvPr/>
        </p:nvSpPr>
        <p:spPr>
          <a:xfrm>
            <a:off x="4256666" y="220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FFCAB3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AI Governance Model</a:t>
            </a:r>
          </a:p>
        </p:txBody>
      </p:sp>
      <p:sp>
        <p:nvSpPr>
          <p:cNvPr id="14" name="chip">
            <a:extLst>
              <a:ext uri="{FF2B5EF4-FFF2-40B4-BE49-F238E27FC236}">
                <a16:creationId xmlns:a16="http://schemas.microsoft.com/office/drawing/2014/main" id="{1B0F77F1-F751-7CD9-5E53-CC049DEEF361}"/>
              </a:ext>
            </a:extLst>
          </p:cNvPr>
          <p:cNvSpPr/>
          <p:nvPr/>
        </p:nvSpPr>
        <p:spPr>
          <a:xfrm>
            <a:off x="7993332" y="220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FFCAB3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AI Operating Model in DDS, ITS</a:t>
            </a:r>
          </a:p>
        </p:txBody>
      </p:sp>
      <p:sp>
        <p:nvSpPr>
          <p:cNvPr id="15" name="chip">
            <a:extLst>
              <a:ext uri="{FF2B5EF4-FFF2-40B4-BE49-F238E27FC236}">
                <a16:creationId xmlns:a16="http://schemas.microsoft.com/office/drawing/2014/main" id="{59504C4A-141B-EE3B-4C3A-FE1881EA8D39}"/>
              </a:ext>
            </a:extLst>
          </p:cNvPr>
          <p:cNvSpPr/>
          <p:nvPr/>
        </p:nvSpPr>
        <p:spPr>
          <a:xfrm>
            <a:off x="520000" y="260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FFCAB3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Targeted Governance Approach for High Impact AI</a:t>
            </a:r>
          </a:p>
        </p:txBody>
      </p:sp>
      <p:sp>
        <p:nvSpPr>
          <p:cNvPr id="16" name="chip">
            <a:extLst>
              <a:ext uri="{FF2B5EF4-FFF2-40B4-BE49-F238E27FC236}">
                <a16:creationId xmlns:a16="http://schemas.microsoft.com/office/drawing/2014/main" id="{217933D0-3778-34DD-2E13-B733EB979B68}"/>
              </a:ext>
            </a:extLst>
          </p:cNvPr>
          <p:cNvSpPr/>
          <p:nvPr/>
        </p:nvSpPr>
        <p:spPr>
          <a:xfrm>
            <a:off x="4256666" y="260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FFCAB3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Draft AI Framework</a:t>
            </a:r>
          </a:p>
        </p:txBody>
      </p:sp>
      <p:sp>
        <p:nvSpPr>
          <p:cNvPr id="17" name="tb">
            <a:extLst>
              <a:ext uri="{FF2B5EF4-FFF2-40B4-BE49-F238E27FC236}">
                <a16:creationId xmlns:a16="http://schemas.microsoft.com/office/drawing/2014/main" id="{4EC2BEE4-0413-61BD-E752-6D5E8707B02B}"/>
              </a:ext>
            </a:extLst>
          </p:cNvPr>
          <p:cNvSpPr txBox="1"/>
          <p:nvPr/>
        </p:nvSpPr>
        <p:spPr>
          <a:xfrm>
            <a:off x="840000" y="3065000"/>
            <a:ext cx="1076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002856"/>
                </a:solidFill>
              </a:rPr>
              <a:t>POLICIES &amp; CONTROLS</a:t>
            </a:r>
          </a:p>
        </p:txBody>
      </p:sp>
      <p:sp>
        <p:nvSpPr>
          <p:cNvPr id="18" name="chip">
            <a:extLst>
              <a:ext uri="{FF2B5EF4-FFF2-40B4-BE49-F238E27FC236}">
                <a16:creationId xmlns:a16="http://schemas.microsoft.com/office/drawing/2014/main" id="{C7D7BFD1-5800-47F1-7483-5285AB317C86}"/>
              </a:ext>
            </a:extLst>
          </p:cNvPr>
          <p:cNvSpPr/>
          <p:nvPr/>
        </p:nvSpPr>
        <p:spPr>
          <a:xfrm>
            <a:off x="7986024" y="380932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Model Risk Framework</a:t>
            </a:r>
          </a:p>
        </p:txBody>
      </p:sp>
      <p:sp>
        <p:nvSpPr>
          <p:cNvPr id="19" name="chip">
            <a:extLst>
              <a:ext uri="{FF2B5EF4-FFF2-40B4-BE49-F238E27FC236}">
                <a16:creationId xmlns:a16="http://schemas.microsoft.com/office/drawing/2014/main" id="{11BA0D06-8889-84CF-BF99-F7E21DFAD4F8}"/>
              </a:ext>
            </a:extLst>
          </p:cNvPr>
          <p:cNvSpPr/>
          <p:nvPr/>
        </p:nvSpPr>
        <p:spPr>
          <a:xfrm>
            <a:off x="4256666" y="340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Updated FIN Policies</a:t>
            </a:r>
          </a:p>
        </p:txBody>
      </p:sp>
      <p:sp>
        <p:nvSpPr>
          <p:cNvPr id="20" name="chip">
            <a:extLst>
              <a:ext uri="{FF2B5EF4-FFF2-40B4-BE49-F238E27FC236}">
                <a16:creationId xmlns:a16="http://schemas.microsoft.com/office/drawing/2014/main" id="{10A38D1B-DE54-2BDD-1036-75769C3AFF38}"/>
              </a:ext>
            </a:extLst>
          </p:cNvPr>
          <p:cNvSpPr/>
          <p:nvPr/>
        </p:nvSpPr>
        <p:spPr>
          <a:xfrm>
            <a:off x="7993332" y="340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Updated C-RAF &amp; O-RAF approach</a:t>
            </a:r>
          </a:p>
        </p:txBody>
      </p:sp>
      <p:sp>
        <p:nvSpPr>
          <p:cNvPr id="21" name="chip">
            <a:extLst>
              <a:ext uri="{FF2B5EF4-FFF2-40B4-BE49-F238E27FC236}">
                <a16:creationId xmlns:a16="http://schemas.microsoft.com/office/drawing/2014/main" id="{FF46E6FE-3ACD-E683-09D1-D011328C2FBD}"/>
              </a:ext>
            </a:extLst>
          </p:cNvPr>
          <p:cNvSpPr/>
          <p:nvPr/>
        </p:nvSpPr>
        <p:spPr>
          <a:xfrm>
            <a:off x="520000" y="381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Updated PACE AI Assessment</a:t>
            </a:r>
          </a:p>
        </p:txBody>
      </p:sp>
      <p:sp>
        <p:nvSpPr>
          <p:cNvPr id="22" name="chip">
            <a:extLst>
              <a:ext uri="{FF2B5EF4-FFF2-40B4-BE49-F238E27FC236}">
                <a16:creationId xmlns:a16="http://schemas.microsoft.com/office/drawing/2014/main" id="{95B254B8-4588-7FDC-F215-FFF919FF6C16}"/>
              </a:ext>
            </a:extLst>
          </p:cNvPr>
          <p:cNvSpPr/>
          <p:nvPr/>
        </p:nvSpPr>
        <p:spPr>
          <a:xfrm>
            <a:off x="4256666" y="381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Updated TPRM AI screening and questionnaire</a:t>
            </a:r>
          </a:p>
        </p:txBody>
      </p:sp>
      <p:sp>
        <p:nvSpPr>
          <p:cNvPr id="23" name="chip">
            <a:extLst>
              <a:ext uri="{FF2B5EF4-FFF2-40B4-BE49-F238E27FC236}">
                <a16:creationId xmlns:a16="http://schemas.microsoft.com/office/drawing/2014/main" id="{CB2D8C27-06AB-6D1B-AC43-B77E1E1B0FEA}"/>
              </a:ext>
            </a:extLst>
          </p:cNvPr>
          <p:cNvSpPr/>
          <p:nvPr/>
        </p:nvSpPr>
        <p:spPr>
          <a:xfrm>
            <a:off x="520000" y="3404091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New Info, Data &amp; AI Policy</a:t>
            </a:r>
          </a:p>
        </p:txBody>
      </p:sp>
      <p:sp>
        <p:nvSpPr>
          <p:cNvPr id="24" name="chip">
            <a:extLst>
              <a:ext uri="{FF2B5EF4-FFF2-40B4-BE49-F238E27FC236}">
                <a16:creationId xmlns:a16="http://schemas.microsoft.com/office/drawing/2014/main" id="{FAC3EFB2-133B-4EEB-489B-8DD6AB5C567F}"/>
              </a:ext>
            </a:extLst>
          </p:cNvPr>
          <p:cNvSpPr/>
          <p:nvPr/>
        </p:nvSpPr>
        <p:spPr>
          <a:xfrm>
            <a:off x="7986024" y="462068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B2BECC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/>
              <a:t>Process Config &amp; User Qs for SN AI Tower</a:t>
            </a:r>
          </a:p>
        </p:txBody>
      </p:sp>
      <p:sp>
        <p:nvSpPr>
          <p:cNvPr id="25" name="chip">
            <a:extLst>
              <a:ext uri="{FF2B5EF4-FFF2-40B4-BE49-F238E27FC236}">
                <a16:creationId xmlns:a16="http://schemas.microsoft.com/office/drawing/2014/main" id="{F10A9350-5496-A94A-F56F-DF159EABE9AD}"/>
              </a:ext>
            </a:extLst>
          </p:cNvPr>
          <p:cNvSpPr/>
          <p:nvPr/>
        </p:nvSpPr>
        <p:spPr>
          <a:xfrm>
            <a:off x="7986024" y="420624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Disclosure Statement on Public Website</a:t>
            </a:r>
          </a:p>
        </p:txBody>
      </p:sp>
      <p:sp>
        <p:nvSpPr>
          <p:cNvPr id="26" name="chip">
            <a:extLst>
              <a:ext uri="{FF2B5EF4-FFF2-40B4-BE49-F238E27FC236}">
                <a16:creationId xmlns:a16="http://schemas.microsoft.com/office/drawing/2014/main" id="{1BA7598C-B295-C80C-8D12-92979744EC88}"/>
              </a:ext>
            </a:extLst>
          </p:cNvPr>
          <p:cNvSpPr/>
          <p:nvPr/>
        </p:nvSpPr>
        <p:spPr>
          <a:xfrm>
            <a:off x="4229546" y="42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Training: Microsoft &amp; Internal</a:t>
            </a:r>
          </a:p>
        </p:txBody>
      </p:sp>
      <p:sp>
        <p:nvSpPr>
          <p:cNvPr id="27" name="chip">
            <a:extLst>
              <a:ext uri="{FF2B5EF4-FFF2-40B4-BE49-F238E27FC236}">
                <a16:creationId xmlns:a16="http://schemas.microsoft.com/office/drawing/2014/main" id="{1832A55F-111A-9D1B-5C46-6E5529BD9CA9}"/>
              </a:ext>
            </a:extLst>
          </p:cNvPr>
          <p:cNvSpPr/>
          <p:nvPr/>
        </p:nvSpPr>
        <p:spPr>
          <a:xfrm>
            <a:off x="531764" y="42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Info Sharing via AI Champions Network</a:t>
            </a:r>
          </a:p>
        </p:txBody>
      </p:sp>
      <p:sp>
        <p:nvSpPr>
          <p:cNvPr id="28" name="chip">
            <a:extLst>
              <a:ext uri="{FF2B5EF4-FFF2-40B4-BE49-F238E27FC236}">
                <a16:creationId xmlns:a16="http://schemas.microsoft.com/office/drawing/2014/main" id="{EA616A24-D2F6-097F-8089-E75D38728529}"/>
              </a:ext>
            </a:extLst>
          </p:cNvPr>
          <p:cNvSpPr/>
          <p:nvPr/>
        </p:nvSpPr>
        <p:spPr>
          <a:xfrm>
            <a:off x="531764" y="463076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LLM Evaluation Playbook</a:t>
            </a:r>
          </a:p>
        </p:txBody>
      </p:sp>
      <p:sp>
        <p:nvSpPr>
          <p:cNvPr id="29" name="chip">
            <a:extLst>
              <a:ext uri="{FF2B5EF4-FFF2-40B4-BE49-F238E27FC236}">
                <a16:creationId xmlns:a16="http://schemas.microsoft.com/office/drawing/2014/main" id="{0FC581A4-F874-9B5C-BE6B-50EA17273A3E}"/>
              </a:ext>
            </a:extLst>
          </p:cNvPr>
          <p:cNvSpPr/>
          <p:nvPr/>
        </p:nvSpPr>
        <p:spPr>
          <a:xfrm>
            <a:off x="4229546" y="462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02856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AI Development Playbook (Copilot Studio)</a:t>
            </a:r>
          </a:p>
        </p:txBody>
      </p:sp>
      <p:sp>
        <p:nvSpPr>
          <p:cNvPr id="30" name="chip">
            <a:extLst>
              <a:ext uri="{FF2B5EF4-FFF2-40B4-BE49-F238E27FC236}">
                <a16:creationId xmlns:a16="http://schemas.microsoft.com/office/drawing/2014/main" id="{7C5C8EE1-B1E7-BBA7-ACAE-608F8FF65716}"/>
              </a:ext>
            </a:extLst>
          </p:cNvPr>
          <p:cNvSpPr/>
          <p:nvPr/>
        </p:nvSpPr>
        <p:spPr>
          <a:xfrm>
            <a:off x="520000" y="50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B2BECC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Access Control of Public Tools</a:t>
            </a:r>
          </a:p>
        </p:txBody>
      </p:sp>
      <p:sp>
        <p:nvSpPr>
          <p:cNvPr id="31" name="chip">
            <a:extLst>
              <a:ext uri="{FF2B5EF4-FFF2-40B4-BE49-F238E27FC236}">
                <a16:creationId xmlns:a16="http://schemas.microsoft.com/office/drawing/2014/main" id="{D3436FD8-315F-294A-F76A-9B92159AB2D1}"/>
              </a:ext>
            </a:extLst>
          </p:cNvPr>
          <p:cNvSpPr/>
          <p:nvPr/>
        </p:nvSpPr>
        <p:spPr>
          <a:xfrm>
            <a:off x="4256666" y="50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B2BECC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End-user Controls</a:t>
            </a:r>
          </a:p>
        </p:txBody>
      </p:sp>
      <p:sp>
        <p:nvSpPr>
          <p:cNvPr id="32" name="chip">
            <a:extLst>
              <a:ext uri="{FF2B5EF4-FFF2-40B4-BE49-F238E27FC236}">
                <a16:creationId xmlns:a16="http://schemas.microsoft.com/office/drawing/2014/main" id="{2E970C71-B8CF-1BD0-6655-22E42EEC1C52}"/>
              </a:ext>
            </a:extLst>
          </p:cNvPr>
          <p:cNvSpPr/>
          <p:nvPr/>
        </p:nvSpPr>
        <p:spPr>
          <a:xfrm>
            <a:off x="7993332" y="50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02856"/>
            </a:solidFill>
            <a:prstDash val="dash"/>
          </a:ln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002856"/>
                </a:solidFill>
              </a:rPr>
              <a:t>Draft AI Directive</a:t>
            </a:r>
          </a:p>
        </p:txBody>
      </p:sp>
      <p:sp>
        <p:nvSpPr>
          <p:cNvPr id="33" name="tb">
            <a:extLst>
              <a:ext uri="{FF2B5EF4-FFF2-40B4-BE49-F238E27FC236}">
                <a16:creationId xmlns:a16="http://schemas.microsoft.com/office/drawing/2014/main" id="{E615C978-518A-E550-1165-83B2FADDBD60}"/>
              </a:ext>
            </a:extLst>
          </p:cNvPr>
          <p:cNvSpPr txBox="1"/>
          <p:nvPr/>
        </p:nvSpPr>
        <p:spPr>
          <a:xfrm>
            <a:off x="840000" y="5485000"/>
            <a:ext cx="1076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06C4B0"/>
                </a:solidFill>
              </a:rPr>
              <a:t>OVERSIGHT SYSTEMS </a:t>
            </a:r>
          </a:p>
        </p:txBody>
      </p:sp>
      <p:sp>
        <p:nvSpPr>
          <p:cNvPr id="34" name="chip">
            <a:extLst>
              <a:ext uri="{FF2B5EF4-FFF2-40B4-BE49-F238E27FC236}">
                <a16:creationId xmlns:a16="http://schemas.microsoft.com/office/drawing/2014/main" id="{E4C7CC7E-1F7F-8C10-F12D-25C5CD563189}"/>
              </a:ext>
            </a:extLst>
          </p:cNvPr>
          <p:cNvSpPr/>
          <p:nvPr/>
        </p:nvSpPr>
        <p:spPr>
          <a:xfrm>
            <a:off x="520000" y="58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A8C7D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Operational Monitoring (Cyber and Ops)</a:t>
            </a:r>
          </a:p>
        </p:txBody>
      </p:sp>
      <p:sp>
        <p:nvSpPr>
          <p:cNvPr id="35" name="chip">
            <a:extLst>
              <a:ext uri="{FF2B5EF4-FFF2-40B4-BE49-F238E27FC236}">
                <a16:creationId xmlns:a16="http://schemas.microsoft.com/office/drawing/2014/main" id="{840565F0-63B6-0D31-03F5-4A3200D7C10C}"/>
              </a:ext>
            </a:extLst>
          </p:cNvPr>
          <p:cNvSpPr/>
          <p:nvPr/>
        </p:nvSpPr>
        <p:spPr>
          <a:xfrm>
            <a:off x="4256666" y="58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A8C7D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Architecture &amp; Design Principles</a:t>
            </a:r>
          </a:p>
        </p:txBody>
      </p:sp>
      <p:sp>
        <p:nvSpPr>
          <p:cNvPr id="36" name="chip">
            <a:extLst>
              <a:ext uri="{FF2B5EF4-FFF2-40B4-BE49-F238E27FC236}">
                <a16:creationId xmlns:a16="http://schemas.microsoft.com/office/drawing/2014/main" id="{FA64EDD9-D31D-C37B-A9D8-54A44BB2744B}"/>
              </a:ext>
            </a:extLst>
          </p:cNvPr>
          <p:cNvSpPr/>
          <p:nvPr/>
        </p:nvSpPr>
        <p:spPr>
          <a:xfrm>
            <a:off x="7993332" y="5825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0A8C7D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Software Development Lifecycle</a:t>
            </a:r>
          </a:p>
        </p:txBody>
      </p:sp>
      <p:sp>
        <p:nvSpPr>
          <p:cNvPr id="37" name="chip">
            <a:extLst>
              <a:ext uri="{FF2B5EF4-FFF2-40B4-BE49-F238E27FC236}">
                <a16:creationId xmlns:a16="http://schemas.microsoft.com/office/drawing/2014/main" id="{FFD12472-A972-DDC2-F29A-EA036896E859}"/>
              </a:ext>
            </a:extLst>
          </p:cNvPr>
          <p:cNvSpPr/>
          <p:nvPr/>
        </p:nvSpPr>
        <p:spPr>
          <a:xfrm>
            <a:off x="520000" y="623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B4EDE7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AI Registry/Inventory</a:t>
            </a:r>
          </a:p>
        </p:txBody>
      </p:sp>
      <p:sp>
        <p:nvSpPr>
          <p:cNvPr id="38" name="chip">
            <a:extLst>
              <a:ext uri="{FF2B5EF4-FFF2-40B4-BE49-F238E27FC236}">
                <a16:creationId xmlns:a16="http://schemas.microsoft.com/office/drawing/2014/main" id="{9A04261B-B696-BB7A-F384-7D1BF8257B12}"/>
              </a:ext>
            </a:extLst>
          </p:cNvPr>
          <p:cNvSpPr/>
          <p:nvPr/>
        </p:nvSpPr>
        <p:spPr>
          <a:xfrm>
            <a:off x="4256666" y="623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B4EDE7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Evaluation of High Impact AI Agent</a:t>
            </a:r>
          </a:p>
        </p:txBody>
      </p:sp>
      <p:sp>
        <p:nvSpPr>
          <p:cNvPr id="39" name="chip">
            <a:extLst>
              <a:ext uri="{FF2B5EF4-FFF2-40B4-BE49-F238E27FC236}">
                <a16:creationId xmlns:a16="http://schemas.microsoft.com/office/drawing/2014/main" id="{C2ECE3D0-DC74-3DD0-E27C-0C0B08DAE745}"/>
              </a:ext>
            </a:extLst>
          </p:cNvPr>
          <p:cNvSpPr/>
          <p:nvPr/>
        </p:nvSpPr>
        <p:spPr>
          <a:xfrm>
            <a:off x="7993332" y="6230000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B4EDE7"/>
          </a:solidFill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000" b="1">
                <a:solidFill>
                  <a:srgbClr val="1F2A37"/>
                </a:solidFill>
              </a:rPr>
              <a:t>Oversight of AI Cost Management</a:t>
            </a: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834AC773-E40C-6B70-8D87-FA5B25E3B342}"/>
              </a:ext>
            </a:extLst>
          </p:cNvPr>
          <p:cNvSpPr/>
          <p:nvPr/>
        </p:nvSpPr>
        <p:spPr>
          <a:xfrm>
            <a:off x="606316" y="1922276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FE2E643E-953C-A1F6-FA49-5C0FE3208E15}"/>
              </a:ext>
            </a:extLst>
          </p:cNvPr>
          <p:cNvSpPr/>
          <p:nvPr/>
        </p:nvSpPr>
        <p:spPr>
          <a:xfrm>
            <a:off x="606316" y="3134091"/>
            <a:ext cx="155448" cy="155448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22">
            <a:extLst>
              <a:ext uri="{FF2B5EF4-FFF2-40B4-BE49-F238E27FC236}">
                <a16:creationId xmlns:a16="http://schemas.microsoft.com/office/drawing/2014/main" id="{0B7A1F2E-8CE1-8224-C73B-70A006BF2D4A}"/>
              </a:ext>
            </a:extLst>
          </p:cNvPr>
          <p:cNvSpPr/>
          <p:nvPr/>
        </p:nvSpPr>
        <p:spPr>
          <a:xfrm>
            <a:off x="606316" y="5547276"/>
            <a:ext cx="155448" cy="155448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924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26793DB-D0B6-C749-02AE-FD355A25DDEC}"/>
              </a:ext>
            </a:extLst>
          </p:cNvPr>
          <p:cNvSpPr txBox="1">
            <a:spLocks/>
          </p:cNvSpPr>
          <p:nvPr/>
        </p:nvSpPr>
        <p:spPr>
          <a:xfrm>
            <a:off x="359048" y="173850"/>
            <a:ext cx="11473903" cy="100800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Identifying High Impact AI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3D3AA67-C7E6-FDE6-7A1A-E72EFFE5F9E4}"/>
              </a:ext>
            </a:extLst>
          </p:cNvPr>
          <p:cNvSpPr txBox="1">
            <a:spLocks/>
          </p:cNvSpPr>
          <p:nvPr/>
        </p:nvSpPr>
        <p:spPr>
          <a:xfrm>
            <a:off x="359049" y="1200351"/>
            <a:ext cx="11473902" cy="357070"/>
          </a:xfrm>
          <a:prstGeom prst="rect">
            <a:avLst/>
          </a:prstGeom>
        </p:spPr>
        <p:txBody>
          <a:bodyPr wrap="square" lIns="9144" tIns="0" rIns="9144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rgbClr val="181B33"/>
                </a:solidFill>
                <a:latin typeface="Open Sans"/>
              </a:rPr>
              <a:t>One intake, one impact test, and proportionate controls for high-impact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723D0-A1E9-75EE-09BC-98E1C6349CB9}"/>
              </a:ext>
            </a:extLst>
          </p:cNvPr>
          <p:cNvSpPr txBox="1">
            <a:spLocks/>
          </p:cNvSpPr>
          <p:nvPr/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6C39CE-BFB6-4B5C-A3F2-F05151101EA7}" type="slidenum">
              <a:rPr lang="en-CA" smtClean="0"/>
              <a:pPr/>
              <a:t>7</a:t>
            </a:fld>
            <a:endParaRPr lang="en-CA"/>
          </a:p>
        </p:txBody>
      </p:sp>
      <p:sp>
        <p:nvSpPr>
          <p:cNvPr id="5" name="chip">
            <a:extLst>
              <a:ext uri="{FF2B5EF4-FFF2-40B4-BE49-F238E27FC236}">
                <a16:creationId xmlns:a16="http://schemas.microsoft.com/office/drawing/2014/main" id="{5B645509-7F41-D1DB-15A9-A36322671FF9}"/>
              </a:ext>
            </a:extLst>
          </p:cNvPr>
          <p:cNvSpPr/>
          <p:nvPr/>
        </p:nvSpPr>
        <p:spPr>
          <a:xfrm>
            <a:off x="8447682" y="95621"/>
            <a:ext cx="3606666" cy="330000"/>
          </a:xfrm>
          <a:prstGeom prst="roundRect">
            <a:avLst>
              <a:gd name="adj" fmla="val 22000"/>
            </a:avLst>
          </a:prstGeom>
          <a:solidFill>
            <a:srgbClr val="FFCAB3"/>
          </a:solidFill>
          <a:ln>
            <a:noFill/>
          </a:ln>
        </p:spPr>
        <p:txBody>
          <a:bodyPr wrap="square" lIns="18288" tIns="9144" rIns="18288" bIns="914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000" b="1">
                <a:solidFill>
                  <a:srgbClr val="181B33"/>
                </a:solidFill>
                <a:latin typeface="Poppins SemiBold"/>
              </a:rPr>
              <a:t>Targeted Governance Approach for High Impact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09343-326A-40AA-3A62-0D07405E3236}"/>
              </a:ext>
            </a:extLst>
          </p:cNvPr>
          <p:cNvSpPr/>
          <p:nvPr/>
        </p:nvSpPr>
        <p:spPr>
          <a:xfrm>
            <a:off x="438912" y="1627632"/>
            <a:ext cx="11338560" cy="329184"/>
          </a:xfrm>
          <a:prstGeom prst="rect">
            <a:avLst/>
          </a:prstGeom>
          <a:solidFill>
            <a:srgbClr val="0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4572" rIns="18288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oppins SemiBold"/>
              </a:rPr>
              <a:t>AI </a:t>
            </a:r>
            <a:r>
              <a:rPr lang="en-CA" sz="1400" b="1">
                <a:solidFill>
                  <a:srgbClr val="FFFFFF"/>
                </a:solidFill>
                <a:latin typeface="Poppins SemiBold"/>
              </a:rPr>
              <a:t>governance decision framework</a:t>
            </a:r>
            <a:endParaRPr sz="1400" b="1">
              <a:solidFill>
                <a:srgbClr val="FFFFFF"/>
              </a:solidFill>
              <a:latin typeface="Poppins SemiBold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C15631-CCC9-2B84-0D0C-184ADF88CD8C}"/>
              </a:ext>
            </a:extLst>
          </p:cNvPr>
          <p:cNvSpPr>
            <a:spLocks/>
          </p:cNvSpPr>
          <p:nvPr/>
        </p:nvSpPr>
        <p:spPr>
          <a:xfrm>
            <a:off x="566928" y="2112264"/>
            <a:ext cx="274320" cy="274320"/>
          </a:xfrm>
          <a:prstGeom prst="ellipse">
            <a:avLst/>
          </a:prstGeom>
          <a:solidFill>
            <a:srgbClr val="DCECF1"/>
          </a:solidFill>
          <a:ln w="1143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4F71"/>
                </a:solidFill>
                <a:latin typeface="Poppins SemiBold"/>
              </a:rPr>
              <a:t>1</a:t>
            </a:r>
            <a:endParaRPr lang="en-CA" sz="1400" b="1">
              <a:solidFill>
                <a:srgbClr val="004F71"/>
              </a:solidFill>
              <a:latin typeface="Poppins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B24BC-F3EC-7ACB-58BA-D8BF4E22CC8C}"/>
              </a:ext>
            </a:extLst>
          </p:cNvPr>
          <p:cNvSpPr txBox="1"/>
          <p:nvPr/>
        </p:nvSpPr>
        <p:spPr>
          <a:xfrm>
            <a:off x="932688" y="2093976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Intake pathways</a:t>
            </a:r>
            <a:endParaRPr sz="1400" b="1">
              <a:solidFill>
                <a:srgbClr val="004F71"/>
              </a:solidFill>
              <a:latin typeface="Poppins SemiBold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043D8B-1B92-DAEA-4BF4-4119FBB7C349}"/>
              </a:ext>
            </a:extLst>
          </p:cNvPr>
          <p:cNvSpPr>
            <a:spLocks/>
          </p:cNvSpPr>
          <p:nvPr/>
        </p:nvSpPr>
        <p:spPr>
          <a:xfrm>
            <a:off x="3127248" y="2112264"/>
            <a:ext cx="274320" cy="274320"/>
          </a:xfrm>
          <a:prstGeom prst="ellipse">
            <a:avLst/>
          </a:prstGeom>
          <a:solidFill>
            <a:srgbClr val="DCECF1"/>
          </a:solidFill>
          <a:ln w="1143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12B03-6264-5BC8-E2AC-CAE1AF4C2873}"/>
              </a:ext>
            </a:extLst>
          </p:cNvPr>
          <p:cNvSpPr txBox="1">
            <a:spLocks/>
          </p:cNvSpPr>
          <p:nvPr/>
        </p:nvSpPr>
        <p:spPr>
          <a:xfrm>
            <a:off x="3493008" y="2093976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Impact triage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12614A-D268-98B0-2E99-8497E83808D1}"/>
              </a:ext>
            </a:extLst>
          </p:cNvPr>
          <p:cNvSpPr/>
          <p:nvPr/>
        </p:nvSpPr>
        <p:spPr>
          <a:xfrm>
            <a:off x="5742432" y="2112264"/>
            <a:ext cx="274320" cy="274320"/>
          </a:xfrm>
          <a:prstGeom prst="ellipse">
            <a:avLst/>
          </a:prstGeom>
          <a:solidFill>
            <a:srgbClr val="DCECF1"/>
          </a:solidFill>
          <a:ln w="1143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3</a:t>
            </a:r>
            <a:endParaRPr sz="1400" b="1">
              <a:solidFill>
                <a:srgbClr val="004F71"/>
              </a:solidFill>
              <a:latin typeface="Poppins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BCE57-38ED-DC3E-842D-0B736FCB3503}"/>
              </a:ext>
            </a:extLst>
          </p:cNvPr>
          <p:cNvSpPr txBox="1"/>
          <p:nvPr/>
        </p:nvSpPr>
        <p:spPr>
          <a:xfrm>
            <a:off x="6108192" y="2093976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Governance route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0796AF-8F7A-F063-5E3C-EC58C47AB81C}"/>
              </a:ext>
            </a:extLst>
          </p:cNvPr>
          <p:cNvSpPr/>
          <p:nvPr/>
        </p:nvSpPr>
        <p:spPr>
          <a:xfrm>
            <a:off x="10104120" y="2112264"/>
            <a:ext cx="274320" cy="274320"/>
          </a:xfrm>
          <a:prstGeom prst="ellipse">
            <a:avLst/>
          </a:prstGeom>
          <a:solidFill>
            <a:srgbClr val="DCECF1"/>
          </a:solidFill>
          <a:ln w="1143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B3B95F-8F45-028B-088E-7CA95261CF85}"/>
              </a:ext>
            </a:extLst>
          </p:cNvPr>
          <p:cNvSpPr txBox="1">
            <a:spLocks/>
          </p:cNvSpPr>
          <p:nvPr/>
        </p:nvSpPr>
        <p:spPr>
          <a:xfrm>
            <a:off x="10469880" y="2093976"/>
            <a:ext cx="2240280" cy="32004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Implement</a:t>
            </a:r>
          </a:p>
        </p:txBody>
      </p:sp>
      <p:cxnSp>
        <p:nvCxnSpPr>
          <p:cNvPr id="15" name="Connector 34">
            <a:extLst>
              <a:ext uri="{FF2B5EF4-FFF2-40B4-BE49-F238E27FC236}">
                <a16:creationId xmlns:a16="http://schemas.microsoft.com/office/drawing/2014/main" id="{C6D17B64-2A79-B899-9302-8506FC3378FF}"/>
              </a:ext>
            </a:extLst>
          </p:cNvPr>
          <p:cNvCxnSpPr/>
          <p:nvPr/>
        </p:nvCxnSpPr>
        <p:spPr>
          <a:xfrm>
            <a:off x="2816352" y="3108960"/>
            <a:ext cx="338328" cy="0"/>
          </a:xfrm>
          <a:prstGeom prst="line">
            <a:avLst/>
          </a:prstGeom>
          <a:ln w="21590">
            <a:solidFill>
              <a:srgbClr val="004F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35">
            <a:extLst>
              <a:ext uri="{FF2B5EF4-FFF2-40B4-BE49-F238E27FC236}">
                <a16:creationId xmlns:a16="http://schemas.microsoft.com/office/drawing/2014/main" id="{7227EE71-8F09-85AA-B910-946905CE4D1A}"/>
              </a:ext>
            </a:extLst>
          </p:cNvPr>
          <p:cNvCxnSpPr/>
          <p:nvPr/>
        </p:nvCxnSpPr>
        <p:spPr>
          <a:xfrm>
            <a:off x="4178808" y="3346704"/>
            <a:ext cx="0" cy="356616"/>
          </a:xfrm>
          <a:prstGeom prst="line">
            <a:avLst/>
          </a:prstGeom>
          <a:ln w="21590">
            <a:solidFill>
              <a:srgbClr val="004F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36">
            <a:extLst>
              <a:ext uri="{FF2B5EF4-FFF2-40B4-BE49-F238E27FC236}">
                <a16:creationId xmlns:a16="http://schemas.microsoft.com/office/drawing/2014/main" id="{16FE0419-5935-506D-A14B-9CE59A5588C8}"/>
              </a:ext>
            </a:extLst>
          </p:cNvPr>
          <p:cNvCxnSpPr/>
          <p:nvPr/>
        </p:nvCxnSpPr>
        <p:spPr>
          <a:xfrm flipV="1">
            <a:off x="5175504" y="2999232"/>
            <a:ext cx="566928" cy="950976"/>
          </a:xfrm>
          <a:prstGeom prst="line">
            <a:avLst/>
          </a:prstGeom>
          <a:ln w="22860">
            <a:solidFill>
              <a:srgbClr val="2F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37">
            <a:extLst>
              <a:ext uri="{FF2B5EF4-FFF2-40B4-BE49-F238E27FC236}">
                <a16:creationId xmlns:a16="http://schemas.microsoft.com/office/drawing/2014/main" id="{7DCD9B2F-56EC-DD80-E462-D444562E5B71}"/>
              </a:ext>
            </a:extLst>
          </p:cNvPr>
          <p:cNvCxnSpPr/>
          <p:nvPr/>
        </p:nvCxnSpPr>
        <p:spPr>
          <a:xfrm flipV="1">
            <a:off x="5175504" y="4160520"/>
            <a:ext cx="566928" cy="155448"/>
          </a:xfrm>
          <a:prstGeom prst="line">
            <a:avLst/>
          </a:prstGeom>
          <a:ln w="2286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38">
            <a:extLst>
              <a:ext uri="{FF2B5EF4-FFF2-40B4-BE49-F238E27FC236}">
                <a16:creationId xmlns:a16="http://schemas.microsoft.com/office/drawing/2014/main" id="{C5B4A6B3-FE90-962F-0561-9F5DDB071512}"/>
              </a:ext>
            </a:extLst>
          </p:cNvPr>
          <p:cNvCxnSpPr/>
          <p:nvPr/>
        </p:nvCxnSpPr>
        <p:spPr>
          <a:xfrm>
            <a:off x="9619488" y="3035808"/>
            <a:ext cx="283464" cy="0"/>
          </a:xfrm>
          <a:prstGeom prst="line">
            <a:avLst/>
          </a:prstGeom>
          <a:ln w="16510">
            <a:solidFill>
              <a:srgbClr val="2F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39">
            <a:extLst>
              <a:ext uri="{FF2B5EF4-FFF2-40B4-BE49-F238E27FC236}">
                <a16:creationId xmlns:a16="http://schemas.microsoft.com/office/drawing/2014/main" id="{072B3A6C-D5C8-1575-35EA-F9387DB067EF}"/>
              </a:ext>
            </a:extLst>
          </p:cNvPr>
          <p:cNvCxnSpPr/>
          <p:nvPr/>
        </p:nvCxnSpPr>
        <p:spPr>
          <a:xfrm>
            <a:off x="9902952" y="3035808"/>
            <a:ext cx="0" cy="777240"/>
          </a:xfrm>
          <a:prstGeom prst="line">
            <a:avLst/>
          </a:prstGeom>
          <a:ln w="16510">
            <a:solidFill>
              <a:srgbClr val="2F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40">
            <a:extLst>
              <a:ext uri="{FF2B5EF4-FFF2-40B4-BE49-F238E27FC236}">
                <a16:creationId xmlns:a16="http://schemas.microsoft.com/office/drawing/2014/main" id="{2B2CEF7B-028B-37F2-605E-78F141BC2B55}"/>
              </a:ext>
            </a:extLst>
          </p:cNvPr>
          <p:cNvCxnSpPr/>
          <p:nvPr/>
        </p:nvCxnSpPr>
        <p:spPr>
          <a:xfrm>
            <a:off x="9902952" y="3813048"/>
            <a:ext cx="173736" cy="0"/>
          </a:xfrm>
          <a:prstGeom prst="line">
            <a:avLst/>
          </a:prstGeom>
          <a:ln w="19050">
            <a:solidFill>
              <a:srgbClr val="2F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41">
            <a:extLst>
              <a:ext uri="{FF2B5EF4-FFF2-40B4-BE49-F238E27FC236}">
                <a16:creationId xmlns:a16="http://schemas.microsoft.com/office/drawing/2014/main" id="{156BFF93-B1DD-429B-D1CD-4A72C16A6AE7}"/>
              </a:ext>
            </a:extLst>
          </p:cNvPr>
          <p:cNvCxnSpPr/>
          <p:nvPr/>
        </p:nvCxnSpPr>
        <p:spPr>
          <a:xfrm>
            <a:off x="9619488" y="5513832"/>
            <a:ext cx="283464" cy="0"/>
          </a:xfrm>
          <a:prstGeom prst="line">
            <a:avLst/>
          </a:prstGeom>
          <a:ln w="1651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42">
            <a:extLst>
              <a:ext uri="{FF2B5EF4-FFF2-40B4-BE49-F238E27FC236}">
                <a16:creationId xmlns:a16="http://schemas.microsoft.com/office/drawing/2014/main" id="{18255BF4-A1FE-E8A5-4343-5241731C0384}"/>
              </a:ext>
            </a:extLst>
          </p:cNvPr>
          <p:cNvCxnSpPr/>
          <p:nvPr/>
        </p:nvCxnSpPr>
        <p:spPr>
          <a:xfrm flipV="1">
            <a:off x="9902952" y="4389120"/>
            <a:ext cx="0" cy="1124712"/>
          </a:xfrm>
          <a:prstGeom prst="line">
            <a:avLst/>
          </a:prstGeom>
          <a:ln w="1651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43">
            <a:extLst>
              <a:ext uri="{FF2B5EF4-FFF2-40B4-BE49-F238E27FC236}">
                <a16:creationId xmlns:a16="http://schemas.microsoft.com/office/drawing/2014/main" id="{1B2F7559-2E36-E2FF-3989-2CAD2A5FBC0F}"/>
              </a:ext>
            </a:extLst>
          </p:cNvPr>
          <p:cNvCxnSpPr/>
          <p:nvPr/>
        </p:nvCxnSpPr>
        <p:spPr>
          <a:xfrm>
            <a:off x="9902952" y="4389120"/>
            <a:ext cx="173736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44">
            <a:extLst>
              <a:ext uri="{FF2B5EF4-FFF2-40B4-BE49-F238E27FC236}">
                <a16:creationId xmlns:a16="http://schemas.microsoft.com/office/drawing/2014/main" id="{0D99A133-B269-2C3C-7C8F-1011A979D50C}"/>
              </a:ext>
            </a:extLst>
          </p:cNvPr>
          <p:cNvCxnSpPr/>
          <p:nvPr/>
        </p:nvCxnSpPr>
        <p:spPr>
          <a:xfrm>
            <a:off x="731520" y="2633472"/>
            <a:ext cx="0" cy="2542032"/>
          </a:xfrm>
          <a:prstGeom prst="line">
            <a:avLst/>
          </a:prstGeom>
          <a:ln w="15240">
            <a:solidFill>
              <a:srgbClr val="004F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2D0C476-FDEA-5640-4248-38ADF78473F1}"/>
              </a:ext>
            </a:extLst>
          </p:cNvPr>
          <p:cNvSpPr/>
          <p:nvPr/>
        </p:nvSpPr>
        <p:spPr>
          <a:xfrm>
            <a:off x="548640" y="2505456"/>
            <a:ext cx="365760" cy="365760"/>
          </a:xfrm>
          <a:prstGeom prst="ellipse">
            <a:avLst/>
          </a:prstGeom>
          <a:solidFill>
            <a:srgbClr val="EEF4F6"/>
          </a:solidFill>
          <a:ln w="1016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4F71"/>
                </a:solidFill>
                <a:latin typeface="Poppins SemiBold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8CDBFD-39BE-9198-8886-591B8AF859B4}"/>
              </a:ext>
            </a:extLst>
          </p:cNvPr>
          <p:cNvSpPr txBox="1"/>
          <p:nvPr/>
        </p:nvSpPr>
        <p:spPr>
          <a:xfrm>
            <a:off x="996696" y="2478024"/>
            <a:ext cx="1856231" cy="420624"/>
          </a:xfrm>
          <a:prstGeom prst="rect">
            <a:avLst/>
          </a:prstGeom>
          <a:noFill/>
        </p:spPr>
        <p:txBody>
          <a:bodyPr wrap="square" lIns="18288" tIns="4572" rIns="18288" bIns="457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1B33"/>
                </a:solidFill>
                <a:latin typeface="Poppins SemiBold"/>
              </a:rPr>
              <a:t>Personal Productivity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CCC218-ACB8-5C49-FC44-972B5ADCCD84}"/>
              </a:ext>
            </a:extLst>
          </p:cNvPr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EEF4F6"/>
          </a:solidFill>
          <a:ln w="1016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4F71"/>
                </a:solidFill>
                <a:latin typeface="Poppins SemiBold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1B7768-85BC-9524-807E-2C16499F34F3}"/>
              </a:ext>
            </a:extLst>
          </p:cNvPr>
          <p:cNvSpPr txBox="1"/>
          <p:nvPr/>
        </p:nvSpPr>
        <p:spPr>
          <a:xfrm>
            <a:off x="996696" y="3026664"/>
            <a:ext cx="1856231" cy="420624"/>
          </a:xfrm>
          <a:prstGeom prst="rect">
            <a:avLst/>
          </a:prstGeom>
          <a:noFill/>
        </p:spPr>
        <p:txBody>
          <a:bodyPr wrap="square" lIns="18288" tIns="4572" rIns="18288" bIns="457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1B33"/>
                </a:solidFill>
                <a:latin typeface="Poppins SemiBold"/>
              </a:rPr>
              <a:t>Business-Led Self Service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31BA0B7-B926-9574-18B3-0B304E1E77C5}"/>
              </a:ext>
            </a:extLst>
          </p:cNvPr>
          <p:cNvSpPr/>
          <p:nvPr/>
        </p:nvSpPr>
        <p:spPr>
          <a:xfrm>
            <a:off x="548640" y="3602736"/>
            <a:ext cx="365760" cy="365760"/>
          </a:xfrm>
          <a:prstGeom prst="ellipse">
            <a:avLst/>
          </a:prstGeom>
          <a:solidFill>
            <a:srgbClr val="EEF4F6"/>
          </a:solidFill>
          <a:ln w="1016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4F71"/>
                </a:solidFill>
                <a:latin typeface="Poppins SemiBold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C7CC6E-EE1A-0CAB-F591-43EF50050F86}"/>
              </a:ext>
            </a:extLst>
          </p:cNvPr>
          <p:cNvSpPr txBox="1">
            <a:spLocks/>
          </p:cNvSpPr>
          <p:nvPr/>
        </p:nvSpPr>
        <p:spPr>
          <a:xfrm>
            <a:off x="996696" y="3575304"/>
            <a:ext cx="1856231" cy="420624"/>
          </a:xfrm>
          <a:prstGeom prst="rect">
            <a:avLst/>
          </a:prstGeom>
          <a:noFill/>
        </p:spPr>
        <p:txBody>
          <a:bodyPr wrap="square" lIns="18288" tIns="4572" rIns="18288" bIns="457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181B33"/>
                </a:solidFill>
                <a:latin typeface="Poppins SemiBold"/>
              </a:rPr>
              <a:t>DDS-built solutions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ACB8259-453B-DC10-630E-C5B56B96199D}"/>
              </a:ext>
            </a:extLst>
          </p:cNvPr>
          <p:cNvSpPr/>
          <p:nvPr/>
        </p:nvSpPr>
        <p:spPr>
          <a:xfrm>
            <a:off x="548640" y="4151375"/>
            <a:ext cx="365760" cy="365760"/>
          </a:xfrm>
          <a:prstGeom prst="ellipse">
            <a:avLst/>
          </a:prstGeom>
          <a:solidFill>
            <a:srgbClr val="EEF4F6"/>
          </a:solidFill>
          <a:ln w="1016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78EC1-CF9B-95B8-B3A6-003F17D47F06}"/>
              </a:ext>
            </a:extLst>
          </p:cNvPr>
          <p:cNvSpPr txBox="1">
            <a:spLocks/>
          </p:cNvSpPr>
          <p:nvPr/>
        </p:nvSpPr>
        <p:spPr>
          <a:xfrm>
            <a:off x="996696" y="4123944"/>
            <a:ext cx="1856231" cy="420624"/>
          </a:xfrm>
          <a:prstGeom prst="rect">
            <a:avLst/>
          </a:prstGeom>
          <a:noFill/>
        </p:spPr>
        <p:txBody>
          <a:bodyPr wrap="square" lIns="18288" tIns="4572" rIns="18288" bIns="457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181B33"/>
                </a:solidFill>
                <a:latin typeface="Poppins SemiBold"/>
              </a:rPr>
              <a:t>Purchased AI Solutions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38719FB-9C81-89C7-2ACF-5B9276A4F61F}"/>
              </a:ext>
            </a:extLst>
          </p:cNvPr>
          <p:cNvSpPr/>
          <p:nvPr/>
        </p:nvSpPr>
        <p:spPr>
          <a:xfrm>
            <a:off x="548640" y="4700016"/>
            <a:ext cx="365760" cy="365760"/>
          </a:xfrm>
          <a:prstGeom prst="ellipse">
            <a:avLst/>
          </a:prstGeom>
          <a:solidFill>
            <a:srgbClr val="EEF4F6"/>
          </a:solidFill>
          <a:ln w="1016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" tIns="4572" rIns="4572" bIns="457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004F71"/>
                </a:solidFill>
                <a:latin typeface="Poppins SemiBold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81FFAE-41D7-D961-E906-5DB880B3842C}"/>
              </a:ext>
            </a:extLst>
          </p:cNvPr>
          <p:cNvSpPr txBox="1">
            <a:spLocks/>
          </p:cNvSpPr>
          <p:nvPr/>
        </p:nvSpPr>
        <p:spPr>
          <a:xfrm>
            <a:off x="996696" y="4672584"/>
            <a:ext cx="1856231" cy="420624"/>
          </a:xfrm>
          <a:prstGeom prst="rect">
            <a:avLst/>
          </a:prstGeom>
          <a:noFill/>
        </p:spPr>
        <p:txBody>
          <a:bodyPr wrap="square" lIns="18288" tIns="4572" rIns="18288" bIns="457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1">
                <a:solidFill>
                  <a:srgbClr val="181B33"/>
                </a:solidFill>
                <a:latin typeface="Poppins SemiBold"/>
              </a:rPr>
              <a:t>Existing software adds AI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BAE7A412-404C-4BAF-C539-A9AF23939089}"/>
              </a:ext>
            </a:extLst>
          </p:cNvPr>
          <p:cNvSpPr/>
          <p:nvPr/>
        </p:nvSpPr>
        <p:spPr>
          <a:xfrm>
            <a:off x="3154680" y="2606040"/>
            <a:ext cx="2011680" cy="749808"/>
          </a:xfrm>
          <a:prstGeom prst="roundRect">
            <a:avLst/>
          </a:prstGeom>
          <a:solidFill>
            <a:srgbClr val="21374D"/>
          </a:solidFill>
          <a:ln w="12700">
            <a:solidFill>
              <a:srgbClr val="213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US" sz="1500" b="1">
                <a:solidFill>
                  <a:srgbClr val="FFFFFF"/>
                </a:solidFill>
                <a:latin typeface="Poppins SemiBold"/>
              </a:rPr>
              <a:t>Common intake</a:t>
            </a:r>
          </a:p>
          <a:p>
            <a:pPr algn="ctr">
              <a:spcAft>
                <a:spcPts val="0"/>
              </a:spcAft>
            </a:pPr>
            <a:r>
              <a:rPr lang="en-US" sz="1400" b="0">
                <a:solidFill>
                  <a:srgbClr val="FFFFFF"/>
                </a:solidFill>
                <a:latin typeface="Open Sans"/>
              </a:rPr>
              <a:t>Registration of AI Use Cases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A41FE933-9019-AE16-7B23-96920D634B57}"/>
              </a:ext>
            </a:extLst>
          </p:cNvPr>
          <p:cNvSpPr/>
          <p:nvPr/>
        </p:nvSpPr>
        <p:spPr>
          <a:xfrm>
            <a:off x="3154680" y="3703320"/>
            <a:ext cx="2011680" cy="1143000"/>
          </a:xfrm>
          <a:prstGeom prst="roundRect">
            <a:avLst/>
          </a:prstGeom>
          <a:solidFill>
            <a:srgbClr val="004F71"/>
          </a:solidFill>
          <a:ln w="12700">
            <a:solidFill>
              <a:srgbClr val="00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oppins SemiBold"/>
              </a:rPr>
              <a:t>Impact Assessment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Open Sans"/>
              </a:rPr>
              <a:t>Does this meet the policy definition of high-impact AI?</a:t>
            </a:r>
          </a:p>
        </p:txBody>
      </p:sp>
      <p:sp>
        <p:nvSpPr>
          <p:cNvPr id="38" name="Rounded Rectangle 57">
            <a:extLst>
              <a:ext uri="{FF2B5EF4-FFF2-40B4-BE49-F238E27FC236}">
                <a16:creationId xmlns:a16="http://schemas.microsoft.com/office/drawing/2014/main" id="{EDC5D7F7-7FC1-892B-C403-62D17A300122}"/>
              </a:ext>
            </a:extLst>
          </p:cNvPr>
          <p:cNvSpPr/>
          <p:nvPr/>
        </p:nvSpPr>
        <p:spPr>
          <a:xfrm>
            <a:off x="5330952" y="2999232"/>
            <a:ext cx="457200" cy="274320"/>
          </a:xfrm>
          <a:prstGeom prst="roundRect">
            <a:avLst/>
          </a:prstGeom>
          <a:solidFill>
            <a:srgbClr val="EAF5E6"/>
          </a:solidFill>
          <a:ln w="1016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" rIns="9144" bIns="182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2F7D4F"/>
                </a:solidFill>
                <a:latin typeface="Poppins SemiBold"/>
              </a:rPr>
              <a:t>No</a:t>
            </a:r>
          </a:p>
        </p:txBody>
      </p:sp>
      <p:sp>
        <p:nvSpPr>
          <p:cNvPr id="39" name="Rounded Rectangle 58">
            <a:extLst>
              <a:ext uri="{FF2B5EF4-FFF2-40B4-BE49-F238E27FC236}">
                <a16:creationId xmlns:a16="http://schemas.microsoft.com/office/drawing/2014/main" id="{AE8399F8-416D-AC44-F0F8-FD2E15A68051}"/>
              </a:ext>
            </a:extLst>
          </p:cNvPr>
          <p:cNvSpPr/>
          <p:nvPr/>
        </p:nvSpPr>
        <p:spPr>
          <a:xfrm>
            <a:off x="5330952" y="4087368"/>
            <a:ext cx="502920" cy="274320"/>
          </a:xfrm>
          <a:prstGeom prst="roundRect">
            <a:avLst/>
          </a:prstGeom>
          <a:solidFill>
            <a:srgbClr val="F8E7E5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" rIns="9144" bIns="182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CA" sz="1400" b="1">
                <a:solidFill>
                  <a:srgbClr val="C00000"/>
                </a:solidFill>
                <a:latin typeface="Poppins SemiBold"/>
              </a:rPr>
              <a:t>Yes</a:t>
            </a:r>
          </a:p>
        </p:txBody>
      </p:sp>
      <p:sp>
        <p:nvSpPr>
          <p:cNvPr id="40" name="Rounded Rectangle 59">
            <a:extLst>
              <a:ext uri="{FF2B5EF4-FFF2-40B4-BE49-F238E27FC236}">
                <a16:creationId xmlns:a16="http://schemas.microsoft.com/office/drawing/2014/main" id="{6A1E3928-52CA-3935-A057-13933E75675C}"/>
              </a:ext>
            </a:extLst>
          </p:cNvPr>
          <p:cNvSpPr/>
          <p:nvPr/>
        </p:nvSpPr>
        <p:spPr>
          <a:xfrm>
            <a:off x="5742432" y="2505456"/>
            <a:ext cx="3877056" cy="987552"/>
          </a:xfrm>
          <a:prstGeom prst="roundRect">
            <a:avLst/>
          </a:prstGeom>
          <a:solidFill>
            <a:srgbClr val="EAF5E6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600" b="1">
                <a:solidFill>
                  <a:srgbClr val="2F7D4F"/>
                </a:solidFill>
                <a:latin typeface="Poppins SemiBold"/>
              </a:rPr>
              <a:t>Standard path</a:t>
            </a:r>
          </a:p>
          <a:p>
            <a:pPr algn="l">
              <a:spcAft>
                <a:spcPts val="0"/>
              </a:spcAft>
            </a:pPr>
            <a:r>
              <a:rPr lang="en-US" sz="1400" b="0">
                <a:solidFill>
                  <a:srgbClr val="181B33"/>
                </a:solidFill>
                <a:latin typeface="Open Sans"/>
              </a:rPr>
              <a:t>Not high-impact AI: continue with standard guardrails and processes.</a:t>
            </a:r>
          </a:p>
        </p:txBody>
      </p:sp>
      <p:sp>
        <p:nvSpPr>
          <p:cNvPr id="41" name="Rounded Rectangle 60">
            <a:extLst>
              <a:ext uri="{FF2B5EF4-FFF2-40B4-BE49-F238E27FC236}">
                <a16:creationId xmlns:a16="http://schemas.microsoft.com/office/drawing/2014/main" id="{05440C34-0676-99CF-F580-CE7D7CB36E7F}"/>
              </a:ext>
            </a:extLst>
          </p:cNvPr>
          <p:cNvSpPr/>
          <p:nvPr/>
        </p:nvSpPr>
        <p:spPr>
          <a:xfrm>
            <a:off x="5742432" y="3703320"/>
            <a:ext cx="3877056" cy="1051560"/>
          </a:xfrm>
          <a:prstGeom prst="roundRect">
            <a:avLst/>
          </a:prstGeom>
          <a:solidFill>
            <a:srgbClr val="F8E7E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C00000"/>
                </a:solidFill>
                <a:latin typeface="Poppins SemiBold"/>
              </a:rPr>
              <a:t>Governed path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81B33"/>
                </a:solidFill>
                <a:latin typeface="Open Sans"/>
              </a:rPr>
              <a:t>High-impact AI: formal governance, approval gates and ongoing monitoring/re-assessment.</a:t>
            </a:r>
          </a:p>
        </p:txBody>
      </p:sp>
      <p:cxnSp>
        <p:nvCxnSpPr>
          <p:cNvPr id="42" name="Connector 61">
            <a:extLst>
              <a:ext uri="{FF2B5EF4-FFF2-40B4-BE49-F238E27FC236}">
                <a16:creationId xmlns:a16="http://schemas.microsoft.com/office/drawing/2014/main" id="{0B404A1C-4FF3-C56F-59E0-F010431E1300}"/>
              </a:ext>
            </a:extLst>
          </p:cNvPr>
          <p:cNvCxnSpPr>
            <a:cxnSpLocks/>
          </p:cNvCxnSpPr>
          <p:nvPr/>
        </p:nvCxnSpPr>
        <p:spPr>
          <a:xfrm>
            <a:off x="7680960" y="4754880"/>
            <a:ext cx="0" cy="2286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62">
            <a:extLst>
              <a:ext uri="{FF2B5EF4-FFF2-40B4-BE49-F238E27FC236}">
                <a16:creationId xmlns:a16="http://schemas.microsoft.com/office/drawing/2014/main" id="{57F646C0-A40C-1598-CC16-E714B3BC8C7A}"/>
              </a:ext>
            </a:extLst>
          </p:cNvPr>
          <p:cNvSpPr/>
          <p:nvPr/>
        </p:nvSpPr>
        <p:spPr>
          <a:xfrm>
            <a:off x="5742432" y="4983480"/>
            <a:ext cx="387705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3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500" b="1">
                <a:solidFill>
                  <a:srgbClr val="21374D"/>
                </a:solidFill>
                <a:latin typeface="Poppins SemiBold"/>
              </a:rPr>
              <a:t>Governance gates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35A1F68-FF9B-893C-E50A-A766F4EAD1F4}"/>
              </a:ext>
            </a:extLst>
          </p:cNvPr>
          <p:cNvSpPr/>
          <p:nvPr/>
        </p:nvSpPr>
        <p:spPr>
          <a:xfrm>
            <a:off x="5916168" y="5330952"/>
            <a:ext cx="201168" cy="201168"/>
          </a:xfrm>
          <a:prstGeom prst="ellipse">
            <a:avLst/>
          </a:prstGeom>
          <a:solidFill>
            <a:srgbClr val="DCECF1"/>
          </a:solidFill>
          <a:ln w="8890">
            <a:solidFill>
              <a:srgbClr val="213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1374D"/>
                </a:solidFill>
                <a:latin typeface="Poppins SemiBold"/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EDB503-2BD9-2A72-CFFF-26E764545CBC}"/>
              </a:ext>
            </a:extLst>
          </p:cNvPr>
          <p:cNvSpPr txBox="1">
            <a:spLocks/>
          </p:cNvSpPr>
          <p:nvPr/>
        </p:nvSpPr>
        <p:spPr>
          <a:xfrm>
            <a:off x="6199632" y="5312664"/>
            <a:ext cx="3090672" cy="256032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CA" sz="1400" b="0">
                <a:solidFill>
                  <a:srgbClr val="181B33"/>
                </a:solidFill>
                <a:latin typeface="Open Sans"/>
              </a:rPr>
              <a:t>Cross-functional AI Risk Assessment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9ECB53B-D327-D863-F60F-6066AA8ECD81}"/>
              </a:ext>
            </a:extLst>
          </p:cNvPr>
          <p:cNvSpPr/>
          <p:nvPr/>
        </p:nvSpPr>
        <p:spPr>
          <a:xfrm>
            <a:off x="5916168" y="5568696"/>
            <a:ext cx="201168" cy="201168"/>
          </a:xfrm>
          <a:prstGeom prst="ellipse">
            <a:avLst/>
          </a:prstGeom>
          <a:solidFill>
            <a:srgbClr val="DCECF1"/>
          </a:solidFill>
          <a:ln w="8890">
            <a:solidFill>
              <a:srgbClr val="213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1374D"/>
                </a:solidFill>
                <a:latin typeface="Poppins SemiBold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07BDF5-FE8F-B4A1-2B27-0D5E0D2838F8}"/>
              </a:ext>
            </a:extLst>
          </p:cNvPr>
          <p:cNvSpPr txBox="1"/>
          <p:nvPr/>
        </p:nvSpPr>
        <p:spPr>
          <a:xfrm>
            <a:off x="6199632" y="5550408"/>
            <a:ext cx="3090672" cy="256032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1B33"/>
                </a:solidFill>
                <a:latin typeface="Open Sans"/>
              </a:rPr>
              <a:t>Integrated Risk Rating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378C952-C437-4519-C066-97F0E3764062}"/>
              </a:ext>
            </a:extLst>
          </p:cNvPr>
          <p:cNvSpPr/>
          <p:nvPr/>
        </p:nvSpPr>
        <p:spPr>
          <a:xfrm>
            <a:off x="5916168" y="5806440"/>
            <a:ext cx="201168" cy="201168"/>
          </a:xfrm>
          <a:prstGeom prst="ellipse">
            <a:avLst/>
          </a:prstGeom>
          <a:solidFill>
            <a:srgbClr val="DCECF1"/>
          </a:solidFill>
          <a:ln w="8890">
            <a:solidFill>
              <a:srgbClr val="213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" tIns="914" rIns="914" bIns="914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1374D"/>
                </a:solidFill>
                <a:latin typeface="Poppins SemiBold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7C5799-7C14-D72B-ACA4-6276B72F3BC8}"/>
              </a:ext>
            </a:extLst>
          </p:cNvPr>
          <p:cNvSpPr txBox="1"/>
          <p:nvPr/>
        </p:nvSpPr>
        <p:spPr>
          <a:xfrm>
            <a:off x="6199632" y="5788152"/>
            <a:ext cx="3090672" cy="256032"/>
          </a:xfrm>
          <a:prstGeom prst="rect">
            <a:avLst/>
          </a:prstGeom>
          <a:noFill/>
        </p:spPr>
        <p:txBody>
          <a:bodyPr wrap="square" lIns="18288" tIns="914" rIns="18288" bIns="91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1B33"/>
                </a:solidFill>
                <a:latin typeface="Open Sans"/>
              </a:rPr>
              <a:t>Business owner </a:t>
            </a:r>
            <a:r>
              <a:rPr lang="en-US" sz="1400" b="0">
                <a:solidFill>
                  <a:srgbClr val="181B33"/>
                </a:solidFill>
                <a:latin typeface="Open Sans"/>
              </a:rPr>
              <a:t>MD </a:t>
            </a:r>
            <a:r>
              <a:rPr sz="1400" b="0">
                <a:solidFill>
                  <a:srgbClr val="181B33"/>
                </a:solidFill>
                <a:latin typeface="Open Sans"/>
              </a:rPr>
              <a:t>approval</a:t>
            </a:r>
          </a:p>
        </p:txBody>
      </p:sp>
      <p:sp>
        <p:nvSpPr>
          <p:cNvPr id="50" name="Rounded Rectangle 69">
            <a:extLst>
              <a:ext uri="{FF2B5EF4-FFF2-40B4-BE49-F238E27FC236}">
                <a16:creationId xmlns:a16="http://schemas.microsoft.com/office/drawing/2014/main" id="{99A03B5D-52AF-A3EB-DF6B-D7D4401DD314}"/>
              </a:ext>
            </a:extLst>
          </p:cNvPr>
          <p:cNvSpPr/>
          <p:nvPr/>
        </p:nvSpPr>
        <p:spPr>
          <a:xfrm>
            <a:off x="10076688" y="3456432"/>
            <a:ext cx="1700784" cy="1005840"/>
          </a:xfrm>
          <a:prstGeom prst="roundRect">
            <a:avLst/>
          </a:prstGeom>
          <a:solidFill>
            <a:srgbClr val="5D9BB0"/>
          </a:solidFill>
          <a:ln w="12700">
            <a:solidFill>
              <a:srgbClr val="5D9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oppins SemiBold"/>
              </a:rPr>
              <a:t>Move to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oppins SemiBold"/>
              </a:rPr>
              <a:t>Implementation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5AFFAE-BE15-DB22-D5B7-E0AF70536516}"/>
              </a:ext>
            </a:extLst>
          </p:cNvPr>
          <p:cNvSpPr txBox="1"/>
          <p:nvPr/>
        </p:nvSpPr>
        <p:spPr>
          <a:xfrm>
            <a:off x="566928" y="6236208"/>
            <a:ext cx="10881360" cy="274320"/>
          </a:xfrm>
          <a:prstGeom prst="rect">
            <a:avLst/>
          </a:prstGeom>
          <a:noFill/>
        </p:spPr>
        <p:txBody>
          <a:bodyPr wrap="square" lIns="18288" tIns="4572" rIns="18288" bIns="457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4F5961"/>
                </a:solidFill>
                <a:latin typeface="Open Sans"/>
              </a:rPr>
              <a:t>Design principle: a single intake record, risk-based routing, and stronger oversight only where impact is high.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34E642-1712-7730-EA5B-83A8DFF17D1E}"/>
              </a:ext>
            </a:extLst>
          </p:cNvPr>
          <p:cNvSpPr/>
          <p:nvPr/>
        </p:nvSpPr>
        <p:spPr>
          <a:xfrm>
            <a:off x="438912" y="6528816"/>
            <a:ext cx="11338560" cy="32004"/>
          </a:xfrm>
          <a:prstGeom prst="rect">
            <a:avLst/>
          </a:prstGeom>
          <a:solidFill>
            <a:srgbClr val="FFC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8D82951-D705-FB0C-7067-4A33E294A74D}"/>
              </a:ext>
            </a:extLst>
          </p:cNvPr>
          <p:cNvCxnSpPr>
            <a:cxnSpLocks/>
          </p:cNvCxnSpPr>
          <p:nvPr/>
        </p:nvCxnSpPr>
        <p:spPr>
          <a:xfrm>
            <a:off x="8696325" y="5918454"/>
            <a:ext cx="1723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Stop with solid fill">
            <a:extLst>
              <a:ext uri="{FF2B5EF4-FFF2-40B4-BE49-F238E27FC236}">
                <a16:creationId xmlns:a16="http://schemas.microsoft.com/office/drawing/2014/main" id="{0A222210-CC1D-D6C6-FE44-3D88D0BEC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92259" y="5468112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D7DD6FB-71E3-6ED7-BE9B-EBD3E1CCDF45}"/>
              </a:ext>
            </a:extLst>
          </p:cNvPr>
          <p:cNvSpPr txBox="1"/>
          <p:nvPr/>
        </p:nvSpPr>
        <p:spPr>
          <a:xfrm>
            <a:off x="9852437" y="4754880"/>
            <a:ext cx="448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Yes</a:t>
            </a:r>
            <a:endParaRPr lang="en-CA" sz="12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7CD243-D3DC-D105-8E5D-12083FE446FF}"/>
              </a:ext>
            </a:extLst>
          </p:cNvPr>
          <p:cNvSpPr txBox="1"/>
          <p:nvPr/>
        </p:nvSpPr>
        <p:spPr>
          <a:xfrm>
            <a:off x="9788429" y="5678424"/>
            <a:ext cx="448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No</a:t>
            </a:r>
            <a:endParaRPr lang="en-CA" sz="1200"/>
          </a:p>
        </p:txBody>
      </p:sp>
    </p:spTree>
    <p:extLst>
      <p:ext uri="{BB962C8B-B14F-4D97-AF65-F5344CB8AC3E}">
        <p14:creationId xmlns:p14="http://schemas.microsoft.com/office/powerpoint/2010/main" val="305123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AE5CF9-9BA6-7855-5627-D46ECD6B577C}"/>
              </a:ext>
            </a:extLst>
          </p:cNvPr>
          <p:cNvSpPr/>
          <p:nvPr/>
        </p:nvSpPr>
        <p:spPr>
          <a:xfrm>
            <a:off x="75415" y="35821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0B7879-6F55-23DE-23BA-D10170C1299E}"/>
              </a:ext>
            </a:extLst>
          </p:cNvPr>
          <p:cNvSpPr/>
          <p:nvPr/>
        </p:nvSpPr>
        <p:spPr>
          <a:xfrm>
            <a:off x="34747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AAF8EF-0F16-41A4-0AAC-E766B79FA5A1}"/>
              </a:ext>
            </a:extLst>
          </p:cNvPr>
          <p:cNvSpPr/>
          <p:nvPr/>
        </p:nvSpPr>
        <p:spPr>
          <a:xfrm>
            <a:off x="96926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33586F-B748-F909-117B-748DE5969666}"/>
              </a:ext>
            </a:extLst>
          </p:cNvPr>
          <p:cNvSpPr/>
          <p:nvPr/>
        </p:nvSpPr>
        <p:spPr>
          <a:xfrm>
            <a:off x="1591056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8E79EB-DA42-3F08-F8B4-9E5E932FF1D1}"/>
              </a:ext>
            </a:extLst>
          </p:cNvPr>
          <p:cNvSpPr/>
          <p:nvPr/>
        </p:nvSpPr>
        <p:spPr>
          <a:xfrm>
            <a:off x="2212848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E1CFFF-CD7F-392C-FAD5-EE155A13F2CD}"/>
              </a:ext>
            </a:extLst>
          </p:cNvPr>
          <p:cNvSpPr/>
          <p:nvPr/>
        </p:nvSpPr>
        <p:spPr>
          <a:xfrm>
            <a:off x="2834640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16E9DB-92A1-EAC0-130B-E23A6D962592}"/>
              </a:ext>
            </a:extLst>
          </p:cNvPr>
          <p:cNvSpPr/>
          <p:nvPr/>
        </p:nvSpPr>
        <p:spPr>
          <a:xfrm>
            <a:off x="3456432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8D48F9-C122-8326-5D93-A899C594CB73}"/>
              </a:ext>
            </a:extLst>
          </p:cNvPr>
          <p:cNvSpPr/>
          <p:nvPr/>
        </p:nvSpPr>
        <p:spPr>
          <a:xfrm>
            <a:off x="4078224" y="0"/>
            <a:ext cx="310896" cy="566928"/>
          </a:xfrm>
          <a:prstGeom prst="rect">
            <a:avLst/>
          </a:prstGeom>
          <a:solidFill>
            <a:srgbClr val="00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5D6BD1-F893-03B9-E9D2-67AAF211EB5F}"/>
              </a:ext>
            </a:extLst>
          </p:cNvPr>
          <p:cNvSpPr txBox="1"/>
          <p:nvPr/>
        </p:nvSpPr>
        <p:spPr>
          <a:xfrm>
            <a:off x="334463" y="566928"/>
            <a:ext cx="786384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82F"/>
                </a:solidFill>
                <a:latin typeface="Aptos Display"/>
              </a:rPr>
              <a:t>AI Assessment Pathway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82743-A3E0-359A-FD6E-07B08F8FD739}"/>
              </a:ext>
            </a:extLst>
          </p:cNvPr>
          <p:cNvSpPr txBox="1"/>
          <p:nvPr/>
        </p:nvSpPr>
        <p:spPr>
          <a:xfrm>
            <a:off x="365760" y="973836"/>
            <a:ext cx="70408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A6573"/>
                </a:solidFill>
                <a:latin typeface="Aptos"/>
              </a:rPr>
              <a:t>Questions, tools and decision methods across each checkpoint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A7F75C2C-B788-D9C9-C171-F73419AFC4D5}"/>
              </a:ext>
            </a:extLst>
          </p:cNvPr>
          <p:cNvSpPr/>
          <p:nvPr/>
        </p:nvSpPr>
        <p:spPr>
          <a:xfrm>
            <a:off x="475488" y="1314283"/>
            <a:ext cx="2331720" cy="347472"/>
          </a:xfrm>
          <a:prstGeom prst="roundRect">
            <a:avLst/>
          </a:prstGeom>
          <a:solidFill>
            <a:srgbClr val="FF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lang="en-US" sz="1400" b="1">
                <a:solidFill>
                  <a:srgbClr val="1F2A37"/>
                </a:solidFill>
                <a:latin typeface="Aptos"/>
              </a:rPr>
              <a:t>7</a:t>
            </a:r>
            <a:r>
              <a:rPr sz="1400" b="1">
                <a:solidFill>
                  <a:srgbClr val="1F2A37"/>
                </a:solidFill>
                <a:latin typeface="Aptos"/>
              </a:rPr>
              <a:t>  Assessment checkpoints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4D9658A6-422E-DD43-8F63-D8E2F73BEB52}"/>
              </a:ext>
            </a:extLst>
          </p:cNvPr>
          <p:cNvSpPr/>
          <p:nvPr/>
        </p:nvSpPr>
        <p:spPr>
          <a:xfrm>
            <a:off x="2926080" y="1314283"/>
            <a:ext cx="1965960" cy="347472"/>
          </a:xfrm>
          <a:prstGeom prst="roundRect">
            <a:avLst/>
          </a:prstGeom>
          <a:solidFill>
            <a:srgbClr val="CF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A8C7D"/>
                </a:solidFill>
                <a:latin typeface="Aptos"/>
              </a:rPr>
              <a:t>3  Core toolsets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075EA3-6F40-3894-39FD-E99744B78215}"/>
              </a:ext>
            </a:extLst>
          </p:cNvPr>
          <p:cNvSpPr txBox="1"/>
          <p:nvPr/>
        </p:nvSpPr>
        <p:spPr>
          <a:xfrm>
            <a:off x="7437937" y="1225296"/>
            <a:ext cx="38862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A6573"/>
                </a:solidFill>
                <a:latin typeface="Aptos"/>
              </a:rPr>
              <a:t>Route each use case to the right assessment and approval path.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285454C-FC42-BC99-D736-22832BD56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230690"/>
              </p:ext>
            </p:extLst>
          </p:nvPr>
        </p:nvGraphicFramePr>
        <p:xfrm>
          <a:off x="365760" y="1714924"/>
          <a:ext cx="11466575" cy="4973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5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Assessment</a:t>
                      </a:r>
                    </a:p>
                  </a:txBody>
                  <a:tcPr>
                    <a:solidFill>
                      <a:srgbClr val="0058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Key question triggers</a:t>
                      </a:r>
                    </a:p>
                  </a:txBody>
                  <a:tcPr>
                    <a:solidFill>
                      <a:srgbClr val="0058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Tools</a:t>
                      </a:r>
                    </a:p>
                  </a:txBody>
                  <a:tcPr>
                    <a:solidFill>
                      <a:srgbClr val="0058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0058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Initial Intake Triage</a:t>
                      </a:r>
                    </a:p>
                  </a:txBody>
                  <a:tcPr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Business need; Bank impact; AI behavior; data sensitivity</a:t>
                      </a:r>
                    </a:p>
                  </a:txBody>
                  <a:tcPr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ServiceNow; Power App</a:t>
                      </a:r>
                    </a:p>
                  </a:txBody>
                  <a:tcPr>
                    <a:solidFill>
                      <a:srgbClr val="FFE3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Fast-track standard requests; flag higher-impact cases</a:t>
                      </a:r>
                    </a:p>
                  </a:txBody>
                  <a:tcPr>
                    <a:solidFill>
                      <a:srgbClr val="FF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AI Enablement Assessment
(pre-development)</a:t>
                      </a:r>
                    </a:p>
                  </a:txBody>
                  <a:tcPr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Pattern fit; autonomy; data source; external systems; output risk</a:t>
                      </a:r>
                    </a:p>
                  </a:txBody>
                  <a:tcPr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Risk calculator; Reference Architecture; Guardrails</a:t>
                      </a:r>
                    </a:p>
                  </a:txBody>
                  <a:tcPr>
                    <a:solidFill>
                      <a:srgbClr val="FFEF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Assess configuration and involve domain experts early</a:t>
                      </a:r>
                    </a:p>
                  </a:txBody>
                  <a:tcPr>
                    <a:solidFill>
                      <a:srgbClr val="FF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TPRM Assessment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Vendor exposure; data sensitivity; access; control maturity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ServiceNow; VRA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Review vendor activity, data use, and privacy/security/ops controls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Cyber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IAM; privacy; logging; RAG/KG; monitoring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ServiceNow; Copilot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Test access, data protection, monitoring, vendor risk and shutdown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1F2A37"/>
                          </a:solidFill>
                          <a:latin typeface="Aptos"/>
                        </a:rPr>
                        <a:t>AISIA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rgbClr val="1F2A37"/>
                          </a:solidFill>
                          <a:latin typeface="Aptos"/>
                        </a:rPr>
                        <a:t>When AI system materially influences decisions about individuals</a:t>
                      </a:r>
                      <a:endParaRPr sz="1400" b="0">
                        <a:solidFill>
                          <a:srgbClr val="1F2A37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rgbClr val="1F2A37"/>
                          </a:solidFill>
                          <a:latin typeface="Aptos"/>
                        </a:rPr>
                        <a:t>Human-led</a:t>
                      </a:r>
                      <a:endParaRPr sz="1400" b="0">
                        <a:solidFill>
                          <a:srgbClr val="1F2A37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CA" sz="1400" b="0" i="0">
                          <a:effectLst/>
                          <a:latin typeface="Aptos" panose="020B0004020202020204" pitchFamily="34" charset="0"/>
                        </a:rPr>
                        <a:t>Assessment of fairness, bias, and explainability; Privacy and legal risk evaluation; Documentation of impacts and mitigations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584464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AI Enablement
(Development/QA)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SAD; validation; support; C-RAF findings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ServiceNow; checklist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A37"/>
                          </a:solidFill>
                          <a:latin typeface="Aptos"/>
                        </a:rPr>
                        <a:t>Risk Review Board</a:t>
                      </a:r>
                    </a:p>
                  </a:txBody>
                  <a:tcPr>
                    <a:solidFill>
                      <a:srgbClr val="E2F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Bank-domain risk requiring expert review</a:t>
                      </a:r>
                    </a:p>
                  </a:txBody>
                  <a:tcPr>
                    <a:solidFill>
                      <a:srgbClr val="E2F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TBD</a:t>
                      </a:r>
                    </a:p>
                  </a:txBody>
                  <a:tcPr>
                    <a:solidFill>
                      <a:srgbClr val="E2F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7"/>
                          </a:solidFill>
                          <a:latin typeface="Aptos"/>
                        </a:rPr>
                        <a:t>Risk experts advise business-owner MD</a:t>
                      </a:r>
                    </a:p>
                  </a:txBody>
                  <a:tcPr>
                    <a:solidFill>
                      <a:srgbClr val="E2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tb">
            <a:extLst>
              <a:ext uri="{FF2B5EF4-FFF2-40B4-BE49-F238E27FC236}">
                <a16:creationId xmlns:a16="http://schemas.microsoft.com/office/drawing/2014/main" id="{9A156E0A-8E12-06B9-6367-5063F20C798B}"/>
              </a:ext>
            </a:extLst>
          </p:cNvPr>
          <p:cNvSpPr txBox="1"/>
          <p:nvPr/>
        </p:nvSpPr>
        <p:spPr>
          <a:xfrm>
            <a:off x="934192" y="6675896"/>
            <a:ext cx="2280646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FF4E01"/>
                </a:solidFill>
              </a:rPr>
              <a:t>GOVERNANCE OPERATING MODEL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BCACA020-696C-12D4-9D28-54EB014D0B00}"/>
              </a:ext>
            </a:extLst>
          </p:cNvPr>
          <p:cNvSpPr/>
          <p:nvPr/>
        </p:nvSpPr>
        <p:spPr>
          <a:xfrm>
            <a:off x="700508" y="6719318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b">
            <a:extLst>
              <a:ext uri="{FF2B5EF4-FFF2-40B4-BE49-F238E27FC236}">
                <a16:creationId xmlns:a16="http://schemas.microsoft.com/office/drawing/2014/main" id="{D2F9DE3A-C87F-48D6-52C0-61A715FEC20C}"/>
              </a:ext>
            </a:extLst>
          </p:cNvPr>
          <p:cNvSpPr txBox="1"/>
          <p:nvPr/>
        </p:nvSpPr>
        <p:spPr>
          <a:xfrm>
            <a:off x="4815234" y="6675896"/>
            <a:ext cx="1076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002856"/>
                </a:solidFill>
              </a:rPr>
              <a:t>POLICIES &amp; CONTROLS</a:t>
            </a:r>
          </a:p>
        </p:txBody>
      </p:sp>
      <p:sp>
        <p:nvSpPr>
          <p:cNvPr id="37" name="Rounded Rectangle 15">
            <a:extLst>
              <a:ext uri="{FF2B5EF4-FFF2-40B4-BE49-F238E27FC236}">
                <a16:creationId xmlns:a16="http://schemas.microsoft.com/office/drawing/2014/main" id="{BC7044D7-3376-2082-A52C-9B28403D1D7A}"/>
              </a:ext>
            </a:extLst>
          </p:cNvPr>
          <p:cNvSpPr/>
          <p:nvPr/>
        </p:nvSpPr>
        <p:spPr>
          <a:xfrm>
            <a:off x="4581550" y="6744987"/>
            <a:ext cx="155448" cy="155448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b">
            <a:extLst>
              <a:ext uri="{FF2B5EF4-FFF2-40B4-BE49-F238E27FC236}">
                <a16:creationId xmlns:a16="http://schemas.microsoft.com/office/drawing/2014/main" id="{6B45FF4F-19E6-3849-F430-397D18E17F12}"/>
              </a:ext>
            </a:extLst>
          </p:cNvPr>
          <p:cNvSpPr txBox="1"/>
          <p:nvPr/>
        </p:nvSpPr>
        <p:spPr>
          <a:xfrm>
            <a:off x="8620307" y="6657042"/>
            <a:ext cx="1076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b="1">
                <a:solidFill>
                  <a:srgbClr val="06C4B0"/>
                </a:solidFill>
              </a:rPr>
              <a:t>OVERSIGHT SYSTEMS </a:t>
            </a:r>
          </a:p>
        </p:txBody>
      </p:sp>
      <p:sp>
        <p:nvSpPr>
          <p:cNvPr id="41" name="Rounded Rectangle 22">
            <a:extLst>
              <a:ext uri="{FF2B5EF4-FFF2-40B4-BE49-F238E27FC236}">
                <a16:creationId xmlns:a16="http://schemas.microsoft.com/office/drawing/2014/main" id="{E9637F41-4856-1D24-A9F3-B81F4B261DD5}"/>
              </a:ext>
            </a:extLst>
          </p:cNvPr>
          <p:cNvSpPr/>
          <p:nvPr/>
        </p:nvSpPr>
        <p:spPr>
          <a:xfrm>
            <a:off x="8386623" y="6719318"/>
            <a:ext cx="155448" cy="155448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8">
            <a:extLst>
              <a:ext uri="{FF2B5EF4-FFF2-40B4-BE49-F238E27FC236}">
                <a16:creationId xmlns:a16="http://schemas.microsoft.com/office/drawing/2014/main" id="{45A66F4A-F7C3-4003-08DE-D38D493A2100}"/>
              </a:ext>
            </a:extLst>
          </p:cNvPr>
          <p:cNvSpPr/>
          <p:nvPr/>
        </p:nvSpPr>
        <p:spPr>
          <a:xfrm>
            <a:off x="11521440" y="2281853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8">
            <a:extLst>
              <a:ext uri="{FF2B5EF4-FFF2-40B4-BE49-F238E27FC236}">
                <a16:creationId xmlns:a16="http://schemas.microsoft.com/office/drawing/2014/main" id="{04F759EF-C246-8B80-0530-60B0048A3BEF}"/>
              </a:ext>
            </a:extLst>
          </p:cNvPr>
          <p:cNvSpPr/>
          <p:nvPr/>
        </p:nvSpPr>
        <p:spPr>
          <a:xfrm>
            <a:off x="11521440" y="2926506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28CDD109-3B49-3586-6692-8B78C8ECBE1E}"/>
              </a:ext>
            </a:extLst>
          </p:cNvPr>
          <p:cNvSpPr/>
          <p:nvPr/>
        </p:nvSpPr>
        <p:spPr>
          <a:xfrm>
            <a:off x="11493159" y="5729326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15">
            <a:extLst>
              <a:ext uri="{FF2B5EF4-FFF2-40B4-BE49-F238E27FC236}">
                <a16:creationId xmlns:a16="http://schemas.microsoft.com/office/drawing/2014/main" id="{AFF9C1CA-B3D6-7F5A-3DFF-7BB759C35B0B}"/>
              </a:ext>
            </a:extLst>
          </p:cNvPr>
          <p:cNvSpPr/>
          <p:nvPr/>
        </p:nvSpPr>
        <p:spPr>
          <a:xfrm>
            <a:off x="11521440" y="3539154"/>
            <a:ext cx="155448" cy="155448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15">
            <a:extLst>
              <a:ext uri="{FF2B5EF4-FFF2-40B4-BE49-F238E27FC236}">
                <a16:creationId xmlns:a16="http://schemas.microsoft.com/office/drawing/2014/main" id="{C784304C-AA29-444A-11FD-CA34A06671A4}"/>
              </a:ext>
            </a:extLst>
          </p:cNvPr>
          <p:cNvSpPr/>
          <p:nvPr/>
        </p:nvSpPr>
        <p:spPr>
          <a:xfrm>
            <a:off x="11521440" y="4192948"/>
            <a:ext cx="155448" cy="155448"/>
          </a:xfrm>
          <a:prstGeom prst="roundRect">
            <a:avLst/>
          </a:prstGeom>
          <a:solidFill>
            <a:srgbClr val="00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2">
            <a:extLst>
              <a:ext uri="{FF2B5EF4-FFF2-40B4-BE49-F238E27FC236}">
                <a16:creationId xmlns:a16="http://schemas.microsoft.com/office/drawing/2014/main" id="{24561806-3C5A-1012-6CC0-994054C46562}"/>
              </a:ext>
            </a:extLst>
          </p:cNvPr>
          <p:cNvSpPr/>
          <p:nvPr/>
        </p:nvSpPr>
        <p:spPr>
          <a:xfrm>
            <a:off x="11521440" y="4855888"/>
            <a:ext cx="155448" cy="155448"/>
          </a:xfrm>
          <a:prstGeom prst="roundRect">
            <a:avLst/>
          </a:prstGeom>
          <a:solidFill>
            <a:srgbClr val="06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8">
            <a:extLst>
              <a:ext uri="{FF2B5EF4-FFF2-40B4-BE49-F238E27FC236}">
                <a16:creationId xmlns:a16="http://schemas.microsoft.com/office/drawing/2014/main" id="{72516642-9E2D-C6C4-870B-AA84E38A6D24}"/>
              </a:ext>
            </a:extLst>
          </p:cNvPr>
          <p:cNvSpPr/>
          <p:nvPr/>
        </p:nvSpPr>
        <p:spPr>
          <a:xfrm>
            <a:off x="11521440" y="6218260"/>
            <a:ext cx="155448" cy="155448"/>
          </a:xfrm>
          <a:prstGeom prst="roundRect">
            <a:avLst/>
          </a:prstGeom>
          <a:solidFill>
            <a:srgbClr val="FF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8960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1172</Words>
  <Application>Microsoft Office PowerPoint</Application>
  <PresentationFormat>Widescreen</PresentationFormat>
  <Paragraphs>259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Open Sans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Aleman</dc:creator>
  <cp:lastModifiedBy>Pavel Aleman</cp:lastModifiedBy>
  <cp:revision>1</cp:revision>
  <dcterms:created xsi:type="dcterms:W3CDTF">2026-10-10T16:12:58Z</dcterms:created>
  <dcterms:modified xsi:type="dcterms:W3CDTF">2026-10-10T16:15:54Z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bacc78-dcc9-4733-835b-33704aeb5fb9_Enabled">
    <vt:lpwstr>true</vt:lpwstr>
  </property>
  <property fmtid="{D5CDD505-2E9C-101B-9397-08002B2CF9AE}" pid="3" name="MSIP_Label_aebacc78-dcc9-4733-835b-33704aeb5fb9_SetDate">
    <vt:lpwstr>2026-10-10T16:13:05Z</vt:lpwstr>
  </property>
  <property fmtid="{D5CDD505-2E9C-101B-9397-08002B2CF9AE}" pid="4" name="MSIP_Label_aebacc78-dcc9-4733-835b-33704aeb5fb9_Method">
    <vt:lpwstr>Privileged</vt:lpwstr>
  </property>
  <property fmtid="{D5CDD505-2E9C-101B-9397-08002B2CF9AE}" pid="5" name="MSIP_Label_aebacc78-dcc9-4733-835b-33704aeb5fb9_Name">
    <vt:lpwstr>Non-Sensitive - Non-Délicat</vt:lpwstr>
  </property>
  <property fmtid="{D5CDD505-2E9C-101B-9397-08002B2CF9AE}" pid="6" name="MSIP_Label_aebacc78-dcc9-4733-835b-33704aeb5fb9_SiteId">
    <vt:lpwstr>164f988b-a2f4-4584-aeaa-21bd4a0234bc</vt:lpwstr>
  </property>
  <property fmtid="{D5CDD505-2E9C-101B-9397-08002B2CF9AE}" pid="7" name="MSIP_Label_aebacc78-dcc9-4733-835b-33704aeb5fb9_ActionId">
    <vt:lpwstr>61ae7d3f-aa86-478d-ae83-2d4007aa9f00</vt:lpwstr>
  </property>
  <property fmtid="{D5CDD505-2E9C-101B-9397-08002B2CF9AE}" pid="8" name="MSIP_Label_aebacc78-dcc9-4733-835b-33704aeb5fb9_ContentBits">
    <vt:lpwstr>1</vt:lpwstr>
  </property>
  <property fmtid="{D5CDD505-2E9C-101B-9397-08002B2CF9AE}" pid="9" name="MSIP_Label_aebacc78-dcc9-4733-835b-33704aeb5fb9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Category/Catégorie: Non-Sensitive/Non-Délicat</vt:lpwstr>
  </property>
</Properties>
</file>