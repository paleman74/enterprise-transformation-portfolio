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2"/>
  </p:notesMasterIdLst>
  <p:sldIdLst>
    <p:sldId id="365" r:id="rId2"/>
    <p:sldId id="2140757273" r:id="rId3"/>
    <p:sldId id="384" r:id="rId4"/>
    <p:sldId id="2140757243" r:id="rId5"/>
    <p:sldId id="2140757231" r:id="rId6"/>
    <p:sldId id="2140757245" r:id="rId7"/>
    <p:sldId id="2140757270" r:id="rId8"/>
    <p:sldId id="2140757246" r:id="rId9"/>
    <p:sldId id="2140757238" r:id="rId10"/>
    <p:sldId id="2140757239" r:id="rId11"/>
    <p:sldId id="2140757250" r:id="rId12"/>
    <p:sldId id="2140757247" r:id="rId13"/>
    <p:sldId id="2140757252" r:id="rId14"/>
    <p:sldId id="2140757253" r:id="rId15"/>
    <p:sldId id="2140757251" r:id="rId16"/>
    <p:sldId id="2140757291" r:id="rId17"/>
    <p:sldId id="2140757297" r:id="rId18"/>
    <p:sldId id="2140757299" r:id="rId19"/>
    <p:sldId id="2140757293" r:id="rId20"/>
    <p:sldId id="2140757276" r:id="rId21"/>
    <p:sldId id="2140757284" r:id="rId22"/>
    <p:sldId id="2140757290" r:id="rId23"/>
    <p:sldId id="2140757296" r:id="rId24"/>
    <p:sldId id="2140757300" r:id="rId25"/>
    <p:sldId id="2140757286" r:id="rId26"/>
    <p:sldId id="2140757295" r:id="rId27"/>
    <p:sldId id="2140757272" r:id="rId28"/>
    <p:sldId id="2140757292" r:id="rId29"/>
    <p:sldId id="2140757275" r:id="rId30"/>
    <p:sldId id="2140757242"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6AAF00F7-220C-4CC9-B236-4C1A5B00C69C}">
          <p14:sldIdLst>
            <p14:sldId id="365"/>
            <p14:sldId id="2140757273"/>
            <p14:sldId id="384"/>
            <p14:sldId id="2140757243"/>
            <p14:sldId id="2140757231"/>
            <p14:sldId id="2140757245"/>
            <p14:sldId id="2140757270"/>
            <p14:sldId id="2140757246"/>
            <p14:sldId id="2140757238"/>
            <p14:sldId id="2140757239"/>
            <p14:sldId id="2140757250"/>
            <p14:sldId id="2140757247"/>
            <p14:sldId id="2140757252"/>
            <p14:sldId id="2140757253"/>
            <p14:sldId id="2140757251"/>
            <p14:sldId id="2140757291"/>
            <p14:sldId id="2140757297"/>
            <p14:sldId id="2140757299"/>
            <p14:sldId id="2140757293"/>
            <p14:sldId id="2140757276"/>
            <p14:sldId id="2140757284"/>
            <p14:sldId id="2140757290"/>
            <p14:sldId id="2140757296"/>
            <p14:sldId id="2140757300"/>
            <p14:sldId id="2140757286"/>
            <p14:sldId id="2140757295"/>
            <p14:sldId id="2140757272"/>
            <p14:sldId id="2140757292"/>
            <p14:sldId id="2140757275"/>
            <p14:sldId id="2140757242"/>
          </p14:sldIdLst>
        </p14:section>
        <p14:section name="Design for Triton 3.0" id="{0E2F3C68-C0F0-4682-B081-C26FE00C770D}">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C8B4B62-8615-B4BD-B081-FFFE8F61D80E}" name="Maxime Leboeuf" initials="ML" userId="S::lebm@bank-banque-canada.ca::c1a4d955-b5b4-4486-81ed-c535ee43ee4a" providerId="AD"/>
  <p188:author id="{85BCE1E6-3E08-1D7F-C564-AAFF5A09C1DD}" name="Vibha Trehan (External Consultant)" initials="VT" userId="S::trvi@bank-banque-canada.ca::e0c4b6f9-974b-47a4-93f3-e819d8562182" providerId="AD"/>
  <p188:author id="{ABD328EE-D76D-994B-E359-1DE0DACCB4C2}" name="Guillaume Bédard-Pagé" initials="GBP" userId="S::bedp@bank-banque-canada.ca::66729882-a454-4b17-841d-f028f62028ea"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F9933"/>
    <a:srgbClr val="008000"/>
    <a:srgbClr val="4C8A7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3275" autoAdjust="0"/>
  </p:normalViewPr>
  <p:slideViewPr>
    <p:cSldViewPr snapToGrid="0">
      <p:cViewPr varScale="1">
        <p:scale>
          <a:sx n="113" d="100"/>
          <a:sy n="113" d="100"/>
        </p:scale>
        <p:origin x="474"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38" Type="http://schemas.microsoft.com/office/2018/10/relationships/authors" Targe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xime Leboeuf" userId="c1a4d955-b5b4-4486-81ed-c535ee43ee4a" providerId="ADAL" clId="{901D16CA-3DA9-45B2-9479-25FDBEADB081}"/>
    <pc:docChg chg="delSld modSection">
      <pc:chgData name="Maxime Leboeuf" userId="c1a4d955-b5b4-4486-81ed-c535ee43ee4a" providerId="ADAL" clId="{901D16CA-3DA9-45B2-9479-25FDBEADB081}" dt="2024-12-12T18:47:32.945" v="1" actId="47"/>
      <pc:docMkLst>
        <pc:docMk/>
      </pc:docMkLst>
      <pc:sldChg chg="del">
        <pc:chgData name="Maxime Leboeuf" userId="c1a4d955-b5b4-4486-81ed-c535ee43ee4a" providerId="ADAL" clId="{901D16CA-3DA9-45B2-9479-25FDBEADB081}" dt="2024-12-12T18:47:32.945" v="1" actId="47"/>
        <pc:sldMkLst>
          <pc:docMk/>
          <pc:sldMk cId="1018588764" sldId="2140757249"/>
        </pc:sldMkLst>
      </pc:sldChg>
      <pc:sldChg chg="del">
        <pc:chgData name="Maxime Leboeuf" userId="c1a4d955-b5b4-4486-81ed-c535ee43ee4a" providerId="ADAL" clId="{901D16CA-3DA9-45B2-9479-25FDBEADB081}" dt="2024-12-12T18:47:27.176" v="0" actId="47"/>
        <pc:sldMkLst>
          <pc:docMk/>
          <pc:sldMk cId="2065719756" sldId="2140757255"/>
        </pc:sldMkLst>
      </pc:sldChg>
      <pc:sldChg chg="del">
        <pc:chgData name="Maxime Leboeuf" userId="c1a4d955-b5b4-4486-81ed-c535ee43ee4a" providerId="ADAL" clId="{901D16CA-3DA9-45B2-9479-25FDBEADB081}" dt="2024-12-12T18:47:27.176" v="0" actId="47"/>
        <pc:sldMkLst>
          <pc:docMk/>
          <pc:sldMk cId="766234022" sldId="2140757256"/>
        </pc:sldMkLst>
      </pc:sldChg>
      <pc:sldChg chg="del">
        <pc:chgData name="Maxime Leboeuf" userId="c1a4d955-b5b4-4486-81ed-c535ee43ee4a" providerId="ADAL" clId="{901D16CA-3DA9-45B2-9479-25FDBEADB081}" dt="2024-12-12T18:47:27.176" v="0" actId="47"/>
        <pc:sldMkLst>
          <pc:docMk/>
          <pc:sldMk cId="3909690178" sldId="2140757257"/>
        </pc:sldMkLst>
      </pc:sldChg>
      <pc:sldChg chg="del">
        <pc:chgData name="Maxime Leboeuf" userId="c1a4d955-b5b4-4486-81ed-c535ee43ee4a" providerId="ADAL" clId="{901D16CA-3DA9-45B2-9479-25FDBEADB081}" dt="2024-12-12T18:47:27.176" v="0" actId="47"/>
        <pc:sldMkLst>
          <pc:docMk/>
          <pc:sldMk cId="51088413" sldId="2140757260"/>
        </pc:sldMkLst>
      </pc:sldChg>
      <pc:sldChg chg="del">
        <pc:chgData name="Maxime Leboeuf" userId="c1a4d955-b5b4-4486-81ed-c535ee43ee4a" providerId="ADAL" clId="{901D16CA-3DA9-45B2-9479-25FDBEADB081}" dt="2024-12-12T18:47:27.176" v="0" actId="47"/>
        <pc:sldMkLst>
          <pc:docMk/>
          <pc:sldMk cId="2432706004" sldId="2140757262"/>
        </pc:sldMkLst>
      </pc:sldChg>
      <pc:sldChg chg="del">
        <pc:chgData name="Maxime Leboeuf" userId="c1a4d955-b5b4-4486-81ed-c535ee43ee4a" providerId="ADAL" clId="{901D16CA-3DA9-45B2-9479-25FDBEADB081}" dt="2024-12-12T18:47:27.176" v="0" actId="47"/>
        <pc:sldMkLst>
          <pc:docMk/>
          <pc:sldMk cId="2014017667" sldId="2140757264"/>
        </pc:sldMkLst>
      </pc:sldChg>
      <pc:sldChg chg="del">
        <pc:chgData name="Maxime Leboeuf" userId="c1a4d955-b5b4-4486-81ed-c535ee43ee4a" providerId="ADAL" clId="{901D16CA-3DA9-45B2-9479-25FDBEADB081}" dt="2024-12-12T18:47:27.176" v="0" actId="47"/>
        <pc:sldMkLst>
          <pc:docMk/>
          <pc:sldMk cId="3384581731" sldId="2140757266"/>
        </pc:sldMkLst>
      </pc:sldChg>
      <pc:sldChg chg="del">
        <pc:chgData name="Maxime Leboeuf" userId="c1a4d955-b5b4-4486-81ed-c535ee43ee4a" providerId="ADAL" clId="{901D16CA-3DA9-45B2-9479-25FDBEADB081}" dt="2024-12-12T18:47:27.176" v="0" actId="47"/>
        <pc:sldMkLst>
          <pc:docMk/>
          <pc:sldMk cId="2834920602" sldId="2140757268"/>
        </pc:sldMkLst>
      </pc:sldChg>
      <pc:sldChg chg="del">
        <pc:chgData name="Maxime Leboeuf" userId="c1a4d955-b5b4-4486-81ed-c535ee43ee4a" providerId="ADAL" clId="{901D16CA-3DA9-45B2-9479-25FDBEADB081}" dt="2024-12-12T18:47:27.176" v="0" actId="47"/>
        <pc:sldMkLst>
          <pc:docMk/>
          <pc:sldMk cId="220941895" sldId="214075728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98CC34-4160-46FF-AD07-0F8D0F928C6F}" type="datetimeFigureOut">
              <a:rPr lang="en-CA" smtClean="0"/>
              <a:t>12/12/24</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4C46E5-99B9-493B-BB51-878467C1F4BF}" type="slidenum">
              <a:rPr lang="en-CA" smtClean="0"/>
              <a:t>‹#›</a:t>
            </a:fld>
            <a:endParaRPr lang="en-CA"/>
          </a:p>
        </p:txBody>
      </p:sp>
    </p:spTree>
    <p:extLst>
      <p:ext uri="{BB962C8B-B14F-4D97-AF65-F5344CB8AC3E}">
        <p14:creationId xmlns:p14="http://schemas.microsoft.com/office/powerpoint/2010/main" val="31558191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F64C46E5-99B9-493B-BB51-878467C1F4BF}" type="slidenum">
              <a:rPr lang="en-CA" smtClean="0"/>
              <a:t>2</a:t>
            </a:fld>
            <a:endParaRPr lang="en-CA"/>
          </a:p>
        </p:txBody>
      </p:sp>
    </p:spTree>
    <p:extLst>
      <p:ext uri="{BB962C8B-B14F-4D97-AF65-F5344CB8AC3E}">
        <p14:creationId xmlns:p14="http://schemas.microsoft.com/office/powerpoint/2010/main" val="30830128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F64C46E5-99B9-493B-BB51-878467C1F4BF}" type="slidenum">
              <a:rPr lang="en-CA" smtClean="0"/>
              <a:t>5</a:t>
            </a:fld>
            <a:endParaRPr lang="en-CA"/>
          </a:p>
        </p:txBody>
      </p:sp>
    </p:spTree>
    <p:extLst>
      <p:ext uri="{BB962C8B-B14F-4D97-AF65-F5344CB8AC3E}">
        <p14:creationId xmlns:p14="http://schemas.microsoft.com/office/powerpoint/2010/main" val="40679164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F64C46E5-99B9-493B-BB51-878467C1F4BF}" type="slidenum">
              <a:rPr lang="en-CA" smtClean="0"/>
              <a:t>6</a:t>
            </a:fld>
            <a:endParaRPr lang="en-CA"/>
          </a:p>
        </p:txBody>
      </p:sp>
    </p:spTree>
    <p:extLst>
      <p:ext uri="{BB962C8B-B14F-4D97-AF65-F5344CB8AC3E}">
        <p14:creationId xmlns:p14="http://schemas.microsoft.com/office/powerpoint/2010/main" val="11941188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F64C46E5-99B9-493B-BB51-878467C1F4BF}" type="slidenum">
              <a:rPr lang="en-CA" smtClean="0"/>
              <a:t>9</a:t>
            </a:fld>
            <a:endParaRPr lang="en-CA"/>
          </a:p>
        </p:txBody>
      </p:sp>
    </p:spTree>
    <p:extLst>
      <p:ext uri="{BB962C8B-B14F-4D97-AF65-F5344CB8AC3E}">
        <p14:creationId xmlns:p14="http://schemas.microsoft.com/office/powerpoint/2010/main" val="38328950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F64C46E5-99B9-493B-BB51-878467C1F4BF}" type="slidenum">
              <a:rPr lang="en-CA" smtClean="0"/>
              <a:t>10</a:t>
            </a:fld>
            <a:endParaRPr lang="en-CA"/>
          </a:p>
        </p:txBody>
      </p:sp>
    </p:spTree>
    <p:extLst>
      <p:ext uri="{BB962C8B-B14F-4D97-AF65-F5344CB8AC3E}">
        <p14:creationId xmlns:p14="http://schemas.microsoft.com/office/powerpoint/2010/main" val="9180185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a:t>2 main working platforms (for both Triton and Users) –each has own purpose and purposely built</a:t>
            </a:r>
          </a:p>
          <a:p>
            <a:r>
              <a:rPr lang="en-CA"/>
              <a:t>Each has solutions to allow for Safeguarding of work, Collaboration and Sharing.</a:t>
            </a:r>
          </a:p>
          <a:p>
            <a:r>
              <a:rPr lang="en-CA"/>
              <a:t>Pre-built solutions to accelerate work</a:t>
            </a:r>
          </a:p>
          <a:p>
            <a:r>
              <a:rPr lang="en-CA"/>
              <a:t>Access to Triton Data</a:t>
            </a:r>
          </a:p>
          <a:p>
            <a:endParaRPr lang="en-CA"/>
          </a:p>
          <a:p>
            <a:r>
              <a:rPr lang="en-CA"/>
              <a:t>+ central info hub &amp; streamlined navigation</a:t>
            </a:r>
          </a:p>
          <a:p>
            <a:endParaRPr lang="en-CA"/>
          </a:p>
        </p:txBody>
      </p:sp>
      <p:sp>
        <p:nvSpPr>
          <p:cNvPr id="4" name="Slide Number Placeholder 3"/>
          <p:cNvSpPr>
            <a:spLocks noGrp="1"/>
          </p:cNvSpPr>
          <p:nvPr>
            <p:ph type="sldNum" sz="quarter" idx="5"/>
          </p:nvPr>
        </p:nvSpPr>
        <p:spPr/>
        <p:txBody>
          <a:bodyPr/>
          <a:lstStyle/>
          <a:p>
            <a:pPr marL="0" marR="0" lvl="0" indent="0" algn="r" defTabSz="914377" rtl="0" eaLnBrk="1" fontAlgn="auto" latinLnBrk="0" hangingPunct="1">
              <a:lnSpc>
                <a:spcPct val="100000"/>
              </a:lnSpc>
              <a:spcBef>
                <a:spcPts val="0"/>
              </a:spcBef>
              <a:spcAft>
                <a:spcPts val="0"/>
              </a:spcAft>
              <a:buClrTx/>
              <a:buSzTx/>
              <a:buFontTx/>
              <a:buNone/>
              <a:tabLst/>
              <a:defRPr/>
            </a:pPr>
            <a:fld id="{886761B3-E06F-4288-8806-6B1FF533DFFF}" type="slidenum">
              <a:rPr kumimoji="0" lang="en-C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377" rtl="0" eaLnBrk="1" fontAlgn="auto" latinLnBrk="0" hangingPunct="1">
                <a:lnSpc>
                  <a:spcPct val="100000"/>
                </a:lnSpc>
                <a:spcBef>
                  <a:spcPts val="0"/>
                </a:spcBef>
                <a:spcAft>
                  <a:spcPts val="0"/>
                </a:spcAft>
                <a:buClrTx/>
                <a:buSzTx/>
                <a:buFontTx/>
                <a:buNone/>
                <a:tabLst/>
                <a:defRPr/>
              </a:pPr>
              <a:t>11</a:t>
            </a:fld>
            <a:endParaRPr kumimoji="0" lang="en-CA"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399564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F64C46E5-99B9-493B-BB51-878467C1F4BF}" type="slidenum">
              <a:rPr lang="en-CA" smtClean="0"/>
              <a:t>13</a:t>
            </a:fld>
            <a:endParaRPr lang="en-CA"/>
          </a:p>
        </p:txBody>
      </p:sp>
    </p:spTree>
    <p:extLst>
      <p:ext uri="{BB962C8B-B14F-4D97-AF65-F5344CB8AC3E}">
        <p14:creationId xmlns:p14="http://schemas.microsoft.com/office/powerpoint/2010/main" val="11949071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CA"/>
              <a:t>Just a quick note about those who were involved in the PoC. We had weekly discussions as a group to discuss the goals, requirements and determine the architecture and the various fabric components that could be leveraged. Vibha and myself worked together daily to implement and test various approaches. I involved several of my colleagues in FMD to implement some of the components that will be demoed today. These are colleagues who have extensive experience in working in </a:t>
            </a:r>
            <a:r>
              <a:rPr lang="en-CA" err="1"/>
              <a:t>databricks</a:t>
            </a:r>
            <a:r>
              <a:rPr lang="en-CA"/>
              <a:t> so their feedback was crucial. </a:t>
            </a:r>
          </a:p>
        </p:txBody>
      </p:sp>
      <p:sp>
        <p:nvSpPr>
          <p:cNvPr id="4" name="Slide Number Placeholder 3"/>
          <p:cNvSpPr>
            <a:spLocks noGrp="1"/>
          </p:cNvSpPr>
          <p:nvPr>
            <p:ph type="sldNum" sz="quarter" idx="5"/>
          </p:nvPr>
        </p:nvSpPr>
        <p:spPr/>
        <p:txBody>
          <a:bodyPr/>
          <a:lstStyle/>
          <a:p>
            <a:fld id="{F64C46E5-99B9-493B-BB51-878467C1F4BF}" type="slidenum">
              <a:rPr lang="en-CA" smtClean="0"/>
              <a:t>14</a:t>
            </a:fld>
            <a:endParaRPr lang="en-CA"/>
          </a:p>
        </p:txBody>
      </p:sp>
    </p:spTree>
    <p:extLst>
      <p:ext uri="{BB962C8B-B14F-4D97-AF65-F5344CB8AC3E}">
        <p14:creationId xmlns:p14="http://schemas.microsoft.com/office/powerpoint/2010/main" val="40058563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a:t>Let me emphasize three things. </a:t>
            </a:r>
          </a:p>
          <a:p>
            <a:pPr marL="228600" indent="-228600">
              <a:buAutoNum type="arabicPeriod"/>
            </a:pPr>
            <a:r>
              <a:rPr lang="en-CA"/>
              <a:t>These most </a:t>
            </a:r>
            <a:r>
              <a:rPr lang="en-CA" err="1"/>
              <a:t>challending</a:t>
            </a:r>
            <a:r>
              <a:rPr lang="en-CA"/>
              <a:t> thing of the PoC was for the team to design the proper Fabric architecture that will allow us meet the complex and interconnected requirements our user workflows. It was not easy at times, but in the end, the team was able to agree on robust design unlocked a lot of the various core objectives of the POC. </a:t>
            </a:r>
          </a:p>
          <a:p>
            <a:pPr marL="228600" indent="-228600">
              <a:buAutoNum type="arabicPeriod"/>
            </a:pPr>
            <a:r>
              <a:rPr lang="en-CA"/>
              <a:t>We wanted the presentation go beyond diagrams and really take the time to show some of the powerful features and inner workings of Fabric. Vibha and I will take the time to demo the Fabric environment and components we have implemented. </a:t>
            </a:r>
          </a:p>
          <a:p>
            <a:pPr marL="228600" indent="-228600">
              <a:buAutoNum type="arabicPeriod"/>
            </a:pPr>
            <a:r>
              <a:rPr lang="en-CA"/>
              <a:t>The feasibility of all components I will show is confirmed. The PoC is not final and for some sections, we want to test some enhancement that could make them more scalable or resilient. </a:t>
            </a:r>
            <a:endParaRPr lang="en-CA" i="0"/>
          </a:p>
          <a:p>
            <a:endParaRPr lang="en-US"/>
          </a:p>
          <a:p>
            <a:r>
              <a:rPr lang="en-US"/>
              <a:t>-Let me introduce the Fabric environments that we have designed in the PoC at the high level. </a:t>
            </a:r>
          </a:p>
          <a:p>
            <a:r>
              <a:rPr lang="en-US"/>
              <a:t>-Let me start with the Triton Environments. Triton developers work in two places. The first is the current </a:t>
            </a:r>
            <a:r>
              <a:rPr lang="en-US" err="1"/>
              <a:t>databricks</a:t>
            </a:r>
            <a:r>
              <a:rPr lang="en-US"/>
              <a:t> environment that handles the current governed data pipelines. The second is the Fabric environment, which is just a Fabric workspace only opened to Triton developers. It actually looks identical to the current power bi workspace for Triton, except that more features are available. The environment involves data pipelines and notebooks that moves and organizes data into </a:t>
            </a:r>
            <a:r>
              <a:rPr lang="en-US" err="1"/>
              <a:t>lakehouses</a:t>
            </a:r>
            <a:r>
              <a:rPr lang="en-US"/>
              <a:t>, which are a similar to databases in </a:t>
            </a:r>
            <a:r>
              <a:rPr lang="en-US" err="1"/>
              <a:t>databricks</a:t>
            </a:r>
            <a:r>
              <a:rPr lang="en-US"/>
              <a:t>, mix of files and tables. </a:t>
            </a:r>
          </a:p>
          <a:p>
            <a:r>
              <a:rPr lang="en-US"/>
              <a:t>-For users, they have access to Fabric via a dedicated workspace set-up for their team, exactly like the current Power BI solution. Just like the Triton solution, Fabric components are enabled in that workspace. </a:t>
            </a:r>
          </a:p>
          <a:p>
            <a:pPr marL="171450" indent="-171450">
              <a:buFont typeface="Arial" panose="020B0604020202020204" pitchFamily="34" charset="0"/>
              <a:buChar char="•"/>
            </a:pPr>
            <a:r>
              <a:rPr lang="en-US"/>
              <a:t>Just like Triton, users can bring data in using pipelines, transform it using notebooks and organize their data into </a:t>
            </a:r>
            <a:r>
              <a:rPr lang="en-US" err="1"/>
              <a:t>lakehouse</a:t>
            </a:r>
            <a:r>
              <a:rPr lang="en-US"/>
              <a:t>. </a:t>
            </a:r>
            <a:r>
              <a:rPr lang="en-US" err="1"/>
              <a:t>Lakehouses</a:t>
            </a:r>
            <a:r>
              <a:rPr lang="en-US"/>
              <a:t> can easily be featured in a report and a dedicated App. </a:t>
            </a:r>
          </a:p>
          <a:p>
            <a:pPr marL="171450" indent="-171450">
              <a:buFont typeface="Arial" panose="020B0604020202020204" pitchFamily="34" charset="0"/>
              <a:buChar char="•"/>
            </a:pPr>
            <a:r>
              <a:rPr lang="en-US"/>
              <a:t>Content of the triton and user workspaces are integrated with Azure </a:t>
            </a:r>
            <a:r>
              <a:rPr lang="en-US" err="1"/>
              <a:t>devs</a:t>
            </a:r>
            <a:r>
              <a:rPr lang="en-US"/>
              <a:t> ops or </a:t>
            </a:r>
            <a:r>
              <a:rPr lang="en-US" err="1"/>
              <a:t>Github</a:t>
            </a:r>
            <a:r>
              <a:rPr lang="en-US"/>
              <a:t> enterprise. Note that </a:t>
            </a:r>
            <a:r>
              <a:rPr lang="en-US" err="1"/>
              <a:t>Github</a:t>
            </a:r>
            <a:r>
              <a:rPr lang="en-US"/>
              <a:t> enterprise is a forthcoming feature. The integration will not be part of the demo but it is a major improvement from Power BI, which did not have any of the integration and required a manual back of </a:t>
            </a:r>
            <a:r>
              <a:rPr lang="en-US" err="1"/>
              <a:t>of</a:t>
            </a:r>
            <a:r>
              <a:rPr lang="en-US"/>
              <a:t> reports inside of a </a:t>
            </a:r>
            <a:r>
              <a:rPr lang="en-US" err="1"/>
              <a:t>sharepoint</a:t>
            </a:r>
            <a:r>
              <a:rPr lang="en-US"/>
              <a:t> library. </a:t>
            </a:r>
          </a:p>
          <a:p>
            <a:endParaRPr lang="en-CA"/>
          </a:p>
        </p:txBody>
      </p:sp>
      <p:sp>
        <p:nvSpPr>
          <p:cNvPr id="4" name="Slide Number Placeholder 3"/>
          <p:cNvSpPr>
            <a:spLocks noGrp="1"/>
          </p:cNvSpPr>
          <p:nvPr>
            <p:ph type="sldNum" sz="quarter" idx="5"/>
          </p:nvPr>
        </p:nvSpPr>
        <p:spPr/>
        <p:txBody>
          <a:bodyPr/>
          <a:lstStyle/>
          <a:p>
            <a:pPr marL="0" marR="0" lvl="0" indent="0" algn="r" defTabSz="914377" rtl="0" eaLnBrk="1" fontAlgn="auto" latinLnBrk="0" hangingPunct="1">
              <a:lnSpc>
                <a:spcPct val="100000"/>
              </a:lnSpc>
              <a:spcBef>
                <a:spcPts val="0"/>
              </a:spcBef>
              <a:spcAft>
                <a:spcPts val="0"/>
              </a:spcAft>
              <a:buClrTx/>
              <a:buSzTx/>
              <a:buFontTx/>
              <a:buNone/>
              <a:tabLst/>
              <a:defRPr/>
            </a:pPr>
            <a:fld id="{886761B3-E06F-4288-8806-6B1FF533DFFF}" type="slidenum">
              <a:rPr kumimoji="0" lang="en-C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377" rtl="0" eaLnBrk="1" fontAlgn="auto" latinLnBrk="0" hangingPunct="1">
                <a:lnSpc>
                  <a:spcPct val="100000"/>
                </a:lnSpc>
                <a:spcBef>
                  <a:spcPts val="0"/>
                </a:spcBef>
                <a:spcAft>
                  <a:spcPts val="0"/>
                </a:spcAft>
                <a:buClrTx/>
                <a:buSzTx/>
                <a:buFontTx/>
                <a:buNone/>
                <a:tabLst/>
                <a:defRPr/>
              </a:pPr>
              <a:t>15</a:t>
            </a:fld>
            <a:endParaRPr kumimoji="0" lang="en-CA"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774712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pPr marL="0" marR="0" lvl="0" indent="0" algn="r" defTabSz="914377" rtl="0" eaLnBrk="1" fontAlgn="auto" latinLnBrk="0" hangingPunct="1">
              <a:lnSpc>
                <a:spcPct val="100000"/>
              </a:lnSpc>
              <a:spcBef>
                <a:spcPts val="0"/>
              </a:spcBef>
              <a:spcAft>
                <a:spcPts val="0"/>
              </a:spcAft>
              <a:buClrTx/>
              <a:buSzTx/>
              <a:buFontTx/>
              <a:buNone/>
              <a:tabLst/>
              <a:defRPr/>
            </a:pPr>
            <a:fld id="{886761B3-E06F-4288-8806-6B1FF533DFFF}" type="slidenum">
              <a:rPr kumimoji="0" lang="en-C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377" rtl="0" eaLnBrk="1" fontAlgn="auto" latinLnBrk="0" hangingPunct="1">
                <a:lnSpc>
                  <a:spcPct val="100000"/>
                </a:lnSpc>
                <a:spcBef>
                  <a:spcPts val="0"/>
                </a:spcBef>
                <a:spcAft>
                  <a:spcPts val="0"/>
                </a:spcAft>
                <a:buClrTx/>
                <a:buSzTx/>
                <a:buFontTx/>
                <a:buNone/>
                <a:tabLst/>
                <a:defRPr/>
              </a:pPr>
              <a:t>16</a:t>
            </a:fld>
            <a:endParaRPr kumimoji="0" lang="en-CA"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882826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pPr marL="0" marR="0" lvl="0" indent="0" algn="r" defTabSz="914377" rtl="0" eaLnBrk="1" fontAlgn="auto" latinLnBrk="0" hangingPunct="1">
              <a:lnSpc>
                <a:spcPct val="100000"/>
              </a:lnSpc>
              <a:spcBef>
                <a:spcPts val="0"/>
              </a:spcBef>
              <a:spcAft>
                <a:spcPts val="0"/>
              </a:spcAft>
              <a:buClrTx/>
              <a:buSzTx/>
              <a:buFontTx/>
              <a:buNone/>
              <a:tabLst/>
              <a:defRPr/>
            </a:pPr>
            <a:fld id="{886761B3-E06F-4288-8806-6B1FF533DFFF}" type="slidenum">
              <a:rPr kumimoji="0" lang="en-C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377" rtl="0" eaLnBrk="1" fontAlgn="auto" latinLnBrk="0" hangingPunct="1">
                <a:lnSpc>
                  <a:spcPct val="100000"/>
                </a:lnSpc>
                <a:spcBef>
                  <a:spcPts val="0"/>
                </a:spcBef>
                <a:spcAft>
                  <a:spcPts val="0"/>
                </a:spcAft>
                <a:buClrTx/>
                <a:buSzTx/>
                <a:buFontTx/>
                <a:buNone/>
                <a:tabLst/>
                <a:defRPr/>
              </a:pPr>
              <a:t>17</a:t>
            </a:fld>
            <a:endParaRPr kumimoji="0" lang="en-CA"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029864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a:t>For the PoC, we wanted to test a true user workflow. You can think of what I am about to show as one of the most difficult use case we have in FMD, excluding ML applications which are experimental at this point. This complexity is not so much in term of computing power, but rather in terms of the flexibility and the number of steps involved. </a:t>
            </a:r>
          </a:p>
          <a:p>
            <a:endParaRPr lang="en-CA"/>
          </a:p>
          <a:p>
            <a:r>
              <a:rPr lang="en-CA"/>
              <a:t>Here what I want to do. I need to combined and transform data from various sources and publish them in a nice power bi report that will be shared via my team App. The data sources needed come from: an external statistical software called </a:t>
            </a:r>
            <a:r>
              <a:rPr lang="en-CA" err="1"/>
              <a:t>stata</a:t>
            </a:r>
            <a:r>
              <a:rPr lang="en-CA"/>
              <a:t>, an excel file that contains assumption manually entered by an economist, a feed of prices on government of Canada securities that need to be updated every 15 minutes, and Triton governed data. The workflow relies on non-standard data sources, such as Excel, and we will leverage </a:t>
            </a:r>
            <a:r>
              <a:rPr lang="en-CA" err="1"/>
              <a:t>Onelake</a:t>
            </a:r>
            <a:r>
              <a:rPr lang="en-CA"/>
              <a:t> file explorer to manage the data movement from excel to Fabric. Let’s go from start the beginning. </a:t>
            </a:r>
          </a:p>
          <a:p>
            <a:r>
              <a:rPr lang="en-CA"/>
              <a:t>I have a </a:t>
            </a:r>
            <a:r>
              <a:rPr lang="en-CA" err="1"/>
              <a:t>stata</a:t>
            </a:r>
            <a:r>
              <a:rPr lang="en-CA"/>
              <a:t> script and need to read triton data from </a:t>
            </a:r>
            <a:r>
              <a:rPr lang="en-CA" err="1"/>
              <a:t>databricks</a:t>
            </a:r>
            <a:r>
              <a:rPr lang="en-CA"/>
              <a:t> or the triton lake house. The </a:t>
            </a:r>
            <a:r>
              <a:rPr lang="en-CA" err="1"/>
              <a:t>stata</a:t>
            </a:r>
            <a:r>
              <a:rPr lang="en-CA"/>
              <a:t> output ultimately need to be combined with some excel assumptions manually entered by the users. Let’s see how that works.</a:t>
            </a:r>
          </a:p>
        </p:txBody>
      </p:sp>
      <p:sp>
        <p:nvSpPr>
          <p:cNvPr id="4" name="Slide Number Placeholder 3"/>
          <p:cNvSpPr>
            <a:spLocks noGrp="1"/>
          </p:cNvSpPr>
          <p:nvPr>
            <p:ph type="sldNum" sz="quarter" idx="5"/>
          </p:nvPr>
        </p:nvSpPr>
        <p:spPr/>
        <p:txBody>
          <a:bodyPr/>
          <a:lstStyle/>
          <a:p>
            <a:pPr marL="0" marR="0" lvl="0" indent="0" algn="r" defTabSz="914377" rtl="0" eaLnBrk="1" fontAlgn="auto" latinLnBrk="0" hangingPunct="1">
              <a:lnSpc>
                <a:spcPct val="100000"/>
              </a:lnSpc>
              <a:spcBef>
                <a:spcPts val="0"/>
              </a:spcBef>
              <a:spcAft>
                <a:spcPts val="0"/>
              </a:spcAft>
              <a:buClrTx/>
              <a:buSzTx/>
              <a:buFontTx/>
              <a:buNone/>
              <a:tabLst/>
              <a:defRPr/>
            </a:pPr>
            <a:fld id="{886761B3-E06F-4288-8806-6B1FF533DFFF}" type="slidenum">
              <a:rPr kumimoji="0" lang="en-C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377" rtl="0" eaLnBrk="1" fontAlgn="auto" latinLnBrk="0" hangingPunct="1">
                <a:lnSpc>
                  <a:spcPct val="100000"/>
                </a:lnSpc>
                <a:spcBef>
                  <a:spcPts val="0"/>
                </a:spcBef>
                <a:spcAft>
                  <a:spcPts val="0"/>
                </a:spcAft>
                <a:buClrTx/>
                <a:buSzTx/>
                <a:buFontTx/>
                <a:buNone/>
                <a:tabLst/>
                <a:defRPr/>
              </a:pPr>
              <a:t>20</a:t>
            </a:fld>
            <a:endParaRPr kumimoji="0" lang="en-CA"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435835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a:p>
            <a:r>
              <a:rPr lang="en-CA"/>
              <a:t>2 main working platforms (for both Triton and Users) –each has own purpose and purposely built</a:t>
            </a:r>
          </a:p>
          <a:p>
            <a:r>
              <a:rPr lang="en-CA"/>
              <a:t>Each has solutions to allow for Safeguarding of work, Collaboration and Sharing.</a:t>
            </a:r>
          </a:p>
          <a:p>
            <a:r>
              <a:rPr lang="en-CA"/>
              <a:t>Pre-built solutions to accelerate work</a:t>
            </a:r>
          </a:p>
          <a:p>
            <a:r>
              <a:rPr lang="en-CA"/>
              <a:t>Access to Triton Data</a:t>
            </a:r>
          </a:p>
          <a:p>
            <a:endParaRPr lang="en-CA"/>
          </a:p>
          <a:p>
            <a:r>
              <a:rPr lang="en-CA"/>
              <a:t>+ central info hub &amp; streamlined navigation</a:t>
            </a:r>
          </a:p>
          <a:p>
            <a:endParaRPr lang="en-CA"/>
          </a:p>
        </p:txBody>
      </p:sp>
      <p:sp>
        <p:nvSpPr>
          <p:cNvPr id="4" name="Slide Number Placeholder 3"/>
          <p:cNvSpPr>
            <a:spLocks noGrp="1"/>
          </p:cNvSpPr>
          <p:nvPr>
            <p:ph type="sldNum" sz="quarter" idx="5"/>
          </p:nvPr>
        </p:nvSpPr>
        <p:spPr/>
        <p:txBody>
          <a:bodyPr/>
          <a:lstStyle/>
          <a:p>
            <a:pPr marL="0" marR="0" lvl="0" indent="0" algn="r" defTabSz="914377" rtl="0" eaLnBrk="1" fontAlgn="auto" latinLnBrk="0" hangingPunct="1">
              <a:lnSpc>
                <a:spcPct val="100000"/>
              </a:lnSpc>
              <a:spcBef>
                <a:spcPts val="0"/>
              </a:spcBef>
              <a:spcAft>
                <a:spcPts val="0"/>
              </a:spcAft>
              <a:buClrTx/>
              <a:buSzTx/>
              <a:buFontTx/>
              <a:buNone/>
              <a:tabLst/>
              <a:defRPr/>
            </a:pPr>
            <a:fld id="{886761B3-E06F-4288-8806-6B1FF533DFFF}" type="slidenum">
              <a:rPr kumimoji="0" lang="en-C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377" rtl="0" eaLnBrk="1" fontAlgn="auto" latinLnBrk="0" hangingPunct="1">
                <a:lnSpc>
                  <a:spcPct val="100000"/>
                </a:lnSpc>
                <a:spcBef>
                  <a:spcPts val="0"/>
                </a:spcBef>
                <a:spcAft>
                  <a:spcPts val="0"/>
                </a:spcAft>
                <a:buClrTx/>
                <a:buSzTx/>
                <a:buFontTx/>
                <a:buNone/>
                <a:tabLst/>
                <a:defRPr/>
              </a:pPr>
              <a:t>22</a:t>
            </a:fld>
            <a:endParaRPr kumimoji="0" lang="en-CA"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3374541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True also for </a:t>
            </a:r>
            <a:endParaRPr lang="en-CA"/>
          </a:p>
        </p:txBody>
      </p:sp>
      <p:sp>
        <p:nvSpPr>
          <p:cNvPr id="4" name="Slide Number Placeholder 3"/>
          <p:cNvSpPr>
            <a:spLocks noGrp="1"/>
          </p:cNvSpPr>
          <p:nvPr>
            <p:ph type="sldNum" sz="quarter" idx="5"/>
          </p:nvPr>
        </p:nvSpPr>
        <p:spPr/>
        <p:txBody>
          <a:bodyPr/>
          <a:lstStyle/>
          <a:p>
            <a:fld id="{F64C46E5-99B9-493B-BB51-878467C1F4BF}" type="slidenum">
              <a:rPr lang="en-CA" smtClean="0"/>
              <a:t>23</a:t>
            </a:fld>
            <a:endParaRPr lang="en-CA"/>
          </a:p>
        </p:txBody>
      </p:sp>
    </p:spTree>
    <p:extLst>
      <p:ext uri="{BB962C8B-B14F-4D97-AF65-F5344CB8AC3E}">
        <p14:creationId xmlns:p14="http://schemas.microsoft.com/office/powerpoint/2010/main" val="139534349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F64C46E5-99B9-493B-BB51-878467C1F4BF}" type="slidenum">
              <a:rPr lang="en-CA" smtClean="0"/>
              <a:t>28</a:t>
            </a:fld>
            <a:endParaRPr lang="en-CA"/>
          </a:p>
        </p:txBody>
      </p:sp>
    </p:spTree>
    <p:extLst>
      <p:ext uri="{BB962C8B-B14F-4D97-AF65-F5344CB8AC3E}">
        <p14:creationId xmlns:p14="http://schemas.microsoft.com/office/powerpoint/2010/main" val="416475266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jpeg"/><Relationship Id="rId4" Type="http://schemas.openxmlformats.org/officeDocument/2006/relationships/image" Target="../media/image3.jpe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1 - EN">
    <p:spTree>
      <p:nvGrpSpPr>
        <p:cNvPr id="1" name=""/>
        <p:cNvGrpSpPr/>
        <p:nvPr/>
      </p:nvGrpSpPr>
      <p:grpSpPr>
        <a:xfrm>
          <a:off x="0" y="0"/>
          <a:ext cx="0" cy="0"/>
          <a:chOff x="0" y="0"/>
          <a:chExt cx="0" cy="0"/>
        </a:xfrm>
      </p:grpSpPr>
      <p:sp>
        <p:nvSpPr>
          <p:cNvPr id="5" name="Job Title">
            <a:extLst>
              <a:ext uri="{FF2B5EF4-FFF2-40B4-BE49-F238E27FC236}">
                <a16:creationId xmlns:a16="http://schemas.microsoft.com/office/drawing/2014/main" id="{0CC8FB55-8345-4AB3-8EB5-B8C18CC221E0}"/>
              </a:ext>
            </a:extLst>
          </p:cNvPr>
          <p:cNvSpPr>
            <a:spLocks noGrp="1"/>
          </p:cNvSpPr>
          <p:nvPr>
            <p:ph type="body" sz="quarter" idx="11" hasCustomPrompt="1"/>
          </p:nvPr>
        </p:nvSpPr>
        <p:spPr>
          <a:xfrm>
            <a:off x="720000" y="5580000"/>
            <a:ext cx="4824000" cy="540000"/>
          </a:xfrm>
        </p:spPr>
        <p:txBody>
          <a:bodyPr tIns="0">
            <a:normAutofit/>
          </a:bodyPr>
          <a:lstStyle>
            <a:lvl1pPr marL="0" indent="0">
              <a:lnSpc>
                <a:spcPct val="90000"/>
              </a:lnSpc>
              <a:spcBef>
                <a:spcPts val="0"/>
              </a:spcBef>
              <a:buNone/>
              <a:defRPr sz="1200" cap="all" spc="0" baseline="0">
                <a:solidFill>
                  <a:schemeClr val="tx1">
                    <a:lumMod val="50000"/>
                    <a:lumOff val="50000"/>
                  </a:schemeClr>
                </a:solidFill>
              </a:defRPr>
            </a:lvl1pPr>
          </a:lstStyle>
          <a:p>
            <a:pPr lvl="0"/>
            <a:r>
              <a:rPr lang="en-CA" sz="1200"/>
              <a:t>Title</a:t>
            </a:r>
            <a:endParaRPr lang="en-CA"/>
          </a:p>
        </p:txBody>
      </p:sp>
      <p:sp>
        <p:nvSpPr>
          <p:cNvPr id="3" name="Name">
            <a:extLst>
              <a:ext uri="{FF2B5EF4-FFF2-40B4-BE49-F238E27FC236}">
                <a16:creationId xmlns:a16="http://schemas.microsoft.com/office/drawing/2014/main" id="{C56EDCE0-9AEB-48F6-BA82-968878D4E850}"/>
              </a:ext>
            </a:extLst>
          </p:cNvPr>
          <p:cNvSpPr>
            <a:spLocks noGrp="1"/>
          </p:cNvSpPr>
          <p:nvPr>
            <p:ph type="subTitle" idx="1" hasCustomPrompt="1"/>
          </p:nvPr>
        </p:nvSpPr>
        <p:spPr>
          <a:xfrm>
            <a:off x="720000" y="5220000"/>
            <a:ext cx="4824000" cy="360000"/>
          </a:xfrm>
          <a:noFill/>
        </p:spPr>
        <p:txBody>
          <a:bodyPr lIns="0" tIns="0" rIns="0" bIns="0" anchor="t" anchorCtr="0">
            <a:normAutofit/>
          </a:bodyPr>
          <a:lstStyle>
            <a:lvl1pPr marL="0" indent="0" algn="l">
              <a:buNone/>
              <a:defRPr sz="1800">
                <a:latin typeface="Segoe UI Semibold" panose="020B0702040204020203" pitchFamily="34" charset="0"/>
                <a:cs typeface="Segoe UI Semibold" panose="020B0702040204020203" pitchFamily="34" charset="0"/>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NAME</a:t>
            </a:r>
            <a:endParaRPr lang="en-CA"/>
          </a:p>
        </p:txBody>
      </p:sp>
      <p:cxnSp>
        <p:nvCxnSpPr>
          <p:cNvPr id="12" name="Line">
            <a:extLst>
              <a:ext uri="{FF2B5EF4-FFF2-40B4-BE49-F238E27FC236}">
                <a16:creationId xmlns:a16="http://schemas.microsoft.com/office/drawing/2014/main" id="{B5987482-B6FD-47EF-AC34-4A4B84E78368}"/>
              </a:ext>
            </a:extLst>
          </p:cNvPr>
          <p:cNvCxnSpPr>
            <a:cxnSpLocks/>
          </p:cNvCxnSpPr>
          <p:nvPr/>
        </p:nvCxnSpPr>
        <p:spPr>
          <a:xfrm>
            <a:off x="720000" y="4248000"/>
            <a:ext cx="4824000" cy="0"/>
          </a:xfrm>
          <a:prstGeom prst="line">
            <a:avLst/>
          </a:prstGeom>
          <a:ln w="19050">
            <a:solidFill>
              <a:schemeClr val="accent6"/>
            </a:solidFill>
          </a:ln>
        </p:spPr>
        <p:style>
          <a:lnRef idx="1">
            <a:schemeClr val="accent1"/>
          </a:lnRef>
          <a:fillRef idx="0">
            <a:schemeClr val="accent1"/>
          </a:fillRef>
          <a:effectRef idx="0">
            <a:schemeClr val="accent1"/>
          </a:effectRef>
          <a:fontRef idx="minor">
            <a:schemeClr val="tx1"/>
          </a:fontRef>
        </p:style>
      </p:cxnSp>
      <p:sp>
        <p:nvSpPr>
          <p:cNvPr id="2" name="Title">
            <a:extLst>
              <a:ext uri="{FF2B5EF4-FFF2-40B4-BE49-F238E27FC236}">
                <a16:creationId xmlns:a16="http://schemas.microsoft.com/office/drawing/2014/main" id="{EC12F0AF-78DD-446A-83D2-265E4862CF04}"/>
              </a:ext>
            </a:extLst>
          </p:cNvPr>
          <p:cNvSpPr>
            <a:spLocks noGrp="1"/>
          </p:cNvSpPr>
          <p:nvPr>
            <p:ph type="ctrTitle" hasCustomPrompt="1"/>
          </p:nvPr>
        </p:nvSpPr>
        <p:spPr>
          <a:xfrm>
            <a:off x="720000" y="1260000"/>
            <a:ext cx="4824000" cy="2880000"/>
          </a:xfrm>
          <a:noFill/>
        </p:spPr>
        <p:txBody>
          <a:bodyPr lIns="0" tIns="0" rIns="0" bIns="0" anchor="b">
            <a:normAutofit/>
          </a:bodyPr>
          <a:lstStyle>
            <a:lvl1pPr algn="l">
              <a:defRPr sz="4800">
                <a:solidFill>
                  <a:schemeClr val="tx1">
                    <a:lumMod val="95000"/>
                    <a:lumOff val="5000"/>
                  </a:schemeClr>
                </a:solidFill>
              </a:defRPr>
            </a:lvl1pPr>
          </a:lstStyle>
          <a:p>
            <a:r>
              <a:rPr lang="en-US"/>
              <a:t>English title</a:t>
            </a:r>
            <a:endParaRPr lang="en-CA"/>
          </a:p>
        </p:txBody>
      </p:sp>
      <p:sp>
        <p:nvSpPr>
          <p:cNvPr id="11" name="Date">
            <a:extLst>
              <a:ext uri="{FF2B5EF4-FFF2-40B4-BE49-F238E27FC236}">
                <a16:creationId xmlns:a16="http://schemas.microsoft.com/office/drawing/2014/main" id="{A85F0A28-5712-4839-B9F2-3833707441E9}"/>
              </a:ext>
            </a:extLst>
          </p:cNvPr>
          <p:cNvSpPr>
            <a:spLocks noGrp="1"/>
          </p:cNvSpPr>
          <p:nvPr>
            <p:ph type="body" sz="quarter" idx="12" hasCustomPrompt="1"/>
          </p:nvPr>
        </p:nvSpPr>
        <p:spPr>
          <a:xfrm>
            <a:off x="720000" y="900000"/>
            <a:ext cx="4824000" cy="900000"/>
          </a:xfrm>
        </p:spPr>
        <p:txBody>
          <a:bodyPr tIns="0">
            <a:normAutofit/>
          </a:bodyPr>
          <a:lstStyle>
            <a:lvl1pPr marL="0" indent="0">
              <a:buNone/>
              <a:defRPr sz="1200" cap="all" spc="0" baseline="0">
                <a:solidFill>
                  <a:schemeClr val="tx1">
                    <a:lumMod val="50000"/>
                    <a:lumOff val="50000"/>
                  </a:schemeClr>
                </a:solidFill>
              </a:defRPr>
            </a:lvl1pPr>
          </a:lstStyle>
          <a:p>
            <a:pPr lvl="0"/>
            <a:r>
              <a:rPr lang="en-CA" sz="1200"/>
              <a:t>Date</a:t>
            </a:r>
            <a:endParaRPr lang="en-CA"/>
          </a:p>
        </p:txBody>
      </p:sp>
      <p:pic>
        <p:nvPicPr>
          <p:cNvPr id="13" name="Logo">
            <a:extLst>
              <a:ext uri="{FF2B5EF4-FFF2-40B4-BE49-F238E27FC236}">
                <a16:creationId xmlns:a16="http://schemas.microsoft.com/office/drawing/2014/main" id="{D66DAE3B-A502-41BC-8744-B09E917421F2}"/>
              </a:ext>
            </a:extLst>
          </p:cNvPr>
          <p:cNvPicPr>
            <a:picLocks noChangeAspect="1"/>
          </p:cNvPicPr>
          <p:nvPr/>
        </p:nvPicPr>
        <p:blipFill>
          <a:blip r:embed="rId2" cstate="screen">
            <a:extLst>
              <a:ext uri="{28A0092B-C50C-407E-A947-70E740481C1C}">
                <a14:useLocalDpi xmlns:a14="http://schemas.microsoft.com/office/drawing/2010/main" val="0"/>
              </a:ext>
            </a:extLst>
          </a:blip>
          <a:stretch>
            <a:fillRect/>
          </a:stretch>
        </p:blipFill>
        <p:spPr>
          <a:xfrm>
            <a:off x="-1" y="-1"/>
            <a:ext cx="1852143" cy="900000"/>
          </a:xfrm>
          <a:prstGeom prst="rect">
            <a:avLst/>
          </a:prstGeom>
        </p:spPr>
      </p:pic>
      <p:sp>
        <p:nvSpPr>
          <p:cNvPr id="7" name="Text Placeholder 6">
            <a:extLst>
              <a:ext uri="{FF2B5EF4-FFF2-40B4-BE49-F238E27FC236}">
                <a16:creationId xmlns:a16="http://schemas.microsoft.com/office/drawing/2014/main" id="{B41EEAF8-CA3D-433A-AEB7-C1EFBE80E957}"/>
              </a:ext>
            </a:extLst>
          </p:cNvPr>
          <p:cNvSpPr>
            <a:spLocks noGrp="1"/>
          </p:cNvSpPr>
          <p:nvPr>
            <p:ph type="body" sz="quarter" idx="13" hasCustomPrompt="1"/>
          </p:nvPr>
        </p:nvSpPr>
        <p:spPr>
          <a:xfrm>
            <a:off x="720726" y="4392001"/>
            <a:ext cx="4822825" cy="684212"/>
          </a:xfrm>
        </p:spPr>
        <p:txBody>
          <a:bodyPr>
            <a:normAutofit/>
          </a:bodyPr>
          <a:lstStyle>
            <a:lvl1pPr marL="0" indent="0">
              <a:buNone/>
              <a:defRPr sz="1800"/>
            </a:lvl1pPr>
            <a:lvl2pPr marL="222245" indent="0">
              <a:buNone/>
              <a:defRPr/>
            </a:lvl2pPr>
            <a:lvl3pPr marL="485763" indent="0">
              <a:buNone/>
              <a:defRPr/>
            </a:lvl3pPr>
            <a:lvl4pPr marL="757220" indent="0">
              <a:buNone/>
              <a:defRPr/>
            </a:lvl4pPr>
            <a:lvl5pPr marL="1028674" indent="0">
              <a:buNone/>
              <a:defRPr/>
            </a:lvl5pPr>
          </a:lstStyle>
          <a:p>
            <a:pPr lvl="0"/>
            <a:r>
              <a:rPr lang="en-US"/>
              <a:t>Subtitle</a:t>
            </a:r>
            <a:endParaRPr lang="en-CA"/>
          </a:p>
        </p:txBody>
      </p:sp>
      <p:pic>
        <p:nvPicPr>
          <p:cNvPr id="10" name="Picture 9">
            <a:extLst>
              <a:ext uri="{FF2B5EF4-FFF2-40B4-BE49-F238E27FC236}">
                <a16:creationId xmlns:a16="http://schemas.microsoft.com/office/drawing/2014/main" id="{FF0648D3-5344-4FEF-8BBC-99262EDC43F6}"/>
              </a:ext>
            </a:extLst>
          </p:cNvPr>
          <p:cNvPicPr>
            <a:picLocks noChangeAspect="1"/>
          </p:cNvPicPr>
          <p:nvPr userDrawn="1"/>
        </p:nvPicPr>
        <p:blipFill rotWithShape="1">
          <a:blip r:embed="rId3" cstate="screen">
            <a:extLst>
              <a:ext uri="{28A0092B-C50C-407E-A947-70E740481C1C}">
                <a14:useLocalDpi xmlns:a14="http://schemas.microsoft.com/office/drawing/2010/main" val="0"/>
              </a:ext>
            </a:extLst>
          </a:blip>
          <a:srcRect/>
          <a:stretch/>
        </p:blipFill>
        <p:spPr>
          <a:xfrm>
            <a:off x="6096001" y="0"/>
            <a:ext cx="6096000" cy="6858000"/>
          </a:xfrm>
          <a:prstGeom prst="rect">
            <a:avLst/>
          </a:prstGeom>
        </p:spPr>
      </p:pic>
      <p:pic>
        <p:nvPicPr>
          <p:cNvPr id="9" name="Picture 8">
            <a:extLst>
              <a:ext uri="{FF2B5EF4-FFF2-40B4-BE49-F238E27FC236}">
                <a16:creationId xmlns:a16="http://schemas.microsoft.com/office/drawing/2014/main" id="{3FFCD4E5-98CC-4156-B5FB-511CAEBB6CCE}"/>
              </a:ext>
            </a:extLst>
          </p:cNvPr>
          <p:cNvPicPr>
            <a:picLocks noChangeAspect="1"/>
          </p:cNvPicPr>
          <p:nvPr userDrawn="1"/>
        </p:nvPicPr>
        <p:blipFill rotWithShape="1">
          <a:blip r:embed="rId4" cstate="screen">
            <a:extLst>
              <a:ext uri="{28A0092B-C50C-407E-A947-70E740481C1C}">
                <a14:useLocalDpi xmlns:a14="http://schemas.microsoft.com/office/drawing/2010/main" val="0"/>
              </a:ext>
            </a:extLst>
          </a:blip>
          <a:srcRect r="-2"/>
          <a:stretch/>
        </p:blipFill>
        <p:spPr>
          <a:xfrm>
            <a:off x="6095552" y="0"/>
            <a:ext cx="6096448" cy="6858000"/>
          </a:xfrm>
          <a:prstGeom prst="rect">
            <a:avLst/>
          </a:prstGeom>
        </p:spPr>
      </p:pic>
      <p:pic>
        <p:nvPicPr>
          <p:cNvPr id="6" name="Picture 5">
            <a:extLst>
              <a:ext uri="{FF2B5EF4-FFF2-40B4-BE49-F238E27FC236}">
                <a16:creationId xmlns:a16="http://schemas.microsoft.com/office/drawing/2014/main" id="{17744A41-E33E-4DFD-9688-600F582B7D43}"/>
              </a:ext>
            </a:extLst>
          </p:cNvPr>
          <p:cNvPicPr>
            <a:picLocks noChangeAspect="1"/>
          </p:cNvPicPr>
          <p:nvPr userDrawn="1"/>
        </p:nvPicPr>
        <p:blipFill rotWithShape="1">
          <a:blip r:embed="rId5" cstate="screen">
            <a:extLst>
              <a:ext uri="{28A0092B-C50C-407E-A947-70E740481C1C}">
                <a14:useLocalDpi xmlns:a14="http://schemas.microsoft.com/office/drawing/2010/main" val="0"/>
              </a:ext>
            </a:extLst>
          </a:blip>
          <a:srcRect l="-1" r="-1"/>
          <a:stretch/>
        </p:blipFill>
        <p:spPr>
          <a:xfrm>
            <a:off x="6095552" y="-1"/>
            <a:ext cx="6095999" cy="6858000"/>
          </a:xfrm>
          <a:prstGeom prst="rect">
            <a:avLst/>
          </a:prstGeom>
        </p:spPr>
      </p:pic>
    </p:spTree>
    <p:extLst>
      <p:ext uri="{BB962C8B-B14F-4D97-AF65-F5344CB8AC3E}">
        <p14:creationId xmlns:p14="http://schemas.microsoft.com/office/powerpoint/2010/main" val="66758218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2 - EN">
    <p:spTree>
      <p:nvGrpSpPr>
        <p:cNvPr id="1" name=""/>
        <p:cNvGrpSpPr/>
        <p:nvPr/>
      </p:nvGrpSpPr>
      <p:grpSpPr>
        <a:xfrm>
          <a:off x="0" y="0"/>
          <a:ext cx="0" cy="0"/>
          <a:chOff x="0" y="0"/>
          <a:chExt cx="0" cy="0"/>
        </a:xfrm>
      </p:grpSpPr>
      <p:sp>
        <p:nvSpPr>
          <p:cNvPr id="5" name="Job Title">
            <a:extLst>
              <a:ext uri="{FF2B5EF4-FFF2-40B4-BE49-F238E27FC236}">
                <a16:creationId xmlns:a16="http://schemas.microsoft.com/office/drawing/2014/main" id="{0CC8FB55-8345-4AB3-8EB5-B8C18CC221E0}"/>
              </a:ext>
            </a:extLst>
          </p:cNvPr>
          <p:cNvSpPr>
            <a:spLocks noGrp="1"/>
          </p:cNvSpPr>
          <p:nvPr>
            <p:ph type="body" sz="quarter" idx="11" hasCustomPrompt="1"/>
          </p:nvPr>
        </p:nvSpPr>
        <p:spPr>
          <a:xfrm>
            <a:off x="720000" y="5580000"/>
            <a:ext cx="4824000" cy="540000"/>
          </a:xfrm>
        </p:spPr>
        <p:txBody>
          <a:bodyPr tIns="0">
            <a:normAutofit/>
          </a:bodyPr>
          <a:lstStyle>
            <a:lvl1pPr marL="0" indent="0">
              <a:lnSpc>
                <a:spcPct val="90000"/>
              </a:lnSpc>
              <a:spcBef>
                <a:spcPts val="0"/>
              </a:spcBef>
              <a:buNone/>
              <a:defRPr sz="1200" cap="all" spc="0" baseline="0">
                <a:solidFill>
                  <a:schemeClr val="tx1">
                    <a:lumMod val="50000"/>
                    <a:lumOff val="50000"/>
                  </a:schemeClr>
                </a:solidFill>
              </a:defRPr>
            </a:lvl1pPr>
          </a:lstStyle>
          <a:p>
            <a:pPr lvl="0"/>
            <a:r>
              <a:rPr lang="en-CA" sz="1200"/>
              <a:t>Title</a:t>
            </a:r>
            <a:endParaRPr lang="en-CA"/>
          </a:p>
        </p:txBody>
      </p:sp>
      <p:sp>
        <p:nvSpPr>
          <p:cNvPr id="3" name="Name">
            <a:extLst>
              <a:ext uri="{FF2B5EF4-FFF2-40B4-BE49-F238E27FC236}">
                <a16:creationId xmlns:a16="http://schemas.microsoft.com/office/drawing/2014/main" id="{C56EDCE0-9AEB-48F6-BA82-968878D4E850}"/>
              </a:ext>
            </a:extLst>
          </p:cNvPr>
          <p:cNvSpPr>
            <a:spLocks noGrp="1"/>
          </p:cNvSpPr>
          <p:nvPr>
            <p:ph type="subTitle" idx="1" hasCustomPrompt="1"/>
          </p:nvPr>
        </p:nvSpPr>
        <p:spPr>
          <a:xfrm>
            <a:off x="720000" y="5220000"/>
            <a:ext cx="4824000" cy="360000"/>
          </a:xfrm>
          <a:noFill/>
        </p:spPr>
        <p:txBody>
          <a:bodyPr lIns="0" tIns="0" rIns="0" bIns="0" anchor="t" anchorCtr="0">
            <a:normAutofit/>
          </a:bodyPr>
          <a:lstStyle>
            <a:lvl1pPr marL="0" indent="0" algn="l">
              <a:buNone/>
              <a:defRPr sz="1800">
                <a:latin typeface="Segoe UI Semibold" panose="020B0702040204020203" pitchFamily="34" charset="0"/>
                <a:cs typeface="Segoe UI Semibold" panose="020B0702040204020203" pitchFamily="34" charset="0"/>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NAME</a:t>
            </a:r>
            <a:endParaRPr lang="en-CA"/>
          </a:p>
        </p:txBody>
      </p:sp>
      <p:cxnSp>
        <p:nvCxnSpPr>
          <p:cNvPr id="12" name="Line">
            <a:extLst>
              <a:ext uri="{FF2B5EF4-FFF2-40B4-BE49-F238E27FC236}">
                <a16:creationId xmlns:a16="http://schemas.microsoft.com/office/drawing/2014/main" id="{B5987482-B6FD-47EF-AC34-4A4B84E78368}"/>
              </a:ext>
            </a:extLst>
          </p:cNvPr>
          <p:cNvCxnSpPr>
            <a:cxnSpLocks/>
          </p:cNvCxnSpPr>
          <p:nvPr/>
        </p:nvCxnSpPr>
        <p:spPr>
          <a:xfrm>
            <a:off x="720000" y="4248000"/>
            <a:ext cx="4824000" cy="0"/>
          </a:xfrm>
          <a:prstGeom prst="line">
            <a:avLst/>
          </a:prstGeom>
          <a:ln w="19050">
            <a:solidFill>
              <a:schemeClr val="accent6"/>
            </a:solidFill>
          </a:ln>
        </p:spPr>
        <p:style>
          <a:lnRef idx="1">
            <a:schemeClr val="accent1"/>
          </a:lnRef>
          <a:fillRef idx="0">
            <a:schemeClr val="accent1"/>
          </a:fillRef>
          <a:effectRef idx="0">
            <a:schemeClr val="accent1"/>
          </a:effectRef>
          <a:fontRef idx="minor">
            <a:schemeClr val="tx1"/>
          </a:fontRef>
        </p:style>
      </p:cxnSp>
      <p:sp>
        <p:nvSpPr>
          <p:cNvPr id="2" name="Title">
            <a:extLst>
              <a:ext uri="{FF2B5EF4-FFF2-40B4-BE49-F238E27FC236}">
                <a16:creationId xmlns:a16="http://schemas.microsoft.com/office/drawing/2014/main" id="{EC12F0AF-78DD-446A-83D2-265E4862CF04}"/>
              </a:ext>
            </a:extLst>
          </p:cNvPr>
          <p:cNvSpPr>
            <a:spLocks noGrp="1"/>
          </p:cNvSpPr>
          <p:nvPr>
            <p:ph type="ctrTitle" hasCustomPrompt="1"/>
          </p:nvPr>
        </p:nvSpPr>
        <p:spPr>
          <a:xfrm>
            <a:off x="720000" y="1260000"/>
            <a:ext cx="4824000" cy="2880000"/>
          </a:xfrm>
          <a:noFill/>
        </p:spPr>
        <p:txBody>
          <a:bodyPr lIns="0" tIns="0" rIns="0" bIns="0" anchor="b">
            <a:normAutofit/>
          </a:bodyPr>
          <a:lstStyle>
            <a:lvl1pPr algn="l">
              <a:defRPr sz="4800">
                <a:solidFill>
                  <a:schemeClr val="tx1">
                    <a:lumMod val="95000"/>
                    <a:lumOff val="5000"/>
                  </a:schemeClr>
                </a:solidFill>
              </a:defRPr>
            </a:lvl1pPr>
          </a:lstStyle>
          <a:p>
            <a:r>
              <a:rPr lang="en-US"/>
              <a:t>English title</a:t>
            </a:r>
            <a:endParaRPr lang="en-CA"/>
          </a:p>
        </p:txBody>
      </p:sp>
      <p:sp>
        <p:nvSpPr>
          <p:cNvPr id="11" name="Date">
            <a:extLst>
              <a:ext uri="{FF2B5EF4-FFF2-40B4-BE49-F238E27FC236}">
                <a16:creationId xmlns:a16="http://schemas.microsoft.com/office/drawing/2014/main" id="{A85F0A28-5712-4839-B9F2-3833707441E9}"/>
              </a:ext>
            </a:extLst>
          </p:cNvPr>
          <p:cNvSpPr>
            <a:spLocks noGrp="1"/>
          </p:cNvSpPr>
          <p:nvPr>
            <p:ph type="body" sz="quarter" idx="12" hasCustomPrompt="1"/>
          </p:nvPr>
        </p:nvSpPr>
        <p:spPr>
          <a:xfrm>
            <a:off x="720000" y="900000"/>
            <a:ext cx="4824000" cy="900000"/>
          </a:xfrm>
        </p:spPr>
        <p:txBody>
          <a:bodyPr tIns="0">
            <a:normAutofit/>
          </a:bodyPr>
          <a:lstStyle>
            <a:lvl1pPr marL="0" indent="0">
              <a:buNone/>
              <a:defRPr sz="1200" cap="all" spc="0" baseline="0">
                <a:solidFill>
                  <a:schemeClr val="tx1">
                    <a:lumMod val="50000"/>
                    <a:lumOff val="50000"/>
                  </a:schemeClr>
                </a:solidFill>
              </a:defRPr>
            </a:lvl1pPr>
          </a:lstStyle>
          <a:p>
            <a:pPr lvl="0"/>
            <a:r>
              <a:rPr lang="en-CA" sz="1200"/>
              <a:t>Date</a:t>
            </a:r>
            <a:endParaRPr lang="en-CA"/>
          </a:p>
        </p:txBody>
      </p:sp>
      <p:pic>
        <p:nvPicPr>
          <p:cNvPr id="13" name="Logo">
            <a:extLst>
              <a:ext uri="{FF2B5EF4-FFF2-40B4-BE49-F238E27FC236}">
                <a16:creationId xmlns:a16="http://schemas.microsoft.com/office/drawing/2014/main" id="{D66DAE3B-A502-41BC-8744-B09E917421F2}"/>
              </a:ext>
            </a:extLst>
          </p:cNvPr>
          <p:cNvPicPr>
            <a:picLocks noChangeAspect="1"/>
          </p:cNvPicPr>
          <p:nvPr/>
        </p:nvPicPr>
        <p:blipFill>
          <a:blip r:embed="rId2" cstate="screen">
            <a:extLst>
              <a:ext uri="{28A0092B-C50C-407E-A947-70E740481C1C}">
                <a14:useLocalDpi xmlns:a14="http://schemas.microsoft.com/office/drawing/2010/main" val="0"/>
              </a:ext>
            </a:extLst>
          </a:blip>
          <a:stretch>
            <a:fillRect/>
          </a:stretch>
        </p:blipFill>
        <p:spPr>
          <a:xfrm>
            <a:off x="-1" y="-1"/>
            <a:ext cx="1852143" cy="900000"/>
          </a:xfrm>
          <a:prstGeom prst="rect">
            <a:avLst/>
          </a:prstGeom>
        </p:spPr>
      </p:pic>
      <p:sp>
        <p:nvSpPr>
          <p:cNvPr id="7" name="Text Placeholder 6">
            <a:extLst>
              <a:ext uri="{FF2B5EF4-FFF2-40B4-BE49-F238E27FC236}">
                <a16:creationId xmlns:a16="http://schemas.microsoft.com/office/drawing/2014/main" id="{B41EEAF8-CA3D-433A-AEB7-C1EFBE80E957}"/>
              </a:ext>
            </a:extLst>
          </p:cNvPr>
          <p:cNvSpPr>
            <a:spLocks noGrp="1"/>
          </p:cNvSpPr>
          <p:nvPr>
            <p:ph type="body" sz="quarter" idx="13" hasCustomPrompt="1"/>
          </p:nvPr>
        </p:nvSpPr>
        <p:spPr>
          <a:xfrm>
            <a:off x="720726" y="4392001"/>
            <a:ext cx="4822825" cy="684212"/>
          </a:xfrm>
        </p:spPr>
        <p:txBody>
          <a:bodyPr>
            <a:normAutofit/>
          </a:bodyPr>
          <a:lstStyle>
            <a:lvl1pPr marL="0" indent="0">
              <a:buNone/>
              <a:defRPr sz="1800"/>
            </a:lvl1pPr>
            <a:lvl2pPr marL="222245" indent="0">
              <a:buNone/>
              <a:defRPr/>
            </a:lvl2pPr>
            <a:lvl3pPr marL="485763" indent="0">
              <a:buNone/>
              <a:defRPr/>
            </a:lvl3pPr>
            <a:lvl4pPr marL="757220" indent="0">
              <a:buNone/>
              <a:defRPr/>
            </a:lvl4pPr>
            <a:lvl5pPr marL="1028674" indent="0">
              <a:buNone/>
              <a:defRPr/>
            </a:lvl5pPr>
          </a:lstStyle>
          <a:p>
            <a:pPr lvl="0"/>
            <a:r>
              <a:rPr lang="en-US"/>
              <a:t>Subtitle</a:t>
            </a:r>
            <a:endParaRPr lang="en-CA"/>
          </a:p>
        </p:txBody>
      </p:sp>
      <p:pic>
        <p:nvPicPr>
          <p:cNvPr id="15" name="Picture 14">
            <a:extLst>
              <a:ext uri="{FF2B5EF4-FFF2-40B4-BE49-F238E27FC236}">
                <a16:creationId xmlns:a16="http://schemas.microsoft.com/office/drawing/2014/main" id="{B7B9B817-7E60-4B69-8B49-CD5F6B3DD385}"/>
              </a:ext>
            </a:extLst>
          </p:cNvPr>
          <p:cNvPicPr>
            <a:picLocks noChangeAspect="1"/>
          </p:cNvPicPr>
          <p:nvPr userDrawn="1"/>
        </p:nvPicPr>
        <p:blipFill>
          <a:blip r:embed="rId3" cstate="screen">
            <a:extLst>
              <a:ext uri="{28A0092B-C50C-407E-A947-70E740481C1C}">
                <a14:useLocalDpi xmlns:a14="http://schemas.microsoft.com/office/drawing/2010/main" val="0"/>
              </a:ext>
            </a:extLst>
          </a:blip>
          <a:stretch>
            <a:fillRect/>
          </a:stretch>
        </p:blipFill>
        <p:spPr>
          <a:xfrm>
            <a:off x="6096000" y="-1"/>
            <a:ext cx="6096000" cy="6858000"/>
          </a:xfrm>
          <a:prstGeom prst="rect">
            <a:avLst/>
          </a:prstGeom>
        </p:spPr>
      </p:pic>
    </p:spTree>
    <p:extLst>
      <p:ext uri="{BB962C8B-B14F-4D97-AF65-F5344CB8AC3E}">
        <p14:creationId xmlns:p14="http://schemas.microsoft.com/office/powerpoint/2010/main" val="273301635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3 - EN">
    <p:spTree>
      <p:nvGrpSpPr>
        <p:cNvPr id="1" name=""/>
        <p:cNvGrpSpPr/>
        <p:nvPr/>
      </p:nvGrpSpPr>
      <p:grpSpPr>
        <a:xfrm>
          <a:off x="0" y="0"/>
          <a:ext cx="0" cy="0"/>
          <a:chOff x="0" y="0"/>
          <a:chExt cx="0" cy="0"/>
        </a:xfrm>
      </p:grpSpPr>
      <p:sp>
        <p:nvSpPr>
          <p:cNvPr id="5" name="Job Title">
            <a:extLst>
              <a:ext uri="{FF2B5EF4-FFF2-40B4-BE49-F238E27FC236}">
                <a16:creationId xmlns:a16="http://schemas.microsoft.com/office/drawing/2014/main" id="{0CC8FB55-8345-4AB3-8EB5-B8C18CC221E0}"/>
              </a:ext>
            </a:extLst>
          </p:cNvPr>
          <p:cNvSpPr>
            <a:spLocks noGrp="1"/>
          </p:cNvSpPr>
          <p:nvPr>
            <p:ph type="body" sz="quarter" idx="11" hasCustomPrompt="1"/>
          </p:nvPr>
        </p:nvSpPr>
        <p:spPr>
          <a:xfrm>
            <a:off x="720000" y="5580000"/>
            <a:ext cx="4824000" cy="540000"/>
          </a:xfrm>
        </p:spPr>
        <p:txBody>
          <a:bodyPr tIns="0">
            <a:normAutofit/>
          </a:bodyPr>
          <a:lstStyle>
            <a:lvl1pPr marL="0" indent="0">
              <a:lnSpc>
                <a:spcPct val="90000"/>
              </a:lnSpc>
              <a:spcBef>
                <a:spcPts val="0"/>
              </a:spcBef>
              <a:buNone/>
              <a:defRPr sz="1200" cap="all" spc="0" baseline="0">
                <a:solidFill>
                  <a:schemeClr val="tx1">
                    <a:lumMod val="50000"/>
                    <a:lumOff val="50000"/>
                  </a:schemeClr>
                </a:solidFill>
              </a:defRPr>
            </a:lvl1pPr>
          </a:lstStyle>
          <a:p>
            <a:pPr lvl="0"/>
            <a:r>
              <a:rPr lang="en-CA" sz="1200"/>
              <a:t>Title</a:t>
            </a:r>
            <a:endParaRPr lang="en-CA"/>
          </a:p>
        </p:txBody>
      </p:sp>
      <p:sp>
        <p:nvSpPr>
          <p:cNvPr id="3" name="Name">
            <a:extLst>
              <a:ext uri="{FF2B5EF4-FFF2-40B4-BE49-F238E27FC236}">
                <a16:creationId xmlns:a16="http://schemas.microsoft.com/office/drawing/2014/main" id="{C56EDCE0-9AEB-48F6-BA82-968878D4E850}"/>
              </a:ext>
            </a:extLst>
          </p:cNvPr>
          <p:cNvSpPr>
            <a:spLocks noGrp="1"/>
          </p:cNvSpPr>
          <p:nvPr>
            <p:ph type="subTitle" idx="1" hasCustomPrompt="1"/>
          </p:nvPr>
        </p:nvSpPr>
        <p:spPr>
          <a:xfrm>
            <a:off x="720000" y="5220000"/>
            <a:ext cx="4824000" cy="360000"/>
          </a:xfrm>
          <a:noFill/>
        </p:spPr>
        <p:txBody>
          <a:bodyPr lIns="0" tIns="0" rIns="0" bIns="0" anchor="t" anchorCtr="0">
            <a:normAutofit/>
          </a:bodyPr>
          <a:lstStyle>
            <a:lvl1pPr marL="0" indent="0" algn="l">
              <a:buNone/>
              <a:defRPr sz="1800">
                <a:latin typeface="Segoe UI Semibold" panose="020B0702040204020203" pitchFamily="34" charset="0"/>
                <a:cs typeface="Segoe UI Semibold" panose="020B0702040204020203" pitchFamily="34" charset="0"/>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NAME</a:t>
            </a:r>
            <a:endParaRPr lang="en-CA"/>
          </a:p>
        </p:txBody>
      </p:sp>
      <p:cxnSp>
        <p:nvCxnSpPr>
          <p:cNvPr id="12" name="Line">
            <a:extLst>
              <a:ext uri="{FF2B5EF4-FFF2-40B4-BE49-F238E27FC236}">
                <a16:creationId xmlns:a16="http://schemas.microsoft.com/office/drawing/2014/main" id="{B5987482-B6FD-47EF-AC34-4A4B84E78368}"/>
              </a:ext>
            </a:extLst>
          </p:cNvPr>
          <p:cNvCxnSpPr>
            <a:cxnSpLocks/>
          </p:cNvCxnSpPr>
          <p:nvPr/>
        </p:nvCxnSpPr>
        <p:spPr>
          <a:xfrm>
            <a:off x="720000" y="4248000"/>
            <a:ext cx="4824000" cy="0"/>
          </a:xfrm>
          <a:prstGeom prst="line">
            <a:avLst/>
          </a:prstGeom>
          <a:ln w="19050">
            <a:solidFill>
              <a:schemeClr val="accent6"/>
            </a:solidFill>
          </a:ln>
        </p:spPr>
        <p:style>
          <a:lnRef idx="1">
            <a:schemeClr val="accent1"/>
          </a:lnRef>
          <a:fillRef idx="0">
            <a:schemeClr val="accent1"/>
          </a:fillRef>
          <a:effectRef idx="0">
            <a:schemeClr val="accent1"/>
          </a:effectRef>
          <a:fontRef idx="minor">
            <a:schemeClr val="tx1"/>
          </a:fontRef>
        </p:style>
      </p:cxnSp>
      <p:sp>
        <p:nvSpPr>
          <p:cNvPr id="2" name="Title">
            <a:extLst>
              <a:ext uri="{FF2B5EF4-FFF2-40B4-BE49-F238E27FC236}">
                <a16:creationId xmlns:a16="http://schemas.microsoft.com/office/drawing/2014/main" id="{EC12F0AF-78DD-446A-83D2-265E4862CF04}"/>
              </a:ext>
            </a:extLst>
          </p:cNvPr>
          <p:cNvSpPr>
            <a:spLocks noGrp="1"/>
          </p:cNvSpPr>
          <p:nvPr>
            <p:ph type="ctrTitle" hasCustomPrompt="1"/>
          </p:nvPr>
        </p:nvSpPr>
        <p:spPr>
          <a:xfrm>
            <a:off x="720000" y="1260000"/>
            <a:ext cx="4824000" cy="2880000"/>
          </a:xfrm>
          <a:noFill/>
        </p:spPr>
        <p:txBody>
          <a:bodyPr lIns="0" tIns="0" rIns="0" bIns="0" anchor="b">
            <a:normAutofit/>
          </a:bodyPr>
          <a:lstStyle>
            <a:lvl1pPr algn="l">
              <a:defRPr sz="4800">
                <a:solidFill>
                  <a:schemeClr val="tx1">
                    <a:lumMod val="95000"/>
                    <a:lumOff val="5000"/>
                  </a:schemeClr>
                </a:solidFill>
              </a:defRPr>
            </a:lvl1pPr>
          </a:lstStyle>
          <a:p>
            <a:r>
              <a:rPr lang="en-US"/>
              <a:t>English title</a:t>
            </a:r>
            <a:endParaRPr lang="en-CA"/>
          </a:p>
        </p:txBody>
      </p:sp>
      <p:sp>
        <p:nvSpPr>
          <p:cNvPr id="11" name="Date">
            <a:extLst>
              <a:ext uri="{FF2B5EF4-FFF2-40B4-BE49-F238E27FC236}">
                <a16:creationId xmlns:a16="http://schemas.microsoft.com/office/drawing/2014/main" id="{A85F0A28-5712-4839-B9F2-3833707441E9}"/>
              </a:ext>
            </a:extLst>
          </p:cNvPr>
          <p:cNvSpPr>
            <a:spLocks noGrp="1"/>
          </p:cNvSpPr>
          <p:nvPr>
            <p:ph type="body" sz="quarter" idx="12" hasCustomPrompt="1"/>
          </p:nvPr>
        </p:nvSpPr>
        <p:spPr>
          <a:xfrm>
            <a:off x="720000" y="900000"/>
            <a:ext cx="4824000" cy="900000"/>
          </a:xfrm>
        </p:spPr>
        <p:txBody>
          <a:bodyPr tIns="0">
            <a:normAutofit/>
          </a:bodyPr>
          <a:lstStyle>
            <a:lvl1pPr marL="0" indent="0">
              <a:buNone/>
              <a:defRPr sz="1200" cap="all" spc="0" baseline="0">
                <a:solidFill>
                  <a:schemeClr val="tx1">
                    <a:lumMod val="50000"/>
                    <a:lumOff val="50000"/>
                  </a:schemeClr>
                </a:solidFill>
              </a:defRPr>
            </a:lvl1pPr>
          </a:lstStyle>
          <a:p>
            <a:pPr lvl="0"/>
            <a:r>
              <a:rPr lang="en-CA" sz="1200"/>
              <a:t>Date</a:t>
            </a:r>
            <a:endParaRPr lang="en-CA"/>
          </a:p>
        </p:txBody>
      </p:sp>
      <p:pic>
        <p:nvPicPr>
          <p:cNvPr id="13" name="Logo">
            <a:extLst>
              <a:ext uri="{FF2B5EF4-FFF2-40B4-BE49-F238E27FC236}">
                <a16:creationId xmlns:a16="http://schemas.microsoft.com/office/drawing/2014/main" id="{D66DAE3B-A502-41BC-8744-B09E917421F2}"/>
              </a:ext>
            </a:extLst>
          </p:cNvPr>
          <p:cNvPicPr>
            <a:picLocks noChangeAspect="1"/>
          </p:cNvPicPr>
          <p:nvPr/>
        </p:nvPicPr>
        <p:blipFill>
          <a:blip r:embed="rId2" cstate="screen">
            <a:extLst>
              <a:ext uri="{28A0092B-C50C-407E-A947-70E740481C1C}">
                <a14:useLocalDpi xmlns:a14="http://schemas.microsoft.com/office/drawing/2010/main" val="0"/>
              </a:ext>
            </a:extLst>
          </a:blip>
          <a:stretch>
            <a:fillRect/>
          </a:stretch>
        </p:blipFill>
        <p:spPr>
          <a:xfrm>
            <a:off x="-1" y="-1"/>
            <a:ext cx="1852143" cy="900000"/>
          </a:xfrm>
          <a:prstGeom prst="rect">
            <a:avLst/>
          </a:prstGeom>
        </p:spPr>
      </p:pic>
      <p:sp>
        <p:nvSpPr>
          <p:cNvPr id="7" name="Text Placeholder 6">
            <a:extLst>
              <a:ext uri="{FF2B5EF4-FFF2-40B4-BE49-F238E27FC236}">
                <a16:creationId xmlns:a16="http://schemas.microsoft.com/office/drawing/2014/main" id="{B41EEAF8-CA3D-433A-AEB7-C1EFBE80E957}"/>
              </a:ext>
            </a:extLst>
          </p:cNvPr>
          <p:cNvSpPr>
            <a:spLocks noGrp="1"/>
          </p:cNvSpPr>
          <p:nvPr>
            <p:ph type="body" sz="quarter" idx="13" hasCustomPrompt="1"/>
          </p:nvPr>
        </p:nvSpPr>
        <p:spPr>
          <a:xfrm>
            <a:off x="720726" y="4392001"/>
            <a:ext cx="4822825" cy="684212"/>
          </a:xfrm>
        </p:spPr>
        <p:txBody>
          <a:bodyPr>
            <a:normAutofit/>
          </a:bodyPr>
          <a:lstStyle>
            <a:lvl1pPr marL="0" indent="0">
              <a:buNone/>
              <a:defRPr sz="1800"/>
            </a:lvl1pPr>
            <a:lvl2pPr marL="222245" indent="0">
              <a:buNone/>
              <a:defRPr/>
            </a:lvl2pPr>
            <a:lvl3pPr marL="485763" indent="0">
              <a:buNone/>
              <a:defRPr/>
            </a:lvl3pPr>
            <a:lvl4pPr marL="757220" indent="0">
              <a:buNone/>
              <a:defRPr/>
            </a:lvl4pPr>
            <a:lvl5pPr marL="1028674" indent="0">
              <a:buNone/>
              <a:defRPr/>
            </a:lvl5pPr>
          </a:lstStyle>
          <a:p>
            <a:pPr lvl="0"/>
            <a:r>
              <a:rPr lang="en-US"/>
              <a:t>Subtitle</a:t>
            </a:r>
            <a:endParaRPr lang="en-CA"/>
          </a:p>
        </p:txBody>
      </p:sp>
      <p:pic>
        <p:nvPicPr>
          <p:cNvPr id="10" name="Picture 9">
            <a:extLst>
              <a:ext uri="{FF2B5EF4-FFF2-40B4-BE49-F238E27FC236}">
                <a16:creationId xmlns:a16="http://schemas.microsoft.com/office/drawing/2014/main" id="{FF0648D3-5344-4FEF-8BBC-99262EDC43F6}"/>
              </a:ext>
            </a:extLst>
          </p:cNvPr>
          <p:cNvPicPr>
            <a:picLocks noChangeAspect="1"/>
          </p:cNvPicPr>
          <p:nvPr userDrawn="1"/>
        </p:nvPicPr>
        <p:blipFill rotWithShape="1">
          <a:blip r:embed="rId3" cstate="screen">
            <a:extLst>
              <a:ext uri="{28A0092B-C50C-407E-A947-70E740481C1C}">
                <a14:useLocalDpi xmlns:a14="http://schemas.microsoft.com/office/drawing/2010/main" val="0"/>
              </a:ext>
            </a:extLst>
          </a:blip>
          <a:srcRect/>
          <a:stretch/>
        </p:blipFill>
        <p:spPr>
          <a:xfrm>
            <a:off x="6096001" y="0"/>
            <a:ext cx="6096000" cy="6858000"/>
          </a:xfrm>
          <a:prstGeom prst="rect">
            <a:avLst/>
          </a:prstGeom>
        </p:spPr>
      </p:pic>
    </p:spTree>
    <p:extLst>
      <p:ext uri="{BB962C8B-B14F-4D97-AF65-F5344CB8AC3E}">
        <p14:creationId xmlns:p14="http://schemas.microsoft.com/office/powerpoint/2010/main" val="168083795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 FR">
    <p:spTree>
      <p:nvGrpSpPr>
        <p:cNvPr id="1" name=""/>
        <p:cNvGrpSpPr/>
        <p:nvPr/>
      </p:nvGrpSpPr>
      <p:grpSpPr>
        <a:xfrm>
          <a:off x="0" y="0"/>
          <a:ext cx="0" cy="0"/>
          <a:chOff x="0" y="0"/>
          <a:chExt cx="0" cy="0"/>
        </a:xfrm>
      </p:grpSpPr>
      <p:sp>
        <p:nvSpPr>
          <p:cNvPr id="5" name="Job Title">
            <a:extLst>
              <a:ext uri="{FF2B5EF4-FFF2-40B4-BE49-F238E27FC236}">
                <a16:creationId xmlns:a16="http://schemas.microsoft.com/office/drawing/2014/main" id="{0CC8FB55-8345-4AB3-8EB5-B8C18CC221E0}"/>
              </a:ext>
            </a:extLst>
          </p:cNvPr>
          <p:cNvSpPr>
            <a:spLocks noGrp="1"/>
          </p:cNvSpPr>
          <p:nvPr>
            <p:ph type="body" sz="quarter" idx="11" hasCustomPrompt="1"/>
          </p:nvPr>
        </p:nvSpPr>
        <p:spPr>
          <a:xfrm>
            <a:off x="720000" y="5580000"/>
            <a:ext cx="4824000" cy="540000"/>
          </a:xfrm>
        </p:spPr>
        <p:txBody>
          <a:bodyPr tIns="0">
            <a:normAutofit/>
          </a:bodyPr>
          <a:lstStyle>
            <a:lvl1pPr marL="0" indent="0">
              <a:lnSpc>
                <a:spcPct val="90000"/>
              </a:lnSpc>
              <a:spcBef>
                <a:spcPts val="0"/>
              </a:spcBef>
              <a:buNone/>
              <a:defRPr sz="1200" cap="all" spc="0" baseline="0">
                <a:solidFill>
                  <a:schemeClr val="tx1">
                    <a:lumMod val="50000"/>
                    <a:lumOff val="50000"/>
                  </a:schemeClr>
                </a:solidFill>
              </a:defRPr>
            </a:lvl1pPr>
          </a:lstStyle>
          <a:p>
            <a:pPr lvl="0"/>
            <a:r>
              <a:rPr lang="en-CA" sz="1200"/>
              <a:t>titre </a:t>
            </a:r>
            <a:r>
              <a:rPr lang="en-CA" sz="1200" err="1"/>
              <a:t>professionnel</a:t>
            </a:r>
            <a:endParaRPr lang="en-CA"/>
          </a:p>
        </p:txBody>
      </p:sp>
      <p:sp>
        <p:nvSpPr>
          <p:cNvPr id="3" name="Name">
            <a:extLst>
              <a:ext uri="{FF2B5EF4-FFF2-40B4-BE49-F238E27FC236}">
                <a16:creationId xmlns:a16="http://schemas.microsoft.com/office/drawing/2014/main" id="{C56EDCE0-9AEB-48F6-BA82-968878D4E850}"/>
              </a:ext>
            </a:extLst>
          </p:cNvPr>
          <p:cNvSpPr>
            <a:spLocks noGrp="1"/>
          </p:cNvSpPr>
          <p:nvPr>
            <p:ph type="subTitle" idx="1" hasCustomPrompt="1"/>
          </p:nvPr>
        </p:nvSpPr>
        <p:spPr>
          <a:xfrm>
            <a:off x="720000" y="5220000"/>
            <a:ext cx="4824000" cy="369000"/>
          </a:xfrm>
          <a:noFill/>
        </p:spPr>
        <p:txBody>
          <a:bodyPr lIns="0" tIns="0" rIns="0" bIns="0" anchor="t" anchorCtr="0">
            <a:normAutofit/>
          </a:bodyPr>
          <a:lstStyle>
            <a:lvl1pPr marL="0" indent="0" algn="l">
              <a:buNone/>
              <a:defRPr sz="1800">
                <a:latin typeface="Segoe UI Semibold" panose="020B0702040204020203" pitchFamily="34" charset="0"/>
                <a:cs typeface="Segoe UI Semibold" panose="020B0702040204020203" pitchFamily="34" charset="0"/>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NOM</a:t>
            </a:r>
            <a:endParaRPr lang="en-CA"/>
          </a:p>
        </p:txBody>
      </p:sp>
      <p:cxnSp>
        <p:nvCxnSpPr>
          <p:cNvPr id="12" name="Line">
            <a:extLst>
              <a:ext uri="{FF2B5EF4-FFF2-40B4-BE49-F238E27FC236}">
                <a16:creationId xmlns:a16="http://schemas.microsoft.com/office/drawing/2014/main" id="{B5987482-B6FD-47EF-AC34-4A4B84E78368}"/>
              </a:ext>
            </a:extLst>
          </p:cNvPr>
          <p:cNvCxnSpPr>
            <a:cxnSpLocks/>
          </p:cNvCxnSpPr>
          <p:nvPr/>
        </p:nvCxnSpPr>
        <p:spPr>
          <a:xfrm>
            <a:off x="720000" y="4248000"/>
            <a:ext cx="4824000" cy="0"/>
          </a:xfrm>
          <a:prstGeom prst="line">
            <a:avLst/>
          </a:prstGeom>
          <a:ln w="19050">
            <a:solidFill>
              <a:schemeClr val="accent6"/>
            </a:solidFill>
          </a:ln>
        </p:spPr>
        <p:style>
          <a:lnRef idx="1">
            <a:schemeClr val="accent1"/>
          </a:lnRef>
          <a:fillRef idx="0">
            <a:schemeClr val="accent1"/>
          </a:fillRef>
          <a:effectRef idx="0">
            <a:schemeClr val="accent1"/>
          </a:effectRef>
          <a:fontRef idx="minor">
            <a:schemeClr val="tx1"/>
          </a:fontRef>
        </p:style>
      </p:cxnSp>
      <p:sp>
        <p:nvSpPr>
          <p:cNvPr id="2" name="Title">
            <a:extLst>
              <a:ext uri="{FF2B5EF4-FFF2-40B4-BE49-F238E27FC236}">
                <a16:creationId xmlns:a16="http://schemas.microsoft.com/office/drawing/2014/main" id="{EC12F0AF-78DD-446A-83D2-265E4862CF04}"/>
              </a:ext>
            </a:extLst>
          </p:cNvPr>
          <p:cNvSpPr>
            <a:spLocks noGrp="1"/>
          </p:cNvSpPr>
          <p:nvPr>
            <p:ph type="ctrTitle" hasCustomPrompt="1"/>
          </p:nvPr>
        </p:nvSpPr>
        <p:spPr>
          <a:xfrm>
            <a:off x="720000" y="1260000"/>
            <a:ext cx="4824000" cy="2880000"/>
          </a:xfrm>
          <a:noFill/>
        </p:spPr>
        <p:txBody>
          <a:bodyPr lIns="0" tIns="0" rIns="0" bIns="0" anchor="b">
            <a:normAutofit/>
          </a:bodyPr>
          <a:lstStyle>
            <a:lvl1pPr algn="l">
              <a:defRPr sz="4800">
                <a:solidFill>
                  <a:schemeClr val="tx1">
                    <a:lumMod val="95000"/>
                    <a:lumOff val="5000"/>
                  </a:schemeClr>
                </a:solidFill>
              </a:defRPr>
            </a:lvl1pPr>
          </a:lstStyle>
          <a:p>
            <a:r>
              <a:rPr lang="fr-FR"/>
              <a:t>Titre français</a:t>
            </a:r>
            <a:endParaRPr lang="en-CA"/>
          </a:p>
        </p:txBody>
      </p:sp>
      <p:sp>
        <p:nvSpPr>
          <p:cNvPr id="11" name="Date">
            <a:extLst>
              <a:ext uri="{FF2B5EF4-FFF2-40B4-BE49-F238E27FC236}">
                <a16:creationId xmlns:a16="http://schemas.microsoft.com/office/drawing/2014/main" id="{A85F0A28-5712-4839-B9F2-3833707441E9}"/>
              </a:ext>
            </a:extLst>
          </p:cNvPr>
          <p:cNvSpPr>
            <a:spLocks noGrp="1"/>
          </p:cNvSpPr>
          <p:nvPr>
            <p:ph type="body" sz="quarter" idx="12" hasCustomPrompt="1"/>
          </p:nvPr>
        </p:nvSpPr>
        <p:spPr>
          <a:xfrm>
            <a:off x="720000" y="900001"/>
            <a:ext cx="4824000" cy="1419119"/>
          </a:xfrm>
        </p:spPr>
        <p:txBody>
          <a:bodyPr tIns="0">
            <a:normAutofit/>
          </a:bodyPr>
          <a:lstStyle>
            <a:lvl1pPr marL="0" indent="0">
              <a:buNone/>
              <a:defRPr sz="1200" cap="all" spc="0" baseline="0">
                <a:solidFill>
                  <a:schemeClr val="tx1">
                    <a:lumMod val="50000"/>
                    <a:lumOff val="50000"/>
                  </a:schemeClr>
                </a:solidFill>
              </a:defRPr>
            </a:lvl1pPr>
          </a:lstStyle>
          <a:p>
            <a:pPr lvl="0"/>
            <a:r>
              <a:rPr lang="en-CA" sz="1200"/>
              <a:t>Date</a:t>
            </a:r>
            <a:endParaRPr lang="en-CA"/>
          </a:p>
        </p:txBody>
      </p:sp>
      <p:pic>
        <p:nvPicPr>
          <p:cNvPr id="6" name="Picture 5">
            <a:extLst>
              <a:ext uri="{FF2B5EF4-FFF2-40B4-BE49-F238E27FC236}">
                <a16:creationId xmlns:a16="http://schemas.microsoft.com/office/drawing/2014/main" id="{4D9F4826-759B-4387-BA32-989C0BCE7218}"/>
              </a:ext>
            </a:extLst>
          </p:cNvPr>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p:blipFill>
        <p:spPr>
          <a:xfrm>
            <a:off x="6096001" y="0"/>
            <a:ext cx="6096000" cy="6858000"/>
          </a:xfrm>
          <a:prstGeom prst="rect">
            <a:avLst/>
          </a:prstGeom>
        </p:spPr>
      </p:pic>
      <p:sp>
        <p:nvSpPr>
          <p:cNvPr id="9" name="Text Placeholder 6">
            <a:extLst>
              <a:ext uri="{FF2B5EF4-FFF2-40B4-BE49-F238E27FC236}">
                <a16:creationId xmlns:a16="http://schemas.microsoft.com/office/drawing/2014/main" id="{F7400BBD-5184-4CBE-BAB5-8AF9ECDD9698}"/>
              </a:ext>
            </a:extLst>
          </p:cNvPr>
          <p:cNvSpPr>
            <a:spLocks noGrp="1"/>
          </p:cNvSpPr>
          <p:nvPr>
            <p:ph type="body" sz="quarter" idx="13" hasCustomPrompt="1"/>
          </p:nvPr>
        </p:nvSpPr>
        <p:spPr>
          <a:xfrm>
            <a:off x="720726" y="4392001"/>
            <a:ext cx="4822825" cy="684212"/>
          </a:xfrm>
        </p:spPr>
        <p:txBody>
          <a:bodyPr>
            <a:normAutofit/>
          </a:bodyPr>
          <a:lstStyle>
            <a:lvl1pPr marL="0" indent="0">
              <a:buNone/>
              <a:defRPr sz="1800"/>
            </a:lvl1pPr>
            <a:lvl2pPr marL="222245" indent="0">
              <a:buNone/>
              <a:defRPr/>
            </a:lvl2pPr>
            <a:lvl3pPr marL="485763" indent="0">
              <a:buNone/>
              <a:defRPr/>
            </a:lvl3pPr>
            <a:lvl4pPr marL="757220" indent="0">
              <a:buNone/>
              <a:defRPr/>
            </a:lvl4pPr>
            <a:lvl5pPr marL="1028674" indent="0">
              <a:buNone/>
              <a:defRPr/>
            </a:lvl5pPr>
          </a:lstStyle>
          <a:p>
            <a:pPr lvl="0"/>
            <a:r>
              <a:rPr lang="en-CA"/>
              <a:t>Sous-titre</a:t>
            </a:r>
          </a:p>
        </p:txBody>
      </p:sp>
      <p:pic>
        <p:nvPicPr>
          <p:cNvPr id="10" name="Picture 9">
            <a:extLst>
              <a:ext uri="{FF2B5EF4-FFF2-40B4-BE49-F238E27FC236}">
                <a16:creationId xmlns:a16="http://schemas.microsoft.com/office/drawing/2014/main" id="{6D052F34-FD56-42EF-BA3E-B1C43A826710}"/>
              </a:ext>
            </a:extLst>
          </p:cNvPr>
          <p:cNvPicPr>
            <a:picLocks noChangeAspect="1"/>
          </p:cNvPicPr>
          <p:nvPr userDrawn="1"/>
        </p:nvPicPr>
        <p:blipFill>
          <a:blip r:embed="rId3" cstate="screen">
            <a:extLst>
              <a:ext uri="{28A0092B-C50C-407E-A947-70E740481C1C}">
                <a14:useLocalDpi xmlns:a14="http://schemas.microsoft.com/office/drawing/2010/main" val="0"/>
              </a:ext>
            </a:extLst>
          </a:blip>
          <a:stretch>
            <a:fillRect/>
          </a:stretch>
        </p:blipFill>
        <p:spPr>
          <a:xfrm>
            <a:off x="1" y="0"/>
            <a:ext cx="1852139" cy="900000"/>
          </a:xfrm>
          <a:prstGeom prst="rect">
            <a:avLst/>
          </a:prstGeom>
        </p:spPr>
      </p:pic>
    </p:spTree>
    <p:extLst>
      <p:ext uri="{BB962C8B-B14F-4D97-AF65-F5344CB8AC3E}">
        <p14:creationId xmlns:p14="http://schemas.microsoft.com/office/powerpoint/2010/main" val="42129402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Content">
    <p:spTree>
      <p:nvGrpSpPr>
        <p:cNvPr id="1" name=""/>
        <p:cNvGrpSpPr/>
        <p:nvPr/>
      </p:nvGrpSpPr>
      <p:grpSpPr>
        <a:xfrm>
          <a:off x="0" y="0"/>
          <a:ext cx="0" cy="0"/>
          <a:chOff x="0" y="0"/>
          <a:chExt cx="0" cy="0"/>
        </a:xfrm>
      </p:grpSpPr>
      <p:sp>
        <p:nvSpPr>
          <p:cNvPr id="3" name="Content">
            <a:extLst>
              <a:ext uri="{FF2B5EF4-FFF2-40B4-BE49-F238E27FC236}">
                <a16:creationId xmlns:a16="http://schemas.microsoft.com/office/drawing/2014/main" id="{F9882A84-6EA6-4015-BD7C-CBD755FB6178}"/>
              </a:ext>
            </a:extLst>
          </p:cNvPr>
          <p:cNvSpPr>
            <a:spLocks noGrp="1"/>
          </p:cNvSpPr>
          <p:nvPr>
            <p:ph idx="1"/>
          </p:nvPr>
        </p:nvSpPr>
        <p:spPr>
          <a:xfrm>
            <a:off x="4029076" y="729000"/>
            <a:ext cx="7466925" cy="5400000"/>
          </a:xfrm>
        </p:spPr>
        <p:txBody>
          <a:bodyPr tIns="0" rIns="0" bIns="0" anchor="ctr" anchorCtr="0"/>
          <a:lstStyle>
            <a:lvl1pPr>
              <a:defRPr sz="2600"/>
            </a:lvl1pPr>
            <a:lvl2pPr>
              <a:defRPr sz="2200"/>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2" name="Title">
            <a:extLst>
              <a:ext uri="{FF2B5EF4-FFF2-40B4-BE49-F238E27FC236}">
                <a16:creationId xmlns:a16="http://schemas.microsoft.com/office/drawing/2014/main" id="{E73A88A0-7E68-4E89-BB99-D781E11146AA}"/>
              </a:ext>
            </a:extLst>
          </p:cNvPr>
          <p:cNvSpPr>
            <a:spLocks noGrp="1"/>
          </p:cNvSpPr>
          <p:nvPr>
            <p:ph type="title"/>
          </p:nvPr>
        </p:nvSpPr>
        <p:spPr>
          <a:xfrm>
            <a:off x="696001" y="729001"/>
            <a:ext cx="2979017" cy="5400000"/>
          </a:xfrm>
        </p:spPr>
        <p:txBody>
          <a:bodyPr lIns="0" bIns="0" anchor="ctr" anchorCtr="0">
            <a:normAutofit/>
          </a:bodyPr>
          <a:lstStyle>
            <a:lvl1pPr>
              <a:defRPr sz="4000"/>
            </a:lvl1pPr>
          </a:lstStyle>
          <a:p>
            <a:r>
              <a:rPr lang="en-US"/>
              <a:t>Click to edit Master title style</a:t>
            </a:r>
            <a:endParaRPr lang="en-CA"/>
          </a:p>
        </p:txBody>
      </p:sp>
    </p:spTree>
    <p:extLst>
      <p:ext uri="{BB962C8B-B14F-4D97-AF65-F5344CB8AC3E}">
        <p14:creationId xmlns:p14="http://schemas.microsoft.com/office/powerpoint/2010/main" val="28475297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Subtitle Content">
    <p:spTree>
      <p:nvGrpSpPr>
        <p:cNvPr id="1" name=""/>
        <p:cNvGrpSpPr/>
        <p:nvPr/>
      </p:nvGrpSpPr>
      <p:grpSpPr>
        <a:xfrm>
          <a:off x="0" y="0"/>
          <a:ext cx="0" cy="0"/>
          <a:chOff x="0" y="0"/>
          <a:chExt cx="0" cy="0"/>
        </a:xfrm>
      </p:grpSpPr>
      <p:sp>
        <p:nvSpPr>
          <p:cNvPr id="3" name="Content">
            <a:extLst>
              <a:ext uri="{FF2B5EF4-FFF2-40B4-BE49-F238E27FC236}">
                <a16:creationId xmlns:a16="http://schemas.microsoft.com/office/drawing/2014/main" id="{F9882A84-6EA6-4015-BD7C-CBD755FB6178}"/>
              </a:ext>
            </a:extLst>
          </p:cNvPr>
          <p:cNvSpPr>
            <a:spLocks noGrp="1"/>
          </p:cNvSpPr>
          <p:nvPr>
            <p:ph idx="1"/>
          </p:nvPr>
        </p:nvSpPr>
        <p:spPr>
          <a:xfrm>
            <a:off x="4029076" y="729000"/>
            <a:ext cx="7466925" cy="5400000"/>
          </a:xfrm>
        </p:spPr>
        <p:txBody>
          <a:bodyPr tIns="0" rIns="0" bIns="0" anchor="ctr" anchorCtr="0"/>
          <a:lstStyle>
            <a:lvl2pPr>
              <a:defRPr sz="2200"/>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10" name="Subtitle">
            <a:extLst>
              <a:ext uri="{FF2B5EF4-FFF2-40B4-BE49-F238E27FC236}">
                <a16:creationId xmlns:a16="http://schemas.microsoft.com/office/drawing/2014/main" id="{7F6E8184-A3C5-4926-975F-6E13CF4B970A}"/>
              </a:ext>
            </a:extLst>
          </p:cNvPr>
          <p:cNvSpPr>
            <a:spLocks noGrp="1"/>
          </p:cNvSpPr>
          <p:nvPr>
            <p:ph type="body" sz="quarter" idx="10"/>
          </p:nvPr>
        </p:nvSpPr>
        <p:spPr>
          <a:xfrm>
            <a:off x="696001" y="3429000"/>
            <a:ext cx="2885039" cy="2700000"/>
          </a:xfrm>
        </p:spPr>
        <p:txBody>
          <a:bodyPr tIns="180000">
            <a:normAutofit/>
          </a:bodyPr>
          <a:lstStyle>
            <a:lvl1pPr marL="0" indent="0">
              <a:buNone/>
              <a:defRPr sz="2000" baseline="0"/>
            </a:lvl1pPr>
          </a:lstStyle>
          <a:p>
            <a:pPr lvl="0"/>
            <a:r>
              <a:rPr lang="en-US"/>
              <a:t>Click to edit Master text styles</a:t>
            </a:r>
          </a:p>
        </p:txBody>
      </p:sp>
      <p:sp>
        <p:nvSpPr>
          <p:cNvPr id="2" name="Title">
            <a:extLst>
              <a:ext uri="{FF2B5EF4-FFF2-40B4-BE49-F238E27FC236}">
                <a16:creationId xmlns:a16="http://schemas.microsoft.com/office/drawing/2014/main" id="{E73A88A0-7E68-4E89-BB99-D781E11146AA}"/>
              </a:ext>
            </a:extLst>
          </p:cNvPr>
          <p:cNvSpPr>
            <a:spLocks noGrp="1"/>
          </p:cNvSpPr>
          <p:nvPr>
            <p:ph type="title"/>
          </p:nvPr>
        </p:nvSpPr>
        <p:spPr>
          <a:xfrm>
            <a:off x="696002" y="729000"/>
            <a:ext cx="2885831" cy="2700000"/>
          </a:xfrm>
        </p:spPr>
        <p:txBody>
          <a:bodyPr lIns="0" bIns="0"/>
          <a:lstStyle/>
          <a:p>
            <a:r>
              <a:rPr lang="en-US"/>
              <a:t>Click to edit Master title style</a:t>
            </a:r>
            <a:endParaRPr lang="en-CA"/>
          </a:p>
        </p:txBody>
      </p:sp>
    </p:spTree>
    <p:extLst>
      <p:ext uri="{BB962C8B-B14F-4D97-AF65-F5344CB8AC3E}">
        <p14:creationId xmlns:p14="http://schemas.microsoft.com/office/powerpoint/2010/main" val="42709690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hart">
    <p:spTree>
      <p:nvGrpSpPr>
        <p:cNvPr id="1" name=""/>
        <p:cNvGrpSpPr/>
        <p:nvPr/>
      </p:nvGrpSpPr>
      <p:grpSpPr>
        <a:xfrm>
          <a:off x="0" y="0"/>
          <a:ext cx="0" cy="0"/>
          <a:chOff x="0" y="0"/>
          <a:chExt cx="0" cy="0"/>
        </a:xfrm>
      </p:grpSpPr>
      <p:sp>
        <p:nvSpPr>
          <p:cNvPr id="3" name="Content">
            <a:extLst>
              <a:ext uri="{FF2B5EF4-FFF2-40B4-BE49-F238E27FC236}">
                <a16:creationId xmlns:a16="http://schemas.microsoft.com/office/drawing/2014/main" id="{F9882A84-6EA6-4015-BD7C-CBD755FB6178}"/>
              </a:ext>
            </a:extLst>
          </p:cNvPr>
          <p:cNvSpPr>
            <a:spLocks noGrp="1"/>
          </p:cNvSpPr>
          <p:nvPr>
            <p:ph idx="1"/>
          </p:nvPr>
        </p:nvSpPr>
        <p:spPr>
          <a:xfrm>
            <a:off x="4029076" y="729000"/>
            <a:ext cx="7466925" cy="5400000"/>
          </a:xfrm>
        </p:spPr>
        <p:txBody>
          <a:bodyPr tIns="0" rIns="0" bIns="0" anchor="ctr" anchorCtr="0"/>
          <a:lstStyle>
            <a:lvl2pPr>
              <a:defRPr sz="2200"/>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10" name="Subtitle">
            <a:extLst>
              <a:ext uri="{FF2B5EF4-FFF2-40B4-BE49-F238E27FC236}">
                <a16:creationId xmlns:a16="http://schemas.microsoft.com/office/drawing/2014/main" id="{7F6E8184-A3C5-4926-975F-6E13CF4B970A}"/>
              </a:ext>
            </a:extLst>
          </p:cNvPr>
          <p:cNvSpPr>
            <a:spLocks noGrp="1"/>
          </p:cNvSpPr>
          <p:nvPr>
            <p:ph type="body" sz="quarter" idx="10" hasCustomPrompt="1"/>
          </p:nvPr>
        </p:nvSpPr>
        <p:spPr>
          <a:xfrm>
            <a:off x="696001" y="2549334"/>
            <a:ext cx="2885039" cy="1170410"/>
          </a:xfrm>
        </p:spPr>
        <p:txBody>
          <a:bodyPr tIns="180000">
            <a:normAutofit/>
          </a:bodyPr>
          <a:lstStyle>
            <a:lvl1pPr marL="0" indent="0">
              <a:buNone/>
              <a:defRPr sz="1600" spc="0" baseline="0">
                <a:latin typeface="+mn-lt"/>
                <a:cs typeface="Segoe UI Light" panose="020B0502040204020203" pitchFamily="34" charset="0"/>
              </a:defRPr>
            </a:lvl1pPr>
          </a:lstStyle>
          <a:p>
            <a:pPr lvl="0"/>
            <a:r>
              <a:rPr lang="en-US"/>
              <a:t>Chart subtitle</a:t>
            </a:r>
          </a:p>
        </p:txBody>
      </p:sp>
      <p:sp>
        <p:nvSpPr>
          <p:cNvPr id="2" name="Title">
            <a:extLst>
              <a:ext uri="{FF2B5EF4-FFF2-40B4-BE49-F238E27FC236}">
                <a16:creationId xmlns:a16="http://schemas.microsoft.com/office/drawing/2014/main" id="{E73A88A0-7E68-4E89-BB99-D781E11146AA}"/>
              </a:ext>
            </a:extLst>
          </p:cNvPr>
          <p:cNvSpPr>
            <a:spLocks noGrp="1"/>
          </p:cNvSpPr>
          <p:nvPr>
            <p:ph type="title" hasCustomPrompt="1"/>
          </p:nvPr>
        </p:nvSpPr>
        <p:spPr>
          <a:xfrm>
            <a:off x="696002" y="729000"/>
            <a:ext cx="2885831" cy="1820333"/>
          </a:xfrm>
        </p:spPr>
        <p:txBody>
          <a:bodyPr lIns="0" bIns="0">
            <a:normAutofit/>
          </a:bodyPr>
          <a:lstStyle>
            <a:lvl1pPr>
              <a:defRPr sz="3600"/>
            </a:lvl1pPr>
          </a:lstStyle>
          <a:p>
            <a:r>
              <a:rPr lang="en-US"/>
              <a:t>Chart title</a:t>
            </a:r>
            <a:endParaRPr lang="en-CA"/>
          </a:p>
        </p:txBody>
      </p:sp>
      <p:sp>
        <p:nvSpPr>
          <p:cNvPr id="5" name="Subtitle">
            <a:extLst>
              <a:ext uri="{FF2B5EF4-FFF2-40B4-BE49-F238E27FC236}">
                <a16:creationId xmlns:a16="http://schemas.microsoft.com/office/drawing/2014/main" id="{96037A47-C302-43C6-ACB3-DE032F01104A}"/>
              </a:ext>
            </a:extLst>
          </p:cNvPr>
          <p:cNvSpPr>
            <a:spLocks noGrp="1"/>
          </p:cNvSpPr>
          <p:nvPr>
            <p:ph type="body" sz="quarter" idx="11" hasCustomPrompt="1"/>
          </p:nvPr>
        </p:nvSpPr>
        <p:spPr>
          <a:xfrm>
            <a:off x="696001" y="3817398"/>
            <a:ext cx="2885039" cy="2311602"/>
          </a:xfrm>
        </p:spPr>
        <p:txBody>
          <a:bodyPr tIns="180000" anchor="b" anchorCtr="0">
            <a:normAutofit/>
          </a:bodyPr>
          <a:lstStyle>
            <a:lvl1pPr marL="0" indent="0">
              <a:spcBef>
                <a:spcPts val="0"/>
              </a:spcBef>
              <a:spcAft>
                <a:spcPts val="600"/>
              </a:spcAft>
              <a:buNone/>
              <a:defRPr sz="1100" spc="0" baseline="0"/>
            </a:lvl1pPr>
          </a:lstStyle>
          <a:p>
            <a:pPr lvl="0"/>
            <a:r>
              <a:rPr lang="en-US"/>
              <a:t>Chart notes and last observation</a:t>
            </a:r>
          </a:p>
        </p:txBody>
      </p:sp>
    </p:spTree>
    <p:extLst>
      <p:ext uri="{BB962C8B-B14F-4D97-AF65-F5344CB8AC3E}">
        <p14:creationId xmlns:p14="http://schemas.microsoft.com/office/powerpoint/2010/main" val="23605667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urtitle Title Content">
    <p:spTree>
      <p:nvGrpSpPr>
        <p:cNvPr id="1" name=""/>
        <p:cNvGrpSpPr/>
        <p:nvPr/>
      </p:nvGrpSpPr>
      <p:grpSpPr>
        <a:xfrm>
          <a:off x="0" y="0"/>
          <a:ext cx="0" cy="0"/>
          <a:chOff x="0" y="0"/>
          <a:chExt cx="0" cy="0"/>
        </a:xfrm>
      </p:grpSpPr>
      <p:sp>
        <p:nvSpPr>
          <p:cNvPr id="3" name="Content">
            <a:extLst>
              <a:ext uri="{FF2B5EF4-FFF2-40B4-BE49-F238E27FC236}">
                <a16:creationId xmlns:a16="http://schemas.microsoft.com/office/drawing/2014/main" id="{F9882A84-6EA6-4015-BD7C-CBD755FB6178}"/>
              </a:ext>
            </a:extLst>
          </p:cNvPr>
          <p:cNvSpPr>
            <a:spLocks noGrp="1"/>
          </p:cNvSpPr>
          <p:nvPr>
            <p:ph idx="1"/>
          </p:nvPr>
        </p:nvSpPr>
        <p:spPr>
          <a:xfrm>
            <a:off x="4029076" y="1270450"/>
            <a:ext cx="7466925" cy="4858551"/>
          </a:xfrm>
        </p:spPr>
        <p:txBody>
          <a:bodyPr tIns="0" rIns="0" bIns="0" anchor="ctr" anchorCtr="0"/>
          <a:lstStyle>
            <a:lvl1pPr>
              <a:defRPr sz="2600"/>
            </a:lvl1pPr>
            <a:lvl2pPr>
              <a:defRPr sz="2200"/>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2" name="Title">
            <a:extLst>
              <a:ext uri="{FF2B5EF4-FFF2-40B4-BE49-F238E27FC236}">
                <a16:creationId xmlns:a16="http://schemas.microsoft.com/office/drawing/2014/main" id="{E73A88A0-7E68-4E89-BB99-D781E11146AA}"/>
              </a:ext>
            </a:extLst>
          </p:cNvPr>
          <p:cNvSpPr>
            <a:spLocks noGrp="1"/>
          </p:cNvSpPr>
          <p:nvPr>
            <p:ph type="title"/>
          </p:nvPr>
        </p:nvSpPr>
        <p:spPr>
          <a:xfrm>
            <a:off x="696001" y="1270450"/>
            <a:ext cx="2979017" cy="4858551"/>
          </a:xfrm>
        </p:spPr>
        <p:txBody>
          <a:bodyPr lIns="0" bIns="0" anchor="ctr" anchorCtr="0">
            <a:normAutofit/>
          </a:bodyPr>
          <a:lstStyle>
            <a:lvl1pPr>
              <a:defRPr sz="4000"/>
            </a:lvl1pPr>
          </a:lstStyle>
          <a:p>
            <a:r>
              <a:rPr lang="en-US"/>
              <a:t>Click to edit Master title style</a:t>
            </a:r>
            <a:endParaRPr lang="en-CA"/>
          </a:p>
        </p:txBody>
      </p:sp>
      <p:sp>
        <p:nvSpPr>
          <p:cNvPr id="5" name="Text Placeholder 4">
            <a:extLst>
              <a:ext uri="{FF2B5EF4-FFF2-40B4-BE49-F238E27FC236}">
                <a16:creationId xmlns:a16="http://schemas.microsoft.com/office/drawing/2014/main" id="{DE4981D1-399B-48ED-B531-0D95015F63C8}"/>
              </a:ext>
            </a:extLst>
          </p:cNvPr>
          <p:cNvSpPr>
            <a:spLocks noGrp="1"/>
          </p:cNvSpPr>
          <p:nvPr>
            <p:ph type="body" sz="quarter" idx="10" hasCustomPrompt="1"/>
          </p:nvPr>
        </p:nvSpPr>
        <p:spPr>
          <a:xfrm>
            <a:off x="687390" y="712789"/>
            <a:ext cx="10809287" cy="484187"/>
          </a:xfrm>
        </p:spPr>
        <p:txBody>
          <a:bodyPr/>
          <a:lstStyle>
            <a:lvl1pPr marL="0" indent="0">
              <a:buNone/>
              <a:defRPr>
                <a:latin typeface="Segoe UI Semibold" panose="020B0702040204020203" pitchFamily="34" charset="0"/>
                <a:cs typeface="Segoe UI Semibold" panose="020B0702040204020203" pitchFamily="34" charset="0"/>
              </a:defRPr>
            </a:lvl1pPr>
            <a:lvl2pPr marL="222245" indent="0">
              <a:buNone/>
              <a:defRPr/>
            </a:lvl2pPr>
            <a:lvl3pPr marL="485763" indent="0">
              <a:buNone/>
              <a:defRPr/>
            </a:lvl3pPr>
            <a:lvl4pPr marL="757220" indent="0">
              <a:buNone/>
              <a:defRPr/>
            </a:lvl4pPr>
            <a:lvl5pPr marL="1028674" indent="0">
              <a:buNone/>
              <a:defRPr/>
            </a:lvl5pPr>
          </a:lstStyle>
          <a:p>
            <a:pPr lvl="0"/>
            <a:r>
              <a:rPr lang="en-US"/>
              <a:t>SURTITLE</a:t>
            </a:r>
            <a:endParaRPr lang="en-CA"/>
          </a:p>
        </p:txBody>
      </p:sp>
    </p:spTree>
    <p:extLst>
      <p:ext uri="{BB962C8B-B14F-4D97-AF65-F5344CB8AC3E}">
        <p14:creationId xmlns:p14="http://schemas.microsoft.com/office/powerpoint/2010/main" val="19175267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 Picture">
    <p:spTree>
      <p:nvGrpSpPr>
        <p:cNvPr id="1" name=""/>
        <p:cNvGrpSpPr/>
        <p:nvPr/>
      </p:nvGrpSpPr>
      <p:grpSpPr>
        <a:xfrm>
          <a:off x="0" y="0"/>
          <a:ext cx="0" cy="0"/>
          <a:chOff x="0" y="0"/>
          <a:chExt cx="0" cy="0"/>
        </a:xfrm>
      </p:grpSpPr>
      <p:sp>
        <p:nvSpPr>
          <p:cNvPr id="9" name="Picture">
            <a:extLst>
              <a:ext uri="{FF2B5EF4-FFF2-40B4-BE49-F238E27FC236}">
                <a16:creationId xmlns:a16="http://schemas.microsoft.com/office/drawing/2014/main" id="{B21FE746-323F-4251-B693-690D42FC1693}"/>
              </a:ext>
            </a:extLst>
          </p:cNvPr>
          <p:cNvSpPr>
            <a:spLocks noGrp="1"/>
          </p:cNvSpPr>
          <p:nvPr>
            <p:ph type="pic" sz="quarter" idx="10"/>
          </p:nvPr>
        </p:nvSpPr>
        <p:spPr>
          <a:xfrm>
            <a:off x="6612000" y="0"/>
            <a:ext cx="5580000" cy="6876000"/>
          </a:xfrm>
          <a:solidFill>
            <a:schemeClr val="accent6">
              <a:lumMod val="60000"/>
              <a:lumOff val="40000"/>
            </a:schemeClr>
          </a:solidFill>
        </p:spPr>
        <p:txBody>
          <a:bodyPr/>
          <a:lstStyle>
            <a:lvl1pPr marL="0" indent="0" algn="ctr">
              <a:buNone/>
              <a:defRPr/>
            </a:lvl1pPr>
          </a:lstStyle>
          <a:p>
            <a:r>
              <a:rPr lang="en-US"/>
              <a:t>Click icon to add picture</a:t>
            </a:r>
            <a:endParaRPr lang="en-CA"/>
          </a:p>
        </p:txBody>
      </p:sp>
      <p:sp>
        <p:nvSpPr>
          <p:cNvPr id="3" name="Content">
            <a:extLst>
              <a:ext uri="{FF2B5EF4-FFF2-40B4-BE49-F238E27FC236}">
                <a16:creationId xmlns:a16="http://schemas.microsoft.com/office/drawing/2014/main" id="{822232DA-E24E-4872-8A77-E606E3943B0C}"/>
              </a:ext>
            </a:extLst>
          </p:cNvPr>
          <p:cNvSpPr>
            <a:spLocks noGrp="1"/>
          </p:cNvSpPr>
          <p:nvPr>
            <p:ph sz="half" idx="1"/>
          </p:nvPr>
        </p:nvSpPr>
        <p:spPr>
          <a:xfrm>
            <a:off x="696001" y="1809002"/>
            <a:ext cx="5400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2" name="Title">
            <a:extLst>
              <a:ext uri="{FF2B5EF4-FFF2-40B4-BE49-F238E27FC236}">
                <a16:creationId xmlns:a16="http://schemas.microsoft.com/office/drawing/2014/main" id="{067BED35-170B-42E3-B794-F3CA9E7FF7CF}"/>
              </a:ext>
            </a:extLst>
          </p:cNvPr>
          <p:cNvSpPr>
            <a:spLocks noGrp="1"/>
          </p:cNvSpPr>
          <p:nvPr>
            <p:ph type="title"/>
          </p:nvPr>
        </p:nvSpPr>
        <p:spPr>
          <a:xfrm>
            <a:off x="695999" y="189002"/>
            <a:ext cx="5400000" cy="1619999"/>
          </a:xfrm>
        </p:spPr>
        <p:txBody>
          <a:bodyPr bIns="0"/>
          <a:lstStyle/>
          <a:p>
            <a:r>
              <a:rPr lang="en-US"/>
              <a:t>Click to edit Master title style</a:t>
            </a:r>
            <a:endParaRPr lang="en-CA"/>
          </a:p>
        </p:txBody>
      </p:sp>
    </p:spTree>
    <p:extLst>
      <p:ext uri="{BB962C8B-B14F-4D97-AF65-F5344CB8AC3E}">
        <p14:creationId xmlns:p14="http://schemas.microsoft.com/office/powerpoint/2010/main" val="38426384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icture Content">
    <p:spTree>
      <p:nvGrpSpPr>
        <p:cNvPr id="1" name=""/>
        <p:cNvGrpSpPr/>
        <p:nvPr/>
      </p:nvGrpSpPr>
      <p:grpSpPr>
        <a:xfrm>
          <a:off x="0" y="0"/>
          <a:ext cx="0" cy="0"/>
          <a:chOff x="0" y="0"/>
          <a:chExt cx="0" cy="0"/>
        </a:xfrm>
      </p:grpSpPr>
      <p:sp>
        <p:nvSpPr>
          <p:cNvPr id="9" name="Picture">
            <a:extLst>
              <a:ext uri="{FF2B5EF4-FFF2-40B4-BE49-F238E27FC236}">
                <a16:creationId xmlns:a16="http://schemas.microsoft.com/office/drawing/2014/main" id="{B21FE746-323F-4251-B693-690D42FC1693}"/>
              </a:ext>
            </a:extLst>
          </p:cNvPr>
          <p:cNvSpPr>
            <a:spLocks noGrp="1"/>
          </p:cNvSpPr>
          <p:nvPr>
            <p:ph type="pic" sz="quarter" idx="10"/>
          </p:nvPr>
        </p:nvSpPr>
        <p:spPr>
          <a:xfrm>
            <a:off x="-3" y="0"/>
            <a:ext cx="5580000" cy="6876000"/>
          </a:xfrm>
          <a:solidFill>
            <a:schemeClr val="accent6">
              <a:lumMod val="60000"/>
              <a:lumOff val="40000"/>
            </a:schemeClr>
          </a:solidFill>
        </p:spPr>
        <p:txBody>
          <a:bodyPr/>
          <a:lstStyle>
            <a:lvl1pPr marL="0" indent="0" algn="ctr">
              <a:buNone/>
              <a:defRPr/>
            </a:lvl1pPr>
          </a:lstStyle>
          <a:p>
            <a:r>
              <a:rPr lang="en-US"/>
              <a:t>Click icon to add picture</a:t>
            </a:r>
            <a:endParaRPr lang="en-CA"/>
          </a:p>
        </p:txBody>
      </p:sp>
      <p:sp>
        <p:nvSpPr>
          <p:cNvPr id="3" name="Content">
            <a:extLst>
              <a:ext uri="{FF2B5EF4-FFF2-40B4-BE49-F238E27FC236}">
                <a16:creationId xmlns:a16="http://schemas.microsoft.com/office/drawing/2014/main" id="{822232DA-E24E-4872-8A77-E606E3943B0C}"/>
              </a:ext>
            </a:extLst>
          </p:cNvPr>
          <p:cNvSpPr>
            <a:spLocks noGrp="1"/>
          </p:cNvSpPr>
          <p:nvPr>
            <p:ph sz="half" idx="1"/>
          </p:nvPr>
        </p:nvSpPr>
        <p:spPr>
          <a:xfrm>
            <a:off x="6096000" y="1809000"/>
            <a:ext cx="5400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2" name="Title">
            <a:extLst>
              <a:ext uri="{FF2B5EF4-FFF2-40B4-BE49-F238E27FC236}">
                <a16:creationId xmlns:a16="http://schemas.microsoft.com/office/drawing/2014/main" id="{067BED35-170B-42E3-B794-F3CA9E7FF7CF}"/>
              </a:ext>
            </a:extLst>
          </p:cNvPr>
          <p:cNvSpPr>
            <a:spLocks noGrp="1"/>
          </p:cNvSpPr>
          <p:nvPr>
            <p:ph type="title"/>
          </p:nvPr>
        </p:nvSpPr>
        <p:spPr>
          <a:xfrm>
            <a:off x="6096000" y="189002"/>
            <a:ext cx="5400000" cy="1619999"/>
          </a:xfrm>
        </p:spPr>
        <p:txBody>
          <a:bodyPr/>
          <a:lstStyle/>
          <a:p>
            <a:r>
              <a:rPr lang="en-US"/>
              <a:t>Click to edit Master title style</a:t>
            </a:r>
            <a:endParaRPr lang="en-CA"/>
          </a:p>
        </p:txBody>
      </p:sp>
    </p:spTree>
    <p:extLst>
      <p:ext uri="{BB962C8B-B14F-4D97-AF65-F5344CB8AC3E}">
        <p14:creationId xmlns:p14="http://schemas.microsoft.com/office/powerpoint/2010/main" val="9018845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Content Vertical">
    <p:spTree>
      <p:nvGrpSpPr>
        <p:cNvPr id="1" name=""/>
        <p:cNvGrpSpPr/>
        <p:nvPr/>
      </p:nvGrpSpPr>
      <p:grpSpPr>
        <a:xfrm>
          <a:off x="0" y="0"/>
          <a:ext cx="0" cy="0"/>
          <a:chOff x="0" y="0"/>
          <a:chExt cx="0" cy="0"/>
        </a:xfrm>
      </p:grpSpPr>
      <p:sp>
        <p:nvSpPr>
          <p:cNvPr id="3" name="Content">
            <a:extLst>
              <a:ext uri="{FF2B5EF4-FFF2-40B4-BE49-F238E27FC236}">
                <a16:creationId xmlns:a16="http://schemas.microsoft.com/office/drawing/2014/main" id="{822232DA-E24E-4872-8A77-E606E3943B0C}"/>
              </a:ext>
            </a:extLst>
          </p:cNvPr>
          <p:cNvSpPr>
            <a:spLocks noGrp="1"/>
          </p:cNvSpPr>
          <p:nvPr>
            <p:ph sz="half" idx="1"/>
          </p:nvPr>
        </p:nvSpPr>
        <p:spPr>
          <a:xfrm>
            <a:off x="1776000" y="1269003"/>
            <a:ext cx="8640000" cy="4859996"/>
          </a:xfrm>
        </p:spPr>
        <p:txBody>
          <a:bodyPr tIns="180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itle">
            <a:extLst>
              <a:ext uri="{FF2B5EF4-FFF2-40B4-BE49-F238E27FC236}">
                <a16:creationId xmlns:a16="http://schemas.microsoft.com/office/drawing/2014/main" id="{86D4D957-DB39-4D7A-8B4A-DAC745DAD455}"/>
              </a:ext>
            </a:extLst>
          </p:cNvPr>
          <p:cNvSpPr>
            <a:spLocks noGrp="1"/>
          </p:cNvSpPr>
          <p:nvPr>
            <p:ph type="title"/>
          </p:nvPr>
        </p:nvSpPr>
        <p:spPr>
          <a:xfrm>
            <a:off x="696000" y="1"/>
            <a:ext cx="10800000" cy="1269002"/>
          </a:xfrm>
        </p:spPr>
        <p:txBody>
          <a:bodyPr bIns="0"/>
          <a:lstStyle>
            <a:lvl1pPr algn="ctr">
              <a:defRPr/>
            </a:lvl1pPr>
          </a:lstStyle>
          <a:p>
            <a:r>
              <a:rPr lang="en-US"/>
              <a:t>Click to edit Master title style</a:t>
            </a:r>
            <a:endParaRPr lang="en-CA"/>
          </a:p>
        </p:txBody>
      </p:sp>
    </p:spTree>
    <p:extLst>
      <p:ext uri="{BB962C8B-B14F-4D97-AF65-F5344CB8AC3E}">
        <p14:creationId xmlns:p14="http://schemas.microsoft.com/office/powerpoint/2010/main" val="29552403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Content Vertical Centered">
    <p:spTree>
      <p:nvGrpSpPr>
        <p:cNvPr id="1" name=""/>
        <p:cNvGrpSpPr/>
        <p:nvPr/>
      </p:nvGrpSpPr>
      <p:grpSpPr>
        <a:xfrm>
          <a:off x="0" y="0"/>
          <a:ext cx="0" cy="0"/>
          <a:chOff x="0" y="0"/>
          <a:chExt cx="0" cy="0"/>
        </a:xfrm>
      </p:grpSpPr>
      <p:sp>
        <p:nvSpPr>
          <p:cNvPr id="3" name="Content">
            <a:extLst>
              <a:ext uri="{FF2B5EF4-FFF2-40B4-BE49-F238E27FC236}">
                <a16:creationId xmlns:a16="http://schemas.microsoft.com/office/drawing/2014/main" id="{822232DA-E24E-4872-8A77-E606E3943B0C}"/>
              </a:ext>
            </a:extLst>
          </p:cNvPr>
          <p:cNvSpPr>
            <a:spLocks noGrp="1"/>
          </p:cNvSpPr>
          <p:nvPr>
            <p:ph sz="half" idx="1"/>
          </p:nvPr>
        </p:nvSpPr>
        <p:spPr>
          <a:xfrm>
            <a:off x="1776000" y="1269000"/>
            <a:ext cx="8640000" cy="4860000"/>
          </a:xfrm>
        </p:spPr>
        <p:txBody>
          <a:bodyPr tIns="0" anchor="ctr" anchorCtr="0"/>
          <a:lstStyle>
            <a:lvl1pPr marL="0" indent="0" algn="ctr">
              <a:buNone/>
              <a:defRPr/>
            </a:lvl1pPr>
            <a:lvl2pPr marL="0" indent="0" algn="ctr">
              <a:buNone/>
              <a:defRPr/>
            </a:lvl2pPr>
            <a:lvl3pPr marL="0" indent="0" algn="ctr">
              <a:buNone/>
              <a:defRPr/>
            </a:lvl3pPr>
            <a:lvl4pPr marL="0" indent="0" algn="ctr">
              <a:buNone/>
              <a:defRPr/>
            </a:lvl4pPr>
            <a:lvl5pPr marL="0" indent="0" algn="ct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itle">
            <a:extLst>
              <a:ext uri="{FF2B5EF4-FFF2-40B4-BE49-F238E27FC236}">
                <a16:creationId xmlns:a16="http://schemas.microsoft.com/office/drawing/2014/main" id="{5935C584-04F7-4733-9D49-CB4A4608F10A}"/>
              </a:ext>
            </a:extLst>
          </p:cNvPr>
          <p:cNvSpPr>
            <a:spLocks noGrp="1"/>
          </p:cNvSpPr>
          <p:nvPr>
            <p:ph type="title"/>
          </p:nvPr>
        </p:nvSpPr>
        <p:spPr>
          <a:xfrm>
            <a:off x="696000" y="1"/>
            <a:ext cx="10800000" cy="1269002"/>
          </a:xfrm>
        </p:spPr>
        <p:txBody>
          <a:bodyPr bIns="0"/>
          <a:lstStyle>
            <a:lvl1pPr algn="ctr">
              <a:defRPr/>
            </a:lvl1pPr>
          </a:lstStyle>
          <a:p>
            <a:r>
              <a:rPr lang="en-US"/>
              <a:t>Click to edit Master title style</a:t>
            </a:r>
            <a:endParaRPr lang="en-CA"/>
          </a:p>
        </p:txBody>
      </p:sp>
    </p:spTree>
    <p:extLst>
      <p:ext uri="{BB962C8B-B14F-4D97-AF65-F5344CB8AC3E}">
        <p14:creationId xmlns:p14="http://schemas.microsoft.com/office/powerpoint/2010/main" val="321906093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lumns">
    <p:spTree>
      <p:nvGrpSpPr>
        <p:cNvPr id="1" name=""/>
        <p:cNvGrpSpPr/>
        <p:nvPr/>
      </p:nvGrpSpPr>
      <p:grpSpPr>
        <a:xfrm>
          <a:off x="0" y="0"/>
          <a:ext cx="0" cy="0"/>
          <a:chOff x="0" y="0"/>
          <a:chExt cx="0" cy="0"/>
        </a:xfrm>
      </p:grpSpPr>
      <p:sp>
        <p:nvSpPr>
          <p:cNvPr id="6" name="Content 2">
            <a:extLst>
              <a:ext uri="{FF2B5EF4-FFF2-40B4-BE49-F238E27FC236}">
                <a16:creationId xmlns:a16="http://schemas.microsoft.com/office/drawing/2014/main" id="{764541B5-0E68-4EA6-8E77-581520B5C642}"/>
              </a:ext>
            </a:extLst>
          </p:cNvPr>
          <p:cNvSpPr>
            <a:spLocks noGrp="1"/>
          </p:cNvSpPr>
          <p:nvPr>
            <p:ph sz="quarter" idx="4"/>
          </p:nvPr>
        </p:nvSpPr>
        <p:spPr>
          <a:xfrm>
            <a:off x="6383385" y="2090046"/>
            <a:ext cx="5112617" cy="4376068"/>
          </a:xfrm>
        </p:spPr>
        <p:txBody>
          <a:bodyPr tIns="0"/>
          <a:lstStyle>
            <a:lvl2pPr marL="450839" indent="-228594">
              <a:buFont typeface="Segoe UI" panose="020B0502040204020203" pitchFamily="34" charset="0"/>
              <a:buChar char="›"/>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1">
            <a:extLst>
              <a:ext uri="{FF2B5EF4-FFF2-40B4-BE49-F238E27FC236}">
                <a16:creationId xmlns:a16="http://schemas.microsoft.com/office/drawing/2014/main" id="{7A319EA9-6044-4422-827C-2F2EED4CB993}"/>
              </a:ext>
            </a:extLst>
          </p:cNvPr>
          <p:cNvSpPr>
            <a:spLocks noGrp="1"/>
          </p:cNvSpPr>
          <p:nvPr>
            <p:ph sz="half" idx="2"/>
          </p:nvPr>
        </p:nvSpPr>
        <p:spPr>
          <a:xfrm>
            <a:off x="696001" y="2090046"/>
            <a:ext cx="5147451" cy="4376068"/>
          </a:xfrm>
        </p:spPr>
        <p:txBody>
          <a:bodyPr tIns="0"/>
          <a:lstStyle>
            <a:lvl2pPr marL="450839" indent="-228594">
              <a:buFont typeface="Segoe UI" panose="020B0502040204020203" pitchFamily="34" charset="0"/>
              <a:buChar char="›"/>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2" name="Title">
            <a:extLst>
              <a:ext uri="{FF2B5EF4-FFF2-40B4-BE49-F238E27FC236}">
                <a16:creationId xmlns:a16="http://schemas.microsoft.com/office/drawing/2014/main" id="{BBA0A582-A982-4959-9A18-08B98A2F2657}"/>
              </a:ext>
            </a:extLst>
          </p:cNvPr>
          <p:cNvSpPr>
            <a:spLocks noGrp="1"/>
          </p:cNvSpPr>
          <p:nvPr>
            <p:ph type="title"/>
          </p:nvPr>
        </p:nvSpPr>
        <p:spPr>
          <a:xfrm>
            <a:off x="696000" y="1"/>
            <a:ext cx="10800000" cy="1269002"/>
          </a:xfrm>
        </p:spPr>
        <p:txBody>
          <a:bodyPr bIns="0"/>
          <a:lstStyle>
            <a:lvl1pPr algn="ctr">
              <a:defRPr/>
            </a:lvl1pPr>
          </a:lstStyle>
          <a:p>
            <a:r>
              <a:rPr lang="en-US"/>
              <a:t>Click to edit Master title style</a:t>
            </a:r>
            <a:endParaRPr lang="en-CA"/>
          </a:p>
        </p:txBody>
      </p:sp>
      <p:sp>
        <p:nvSpPr>
          <p:cNvPr id="5" name="Text Placeholder 4">
            <a:extLst>
              <a:ext uri="{FF2B5EF4-FFF2-40B4-BE49-F238E27FC236}">
                <a16:creationId xmlns:a16="http://schemas.microsoft.com/office/drawing/2014/main" id="{DCFCF82A-123B-459D-B2C4-B3E5D5D37E70}"/>
              </a:ext>
            </a:extLst>
          </p:cNvPr>
          <p:cNvSpPr>
            <a:spLocks noGrp="1"/>
          </p:cNvSpPr>
          <p:nvPr>
            <p:ph type="body" sz="quarter" idx="10" hasCustomPrompt="1"/>
          </p:nvPr>
        </p:nvSpPr>
        <p:spPr>
          <a:xfrm>
            <a:off x="695998" y="1284024"/>
            <a:ext cx="5147451" cy="796317"/>
          </a:xfrm>
        </p:spPr>
        <p:txBody>
          <a:bodyPr wrap="square" tIns="288000" bIns="144000">
            <a:spAutoFit/>
          </a:bodyPr>
          <a:lstStyle>
            <a:lvl1pPr marL="0" indent="0">
              <a:buNone/>
              <a:defRPr>
                <a:latin typeface="Segoe UI Semibold" panose="020B0702040204020203" pitchFamily="34" charset="0"/>
                <a:cs typeface="Segoe UI Semibold" panose="020B0702040204020203" pitchFamily="34" charset="0"/>
              </a:defRPr>
            </a:lvl1pPr>
            <a:lvl2pPr marL="222245" indent="0">
              <a:buNone/>
              <a:defRPr/>
            </a:lvl2pPr>
            <a:lvl3pPr marL="485763" indent="0">
              <a:buNone/>
              <a:defRPr/>
            </a:lvl3pPr>
            <a:lvl4pPr marL="757220" indent="0">
              <a:buNone/>
              <a:defRPr/>
            </a:lvl4pPr>
            <a:lvl5pPr marL="1028674" indent="0">
              <a:buNone/>
              <a:defRPr/>
            </a:lvl5pPr>
          </a:lstStyle>
          <a:p>
            <a:pPr lvl="0"/>
            <a:r>
              <a:rPr lang="en-US"/>
              <a:t>Title</a:t>
            </a:r>
            <a:endParaRPr lang="en-CA"/>
          </a:p>
        </p:txBody>
      </p:sp>
      <p:sp>
        <p:nvSpPr>
          <p:cNvPr id="7" name="Text Placeholder 4">
            <a:extLst>
              <a:ext uri="{FF2B5EF4-FFF2-40B4-BE49-F238E27FC236}">
                <a16:creationId xmlns:a16="http://schemas.microsoft.com/office/drawing/2014/main" id="{9B2F07E8-B14A-4BB6-AA9D-DD2D707506DF}"/>
              </a:ext>
            </a:extLst>
          </p:cNvPr>
          <p:cNvSpPr>
            <a:spLocks noGrp="1"/>
          </p:cNvSpPr>
          <p:nvPr>
            <p:ph type="body" sz="quarter" idx="11" hasCustomPrompt="1"/>
          </p:nvPr>
        </p:nvSpPr>
        <p:spPr>
          <a:xfrm>
            <a:off x="6383385" y="1284024"/>
            <a:ext cx="5112615" cy="796317"/>
          </a:xfrm>
        </p:spPr>
        <p:txBody>
          <a:bodyPr wrap="square" tIns="288000" bIns="144000">
            <a:spAutoFit/>
          </a:bodyPr>
          <a:lstStyle>
            <a:lvl1pPr marL="0" indent="0">
              <a:buNone/>
              <a:defRPr>
                <a:latin typeface="Segoe UI Semibold" panose="020B0702040204020203" pitchFamily="34" charset="0"/>
                <a:cs typeface="Segoe UI Semibold" panose="020B0702040204020203" pitchFamily="34" charset="0"/>
              </a:defRPr>
            </a:lvl1pPr>
            <a:lvl2pPr marL="222245" indent="0">
              <a:buNone/>
              <a:defRPr/>
            </a:lvl2pPr>
            <a:lvl3pPr marL="485763" indent="0">
              <a:buNone/>
              <a:defRPr/>
            </a:lvl3pPr>
            <a:lvl4pPr marL="757220" indent="0">
              <a:buNone/>
              <a:defRPr/>
            </a:lvl4pPr>
            <a:lvl5pPr marL="1028674" indent="0">
              <a:buNone/>
              <a:defRPr/>
            </a:lvl5pPr>
          </a:lstStyle>
          <a:p>
            <a:pPr lvl="0"/>
            <a:r>
              <a:rPr lang="en-US"/>
              <a:t>Title</a:t>
            </a:r>
            <a:endParaRPr lang="en-CA"/>
          </a:p>
        </p:txBody>
      </p:sp>
    </p:spTree>
    <p:extLst>
      <p:ext uri="{BB962C8B-B14F-4D97-AF65-F5344CB8AC3E}">
        <p14:creationId xmlns:p14="http://schemas.microsoft.com/office/powerpoint/2010/main" val="25762170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hree Columns">
    <p:spTree>
      <p:nvGrpSpPr>
        <p:cNvPr id="1" name=""/>
        <p:cNvGrpSpPr/>
        <p:nvPr/>
      </p:nvGrpSpPr>
      <p:grpSpPr>
        <a:xfrm>
          <a:off x="0" y="0"/>
          <a:ext cx="0" cy="0"/>
          <a:chOff x="0" y="0"/>
          <a:chExt cx="0" cy="0"/>
        </a:xfrm>
      </p:grpSpPr>
      <p:sp>
        <p:nvSpPr>
          <p:cNvPr id="4" name="Content 1">
            <a:extLst>
              <a:ext uri="{FF2B5EF4-FFF2-40B4-BE49-F238E27FC236}">
                <a16:creationId xmlns:a16="http://schemas.microsoft.com/office/drawing/2014/main" id="{7A319EA9-6044-4422-827C-2F2EED4CB993}"/>
              </a:ext>
            </a:extLst>
          </p:cNvPr>
          <p:cNvSpPr>
            <a:spLocks noGrp="1"/>
          </p:cNvSpPr>
          <p:nvPr>
            <p:ph sz="half" idx="2"/>
          </p:nvPr>
        </p:nvSpPr>
        <p:spPr>
          <a:xfrm>
            <a:off x="696001" y="2080341"/>
            <a:ext cx="3420000" cy="4509815"/>
          </a:xfrm>
        </p:spPr>
        <p:txBody>
          <a:bodyPr t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8" name="Content Placeholder 7">
            <a:extLst>
              <a:ext uri="{FF2B5EF4-FFF2-40B4-BE49-F238E27FC236}">
                <a16:creationId xmlns:a16="http://schemas.microsoft.com/office/drawing/2014/main" id="{07A00EA9-6037-4A8C-931F-4C67B1DB59A2}"/>
              </a:ext>
            </a:extLst>
          </p:cNvPr>
          <p:cNvSpPr>
            <a:spLocks noGrp="1"/>
          </p:cNvSpPr>
          <p:nvPr>
            <p:ph sz="quarter" idx="10"/>
          </p:nvPr>
        </p:nvSpPr>
        <p:spPr>
          <a:xfrm>
            <a:off x="4386001" y="2080340"/>
            <a:ext cx="3420000" cy="4510087"/>
          </a:xfrm>
        </p:spPr>
        <p:txBody>
          <a:bodyPr t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9" name="Content 2">
            <a:extLst>
              <a:ext uri="{FF2B5EF4-FFF2-40B4-BE49-F238E27FC236}">
                <a16:creationId xmlns:a16="http://schemas.microsoft.com/office/drawing/2014/main" id="{05DC7957-4E83-47F3-B658-5D5122A6EEC3}"/>
              </a:ext>
            </a:extLst>
          </p:cNvPr>
          <p:cNvSpPr>
            <a:spLocks noGrp="1"/>
          </p:cNvSpPr>
          <p:nvPr>
            <p:ph sz="quarter" idx="11"/>
          </p:nvPr>
        </p:nvSpPr>
        <p:spPr>
          <a:xfrm>
            <a:off x="8076000" y="2080341"/>
            <a:ext cx="3420000" cy="4509815"/>
          </a:xfrm>
        </p:spPr>
        <p:txBody>
          <a:bodyPr t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Title">
            <a:extLst>
              <a:ext uri="{FF2B5EF4-FFF2-40B4-BE49-F238E27FC236}">
                <a16:creationId xmlns:a16="http://schemas.microsoft.com/office/drawing/2014/main" id="{47ECA5EE-20A3-4BAC-BDA2-48EE36F974AC}"/>
              </a:ext>
            </a:extLst>
          </p:cNvPr>
          <p:cNvSpPr>
            <a:spLocks noGrp="1"/>
          </p:cNvSpPr>
          <p:nvPr>
            <p:ph type="title"/>
          </p:nvPr>
        </p:nvSpPr>
        <p:spPr>
          <a:xfrm>
            <a:off x="696000" y="1"/>
            <a:ext cx="10800000" cy="1269002"/>
          </a:xfrm>
        </p:spPr>
        <p:txBody>
          <a:bodyPr bIns="0"/>
          <a:lstStyle>
            <a:lvl1pPr algn="ctr">
              <a:defRPr/>
            </a:lvl1pPr>
          </a:lstStyle>
          <a:p>
            <a:r>
              <a:rPr lang="en-US"/>
              <a:t>Click to edit Master title style</a:t>
            </a:r>
            <a:endParaRPr lang="en-CA"/>
          </a:p>
        </p:txBody>
      </p:sp>
      <p:sp>
        <p:nvSpPr>
          <p:cNvPr id="7" name="Text Placeholder 4">
            <a:extLst>
              <a:ext uri="{FF2B5EF4-FFF2-40B4-BE49-F238E27FC236}">
                <a16:creationId xmlns:a16="http://schemas.microsoft.com/office/drawing/2014/main" id="{A50481A2-BC4D-43CA-9BF3-F869AC3B88D3}"/>
              </a:ext>
            </a:extLst>
          </p:cNvPr>
          <p:cNvSpPr>
            <a:spLocks noGrp="1"/>
          </p:cNvSpPr>
          <p:nvPr>
            <p:ph type="body" sz="quarter" idx="12" hasCustomPrompt="1"/>
          </p:nvPr>
        </p:nvSpPr>
        <p:spPr>
          <a:xfrm>
            <a:off x="695998" y="1284024"/>
            <a:ext cx="3420000" cy="796317"/>
          </a:xfrm>
        </p:spPr>
        <p:txBody>
          <a:bodyPr wrap="square" tIns="288000" bIns="144000">
            <a:spAutoFit/>
          </a:bodyPr>
          <a:lstStyle>
            <a:lvl1pPr marL="0" indent="0">
              <a:buNone/>
              <a:defRPr>
                <a:latin typeface="Segoe UI Semibold" panose="020B0702040204020203" pitchFamily="34" charset="0"/>
                <a:cs typeface="Segoe UI Semibold" panose="020B0702040204020203" pitchFamily="34" charset="0"/>
              </a:defRPr>
            </a:lvl1pPr>
            <a:lvl2pPr marL="222245" indent="0">
              <a:buNone/>
              <a:defRPr/>
            </a:lvl2pPr>
            <a:lvl3pPr marL="485763" indent="0">
              <a:buNone/>
              <a:defRPr/>
            </a:lvl3pPr>
            <a:lvl4pPr marL="757220" indent="0">
              <a:buNone/>
              <a:defRPr/>
            </a:lvl4pPr>
            <a:lvl5pPr marL="1028674" indent="0">
              <a:buNone/>
              <a:defRPr/>
            </a:lvl5pPr>
          </a:lstStyle>
          <a:p>
            <a:pPr lvl="0"/>
            <a:r>
              <a:rPr lang="en-US"/>
              <a:t>Title</a:t>
            </a:r>
            <a:endParaRPr lang="en-CA"/>
          </a:p>
        </p:txBody>
      </p:sp>
      <p:sp>
        <p:nvSpPr>
          <p:cNvPr id="10" name="Text Placeholder 4">
            <a:extLst>
              <a:ext uri="{FF2B5EF4-FFF2-40B4-BE49-F238E27FC236}">
                <a16:creationId xmlns:a16="http://schemas.microsoft.com/office/drawing/2014/main" id="{C7DD3A63-EEC5-4DB2-ACC2-A002A76E1BB7}"/>
              </a:ext>
            </a:extLst>
          </p:cNvPr>
          <p:cNvSpPr>
            <a:spLocks noGrp="1"/>
          </p:cNvSpPr>
          <p:nvPr>
            <p:ph type="body" sz="quarter" idx="13" hasCustomPrompt="1"/>
          </p:nvPr>
        </p:nvSpPr>
        <p:spPr>
          <a:xfrm>
            <a:off x="4386000" y="1284024"/>
            <a:ext cx="3420002" cy="796317"/>
          </a:xfrm>
        </p:spPr>
        <p:txBody>
          <a:bodyPr wrap="square" tIns="288000" bIns="144000">
            <a:spAutoFit/>
          </a:bodyPr>
          <a:lstStyle>
            <a:lvl1pPr marL="0" indent="0">
              <a:buNone/>
              <a:defRPr>
                <a:latin typeface="Segoe UI Semibold" panose="020B0702040204020203" pitchFamily="34" charset="0"/>
                <a:cs typeface="Segoe UI Semibold" panose="020B0702040204020203" pitchFamily="34" charset="0"/>
              </a:defRPr>
            </a:lvl1pPr>
            <a:lvl2pPr marL="222245" indent="0">
              <a:buNone/>
              <a:defRPr/>
            </a:lvl2pPr>
            <a:lvl3pPr marL="485763" indent="0">
              <a:buNone/>
              <a:defRPr/>
            </a:lvl3pPr>
            <a:lvl4pPr marL="757220" indent="0">
              <a:buNone/>
              <a:defRPr/>
            </a:lvl4pPr>
            <a:lvl5pPr marL="1028674" indent="0">
              <a:buNone/>
              <a:defRPr/>
            </a:lvl5pPr>
          </a:lstStyle>
          <a:p>
            <a:pPr lvl="0"/>
            <a:r>
              <a:rPr lang="en-US"/>
              <a:t>Title</a:t>
            </a:r>
            <a:endParaRPr lang="en-CA"/>
          </a:p>
        </p:txBody>
      </p:sp>
      <p:sp>
        <p:nvSpPr>
          <p:cNvPr id="13" name="Text Placeholder 4">
            <a:extLst>
              <a:ext uri="{FF2B5EF4-FFF2-40B4-BE49-F238E27FC236}">
                <a16:creationId xmlns:a16="http://schemas.microsoft.com/office/drawing/2014/main" id="{6460308C-25A6-4824-AD2F-4090C9140298}"/>
              </a:ext>
            </a:extLst>
          </p:cNvPr>
          <p:cNvSpPr>
            <a:spLocks noGrp="1"/>
          </p:cNvSpPr>
          <p:nvPr>
            <p:ph type="body" sz="quarter" idx="14" hasCustomPrompt="1"/>
          </p:nvPr>
        </p:nvSpPr>
        <p:spPr>
          <a:xfrm>
            <a:off x="8075999" y="1284024"/>
            <a:ext cx="3420002" cy="796317"/>
          </a:xfrm>
        </p:spPr>
        <p:txBody>
          <a:bodyPr wrap="square" tIns="288000" bIns="144000">
            <a:spAutoFit/>
          </a:bodyPr>
          <a:lstStyle>
            <a:lvl1pPr marL="0" indent="0">
              <a:buNone/>
              <a:defRPr>
                <a:latin typeface="Segoe UI Semibold" panose="020B0702040204020203" pitchFamily="34" charset="0"/>
                <a:cs typeface="Segoe UI Semibold" panose="020B0702040204020203" pitchFamily="34" charset="0"/>
              </a:defRPr>
            </a:lvl1pPr>
            <a:lvl2pPr marL="222245" indent="0">
              <a:buNone/>
              <a:defRPr/>
            </a:lvl2pPr>
            <a:lvl3pPr marL="485763" indent="0">
              <a:buNone/>
              <a:defRPr/>
            </a:lvl3pPr>
            <a:lvl4pPr marL="757220" indent="0">
              <a:buNone/>
              <a:defRPr/>
            </a:lvl4pPr>
            <a:lvl5pPr marL="1028674" indent="0">
              <a:buNone/>
              <a:defRPr/>
            </a:lvl5pPr>
          </a:lstStyle>
          <a:p>
            <a:pPr lvl="0"/>
            <a:r>
              <a:rPr lang="en-US"/>
              <a:t>Title</a:t>
            </a:r>
            <a:endParaRPr lang="en-CA"/>
          </a:p>
        </p:txBody>
      </p:sp>
    </p:spTree>
    <p:extLst>
      <p:ext uri="{BB962C8B-B14F-4D97-AF65-F5344CB8AC3E}">
        <p14:creationId xmlns:p14="http://schemas.microsoft.com/office/powerpoint/2010/main" val="5952891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hree Columns Images">
    <p:spTree>
      <p:nvGrpSpPr>
        <p:cNvPr id="1" name=""/>
        <p:cNvGrpSpPr/>
        <p:nvPr/>
      </p:nvGrpSpPr>
      <p:grpSpPr>
        <a:xfrm>
          <a:off x="0" y="0"/>
          <a:ext cx="0" cy="0"/>
          <a:chOff x="0" y="0"/>
          <a:chExt cx="0" cy="0"/>
        </a:xfrm>
      </p:grpSpPr>
      <p:sp>
        <p:nvSpPr>
          <p:cNvPr id="4" name="Content 1">
            <a:extLst>
              <a:ext uri="{FF2B5EF4-FFF2-40B4-BE49-F238E27FC236}">
                <a16:creationId xmlns:a16="http://schemas.microsoft.com/office/drawing/2014/main" id="{7A319EA9-6044-4422-827C-2F2EED4CB993}"/>
              </a:ext>
            </a:extLst>
          </p:cNvPr>
          <p:cNvSpPr>
            <a:spLocks noGrp="1"/>
          </p:cNvSpPr>
          <p:nvPr>
            <p:ph sz="half" idx="2"/>
          </p:nvPr>
        </p:nvSpPr>
        <p:spPr>
          <a:xfrm>
            <a:off x="696001" y="3039427"/>
            <a:ext cx="3420000" cy="3060000"/>
          </a:xfrm>
        </p:spPr>
        <p:txBody>
          <a:bodyPr t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8" name="Content Placeholder 7">
            <a:extLst>
              <a:ext uri="{FF2B5EF4-FFF2-40B4-BE49-F238E27FC236}">
                <a16:creationId xmlns:a16="http://schemas.microsoft.com/office/drawing/2014/main" id="{07A00EA9-6037-4A8C-931F-4C67B1DB59A2}"/>
              </a:ext>
            </a:extLst>
          </p:cNvPr>
          <p:cNvSpPr>
            <a:spLocks noGrp="1"/>
          </p:cNvSpPr>
          <p:nvPr>
            <p:ph sz="quarter" idx="10"/>
          </p:nvPr>
        </p:nvSpPr>
        <p:spPr>
          <a:xfrm>
            <a:off x="4386001" y="3039428"/>
            <a:ext cx="3420000" cy="3060000"/>
          </a:xfrm>
        </p:spPr>
        <p:txBody>
          <a:bodyPr t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9" name="Content 2">
            <a:extLst>
              <a:ext uri="{FF2B5EF4-FFF2-40B4-BE49-F238E27FC236}">
                <a16:creationId xmlns:a16="http://schemas.microsoft.com/office/drawing/2014/main" id="{05DC7957-4E83-47F3-B658-5D5122A6EEC3}"/>
              </a:ext>
            </a:extLst>
          </p:cNvPr>
          <p:cNvSpPr>
            <a:spLocks noGrp="1"/>
          </p:cNvSpPr>
          <p:nvPr>
            <p:ph sz="quarter" idx="11"/>
          </p:nvPr>
        </p:nvSpPr>
        <p:spPr>
          <a:xfrm>
            <a:off x="8076000" y="3039427"/>
            <a:ext cx="3420000" cy="3060000"/>
          </a:xfrm>
        </p:spPr>
        <p:txBody>
          <a:bodyPr t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Picture Placeholder 4">
            <a:extLst>
              <a:ext uri="{FF2B5EF4-FFF2-40B4-BE49-F238E27FC236}">
                <a16:creationId xmlns:a16="http://schemas.microsoft.com/office/drawing/2014/main" id="{ABCFCE9B-C125-485B-BAF4-BB8369566498}"/>
              </a:ext>
            </a:extLst>
          </p:cNvPr>
          <p:cNvSpPr>
            <a:spLocks noGrp="1"/>
          </p:cNvSpPr>
          <p:nvPr>
            <p:ph type="pic" sz="quarter" idx="12" hasCustomPrompt="1"/>
          </p:nvPr>
        </p:nvSpPr>
        <p:spPr>
          <a:xfrm>
            <a:off x="1594630" y="1339576"/>
            <a:ext cx="1622743" cy="1622743"/>
          </a:xfrm>
        </p:spPr>
        <p:txBody>
          <a:bodyPr anchor="ctr" anchorCtr="0"/>
          <a:lstStyle>
            <a:lvl1pPr marL="0" indent="0" algn="ctr">
              <a:buNone/>
              <a:defRPr/>
            </a:lvl1pPr>
          </a:lstStyle>
          <a:p>
            <a:r>
              <a:rPr lang="en-CA"/>
              <a:t>icon</a:t>
            </a:r>
          </a:p>
        </p:txBody>
      </p:sp>
      <p:sp>
        <p:nvSpPr>
          <p:cNvPr id="10" name="Picture Placeholder 4">
            <a:extLst>
              <a:ext uri="{FF2B5EF4-FFF2-40B4-BE49-F238E27FC236}">
                <a16:creationId xmlns:a16="http://schemas.microsoft.com/office/drawing/2014/main" id="{86216690-EED6-4426-BEB9-8C05C229A8E1}"/>
              </a:ext>
            </a:extLst>
          </p:cNvPr>
          <p:cNvSpPr>
            <a:spLocks noGrp="1"/>
          </p:cNvSpPr>
          <p:nvPr>
            <p:ph type="pic" sz="quarter" idx="13" hasCustomPrompt="1"/>
          </p:nvPr>
        </p:nvSpPr>
        <p:spPr>
          <a:xfrm>
            <a:off x="5284630" y="1339576"/>
            <a:ext cx="1622743" cy="1622743"/>
          </a:xfrm>
        </p:spPr>
        <p:txBody>
          <a:bodyPr anchor="ctr" anchorCtr="0"/>
          <a:lstStyle>
            <a:lvl1pPr marL="0" indent="0" algn="ctr">
              <a:buNone/>
              <a:defRPr/>
            </a:lvl1pPr>
          </a:lstStyle>
          <a:p>
            <a:r>
              <a:rPr lang="en-CA"/>
              <a:t>icon</a:t>
            </a:r>
          </a:p>
        </p:txBody>
      </p:sp>
      <p:sp>
        <p:nvSpPr>
          <p:cNvPr id="11" name="Picture Placeholder 4">
            <a:extLst>
              <a:ext uri="{FF2B5EF4-FFF2-40B4-BE49-F238E27FC236}">
                <a16:creationId xmlns:a16="http://schemas.microsoft.com/office/drawing/2014/main" id="{CCA65AF5-B057-4C67-A3D2-CFBE140882AD}"/>
              </a:ext>
            </a:extLst>
          </p:cNvPr>
          <p:cNvSpPr>
            <a:spLocks noGrp="1"/>
          </p:cNvSpPr>
          <p:nvPr>
            <p:ph type="pic" sz="quarter" idx="14" hasCustomPrompt="1"/>
          </p:nvPr>
        </p:nvSpPr>
        <p:spPr>
          <a:xfrm>
            <a:off x="8974629" y="1339576"/>
            <a:ext cx="1622743" cy="1622743"/>
          </a:xfrm>
        </p:spPr>
        <p:txBody>
          <a:bodyPr anchor="ctr" anchorCtr="0"/>
          <a:lstStyle>
            <a:lvl1pPr marL="0" indent="0" algn="ctr">
              <a:buNone/>
              <a:defRPr/>
            </a:lvl1pPr>
          </a:lstStyle>
          <a:p>
            <a:r>
              <a:rPr lang="en-CA"/>
              <a:t>icon</a:t>
            </a:r>
          </a:p>
        </p:txBody>
      </p:sp>
      <p:sp>
        <p:nvSpPr>
          <p:cNvPr id="12" name="Title">
            <a:extLst>
              <a:ext uri="{FF2B5EF4-FFF2-40B4-BE49-F238E27FC236}">
                <a16:creationId xmlns:a16="http://schemas.microsoft.com/office/drawing/2014/main" id="{ABC69511-F34C-45AE-B113-C60F36CCE4B3}"/>
              </a:ext>
            </a:extLst>
          </p:cNvPr>
          <p:cNvSpPr>
            <a:spLocks noGrp="1"/>
          </p:cNvSpPr>
          <p:nvPr>
            <p:ph type="title"/>
          </p:nvPr>
        </p:nvSpPr>
        <p:spPr>
          <a:xfrm>
            <a:off x="696000" y="1"/>
            <a:ext cx="10800000" cy="1269002"/>
          </a:xfrm>
        </p:spPr>
        <p:txBody>
          <a:bodyPr bIns="0"/>
          <a:lstStyle>
            <a:lvl1pPr algn="ctr">
              <a:defRPr/>
            </a:lvl1pPr>
          </a:lstStyle>
          <a:p>
            <a:r>
              <a:rPr lang="en-US"/>
              <a:t>Click to edit Master title style</a:t>
            </a:r>
            <a:endParaRPr lang="en-CA"/>
          </a:p>
        </p:txBody>
      </p:sp>
    </p:spTree>
    <p:extLst>
      <p:ext uri="{BB962C8B-B14F-4D97-AF65-F5344CB8AC3E}">
        <p14:creationId xmlns:p14="http://schemas.microsoft.com/office/powerpoint/2010/main" val="114874713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Text">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2A3519A4-7671-4040-A85E-70F467832113}"/>
              </a:ext>
            </a:extLst>
          </p:cNvPr>
          <p:cNvSpPr>
            <a:spLocks noGrp="1"/>
          </p:cNvSpPr>
          <p:nvPr>
            <p:ph type="body" idx="1"/>
          </p:nvPr>
        </p:nvSpPr>
        <p:spPr>
          <a:xfrm>
            <a:off x="696000" y="3700736"/>
            <a:ext cx="10800000" cy="1620000"/>
          </a:xfrm>
        </p:spPr>
        <p:txBody>
          <a:bodyPr tIns="72000"/>
          <a:lstStyle>
            <a:lvl1pPr marL="0" indent="0" algn="ctr">
              <a:buNone/>
              <a:defRPr sz="2400">
                <a:solidFill>
                  <a:schemeClr val="tx1">
                    <a:tint val="7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a:t>Click to edit Master text styles</a:t>
            </a:r>
          </a:p>
        </p:txBody>
      </p:sp>
      <p:cxnSp>
        <p:nvCxnSpPr>
          <p:cNvPr id="12" name="Line">
            <a:extLst>
              <a:ext uri="{FF2B5EF4-FFF2-40B4-BE49-F238E27FC236}">
                <a16:creationId xmlns:a16="http://schemas.microsoft.com/office/drawing/2014/main" id="{13E83363-00C2-44B5-B3BB-057970394B1E}"/>
              </a:ext>
            </a:extLst>
          </p:cNvPr>
          <p:cNvCxnSpPr>
            <a:cxnSpLocks/>
          </p:cNvCxnSpPr>
          <p:nvPr/>
        </p:nvCxnSpPr>
        <p:spPr>
          <a:xfrm>
            <a:off x="696000" y="3700735"/>
            <a:ext cx="10800000" cy="0"/>
          </a:xfrm>
          <a:prstGeom prst="line">
            <a:avLst/>
          </a:prstGeom>
          <a:ln w="19050">
            <a:solidFill>
              <a:schemeClr val="accent6"/>
            </a:solidFill>
          </a:ln>
        </p:spPr>
        <p:style>
          <a:lnRef idx="1">
            <a:schemeClr val="accent1"/>
          </a:lnRef>
          <a:fillRef idx="0">
            <a:schemeClr val="accent1"/>
          </a:fillRef>
          <a:effectRef idx="0">
            <a:schemeClr val="accent1"/>
          </a:effectRef>
          <a:fontRef idx="minor">
            <a:schemeClr val="tx1"/>
          </a:fontRef>
        </p:style>
      </p:cxnSp>
      <p:sp>
        <p:nvSpPr>
          <p:cNvPr id="2" name="Title">
            <a:extLst>
              <a:ext uri="{FF2B5EF4-FFF2-40B4-BE49-F238E27FC236}">
                <a16:creationId xmlns:a16="http://schemas.microsoft.com/office/drawing/2014/main" id="{6DB5E79A-3DC9-41CE-A4B3-648A7D65DB8F}"/>
              </a:ext>
            </a:extLst>
          </p:cNvPr>
          <p:cNvSpPr>
            <a:spLocks noGrp="1"/>
          </p:cNvSpPr>
          <p:nvPr>
            <p:ph type="title"/>
          </p:nvPr>
        </p:nvSpPr>
        <p:spPr>
          <a:xfrm>
            <a:off x="696000" y="901474"/>
            <a:ext cx="10800000" cy="2799263"/>
          </a:xfrm>
          <a:ln>
            <a:noFill/>
          </a:ln>
        </p:spPr>
        <p:txBody>
          <a:bodyPr anchor="b">
            <a:normAutofit/>
          </a:bodyPr>
          <a:lstStyle>
            <a:lvl1pPr algn="ctr">
              <a:defRPr sz="4800" spc="-151" baseline="0">
                <a:solidFill>
                  <a:schemeClr val="accent6"/>
                </a:solidFill>
              </a:defRPr>
            </a:lvl1pPr>
          </a:lstStyle>
          <a:p>
            <a:r>
              <a:rPr lang="en-US"/>
              <a:t>Click to edit Master title style</a:t>
            </a:r>
            <a:endParaRPr lang="en-CA"/>
          </a:p>
        </p:txBody>
      </p:sp>
    </p:spTree>
    <p:extLst>
      <p:ext uri="{BB962C8B-B14F-4D97-AF65-F5344CB8AC3E}">
        <p14:creationId xmlns:p14="http://schemas.microsoft.com/office/powerpoint/2010/main" val="21733294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ection Pictur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96E5DD9-7D17-4F12-BF77-F30005084E39}"/>
              </a:ext>
            </a:extLst>
          </p:cNvPr>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9E0B6DEF-2E2F-4C15-89A3-F4D7A42703AB}"/>
              </a:ext>
            </a:extLst>
          </p:cNvPr>
          <p:cNvSpPr>
            <a:spLocks noGrp="1"/>
          </p:cNvSpPr>
          <p:nvPr>
            <p:ph type="title" hasCustomPrompt="1"/>
          </p:nvPr>
        </p:nvSpPr>
        <p:spPr>
          <a:xfrm>
            <a:off x="-2" y="2834236"/>
            <a:ext cx="12192002" cy="1189529"/>
          </a:xfrm>
          <a:solidFill>
            <a:schemeClr val="tx1">
              <a:alpha val="67000"/>
            </a:schemeClr>
          </a:solidFill>
        </p:spPr>
        <p:txBody>
          <a:bodyPr lIns="0" tIns="180000" bIns="180000" anchor="ctr" anchorCtr="0">
            <a:normAutofit/>
          </a:bodyPr>
          <a:lstStyle>
            <a:lvl1pPr algn="ctr">
              <a:defRPr sz="4800" spc="-151" baseline="0">
                <a:solidFill>
                  <a:schemeClr val="bg1"/>
                </a:solidFill>
                <a:effectLst>
                  <a:outerShdw blurRad="127000" dir="2700000" algn="tl" rotWithShape="0">
                    <a:prstClr val="black">
                      <a:alpha val="16000"/>
                    </a:prstClr>
                  </a:outerShdw>
                </a:effectLst>
                <a:latin typeface="Segoe UI Semibold" panose="020B0702040204020203" pitchFamily="34" charset="0"/>
                <a:cs typeface="Segoe UI Semibold" panose="020B0702040204020203" pitchFamily="34" charset="0"/>
              </a:defRPr>
            </a:lvl1pPr>
          </a:lstStyle>
          <a:p>
            <a:r>
              <a:rPr lang="en-CA"/>
              <a:t>CLICK TO ADD TITLE</a:t>
            </a:r>
          </a:p>
        </p:txBody>
      </p:sp>
    </p:spTree>
    <p:extLst>
      <p:ext uri="{BB962C8B-B14F-4D97-AF65-F5344CB8AC3E}">
        <p14:creationId xmlns:p14="http://schemas.microsoft.com/office/powerpoint/2010/main" val="84993741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Picture Text Overlay">
    <p:spTree>
      <p:nvGrpSpPr>
        <p:cNvPr id="1" name=""/>
        <p:cNvGrpSpPr/>
        <p:nvPr/>
      </p:nvGrpSpPr>
      <p:grpSpPr>
        <a:xfrm>
          <a:off x="0" y="0"/>
          <a:ext cx="0" cy="0"/>
          <a:chOff x="0" y="0"/>
          <a:chExt cx="0" cy="0"/>
        </a:xfrm>
      </p:grpSpPr>
      <p:sp>
        <p:nvSpPr>
          <p:cNvPr id="6" name="Picture">
            <a:extLst>
              <a:ext uri="{FF2B5EF4-FFF2-40B4-BE49-F238E27FC236}">
                <a16:creationId xmlns:a16="http://schemas.microsoft.com/office/drawing/2014/main" id="{8B63FD88-FDA9-48C1-9731-B1B4CA790F30}"/>
              </a:ext>
            </a:extLst>
          </p:cNvPr>
          <p:cNvSpPr>
            <a:spLocks noGrp="1"/>
          </p:cNvSpPr>
          <p:nvPr>
            <p:ph type="pic" sz="quarter" idx="10"/>
          </p:nvPr>
        </p:nvSpPr>
        <p:spPr>
          <a:xfrm>
            <a:off x="0" y="0"/>
            <a:ext cx="12192000" cy="6858000"/>
          </a:xfrm>
          <a:solidFill>
            <a:schemeClr val="accent6">
              <a:lumMod val="60000"/>
              <a:lumOff val="40000"/>
            </a:schemeClr>
          </a:solidFill>
        </p:spPr>
        <p:txBody>
          <a:bodyPr/>
          <a:lstStyle>
            <a:lvl1pPr marL="0" indent="0" algn="ctr">
              <a:buNone/>
              <a:defRPr/>
            </a:lvl1pPr>
          </a:lstStyle>
          <a:p>
            <a:r>
              <a:rPr lang="en-US"/>
              <a:t>Click icon to add picture</a:t>
            </a:r>
            <a:endParaRPr lang="en-CA"/>
          </a:p>
        </p:txBody>
      </p:sp>
      <p:sp>
        <p:nvSpPr>
          <p:cNvPr id="3" name="Text Placeholder 2">
            <a:extLst>
              <a:ext uri="{FF2B5EF4-FFF2-40B4-BE49-F238E27FC236}">
                <a16:creationId xmlns:a16="http://schemas.microsoft.com/office/drawing/2014/main" id="{1F8DDC24-935C-456F-B3DB-143BA9E85822}"/>
              </a:ext>
            </a:extLst>
          </p:cNvPr>
          <p:cNvSpPr>
            <a:spLocks noGrp="1"/>
          </p:cNvSpPr>
          <p:nvPr>
            <p:ph type="body" sz="quarter" idx="11" hasCustomPrompt="1"/>
          </p:nvPr>
        </p:nvSpPr>
        <p:spPr>
          <a:xfrm>
            <a:off x="696000" y="5589000"/>
            <a:ext cx="10800000" cy="540000"/>
          </a:xfrm>
          <a:solidFill>
            <a:schemeClr val="tx1">
              <a:lumMod val="75000"/>
              <a:lumOff val="25000"/>
              <a:alpha val="75000"/>
            </a:schemeClr>
          </a:solidFill>
        </p:spPr>
        <p:txBody>
          <a:bodyPr lIns="144000" tIns="144000" rIns="144000" bIns="144000" anchor="ctr" anchorCtr="0">
            <a:noAutofit/>
          </a:bodyPr>
          <a:lstStyle>
            <a:lvl1pPr marL="0" indent="0" algn="ctr">
              <a:buNone/>
              <a:defRPr sz="2400">
                <a:solidFill>
                  <a:schemeClr val="bg1"/>
                </a:solidFill>
                <a:latin typeface="Segoe UI Semibold" panose="020B0702040204020203" pitchFamily="34" charset="0"/>
                <a:cs typeface="Segoe UI Semibold" panose="020B0702040204020203" pitchFamily="34" charset="0"/>
              </a:defRPr>
            </a:lvl1pPr>
          </a:lstStyle>
          <a:p>
            <a:pPr lvl="0"/>
            <a:r>
              <a:rPr lang="en-US"/>
              <a:t>CAPTION</a:t>
            </a:r>
            <a:endParaRPr lang="en-CA"/>
          </a:p>
        </p:txBody>
      </p:sp>
    </p:spTree>
    <p:extLst>
      <p:ext uri="{BB962C8B-B14F-4D97-AF65-F5344CB8AC3E}">
        <p14:creationId xmlns:p14="http://schemas.microsoft.com/office/powerpoint/2010/main" val="219955348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Video">
    <p:spTree>
      <p:nvGrpSpPr>
        <p:cNvPr id="1" name=""/>
        <p:cNvGrpSpPr/>
        <p:nvPr/>
      </p:nvGrpSpPr>
      <p:grpSpPr>
        <a:xfrm>
          <a:off x="0" y="0"/>
          <a:ext cx="0" cy="0"/>
          <a:chOff x="0" y="0"/>
          <a:chExt cx="0" cy="0"/>
        </a:xfrm>
      </p:grpSpPr>
      <p:sp>
        <p:nvSpPr>
          <p:cNvPr id="3" name="Media Placeholder 2">
            <a:extLst>
              <a:ext uri="{FF2B5EF4-FFF2-40B4-BE49-F238E27FC236}">
                <a16:creationId xmlns:a16="http://schemas.microsoft.com/office/drawing/2014/main" id="{712ABB63-37A1-4F9F-8105-28F193D608D8}"/>
              </a:ext>
            </a:extLst>
          </p:cNvPr>
          <p:cNvSpPr>
            <a:spLocks noGrp="1"/>
          </p:cNvSpPr>
          <p:nvPr>
            <p:ph type="media" sz="quarter" idx="10"/>
          </p:nvPr>
        </p:nvSpPr>
        <p:spPr>
          <a:xfrm>
            <a:off x="1707356" y="1468439"/>
            <a:ext cx="8777288" cy="3921125"/>
          </a:xfrm>
          <a:solidFill>
            <a:schemeClr val="accent6">
              <a:lumMod val="60000"/>
              <a:lumOff val="40000"/>
            </a:schemeClr>
          </a:solidFill>
        </p:spPr>
        <p:txBody>
          <a:bodyPr/>
          <a:lstStyle>
            <a:lvl1pPr marL="0" indent="0" algn="ctr">
              <a:buNone/>
              <a:defRPr/>
            </a:lvl1pPr>
          </a:lstStyle>
          <a:p>
            <a:r>
              <a:rPr lang="en-US"/>
              <a:t>Click icon to add media</a:t>
            </a:r>
            <a:endParaRPr lang="en-CA"/>
          </a:p>
        </p:txBody>
      </p:sp>
    </p:spTree>
    <p:extLst>
      <p:ext uri="{BB962C8B-B14F-4D97-AF65-F5344CB8AC3E}">
        <p14:creationId xmlns:p14="http://schemas.microsoft.com/office/powerpoint/2010/main" val="263417976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The En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40A40E4-4D5E-4031-B0CB-922F63D4C880}"/>
              </a:ext>
            </a:extLst>
          </p:cNvPr>
          <p:cNvSpPr>
            <a:spLocks noGrp="1"/>
          </p:cNvSpPr>
          <p:nvPr>
            <p:ph type="body" sz="quarter" idx="10" hasCustomPrompt="1"/>
          </p:nvPr>
        </p:nvSpPr>
        <p:spPr>
          <a:xfrm>
            <a:off x="0" y="0"/>
            <a:ext cx="12192000" cy="6858000"/>
          </a:xfrm>
        </p:spPr>
        <p:txBody>
          <a:bodyPr lIns="144000" tIns="144000" rIns="144000" bIns="144000" anchor="ctr" anchorCtr="0">
            <a:normAutofit/>
          </a:bodyPr>
          <a:lstStyle>
            <a:lvl1pPr marL="0" indent="0" algn="ctr">
              <a:buNone/>
              <a:defRPr sz="5400" spc="-200" baseline="0">
                <a:solidFill>
                  <a:schemeClr val="accent6"/>
                </a:solidFill>
                <a:latin typeface="+mj-lt"/>
              </a:defRPr>
            </a:lvl1pPr>
            <a:lvl2pPr algn="ctr">
              <a:defRPr/>
            </a:lvl2pPr>
            <a:lvl3pPr algn="ctr">
              <a:defRPr/>
            </a:lvl3pPr>
            <a:lvl4pPr algn="ctr">
              <a:defRPr/>
            </a:lvl4pPr>
            <a:lvl5pPr algn="ctr">
              <a:defRPr/>
            </a:lvl5pPr>
          </a:lstStyle>
          <a:p>
            <a:pPr lvl="0"/>
            <a:r>
              <a:rPr lang="en-US"/>
              <a:t>Click to edit closing slide</a:t>
            </a:r>
          </a:p>
        </p:txBody>
      </p:sp>
    </p:spTree>
    <p:extLst>
      <p:ext uri="{BB962C8B-B14F-4D97-AF65-F5344CB8AC3E}">
        <p14:creationId xmlns:p14="http://schemas.microsoft.com/office/powerpoint/2010/main" val="75276922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24363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C8DD3BE-C63E-49EE-85B0-F726FD687B69}"/>
              </a:ext>
            </a:extLst>
          </p:cNvPr>
          <p:cNvSpPr>
            <a:spLocks noGrp="1"/>
          </p:cNvSpPr>
          <p:nvPr>
            <p:ph type="title"/>
          </p:nvPr>
        </p:nvSpPr>
        <p:spPr>
          <a:xfrm>
            <a:off x="696000" y="189002"/>
            <a:ext cx="10800000" cy="1079999"/>
          </a:xfrm>
          <a:prstGeom prst="rect">
            <a:avLst/>
          </a:prstGeom>
          <a:noFill/>
        </p:spPr>
        <p:txBody>
          <a:bodyPr vert="horz" lIns="0" tIns="0" rIns="0" bIns="0" rtlCol="0" anchor="b" anchorCtr="0">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9E01E803-1B0D-4BC6-AF83-09BD81EC08A0}"/>
              </a:ext>
            </a:extLst>
          </p:cNvPr>
          <p:cNvSpPr>
            <a:spLocks noGrp="1"/>
          </p:cNvSpPr>
          <p:nvPr>
            <p:ph type="body" idx="1"/>
          </p:nvPr>
        </p:nvSpPr>
        <p:spPr>
          <a:xfrm>
            <a:off x="696001" y="1269001"/>
            <a:ext cx="10800001" cy="4860000"/>
          </a:xfrm>
          <a:prstGeom prst="rect">
            <a:avLst/>
          </a:prstGeom>
        </p:spPr>
        <p:txBody>
          <a:bodyPr vert="horz" lIns="0" tIns="18000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Box 4">
            <a:extLst>
              <a:ext uri="{FF2B5EF4-FFF2-40B4-BE49-F238E27FC236}">
                <a16:creationId xmlns:a16="http://schemas.microsoft.com/office/drawing/2014/main" id="{54181257-25AD-3C65-6501-B8BF7F204980}"/>
              </a:ext>
            </a:extLst>
          </p:cNvPr>
          <p:cNvSpPr txBox="1"/>
          <p:nvPr userDrawn="1">
            <p:extLst>
              <p:ext uri="{1162E1C5-73C7-4A58-AE30-91384D911F3F}">
                <p184:classification xmlns:p184="http://schemas.microsoft.com/office/powerpoint/2018/4/main" val="hdr"/>
              </p:ext>
            </p:extLst>
          </p:nvPr>
        </p:nvSpPr>
        <p:spPr>
          <a:xfrm>
            <a:off x="9683750" y="63500"/>
            <a:ext cx="2473325" cy="152400"/>
          </a:xfrm>
          <a:prstGeom prst="rect">
            <a:avLst/>
          </a:prstGeom>
        </p:spPr>
        <p:txBody>
          <a:bodyPr horzOverflow="overflow" lIns="0" tIns="0" rIns="0" bIns="0">
            <a:spAutoFit/>
          </a:bodyPr>
          <a:lstStyle/>
          <a:p>
            <a:pPr algn="l"/>
            <a:r>
              <a:rPr lang="en-CA" sz="1000">
                <a:solidFill>
                  <a:srgbClr val="000000"/>
                </a:solidFill>
                <a:latin typeface="Calibri" panose="020F0502020204030204" pitchFamily="34" charset="0"/>
                <a:cs typeface="Calibri" panose="020F0502020204030204" pitchFamily="34" charset="0"/>
              </a:rPr>
              <a:t>Category/Catégorie: Non-Sensitive/Non-Délicat</a:t>
            </a:r>
          </a:p>
        </p:txBody>
      </p:sp>
    </p:spTree>
    <p:extLst>
      <p:ext uri="{BB962C8B-B14F-4D97-AF65-F5344CB8AC3E}">
        <p14:creationId xmlns:p14="http://schemas.microsoft.com/office/powerpoint/2010/main" val="291840092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Lst>
  <p:txStyles>
    <p:titleStyle>
      <a:lvl1pPr algn="l" defTabSz="914377" rtl="0" eaLnBrk="1" latinLnBrk="0" hangingPunct="1">
        <a:lnSpc>
          <a:spcPct val="90000"/>
        </a:lnSpc>
        <a:spcBef>
          <a:spcPct val="0"/>
        </a:spcBef>
        <a:buNone/>
        <a:defRPr sz="4000" u="none" kern="1200" spc="-100" baseline="0">
          <a:solidFill>
            <a:schemeClr val="accent6"/>
          </a:solidFill>
          <a:uFill>
            <a:solidFill>
              <a:schemeClr val="tx2">
                <a:lumMod val="60000"/>
                <a:lumOff val="40000"/>
              </a:schemeClr>
            </a:solidFill>
          </a:uFill>
          <a:latin typeface="+mj-lt"/>
          <a:ea typeface="Segoe UI Black" panose="020B0A02040204020203" pitchFamily="34" charset="0"/>
          <a:cs typeface="Segoe UI Light" panose="020B0502040204020203" pitchFamily="34" charset="0"/>
        </a:defRPr>
      </a:lvl1pPr>
    </p:titleStyle>
    <p:bodyStyle>
      <a:lvl1pPr marL="228594" indent="-228594" algn="l" defTabSz="914377" rtl="0" eaLnBrk="1" latinLnBrk="0" hangingPunct="1">
        <a:lnSpc>
          <a:spcPct val="90000"/>
        </a:lnSpc>
        <a:spcBef>
          <a:spcPts val="1800"/>
        </a:spcBef>
        <a:buFont typeface="Wingdings" panose="05000000000000000000" pitchFamily="2" charset="2"/>
        <a:buChar char="§"/>
        <a:defRPr sz="2600" kern="1200" spc="0" baseline="0">
          <a:solidFill>
            <a:schemeClr val="tx1">
              <a:lumMod val="75000"/>
              <a:lumOff val="25000"/>
            </a:schemeClr>
          </a:solidFill>
          <a:latin typeface="+mn-lt"/>
          <a:ea typeface="+mn-ea"/>
          <a:cs typeface="Segoe UI" panose="020B0502040204020203" pitchFamily="34" charset="0"/>
        </a:defRPr>
      </a:lvl1pPr>
      <a:lvl2pPr marL="450839" indent="-228594" algn="l" defTabSz="914377" rtl="0" eaLnBrk="1" latinLnBrk="0" hangingPunct="1">
        <a:lnSpc>
          <a:spcPct val="90000"/>
        </a:lnSpc>
        <a:spcBef>
          <a:spcPts val="600"/>
        </a:spcBef>
        <a:buFont typeface="Segoe UI" panose="020B0502040204020203" pitchFamily="34" charset="0"/>
        <a:buChar char="›"/>
        <a:defRPr sz="2200" kern="1200" spc="0">
          <a:solidFill>
            <a:schemeClr val="tx1">
              <a:lumMod val="75000"/>
              <a:lumOff val="25000"/>
            </a:schemeClr>
          </a:solidFill>
          <a:latin typeface="+mn-lt"/>
          <a:ea typeface="+mn-ea"/>
          <a:cs typeface="Segoe UI" panose="020B0502040204020203" pitchFamily="34" charset="0"/>
        </a:defRPr>
      </a:lvl2pPr>
      <a:lvl3pPr marL="714357" indent="-228594" algn="l" defTabSz="914377" rtl="0" eaLnBrk="1" latinLnBrk="0" hangingPunct="1">
        <a:lnSpc>
          <a:spcPct val="90000"/>
        </a:lnSpc>
        <a:spcBef>
          <a:spcPts val="300"/>
        </a:spcBef>
        <a:buFont typeface="Segoe UI" panose="020B0502040204020203" pitchFamily="34" charset="0"/>
        <a:buChar char="›"/>
        <a:defRPr sz="2000" kern="1200" spc="0">
          <a:solidFill>
            <a:schemeClr val="tx1">
              <a:lumMod val="75000"/>
              <a:lumOff val="25000"/>
            </a:schemeClr>
          </a:solidFill>
          <a:latin typeface="+mn-lt"/>
          <a:ea typeface="+mn-ea"/>
          <a:cs typeface="Segoe UI" panose="020B0502040204020203" pitchFamily="34" charset="0"/>
        </a:defRPr>
      </a:lvl3pPr>
      <a:lvl4pPr marL="985814" indent="-228594" algn="l" defTabSz="914377" rtl="0" eaLnBrk="1" latinLnBrk="0" hangingPunct="1">
        <a:lnSpc>
          <a:spcPct val="90000"/>
        </a:lnSpc>
        <a:spcBef>
          <a:spcPts val="0"/>
        </a:spcBef>
        <a:buFont typeface="Segoe UI" panose="020B0502040204020203" pitchFamily="34" charset="0"/>
        <a:buChar char="›"/>
        <a:defRPr sz="2000" kern="1200" spc="0">
          <a:solidFill>
            <a:schemeClr val="tx1">
              <a:lumMod val="75000"/>
              <a:lumOff val="25000"/>
            </a:schemeClr>
          </a:solidFill>
          <a:latin typeface="+mn-lt"/>
          <a:ea typeface="+mn-ea"/>
          <a:cs typeface="Segoe UI" panose="020B0502040204020203" pitchFamily="34" charset="0"/>
        </a:defRPr>
      </a:lvl4pPr>
      <a:lvl5pPr marL="1257269" indent="-228594" algn="l" defTabSz="914377" rtl="0" eaLnBrk="1" latinLnBrk="0" hangingPunct="1">
        <a:lnSpc>
          <a:spcPct val="90000"/>
        </a:lnSpc>
        <a:spcBef>
          <a:spcPts val="0"/>
        </a:spcBef>
        <a:buFont typeface="Segoe UI" panose="020B0502040204020203" pitchFamily="34" charset="0"/>
        <a:buChar char="›"/>
        <a:defRPr sz="2000" kern="1200" spc="0">
          <a:solidFill>
            <a:schemeClr val="tx1">
              <a:lumMod val="75000"/>
              <a:lumOff val="25000"/>
            </a:schemeClr>
          </a:solidFill>
          <a:latin typeface="+mn-lt"/>
          <a:ea typeface="+mn-ea"/>
          <a:cs typeface="Segoe UI" panose="020B0502040204020203"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12"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21.xml"/><Relationship Id="rId6" Type="http://schemas.openxmlformats.org/officeDocument/2006/relationships/image" Target="../media/image12.png"/><Relationship Id="rId11" Type="http://schemas.openxmlformats.org/officeDocument/2006/relationships/image" Target="../media/image17.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10.svg"/><Relationship Id="rId9" Type="http://schemas.openxmlformats.org/officeDocument/2006/relationships/image" Target="../media/image1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3.png"/><Relationship Id="rId3" Type="http://schemas.openxmlformats.org/officeDocument/2006/relationships/image" Target="../media/image9.png"/><Relationship Id="rId7" Type="http://schemas.openxmlformats.org/officeDocument/2006/relationships/image" Target="../media/image12.png"/><Relationship Id="rId12" Type="http://schemas.openxmlformats.org/officeDocument/2006/relationships/image" Target="../media/image22.png"/><Relationship Id="rId17" Type="http://schemas.openxmlformats.org/officeDocument/2006/relationships/image" Target="../media/image27.svg"/><Relationship Id="rId2" Type="http://schemas.openxmlformats.org/officeDocument/2006/relationships/notesSlide" Target="../notesSlides/notesSlide9.xml"/><Relationship Id="rId16" Type="http://schemas.openxmlformats.org/officeDocument/2006/relationships/image" Target="../media/image26.png"/><Relationship Id="rId1" Type="http://schemas.openxmlformats.org/officeDocument/2006/relationships/slideLayout" Target="../slideLayouts/slideLayout21.xml"/><Relationship Id="rId6" Type="http://schemas.openxmlformats.org/officeDocument/2006/relationships/image" Target="../media/image14.png"/><Relationship Id="rId11" Type="http://schemas.openxmlformats.org/officeDocument/2006/relationships/image" Target="../media/image21.png"/><Relationship Id="rId5" Type="http://schemas.openxmlformats.org/officeDocument/2006/relationships/image" Target="../media/image11.png"/><Relationship Id="rId15" Type="http://schemas.openxmlformats.org/officeDocument/2006/relationships/image" Target="../media/image25.png"/><Relationship Id="rId10" Type="http://schemas.openxmlformats.org/officeDocument/2006/relationships/image" Target="../media/image20.svg"/><Relationship Id="rId4" Type="http://schemas.openxmlformats.org/officeDocument/2006/relationships/image" Target="../media/image10.svg"/><Relationship Id="rId9" Type="http://schemas.openxmlformats.org/officeDocument/2006/relationships/image" Target="../media/image19.png"/><Relationship Id="rId14" Type="http://schemas.openxmlformats.org/officeDocument/2006/relationships/image" Target="../media/image24.png"/></Relationships>
</file>

<file path=ppt/slides/_rels/slide16.xml.rels><?xml version="1.0" encoding="UTF-8" standalone="yes"?>
<Relationships xmlns="http://schemas.openxmlformats.org/package/2006/relationships"><Relationship Id="rId8" Type="http://schemas.openxmlformats.org/officeDocument/2006/relationships/image" Target="../media/image20.svg"/><Relationship Id="rId13" Type="http://schemas.openxmlformats.org/officeDocument/2006/relationships/image" Target="../media/image27.svg"/><Relationship Id="rId3" Type="http://schemas.openxmlformats.org/officeDocument/2006/relationships/image" Target="../media/image28.png"/><Relationship Id="rId7" Type="http://schemas.openxmlformats.org/officeDocument/2006/relationships/image" Target="../media/image19.png"/><Relationship Id="rId12" Type="http://schemas.openxmlformats.org/officeDocument/2006/relationships/image" Target="../media/image26.png"/><Relationship Id="rId2" Type="http://schemas.openxmlformats.org/officeDocument/2006/relationships/notesSlide" Target="../notesSlides/notesSlide10.xml"/><Relationship Id="rId1" Type="http://schemas.openxmlformats.org/officeDocument/2006/relationships/slideLayout" Target="../slideLayouts/slideLayout21.xml"/><Relationship Id="rId6" Type="http://schemas.openxmlformats.org/officeDocument/2006/relationships/image" Target="../media/image23.png"/><Relationship Id="rId11" Type="http://schemas.openxmlformats.org/officeDocument/2006/relationships/image" Target="../media/image32.svg"/><Relationship Id="rId5" Type="http://schemas.openxmlformats.org/officeDocument/2006/relationships/image" Target="../media/image30.png"/><Relationship Id="rId15" Type="http://schemas.openxmlformats.org/officeDocument/2006/relationships/image" Target="../media/image34.svg"/><Relationship Id="rId10" Type="http://schemas.openxmlformats.org/officeDocument/2006/relationships/image" Target="../media/image31.png"/><Relationship Id="rId4" Type="http://schemas.openxmlformats.org/officeDocument/2006/relationships/image" Target="../media/image29.svg"/><Relationship Id="rId9" Type="http://schemas.openxmlformats.org/officeDocument/2006/relationships/image" Target="../media/image25.png"/><Relationship Id="rId14" Type="http://schemas.openxmlformats.org/officeDocument/2006/relationships/image" Target="../media/image33.png"/></Relationships>
</file>

<file path=ppt/slides/_rels/slide17.xml.rels><?xml version="1.0" encoding="UTF-8" standalone="yes"?>
<Relationships xmlns="http://schemas.openxmlformats.org/package/2006/relationships"><Relationship Id="rId8" Type="http://schemas.openxmlformats.org/officeDocument/2006/relationships/image" Target="../media/image35.png"/><Relationship Id="rId13" Type="http://schemas.openxmlformats.org/officeDocument/2006/relationships/image" Target="../media/image40.png"/><Relationship Id="rId3" Type="http://schemas.openxmlformats.org/officeDocument/2006/relationships/image" Target="../media/image19.png"/><Relationship Id="rId7" Type="http://schemas.openxmlformats.org/officeDocument/2006/relationships/image" Target="../media/image25.png"/><Relationship Id="rId12" Type="http://schemas.openxmlformats.org/officeDocument/2006/relationships/image" Target="../media/image39.png"/><Relationship Id="rId2" Type="http://schemas.openxmlformats.org/officeDocument/2006/relationships/notesSlide" Target="../notesSlides/notesSlide11.xml"/><Relationship Id="rId1" Type="http://schemas.openxmlformats.org/officeDocument/2006/relationships/slideLayout" Target="../slideLayouts/slideLayout21.xml"/><Relationship Id="rId6" Type="http://schemas.openxmlformats.org/officeDocument/2006/relationships/image" Target="../media/image29.svg"/><Relationship Id="rId11" Type="http://schemas.openxmlformats.org/officeDocument/2006/relationships/image" Target="../media/image38.svg"/><Relationship Id="rId5" Type="http://schemas.openxmlformats.org/officeDocument/2006/relationships/image" Target="../media/image28.png"/><Relationship Id="rId10" Type="http://schemas.openxmlformats.org/officeDocument/2006/relationships/image" Target="../media/image37.png"/><Relationship Id="rId4" Type="http://schemas.openxmlformats.org/officeDocument/2006/relationships/image" Target="../media/image20.svg"/><Relationship Id="rId9" Type="http://schemas.openxmlformats.org/officeDocument/2006/relationships/image" Target="../media/image36.svg"/></Relationships>
</file>

<file path=ppt/slides/_rels/slide18.xml.rels><?xml version="1.0" encoding="UTF-8" standalone="yes"?>
<Relationships xmlns="http://schemas.openxmlformats.org/package/2006/relationships"><Relationship Id="rId8" Type="http://schemas.openxmlformats.org/officeDocument/2006/relationships/image" Target="../media/image45.svg"/><Relationship Id="rId13" Type="http://schemas.openxmlformats.org/officeDocument/2006/relationships/image" Target="../media/image50.png"/><Relationship Id="rId3" Type="http://schemas.openxmlformats.org/officeDocument/2006/relationships/image" Target="../media/image19.png"/><Relationship Id="rId7" Type="http://schemas.openxmlformats.org/officeDocument/2006/relationships/image" Target="../media/image44.png"/><Relationship Id="rId12" Type="http://schemas.openxmlformats.org/officeDocument/2006/relationships/image" Target="../media/image49.svg"/><Relationship Id="rId2" Type="http://schemas.openxmlformats.org/officeDocument/2006/relationships/image" Target="../media/image41.png"/><Relationship Id="rId1" Type="http://schemas.openxmlformats.org/officeDocument/2006/relationships/slideLayout" Target="../slideLayouts/slideLayout21.xml"/><Relationship Id="rId6" Type="http://schemas.openxmlformats.org/officeDocument/2006/relationships/image" Target="../media/image43.svg"/><Relationship Id="rId11" Type="http://schemas.openxmlformats.org/officeDocument/2006/relationships/image" Target="../media/image48.png"/><Relationship Id="rId5" Type="http://schemas.openxmlformats.org/officeDocument/2006/relationships/image" Target="../media/image42.png"/><Relationship Id="rId10" Type="http://schemas.openxmlformats.org/officeDocument/2006/relationships/image" Target="../media/image47.svg"/><Relationship Id="rId4" Type="http://schemas.openxmlformats.org/officeDocument/2006/relationships/image" Target="../media/image20.svg"/><Relationship Id="rId9" Type="http://schemas.openxmlformats.org/officeDocument/2006/relationships/image" Target="../media/image4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8" Type="http://schemas.openxmlformats.org/officeDocument/2006/relationships/image" Target="../media/image52.png"/><Relationship Id="rId13" Type="http://schemas.openxmlformats.org/officeDocument/2006/relationships/image" Target="../media/image30.png"/><Relationship Id="rId3" Type="http://schemas.openxmlformats.org/officeDocument/2006/relationships/image" Target="../media/image15.png"/><Relationship Id="rId7" Type="http://schemas.openxmlformats.org/officeDocument/2006/relationships/image" Target="../media/image21.png"/><Relationship Id="rId12"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21.xml"/><Relationship Id="rId6" Type="http://schemas.openxmlformats.org/officeDocument/2006/relationships/image" Target="../media/image51.png"/><Relationship Id="rId11" Type="http://schemas.openxmlformats.org/officeDocument/2006/relationships/image" Target="../media/image20.svg"/><Relationship Id="rId5" Type="http://schemas.openxmlformats.org/officeDocument/2006/relationships/image" Target="../media/image24.png"/><Relationship Id="rId10" Type="http://schemas.openxmlformats.org/officeDocument/2006/relationships/image" Target="../media/image19.png"/><Relationship Id="rId4" Type="http://schemas.openxmlformats.org/officeDocument/2006/relationships/image" Target="../media/image12.png"/><Relationship Id="rId9" Type="http://schemas.openxmlformats.org/officeDocument/2006/relationships/image" Target="../media/image1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image" Target="../media/image52.png"/><Relationship Id="rId3" Type="http://schemas.openxmlformats.org/officeDocument/2006/relationships/image" Target="../media/image30.png"/><Relationship Id="rId7" Type="http://schemas.openxmlformats.org/officeDocument/2006/relationships/image" Target="../media/image25.png"/><Relationship Id="rId12" Type="http://schemas.openxmlformats.org/officeDocument/2006/relationships/image" Target="../media/image54.png"/><Relationship Id="rId2" Type="http://schemas.openxmlformats.org/officeDocument/2006/relationships/notesSlide" Target="../notesSlides/notesSlide13.xml"/><Relationship Id="rId1" Type="http://schemas.openxmlformats.org/officeDocument/2006/relationships/slideLayout" Target="../slideLayouts/slideLayout21.xml"/><Relationship Id="rId6" Type="http://schemas.openxmlformats.org/officeDocument/2006/relationships/image" Target="../media/image20.svg"/><Relationship Id="rId11" Type="http://schemas.openxmlformats.org/officeDocument/2006/relationships/image" Target="../media/image53.png"/><Relationship Id="rId5" Type="http://schemas.openxmlformats.org/officeDocument/2006/relationships/image" Target="../media/image19.png"/><Relationship Id="rId10" Type="http://schemas.openxmlformats.org/officeDocument/2006/relationships/image" Target="../media/image14.png"/><Relationship Id="rId4" Type="http://schemas.openxmlformats.org/officeDocument/2006/relationships/image" Target="../media/image23.png"/><Relationship Id="rId9" Type="http://schemas.openxmlformats.org/officeDocument/2006/relationships/image" Target="../media/image34.svg"/><Relationship Id="rId14" Type="http://schemas.openxmlformats.org/officeDocument/2006/relationships/image" Target="../media/image55.png"/></Relationships>
</file>

<file path=ppt/slides/_rels/slide23.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4.xml"/><Relationship Id="rId1" Type="http://schemas.openxmlformats.org/officeDocument/2006/relationships/slideLayout" Target="../slideLayouts/slideLayout21.xml"/><Relationship Id="rId4" Type="http://schemas.openxmlformats.org/officeDocument/2006/relationships/image" Target="../media/image57.png"/></Relationships>
</file>

<file path=ppt/slides/_rels/slide24.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241468E-CF68-37A0-D84C-46790C365CAB}"/>
              </a:ext>
            </a:extLst>
          </p:cNvPr>
          <p:cNvSpPr>
            <a:spLocks noGrp="1"/>
          </p:cNvSpPr>
          <p:nvPr>
            <p:ph type="body" sz="quarter" idx="10"/>
          </p:nvPr>
        </p:nvSpPr>
        <p:spPr/>
        <p:txBody>
          <a:bodyPr anchor="b"/>
          <a:lstStyle/>
          <a:p>
            <a:pPr algn="l"/>
            <a:r>
              <a:rPr lang="en-CA" spc="-100">
                <a:solidFill>
                  <a:srgbClr val="31849B"/>
                </a:solidFill>
                <a:uFill>
                  <a:solidFill>
                    <a:srgbClr val="1F497D">
                      <a:lumMod val="60000"/>
                      <a:lumOff val="40000"/>
                    </a:srgbClr>
                  </a:solidFill>
                </a:uFill>
                <a:latin typeface="Segoe UI Semibold"/>
                <a:ea typeface="Segoe UI Black"/>
                <a:cs typeface="Segoe UI Light"/>
              </a:rPr>
              <a:t>Evolution of Triton </a:t>
            </a:r>
            <a:r>
              <a:rPr lang="en-CA" spc="-100">
                <a:solidFill>
                  <a:schemeClr val="tx2">
                    <a:lumMod val="75000"/>
                  </a:schemeClr>
                </a:solidFill>
                <a:uFill>
                  <a:solidFill>
                    <a:srgbClr val="1F497D">
                      <a:lumMod val="60000"/>
                      <a:lumOff val="40000"/>
                    </a:srgbClr>
                  </a:solidFill>
                </a:uFill>
                <a:latin typeface="Segoe UI Semibold"/>
                <a:ea typeface="Segoe UI Black"/>
                <a:cs typeface="Segoe UI Light"/>
              </a:rPr>
              <a:t>- User Experience</a:t>
            </a:r>
            <a:endParaRPr lang="en-CA" sz="5400" spc="-100">
              <a:solidFill>
                <a:schemeClr val="tx2">
                  <a:lumMod val="75000"/>
                </a:schemeClr>
              </a:solidFill>
              <a:uFill>
                <a:solidFill>
                  <a:srgbClr val="1F497D">
                    <a:lumMod val="60000"/>
                    <a:lumOff val="40000"/>
                  </a:srgbClr>
                </a:solidFill>
              </a:uFill>
              <a:latin typeface="Segoe UI Semibold"/>
              <a:ea typeface="Segoe UI Black" panose="020B0A02040204020203" pitchFamily="34" charset="0"/>
              <a:cs typeface="Segoe UI Light" panose="020B0502040204020203" pitchFamily="34" charset="0"/>
            </a:endParaRPr>
          </a:p>
          <a:p>
            <a:endParaRPr lang="en-CA"/>
          </a:p>
        </p:txBody>
      </p:sp>
      <p:sp>
        <p:nvSpPr>
          <p:cNvPr id="3" name="TextBox 2">
            <a:extLst>
              <a:ext uri="{FF2B5EF4-FFF2-40B4-BE49-F238E27FC236}">
                <a16:creationId xmlns:a16="http://schemas.microsoft.com/office/drawing/2014/main" id="{0B975D73-8B4D-F101-D374-FC0EAB0D8D93}"/>
              </a:ext>
            </a:extLst>
          </p:cNvPr>
          <p:cNvSpPr txBox="1"/>
          <p:nvPr/>
        </p:nvSpPr>
        <p:spPr>
          <a:xfrm>
            <a:off x="120203" y="5907761"/>
            <a:ext cx="2369712" cy="369332"/>
          </a:xfrm>
          <a:prstGeom prst="rect">
            <a:avLst/>
          </a:prstGeom>
          <a:noFill/>
        </p:spPr>
        <p:txBody>
          <a:bodyPr wrap="square" rtlCol="0">
            <a:spAutoFit/>
          </a:bodyPr>
          <a:lstStyle/>
          <a:p>
            <a:r>
              <a:rPr lang="en-CA">
                <a:solidFill>
                  <a:schemeClr val="accent6">
                    <a:lumMod val="75000"/>
                  </a:schemeClr>
                </a:solidFill>
              </a:rPr>
              <a:t>December 2024</a:t>
            </a:r>
          </a:p>
        </p:txBody>
      </p:sp>
    </p:spTree>
    <p:extLst>
      <p:ext uri="{BB962C8B-B14F-4D97-AF65-F5344CB8AC3E}">
        <p14:creationId xmlns:p14="http://schemas.microsoft.com/office/powerpoint/2010/main" val="2706186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377FC8CC-BF48-4372-ADBD-E108291B94CD}"/>
              </a:ext>
            </a:extLst>
          </p:cNvPr>
          <p:cNvSpPr txBox="1">
            <a:spLocks/>
          </p:cNvSpPr>
          <p:nvPr/>
        </p:nvSpPr>
        <p:spPr>
          <a:xfrm>
            <a:off x="696001" y="213396"/>
            <a:ext cx="10800000" cy="717269"/>
          </a:xfrm>
          <a:prstGeom prst="rect">
            <a:avLst/>
          </a:prstGeom>
        </p:spPr>
        <p:txBody>
          <a:bodyPr anchor="b">
            <a:normAutofit/>
          </a:bodyPr>
          <a:lstStyle>
            <a:lvl1pPr algn="l" defTabSz="914377" rtl="0" eaLnBrk="1" latinLnBrk="0" hangingPunct="1">
              <a:lnSpc>
                <a:spcPct val="90000"/>
              </a:lnSpc>
              <a:spcBef>
                <a:spcPct val="0"/>
              </a:spcBef>
              <a:buNone/>
              <a:defRPr sz="4000" u="none" kern="1200" spc="-100" baseline="0">
                <a:solidFill>
                  <a:schemeClr val="accent6"/>
                </a:solidFill>
                <a:uFill>
                  <a:solidFill>
                    <a:schemeClr val="tx2">
                      <a:lumMod val="60000"/>
                      <a:lumOff val="40000"/>
                    </a:schemeClr>
                  </a:solidFill>
                </a:uFill>
                <a:latin typeface="+mj-lt"/>
                <a:ea typeface="Segoe UI Black" panose="020B0A02040204020203" pitchFamily="34" charset="0"/>
                <a:cs typeface="Segoe UI Light" panose="020B0502040204020203" pitchFamily="34" charset="0"/>
              </a:defRPr>
            </a:lvl1pPr>
          </a:lstStyle>
          <a:p>
            <a:pPr marL="0" marR="0" lvl="0" indent="0" algn="ctr" defTabSz="914377" rtl="0" eaLnBrk="1" fontAlgn="auto" latinLnBrk="0" hangingPunct="1">
              <a:lnSpc>
                <a:spcPct val="90000"/>
              </a:lnSpc>
              <a:spcBef>
                <a:spcPct val="0"/>
              </a:spcBef>
              <a:spcAft>
                <a:spcPts val="0"/>
              </a:spcAft>
              <a:buClrTx/>
              <a:buSzTx/>
              <a:buFontTx/>
              <a:buNone/>
              <a:tabLst/>
              <a:defRPr/>
            </a:pPr>
            <a:r>
              <a:rPr lang="en-US">
                <a:solidFill>
                  <a:srgbClr val="31849B"/>
                </a:solidFill>
                <a:uFill>
                  <a:solidFill>
                    <a:srgbClr val="1F497D">
                      <a:lumMod val="60000"/>
                      <a:lumOff val="40000"/>
                    </a:srgbClr>
                  </a:solidFill>
                </a:uFill>
                <a:latin typeface="Segoe UI Semibold"/>
              </a:rPr>
              <a:t>Agenda</a:t>
            </a:r>
            <a:endParaRPr kumimoji="0" lang="en-CA" sz="4000" b="0" i="0" u="none" strike="noStrike" kern="1200" cap="none" spc="-100" normalizeH="0" baseline="0" noProof="0">
              <a:ln>
                <a:noFill/>
              </a:ln>
              <a:solidFill>
                <a:srgbClr val="31849B"/>
              </a:solidFill>
              <a:effectLst/>
              <a:uLnTx/>
              <a:uFill>
                <a:solidFill>
                  <a:srgbClr val="1F497D">
                    <a:lumMod val="60000"/>
                    <a:lumOff val="40000"/>
                  </a:srgbClr>
                </a:solidFill>
              </a:uFill>
              <a:latin typeface="Segoe UI Semibold"/>
              <a:ea typeface="Segoe UI Black" panose="020B0A02040204020203" pitchFamily="34" charset="0"/>
              <a:cs typeface="Segoe UI Light" panose="020B0502040204020203" pitchFamily="34" charset="0"/>
            </a:endParaRPr>
          </a:p>
        </p:txBody>
      </p:sp>
      <p:sp>
        <p:nvSpPr>
          <p:cNvPr id="6" name="TextBox 5">
            <a:extLst>
              <a:ext uri="{FF2B5EF4-FFF2-40B4-BE49-F238E27FC236}">
                <a16:creationId xmlns:a16="http://schemas.microsoft.com/office/drawing/2014/main" id="{3249F604-3F2B-3CFE-4E57-EA3D5FF45C48}"/>
              </a:ext>
            </a:extLst>
          </p:cNvPr>
          <p:cNvSpPr txBox="1"/>
          <p:nvPr/>
        </p:nvSpPr>
        <p:spPr>
          <a:xfrm>
            <a:off x="1196603" y="1358219"/>
            <a:ext cx="9972140" cy="2246769"/>
          </a:xfrm>
          <a:prstGeom prst="rect">
            <a:avLst/>
          </a:prstGeom>
          <a:noFill/>
        </p:spPr>
        <p:txBody>
          <a:bodyPr wrap="square">
            <a:spAutoFit/>
          </a:bodyPr>
          <a:lstStyle/>
          <a:p>
            <a:pPr marL="285750" indent="-285750">
              <a:buFont typeface="Arial" panose="020B0604020202020204" pitchFamily="34" charset="0"/>
              <a:buChar char="•"/>
            </a:pPr>
            <a:r>
              <a:rPr lang="en-CA" sz="2000">
                <a:solidFill>
                  <a:schemeClr val="tx1">
                    <a:lumMod val="75000"/>
                    <a:lumOff val="25000"/>
                  </a:schemeClr>
                </a:solidFill>
                <a:cs typeface="Segoe UI" panose="020B0502040204020203" pitchFamily="34" charset="0"/>
              </a:rPr>
              <a:t>Affirm the TRITON vision</a:t>
            </a:r>
          </a:p>
          <a:p>
            <a:pPr marL="285750" indent="-285750">
              <a:buFont typeface="Arial" panose="020B0604020202020204" pitchFamily="34" charset="0"/>
              <a:buChar char="•"/>
            </a:pPr>
            <a:r>
              <a:rPr lang="en-CA" sz="2000">
                <a:solidFill>
                  <a:schemeClr val="tx1">
                    <a:lumMod val="75000"/>
                    <a:lumOff val="25000"/>
                  </a:schemeClr>
                </a:solidFill>
                <a:cs typeface="Segoe UI" panose="020B0502040204020203" pitchFamily="34" charset="0"/>
              </a:rPr>
              <a:t>Confirm requirements &amp; typical economist workflow</a:t>
            </a:r>
          </a:p>
          <a:p>
            <a:pPr marL="285750" indent="-285750">
              <a:buFont typeface="Arial" panose="020B0604020202020204" pitchFamily="34" charset="0"/>
              <a:buChar char="•"/>
            </a:pPr>
            <a:r>
              <a:rPr lang="en-CA" sz="2000">
                <a:solidFill>
                  <a:schemeClr val="tx1">
                    <a:lumMod val="75000"/>
                    <a:lumOff val="25000"/>
                  </a:schemeClr>
                </a:solidFill>
                <a:cs typeface="Segoe UI" panose="020B0502040204020203" pitchFamily="34" charset="0"/>
              </a:rPr>
              <a:t>End-user pain points</a:t>
            </a:r>
          </a:p>
          <a:p>
            <a:pPr marL="285750" indent="-285750">
              <a:buFont typeface="Arial" panose="020B0604020202020204" pitchFamily="34" charset="0"/>
              <a:buChar char="•"/>
            </a:pPr>
            <a:r>
              <a:rPr lang="en-CA" sz="2000">
                <a:solidFill>
                  <a:schemeClr val="tx1">
                    <a:lumMod val="75000"/>
                    <a:lumOff val="25000"/>
                  </a:schemeClr>
                </a:solidFill>
                <a:cs typeface="Segoe UI" panose="020B0502040204020203" pitchFamily="34" charset="0"/>
              </a:rPr>
              <a:t>TRITON- Fabric PoC key findings</a:t>
            </a:r>
          </a:p>
          <a:p>
            <a:pPr marL="285750" indent="-285750">
              <a:buFont typeface="Arial" panose="020B0604020202020204" pitchFamily="34" charset="0"/>
              <a:buChar char="•"/>
            </a:pPr>
            <a:r>
              <a:rPr lang="en-CA" sz="2000">
                <a:solidFill>
                  <a:schemeClr val="tx1">
                    <a:lumMod val="75000"/>
                    <a:lumOff val="25000"/>
                  </a:schemeClr>
                </a:solidFill>
                <a:cs typeface="Segoe UI" panose="020B0502040204020203" pitchFamily="34" charset="0"/>
              </a:rPr>
              <a:t>Other considerations &amp; next steps </a:t>
            </a:r>
          </a:p>
          <a:p>
            <a:pPr marL="285750" indent="-285750">
              <a:buFont typeface="Arial" panose="020B0604020202020204" pitchFamily="34" charset="0"/>
              <a:buChar char="•"/>
            </a:pPr>
            <a:r>
              <a:rPr lang="en-CA" sz="2000">
                <a:solidFill>
                  <a:schemeClr val="tx1">
                    <a:lumMod val="75000"/>
                    <a:lumOff val="25000"/>
                  </a:schemeClr>
                </a:solidFill>
                <a:cs typeface="Segoe UI" panose="020B0502040204020203" pitchFamily="34" charset="0"/>
              </a:rPr>
              <a:t>Discussion</a:t>
            </a:r>
          </a:p>
          <a:p>
            <a:pPr marL="285750" indent="-285750">
              <a:buFont typeface="Arial" panose="020B0604020202020204" pitchFamily="34" charset="0"/>
              <a:buChar char="•"/>
            </a:pPr>
            <a:endParaRPr lang="en-CA" sz="2000">
              <a:solidFill>
                <a:schemeClr val="tx1">
                  <a:lumMod val="75000"/>
                  <a:lumOff val="25000"/>
                </a:schemeClr>
              </a:solidFill>
              <a:cs typeface="Segoe UI" panose="020B0502040204020203" pitchFamily="34" charset="0"/>
            </a:endParaRPr>
          </a:p>
        </p:txBody>
      </p:sp>
    </p:spTree>
    <p:extLst>
      <p:ext uri="{BB962C8B-B14F-4D97-AF65-F5344CB8AC3E}">
        <p14:creationId xmlns:p14="http://schemas.microsoft.com/office/powerpoint/2010/main" val="3600480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277A9C4-8365-71E3-C313-915A355CCFD4}"/>
              </a:ext>
            </a:extLst>
          </p:cNvPr>
          <p:cNvSpPr>
            <a:spLocks noGrp="1"/>
          </p:cNvSpPr>
          <p:nvPr>
            <p:ph idx="1"/>
          </p:nvPr>
        </p:nvSpPr>
        <p:spPr>
          <a:xfrm>
            <a:off x="3709509" y="4294094"/>
            <a:ext cx="7237765" cy="2457056"/>
          </a:xfrm>
        </p:spPr>
        <p:txBody>
          <a:bodyPr>
            <a:normAutofit/>
          </a:bodyPr>
          <a:lstStyle/>
          <a:p>
            <a:r>
              <a:rPr lang="en-CA" sz="1600"/>
              <a:t>Empower Users working with data</a:t>
            </a:r>
          </a:p>
          <a:p>
            <a:r>
              <a:rPr lang="en-CA" sz="1600"/>
              <a:t>Economies of Scale &amp; Automation</a:t>
            </a:r>
          </a:p>
          <a:p>
            <a:r>
              <a:rPr lang="en-CA" sz="1600"/>
              <a:t>High Transparency / Searchability</a:t>
            </a:r>
          </a:p>
          <a:p>
            <a:r>
              <a:rPr lang="en-CA" sz="1600"/>
              <a:t>Collaboration &amp; Share-ability (w/ safety nets)</a:t>
            </a:r>
          </a:p>
          <a:p>
            <a:r>
              <a:rPr lang="en-CA" sz="1600"/>
              <a:t>Reproducibility &amp; Supportability</a:t>
            </a:r>
          </a:p>
        </p:txBody>
      </p:sp>
      <p:sp>
        <p:nvSpPr>
          <p:cNvPr id="3" name="Title 2">
            <a:extLst>
              <a:ext uri="{FF2B5EF4-FFF2-40B4-BE49-F238E27FC236}">
                <a16:creationId xmlns:a16="http://schemas.microsoft.com/office/drawing/2014/main" id="{1E8AE659-05C3-71BD-FA6D-4731982EB2FB}"/>
              </a:ext>
            </a:extLst>
          </p:cNvPr>
          <p:cNvSpPr>
            <a:spLocks noGrp="1"/>
          </p:cNvSpPr>
          <p:nvPr>
            <p:ph type="title"/>
          </p:nvPr>
        </p:nvSpPr>
        <p:spPr>
          <a:xfrm>
            <a:off x="575924" y="3509827"/>
            <a:ext cx="2979017" cy="3434962"/>
          </a:xfrm>
        </p:spPr>
        <p:txBody>
          <a:bodyPr>
            <a:normAutofit/>
          </a:bodyPr>
          <a:lstStyle/>
          <a:p>
            <a:r>
              <a:rPr lang="en-CA" sz="3200"/>
              <a:t>What</a:t>
            </a:r>
          </a:p>
        </p:txBody>
      </p:sp>
      <p:sp>
        <p:nvSpPr>
          <p:cNvPr id="4" name="Title 1">
            <a:extLst>
              <a:ext uri="{FF2B5EF4-FFF2-40B4-BE49-F238E27FC236}">
                <a16:creationId xmlns:a16="http://schemas.microsoft.com/office/drawing/2014/main" id="{377FC8CC-BF48-4372-ADBD-E108291B94CD}"/>
              </a:ext>
            </a:extLst>
          </p:cNvPr>
          <p:cNvSpPr txBox="1">
            <a:spLocks/>
          </p:cNvSpPr>
          <p:nvPr/>
        </p:nvSpPr>
        <p:spPr>
          <a:xfrm>
            <a:off x="696001" y="213396"/>
            <a:ext cx="10800000" cy="717269"/>
          </a:xfrm>
          <a:prstGeom prst="rect">
            <a:avLst/>
          </a:prstGeom>
        </p:spPr>
        <p:txBody>
          <a:bodyPr anchor="b">
            <a:normAutofit/>
          </a:bodyPr>
          <a:lstStyle>
            <a:lvl1pPr algn="l" defTabSz="914377" rtl="0" eaLnBrk="1" latinLnBrk="0" hangingPunct="1">
              <a:lnSpc>
                <a:spcPct val="90000"/>
              </a:lnSpc>
              <a:spcBef>
                <a:spcPct val="0"/>
              </a:spcBef>
              <a:buNone/>
              <a:defRPr sz="4000" u="none" kern="1200" spc="-100" baseline="0">
                <a:solidFill>
                  <a:schemeClr val="accent6"/>
                </a:solidFill>
                <a:uFill>
                  <a:solidFill>
                    <a:schemeClr val="tx2">
                      <a:lumMod val="60000"/>
                      <a:lumOff val="40000"/>
                    </a:schemeClr>
                  </a:solidFill>
                </a:uFill>
                <a:latin typeface="+mj-lt"/>
                <a:ea typeface="Segoe UI Black" panose="020B0A02040204020203" pitchFamily="34" charset="0"/>
                <a:cs typeface="Segoe UI Light" panose="020B0502040204020203" pitchFamily="34" charset="0"/>
              </a:defRPr>
            </a:lvl1pPr>
          </a:lstStyle>
          <a:p>
            <a:pPr marL="0" marR="0" lvl="0" indent="0" algn="ctr" defTabSz="914377" rtl="0" eaLnBrk="1" fontAlgn="auto" latinLnBrk="0" hangingPunct="1">
              <a:lnSpc>
                <a:spcPct val="90000"/>
              </a:lnSpc>
              <a:spcBef>
                <a:spcPct val="0"/>
              </a:spcBef>
              <a:spcAft>
                <a:spcPts val="0"/>
              </a:spcAft>
              <a:buClrTx/>
              <a:buSzTx/>
              <a:buFontTx/>
              <a:buNone/>
              <a:tabLst/>
              <a:defRPr/>
            </a:pPr>
            <a:r>
              <a:rPr lang="en-US">
                <a:solidFill>
                  <a:srgbClr val="31849B"/>
                </a:solidFill>
                <a:uFill>
                  <a:solidFill>
                    <a:srgbClr val="1F497D">
                      <a:lumMod val="60000"/>
                      <a:lumOff val="40000"/>
                    </a:srgbClr>
                  </a:solidFill>
                </a:uFill>
                <a:latin typeface="Segoe UI Semibold"/>
              </a:rPr>
              <a:t>Triton vision</a:t>
            </a:r>
            <a:endParaRPr kumimoji="0" lang="en-CA" sz="4000" b="0" i="0" u="none" strike="noStrike" kern="1200" cap="none" spc="-100" normalizeH="0" baseline="0" noProof="0">
              <a:ln>
                <a:noFill/>
              </a:ln>
              <a:solidFill>
                <a:srgbClr val="31849B"/>
              </a:solidFill>
              <a:effectLst/>
              <a:uLnTx/>
              <a:uFill>
                <a:solidFill>
                  <a:srgbClr val="1F497D">
                    <a:lumMod val="60000"/>
                    <a:lumOff val="40000"/>
                  </a:srgbClr>
                </a:solidFill>
              </a:uFill>
              <a:latin typeface="Segoe UI Semibold"/>
              <a:ea typeface="Segoe UI Black" panose="020B0A02040204020203" pitchFamily="34" charset="0"/>
              <a:cs typeface="Segoe UI Light" panose="020B0502040204020203" pitchFamily="34" charset="0"/>
            </a:endParaRPr>
          </a:p>
        </p:txBody>
      </p:sp>
      <p:sp>
        <p:nvSpPr>
          <p:cNvPr id="6" name="TextBox 5">
            <a:extLst>
              <a:ext uri="{FF2B5EF4-FFF2-40B4-BE49-F238E27FC236}">
                <a16:creationId xmlns:a16="http://schemas.microsoft.com/office/drawing/2014/main" id="{3249F604-3F2B-3CFE-4E57-EA3D5FF45C48}"/>
              </a:ext>
            </a:extLst>
          </p:cNvPr>
          <p:cNvSpPr txBox="1"/>
          <p:nvPr/>
        </p:nvSpPr>
        <p:spPr>
          <a:xfrm>
            <a:off x="3709508" y="1068659"/>
            <a:ext cx="6762959" cy="830997"/>
          </a:xfrm>
          <a:prstGeom prst="rect">
            <a:avLst/>
          </a:prstGeom>
          <a:noFill/>
        </p:spPr>
        <p:txBody>
          <a:bodyPr wrap="square">
            <a:spAutoFit/>
          </a:bodyPr>
          <a:lstStyle/>
          <a:p>
            <a:pPr marL="0" indent="0">
              <a:buNone/>
            </a:pPr>
            <a:r>
              <a:rPr lang="en-CA" sz="1600">
                <a:solidFill>
                  <a:schemeClr val="tx1">
                    <a:lumMod val="75000"/>
                    <a:lumOff val="25000"/>
                  </a:schemeClr>
                </a:solidFill>
                <a:cs typeface="Segoe UI" panose="020B0502040204020203" pitchFamily="34" charset="0"/>
              </a:rPr>
              <a:t>Self-serve platform that meaningfully accelerates and empowers users in their work (Analysis, Modeling, Research and Monitoring) with financial markets data</a:t>
            </a:r>
          </a:p>
        </p:txBody>
      </p:sp>
      <p:sp>
        <p:nvSpPr>
          <p:cNvPr id="7" name="Title 2">
            <a:extLst>
              <a:ext uri="{FF2B5EF4-FFF2-40B4-BE49-F238E27FC236}">
                <a16:creationId xmlns:a16="http://schemas.microsoft.com/office/drawing/2014/main" id="{5F8D1AE3-1095-4D16-33C8-CCFFFCE3BE04}"/>
              </a:ext>
            </a:extLst>
          </p:cNvPr>
          <p:cNvSpPr txBox="1">
            <a:spLocks/>
          </p:cNvSpPr>
          <p:nvPr/>
        </p:nvSpPr>
        <p:spPr>
          <a:xfrm>
            <a:off x="516120" y="-320094"/>
            <a:ext cx="2979017" cy="3434962"/>
          </a:xfrm>
          <a:prstGeom prst="rect">
            <a:avLst/>
          </a:prstGeom>
          <a:noFill/>
        </p:spPr>
        <p:txBody>
          <a:bodyPr vert="horz" lIns="0" tIns="0" rIns="0" bIns="0" rtlCol="0" anchor="ctr" anchorCtr="0">
            <a:normAutofit/>
          </a:bodyPr>
          <a:lstStyle>
            <a:lvl1pPr algn="l" defTabSz="914377" rtl="0" eaLnBrk="1" latinLnBrk="0" hangingPunct="1">
              <a:lnSpc>
                <a:spcPct val="90000"/>
              </a:lnSpc>
              <a:spcBef>
                <a:spcPct val="0"/>
              </a:spcBef>
              <a:buNone/>
              <a:defRPr sz="4000" u="none" kern="1200" spc="-100" baseline="0">
                <a:solidFill>
                  <a:schemeClr val="accent6"/>
                </a:solidFill>
                <a:uFill>
                  <a:solidFill>
                    <a:schemeClr val="tx2">
                      <a:lumMod val="60000"/>
                      <a:lumOff val="40000"/>
                    </a:schemeClr>
                  </a:solidFill>
                </a:uFill>
                <a:latin typeface="+mj-lt"/>
                <a:ea typeface="Segoe UI Black" panose="020B0A02040204020203" pitchFamily="34" charset="0"/>
                <a:cs typeface="Segoe UI Light" panose="020B0502040204020203" pitchFamily="34" charset="0"/>
              </a:defRPr>
            </a:lvl1pPr>
          </a:lstStyle>
          <a:p>
            <a:r>
              <a:rPr lang="en-CA" sz="3200"/>
              <a:t>Vision</a:t>
            </a:r>
          </a:p>
        </p:txBody>
      </p:sp>
      <p:sp>
        <p:nvSpPr>
          <p:cNvPr id="10" name="Title 2">
            <a:extLst>
              <a:ext uri="{FF2B5EF4-FFF2-40B4-BE49-F238E27FC236}">
                <a16:creationId xmlns:a16="http://schemas.microsoft.com/office/drawing/2014/main" id="{74714DB3-26DE-F919-BC71-ECBA7B88A209}"/>
              </a:ext>
            </a:extLst>
          </p:cNvPr>
          <p:cNvSpPr txBox="1">
            <a:spLocks/>
          </p:cNvSpPr>
          <p:nvPr/>
        </p:nvSpPr>
        <p:spPr>
          <a:xfrm>
            <a:off x="498639" y="1980016"/>
            <a:ext cx="2979017" cy="584104"/>
          </a:xfrm>
          <a:prstGeom prst="rect">
            <a:avLst/>
          </a:prstGeom>
          <a:noFill/>
        </p:spPr>
        <p:txBody>
          <a:bodyPr vert="horz" lIns="0" tIns="0" rIns="0" bIns="0" rtlCol="0" anchor="ctr" anchorCtr="0">
            <a:normAutofit/>
          </a:bodyPr>
          <a:lstStyle>
            <a:lvl1pPr algn="l" defTabSz="914377" rtl="0" eaLnBrk="1" latinLnBrk="0" hangingPunct="1">
              <a:lnSpc>
                <a:spcPct val="90000"/>
              </a:lnSpc>
              <a:spcBef>
                <a:spcPct val="0"/>
              </a:spcBef>
              <a:buNone/>
              <a:defRPr sz="4000" u="none" kern="1200" spc="-100" baseline="0">
                <a:solidFill>
                  <a:schemeClr val="accent6"/>
                </a:solidFill>
                <a:uFill>
                  <a:solidFill>
                    <a:schemeClr val="tx2">
                      <a:lumMod val="60000"/>
                      <a:lumOff val="40000"/>
                    </a:schemeClr>
                  </a:solidFill>
                </a:uFill>
                <a:latin typeface="+mj-lt"/>
                <a:ea typeface="Segoe UI Black" panose="020B0A02040204020203" pitchFamily="34" charset="0"/>
                <a:cs typeface="Segoe UI Light" panose="020B0502040204020203" pitchFamily="34" charset="0"/>
              </a:defRPr>
            </a:lvl1pPr>
          </a:lstStyle>
          <a:p>
            <a:r>
              <a:rPr lang="en-CA" sz="3200"/>
              <a:t>Triton users</a:t>
            </a:r>
          </a:p>
        </p:txBody>
      </p:sp>
      <p:sp>
        <p:nvSpPr>
          <p:cNvPr id="11" name="TextBox 10">
            <a:extLst>
              <a:ext uri="{FF2B5EF4-FFF2-40B4-BE49-F238E27FC236}">
                <a16:creationId xmlns:a16="http://schemas.microsoft.com/office/drawing/2014/main" id="{0ACF8D45-5302-7C7F-ED55-222E12BD8A2A}"/>
              </a:ext>
            </a:extLst>
          </p:cNvPr>
          <p:cNvSpPr txBox="1"/>
          <p:nvPr/>
        </p:nvSpPr>
        <p:spPr>
          <a:xfrm>
            <a:off x="3709508" y="2037650"/>
            <a:ext cx="6762960" cy="830997"/>
          </a:xfrm>
          <a:prstGeom prst="rect">
            <a:avLst/>
          </a:prstGeom>
          <a:noFill/>
        </p:spPr>
        <p:txBody>
          <a:bodyPr wrap="square">
            <a:spAutoFit/>
          </a:bodyPr>
          <a:lstStyle/>
          <a:p>
            <a:r>
              <a:rPr lang="en-CA" sz="1600">
                <a:solidFill>
                  <a:schemeClr val="tx1">
                    <a:lumMod val="75000"/>
                    <a:lumOff val="25000"/>
                  </a:schemeClr>
                </a:solidFill>
                <a:cs typeface="Segoe UI" panose="020B0502040204020203" pitchFamily="34" charset="0"/>
              </a:rPr>
              <a:t>Diverse clientele of about 150 users ranging for economists, researchers, traders, analysts, accountants, and senior management </a:t>
            </a:r>
          </a:p>
          <a:p>
            <a:pPr marL="0" indent="0">
              <a:buNone/>
            </a:pPr>
            <a:endParaRPr lang="en-CA" sz="1600">
              <a:solidFill>
                <a:schemeClr val="tx1">
                  <a:lumMod val="75000"/>
                  <a:lumOff val="25000"/>
                </a:schemeClr>
              </a:solidFill>
              <a:cs typeface="Segoe UI" panose="020B0502040204020203" pitchFamily="34" charset="0"/>
            </a:endParaRPr>
          </a:p>
        </p:txBody>
      </p:sp>
      <p:sp>
        <p:nvSpPr>
          <p:cNvPr id="9" name="TextBox 8">
            <a:extLst>
              <a:ext uri="{FF2B5EF4-FFF2-40B4-BE49-F238E27FC236}">
                <a16:creationId xmlns:a16="http://schemas.microsoft.com/office/drawing/2014/main" id="{DD501EFC-22EA-F438-3E77-4B8958793409}"/>
              </a:ext>
            </a:extLst>
          </p:cNvPr>
          <p:cNvSpPr txBox="1"/>
          <p:nvPr/>
        </p:nvSpPr>
        <p:spPr>
          <a:xfrm>
            <a:off x="3632223" y="3030224"/>
            <a:ext cx="7116290" cy="1323439"/>
          </a:xfrm>
          <a:prstGeom prst="rect">
            <a:avLst/>
          </a:prstGeom>
          <a:noFill/>
        </p:spPr>
        <p:txBody>
          <a:bodyPr wrap="square">
            <a:spAutoFit/>
          </a:bodyPr>
          <a:lstStyle/>
          <a:p>
            <a:pPr marL="285750" indent="-285750">
              <a:buFont typeface="Arial" panose="020B0604020202020204" pitchFamily="34" charset="0"/>
              <a:buChar char="•"/>
            </a:pPr>
            <a:r>
              <a:rPr lang="en-US" sz="1600">
                <a:solidFill>
                  <a:schemeClr val="tx1">
                    <a:lumMod val="75000"/>
                    <a:lumOff val="25000"/>
                  </a:schemeClr>
                </a:solidFill>
                <a:cs typeface="Segoe UI" panose="020B0502040204020203" pitchFamily="34" charset="0"/>
              </a:rPr>
              <a:t>3</a:t>
            </a:r>
            <a:r>
              <a:rPr lang="en-CA" sz="1600">
                <a:solidFill>
                  <a:schemeClr val="tx1">
                    <a:lumMod val="75000"/>
                    <a:lumOff val="25000"/>
                  </a:schemeClr>
                </a:solidFill>
                <a:cs typeface="Segoe UI" panose="020B0502040204020203" pitchFamily="34" charset="0"/>
              </a:rPr>
              <a:t>0 user-ready tables maintained and refreshed by Triton (Gov Zone)</a:t>
            </a:r>
          </a:p>
          <a:p>
            <a:pPr marL="285750" indent="-285750">
              <a:buFont typeface="Arial" panose="020B0604020202020204" pitchFamily="34" charset="0"/>
              <a:buChar char="•"/>
            </a:pPr>
            <a:r>
              <a:rPr lang="en-CA" sz="1600">
                <a:solidFill>
                  <a:schemeClr val="tx1">
                    <a:lumMod val="75000"/>
                    <a:lumOff val="25000"/>
                  </a:schemeClr>
                </a:solidFill>
                <a:cs typeface="Segoe UI" panose="020B0502040204020203" pitchFamily="34" charset="0"/>
              </a:rPr>
              <a:t>Non-</a:t>
            </a:r>
            <a:r>
              <a:rPr lang="en-CA" sz="1600" err="1">
                <a:solidFill>
                  <a:schemeClr val="tx1">
                    <a:lumMod val="75000"/>
                    <a:lumOff val="25000"/>
                  </a:schemeClr>
                </a:solidFill>
                <a:cs typeface="Segoe UI" panose="020B0502040204020203" pitchFamily="34" charset="0"/>
              </a:rPr>
              <a:t>Gov’d</a:t>
            </a:r>
            <a:r>
              <a:rPr lang="en-CA" sz="1600">
                <a:solidFill>
                  <a:schemeClr val="tx1">
                    <a:lumMod val="75000"/>
                    <a:lumOff val="25000"/>
                  </a:schemeClr>
                </a:solidFill>
                <a:cs typeface="Segoe UI" panose="020B0502040204020203" pitchFamily="34" charset="0"/>
              </a:rPr>
              <a:t> / business led sources</a:t>
            </a:r>
          </a:p>
          <a:p>
            <a:pPr marL="742950" lvl="1" indent="-285750">
              <a:buFont typeface="Arial" panose="020B0604020202020204" pitchFamily="34" charset="0"/>
              <a:buChar char="•"/>
            </a:pPr>
            <a:r>
              <a:rPr lang="en-CA" sz="1600">
                <a:solidFill>
                  <a:schemeClr val="tx1">
                    <a:lumMod val="75000"/>
                    <a:lumOff val="25000"/>
                  </a:schemeClr>
                </a:solidFill>
                <a:cs typeface="Segoe UI" panose="020B0502040204020203" pitchFamily="34" charset="0"/>
              </a:rPr>
              <a:t>Bring-your-own data (brought by users)</a:t>
            </a:r>
          </a:p>
          <a:p>
            <a:pPr marL="742950" lvl="1" indent="-285750">
              <a:buFont typeface="Arial" panose="020B0604020202020204" pitchFamily="34" charset="0"/>
              <a:buChar char="•"/>
            </a:pPr>
            <a:r>
              <a:rPr lang="en-CA" sz="1600">
                <a:solidFill>
                  <a:schemeClr val="tx1">
                    <a:lumMod val="75000"/>
                    <a:lumOff val="25000"/>
                  </a:schemeClr>
                </a:solidFill>
                <a:cs typeface="Segoe UI" panose="020B0502040204020203" pitchFamily="34" charset="0"/>
              </a:rPr>
              <a:t>Business owned model output</a:t>
            </a:r>
          </a:p>
          <a:p>
            <a:pPr marL="285750" indent="-285750">
              <a:buFont typeface="Arial" panose="020B0604020202020204" pitchFamily="34" charset="0"/>
              <a:buChar char="•"/>
            </a:pPr>
            <a:endParaRPr lang="en-CA" sz="1600">
              <a:solidFill>
                <a:schemeClr val="tx1">
                  <a:lumMod val="75000"/>
                  <a:lumOff val="25000"/>
                </a:schemeClr>
              </a:solidFill>
              <a:cs typeface="Segoe UI" panose="020B0502040204020203" pitchFamily="34" charset="0"/>
            </a:endParaRPr>
          </a:p>
        </p:txBody>
      </p:sp>
      <p:sp>
        <p:nvSpPr>
          <p:cNvPr id="12" name="Title 2">
            <a:extLst>
              <a:ext uri="{FF2B5EF4-FFF2-40B4-BE49-F238E27FC236}">
                <a16:creationId xmlns:a16="http://schemas.microsoft.com/office/drawing/2014/main" id="{5F4B3C9A-C446-557C-4A35-C49A23B3DED6}"/>
              </a:ext>
            </a:extLst>
          </p:cNvPr>
          <p:cNvSpPr txBox="1">
            <a:spLocks/>
          </p:cNvSpPr>
          <p:nvPr/>
        </p:nvSpPr>
        <p:spPr>
          <a:xfrm>
            <a:off x="498639" y="2949231"/>
            <a:ext cx="2979017" cy="584104"/>
          </a:xfrm>
          <a:prstGeom prst="rect">
            <a:avLst/>
          </a:prstGeom>
          <a:noFill/>
        </p:spPr>
        <p:txBody>
          <a:bodyPr vert="horz" lIns="0" tIns="0" rIns="0" bIns="0" rtlCol="0" anchor="ctr" anchorCtr="0">
            <a:normAutofit/>
          </a:bodyPr>
          <a:lstStyle>
            <a:lvl1pPr algn="l" defTabSz="914377" rtl="0" eaLnBrk="1" latinLnBrk="0" hangingPunct="1">
              <a:lnSpc>
                <a:spcPct val="90000"/>
              </a:lnSpc>
              <a:spcBef>
                <a:spcPct val="0"/>
              </a:spcBef>
              <a:buNone/>
              <a:defRPr sz="4000" u="none" kern="1200" spc="-100" baseline="0">
                <a:solidFill>
                  <a:schemeClr val="accent6"/>
                </a:solidFill>
                <a:uFill>
                  <a:solidFill>
                    <a:schemeClr val="tx2">
                      <a:lumMod val="60000"/>
                      <a:lumOff val="40000"/>
                    </a:schemeClr>
                  </a:solidFill>
                </a:uFill>
                <a:latin typeface="+mj-lt"/>
                <a:ea typeface="Segoe UI Black" panose="020B0A02040204020203" pitchFamily="34" charset="0"/>
                <a:cs typeface="Segoe UI Light" panose="020B0502040204020203" pitchFamily="34" charset="0"/>
              </a:defRPr>
            </a:lvl1pPr>
          </a:lstStyle>
          <a:p>
            <a:r>
              <a:rPr lang="en-CA" sz="3200"/>
              <a:t>Data sources</a:t>
            </a:r>
          </a:p>
        </p:txBody>
      </p:sp>
    </p:spTree>
    <p:extLst>
      <p:ext uri="{BB962C8B-B14F-4D97-AF65-F5344CB8AC3E}">
        <p14:creationId xmlns:p14="http://schemas.microsoft.com/office/powerpoint/2010/main" val="11994715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49F4FDF-61C7-F642-A85A-AD6CF93546A1}"/>
              </a:ext>
            </a:extLst>
          </p:cNvPr>
          <p:cNvSpPr>
            <a:spLocks noGrp="1"/>
          </p:cNvSpPr>
          <p:nvPr>
            <p:ph idx="1"/>
          </p:nvPr>
        </p:nvSpPr>
        <p:spPr/>
        <p:txBody>
          <a:bodyPr>
            <a:normAutofit/>
          </a:bodyPr>
          <a:lstStyle/>
          <a:p>
            <a:pPr marL="0" indent="0">
              <a:buNone/>
            </a:pPr>
            <a:r>
              <a:rPr lang="en-CA" b="1">
                <a:solidFill>
                  <a:schemeClr val="accent6"/>
                </a:solidFill>
                <a:cs typeface="Segoe UI"/>
              </a:rPr>
              <a:t>Major Successes</a:t>
            </a:r>
            <a:r>
              <a:rPr lang="en-CA">
                <a:solidFill>
                  <a:schemeClr val="accent6"/>
                </a:solidFill>
                <a:cs typeface="Segoe UI"/>
              </a:rPr>
              <a:t>: </a:t>
            </a:r>
            <a:endParaRPr lang="en-CA">
              <a:solidFill>
                <a:schemeClr val="accent6"/>
              </a:solidFill>
            </a:endParaRPr>
          </a:p>
          <a:p>
            <a:pPr marL="450215" lvl="1" indent="-227965">
              <a:buFont typeface="Wingdings" panose="05000000000000000000" pitchFamily="2" charset="2"/>
              <a:buChar char="§"/>
            </a:pPr>
            <a:r>
              <a:rPr lang="en-CA">
                <a:cs typeface="Segoe UI"/>
              </a:rPr>
              <a:t>Our data is trusted and used by more clients than ever before</a:t>
            </a:r>
            <a:endParaRPr lang="en-CA"/>
          </a:p>
          <a:p>
            <a:pPr marL="450215" lvl="1" indent="-227965">
              <a:buFont typeface="Wingdings" panose="05000000000000000000" pitchFamily="2" charset="2"/>
              <a:buChar char="§"/>
            </a:pPr>
            <a:r>
              <a:rPr lang="en-CA">
                <a:cs typeface="Segoe UI"/>
              </a:rPr>
              <a:t>Enablement pieces (e.g. PBI Templates, Data Search and Documentation) are well received and used regularly</a:t>
            </a:r>
            <a:endParaRPr lang="en-CA"/>
          </a:p>
          <a:p>
            <a:pPr marL="450215" lvl="1" indent="-227965">
              <a:buFont typeface="Wingdings" panose="05000000000000000000" pitchFamily="2" charset="2"/>
              <a:buChar char="§"/>
            </a:pPr>
            <a:r>
              <a:rPr lang="en-CA">
                <a:cs typeface="Segoe UI"/>
              </a:rPr>
              <a:t>Users are developing products and novel insights fairly independently</a:t>
            </a:r>
          </a:p>
          <a:p>
            <a:pPr marL="222250" lvl="1" indent="0">
              <a:buNone/>
            </a:pPr>
            <a:endParaRPr lang="en-CA">
              <a:cs typeface="Segoe UI"/>
            </a:endParaRPr>
          </a:p>
          <a:p>
            <a:pPr marL="222250" lvl="1" indent="0">
              <a:buNone/>
            </a:pPr>
            <a:endParaRPr lang="en-CA" sz="2600" b="1">
              <a:cs typeface="Segoe UI"/>
            </a:endParaRPr>
          </a:p>
          <a:p>
            <a:pPr marL="222250" lvl="1" indent="0">
              <a:buNone/>
            </a:pPr>
            <a:r>
              <a:rPr lang="en-CA" sz="2600" b="1">
                <a:solidFill>
                  <a:schemeClr val="accent6"/>
                </a:solidFill>
                <a:cs typeface="Segoe UI"/>
              </a:rPr>
              <a:t>Remaining Challenges:</a:t>
            </a:r>
          </a:p>
          <a:p>
            <a:pPr marL="713740" lvl="2" indent="-227965">
              <a:buFont typeface="Wingdings" panose="05000000000000000000" pitchFamily="2" charset="2"/>
              <a:buChar char="§"/>
            </a:pPr>
            <a:r>
              <a:rPr lang="en-CA">
                <a:cs typeface="Segoe UI"/>
              </a:rPr>
              <a:t>Too many frictions remain for most users to adopt working within the cloud environment </a:t>
            </a:r>
            <a:endParaRPr lang="en-CA"/>
          </a:p>
          <a:p>
            <a:pPr marL="985197" lvl="3" indent="-227965">
              <a:buFont typeface="Wingdings" panose="05000000000000000000" pitchFamily="2" charset="2"/>
              <a:buChar char="§"/>
            </a:pPr>
            <a:r>
              <a:rPr lang="en-CA">
                <a:cs typeface="Segoe UI"/>
              </a:rPr>
              <a:t>Missing Components, Low Flexibility, Complexity, Lack of integration between environments</a:t>
            </a:r>
          </a:p>
          <a:p>
            <a:pPr marL="713740" lvl="2" indent="-227965">
              <a:buFont typeface="Wingdings" panose="05000000000000000000" pitchFamily="2" charset="2"/>
              <a:buChar char="§"/>
            </a:pPr>
            <a:r>
              <a:rPr lang="en-CA">
                <a:cs typeface="Segoe UI"/>
              </a:rPr>
              <a:t>Need for greater scalability and resiliency of Triton PBI solution</a:t>
            </a:r>
            <a:endParaRPr lang="en-CA"/>
          </a:p>
        </p:txBody>
      </p:sp>
      <p:sp>
        <p:nvSpPr>
          <p:cNvPr id="3" name="Title 2">
            <a:extLst>
              <a:ext uri="{FF2B5EF4-FFF2-40B4-BE49-F238E27FC236}">
                <a16:creationId xmlns:a16="http://schemas.microsoft.com/office/drawing/2014/main" id="{5364C42E-36A6-B385-5644-9360C83BF733}"/>
              </a:ext>
            </a:extLst>
          </p:cNvPr>
          <p:cNvSpPr>
            <a:spLocks noGrp="1"/>
          </p:cNvSpPr>
          <p:nvPr>
            <p:ph type="title"/>
          </p:nvPr>
        </p:nvSpPr>
        <p:spPr/>
        <p:txBody>
          <a:bodyPr/>
          <a:lstStyle/>
          <a:p>
            <a:r>
              <a:rPr lang="en-CA">
                <a:uFill>
                  <a:solidFill>
                    <a:srgbClr val="1F497D">
                      <a:lumMod val="60000"/>
                      <a:lumOff val="40000"/>
                    </a:srgbClr>
                  </a:solidFill>
                </a:uFill>
                <a:ea typeface="Segoe UI Black"/>
                <a:cs typeface="Segoe UI Light"/>
              </a:rPr>
              <a:t>Journey Checkpoint</a:t>
            </a:r>
            <a:br>
              <a:rPr lang="en-CA">
                <a:uFill>
                  <a:solidFill>
                    <a:srgbClr val="1F497D">
                      <a:lumMod val="60000"/>
                      <a:lumOff val="40000"/>
                    </a:srgbClr>
                  </a:solidFill>
                </a:uFill>
                <a:ea typeface="Segoe UI Black"/>
                <a:cs typeface="Segoe UI Light"/>
              </a:rPr>
            </a:br>
            <a:br>
              <a:rPr lang="en-CA">
                <a:uFill>
                  <a:solidFill>
                    <a:srgbClr val="1F497D">
                      <a:lumMod val="60000"/>
                      <a:lumOff val="40000"/>
                    </a:srgbClr>
                  </a:solidFill>
                </a:uFill>
                <a:ea typeface="Segoe UI Black"/>
                <a:cs typeface="Segoe UI Light"/>
              </a:rPr>
            </a:br>
            <a:r>
              <a:rPr lang="en-CA" sz="2000">
                <a:ea typeface="Segoe UI Black"/>
                <a:cs typeface="Segoe UI"/>
              </a:rPr>
              <a:t>1 year live – many successes but challenges remain especially in User Experience</a:t>
            </a:r>
            <a:br>
              <a:rPr lang="en-CA"/>
            </a:br>
            <a:endParaRPr lang="en-CA"/>
          </a:p>
        </p:txBody>
      </p:sp>
    </p:spTree>
    <p:extLst>
      <p:ext uri="{BB962C8B-B14F-4D97-AF65-F5344CB8AC3E}">
        <p14:creationId xmlns:p14="http://schemas.microsoft.com/office/powerpoint/2010/main" val="9210538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377FC8CC-BF48-4372-ADBD-E108291B94CD}"/>
              </a:ext>
            </a:extLst>
          </p:cNvPr>
          <p:cNvSpPr txBox="1">
            <a:spLocks/>
          </p:cNvSpPr>
          <p:nvPr/>
        </p:nvSpPr>
        <p:spPr>
          <a:xfrm>
            <a:off x="409130" y="213396"/>
            <a:ext cx="11298775" cy="717269"/>
          </a:xfrm>
          <a:prstGeom prst="rect">
            <a:avLst/>
          </a:prstGeom>
        </p:spPr>
        <p:txBody>
          <a:bodyPr anchor="b">
            <a:normAutofit/>
          </a:bodyPr>
          <a:lstStyle>
            <a:lvl1pPr algn="l" defTabSz="914377" rtl="0" eaLnBrk="1" latinLnBrk="0" hangingPunct="1">
              <a:lnSpc>
                <a:spcPct val="90000"/>
              </a:lnSpc>
              <a:spcBef>
                <a:spcPct val="0"/>
              </a:spcBef>
              <a:buNone/>
              <a:defRPr sz="4000" u="none" kern="1200" spc="-100" baseline="0">
                <a:solidFill>
                  <a:schemeClr val="accent6"/>
                </a:solidFill>
                <a:uFill>
                  <a:solidFill>
                    <a:schemeClr val="tx2">
                      <a:lumMod val="60000"/>
                      <a:lumOff val="40000"/>
                    </a:schemeClr>
                  </a:solidFill>
                </a:uFill>
                <a:latin typeface="+mj-lt"/>
                <a:ea typeface="Segoe UI Black" panose="020B0A02040204020203" pitchFamily="34" charset="0"/>
                <a:cs typeface="Segoe UI Light" panose="020B0502040204020203" pitchFamily="34" charset="0"/>
              </a:defRPr>
            </a:lvl1pPr>
          </a:lstStyle>
          <a:p>
            <a:pPr marL="0" marR="0" lvl="0" indent="0" algn="ctr" defTabSz="914377" rtl="0" eaLnBrk="1" fontAlgn="auto" latinLnBrk="0" hangingPunct="1">
              <a:lnSpc>
                <a:spcPct val="90000"/>
              </a:lnSpc>
              <a:spcBef>
                <a:spcPct val="0"/>
              </a:spcBef>
              <a:spcAft>
                <a:spcPts val="0"/>
              </a:spcAft>
              <a:buClrTx/>
              <a:buSzTx/>
              <a:buFontTx/>
              <a:buNone/>
              <a:tabLst/>
              <a:defRPr/>
            </a:pPr>
            <a:r>
              <a:rPr lang="en-US">
                <a:solidFill>
                  <a:srgbClr val="31849B"/>
                </a:solidFill>
                <a:uFill>
                  <a:solidFill>
                    <a:srgbClr val="1F497D">
                      <a:lumMod val="60000"/>
                      <a:lumOff val="40000"/>
                    </a:srgbClr>
                  </a:solidFill>
                </a:uFill>
                <a:latin typeface="Segoe UI Semibold"/>
              </a:rPr>
              <a:t>End User Requirements of Triton 1/2</a:t>
            </a:r>
            <a:endParaRPr kumimoji="0" lang="en-CA" sz="4000" b="0" i="0" u="none" strike="noStrike" kern="1200" cap="none" spc="-100" normalizeH="0" baseline="0" noProof="0">
              <a:ln>
                <a:noFill/>
              </a:ln>
              <a:solidFill>
                <a:srgbClr val="31849B"/>
              </a:solidFill>
              <a:effectLst/>
              <a:uLnTx/>
              <a:uFill>
                <a:solidFill>
                  <a:srgbClr val="1F497D">
                    <a:lumMod val="60000"/>
                    <a:lumOff val="40000"/>
                  </a:srgbClr>
                </a:solidFill>
              </a:uFill>
              <a:latin typeface="Segoe UI Semibold"/>
              <a:ea typeface="Segoe UI Black" panose="020B0A02040204020203" pitchFamily="34" charset="0"/>
              <a:cs typeface="Segoe UI Light" panose="020B0502040204020203" pitchFamily="34" charset="0"/>
            </a:endParaRPr>
          </a:p>
        </p:txBody>
      </p:sp>
      <p:sp>
        <p:nvSpPr>
          <p:cNvPr id="3" name="Content Placeholder 1">
            <a:extLst>
              <a:ext uri="{FF2B5EF4-FFF2-40B4-BE49-F238E27FC236}">
                <a16:creationId xmlns:a16="http://schemas.microsoft.com/office/drawing/2014/main" id="{F18B3A7A-0FEA-575A-76EE-3BF6578AA256}"/>
              </a:ext>
            </a:extLst>
          </p:cNvPr>
          <p:cNvSpPr txBox="1">
            <a:spLocks/>
          </p:cNvSpPr>
          <p:nvPr/>
        </p:nvSpPr>
        <p:spPr>
          <a:xfrm>
            <a:off x="535943" y="1318079"/>
            <a:ext cx="5399999" cy="5326525"/>
          </a:xfrm>
          <a:prstGeom prst="rect">
            <a:avLst/>
          </a:prstGeom>
        </p:spPr>
        <p:txBody>
          <a:bodyPr vert="horz" lIns="0" tIns="0" rIns="0" bIns="0" rtlCol="0" anchor="ctr" anchorCtr="0">
            <a:normAutofit/>
          </a:bodyPr>
          <a:lstStyle>
            <a:lvl1pPr marL="228594" indent="-228594" algn="l" defTabSz="914377" rtl="0" eaLnBrk="1" latinLnBrk="0" hangingPunct="1">
              <a:lnSpc>
                <a:spcPct val="90000"/>
              </a:lnSpc>
              <a:spcBef>
                <a:spcPts val="1800"/>
              </a:spcBef>
              <a:buFont typeface="Wingdings" panose="05000000000000000000" pitchFamily="2" charset="2"/>
              <a:buChar char="§"/>
              <a:defRPr sz="2600" kern="1200" spc="0" baseline="0">
                <a:solidFill>
                  <a:schemeClr val="tx1">
                    <a:lumMod val="75000"/>
                    <a:lumOff val="25000"/>
                  </a:schemeClr>
                </a:solidFill>
                <a:latin typeface="+mn-lt"/>
                <a:ea typeface="+mn-ea"/>
                <a:cs typeface="Segoe UI" panose="020B0502040204020203" pitchFamily="34" charset="0"/>
              </a:defRPr>
            </a:lvl1pPr>
            <a:lvl2pPr marL="450839" indent="-228594" algn="l" defTabSz="914377" rtl="0" eaLnBrk="1" latinLnBrk="0" hangingPunct="1">
              <a:lnSpc>
                <a:spcPct val="90000"/>
              </a:lnSpc>
              <a:spcBef>
                <a:spcPts val="600"/>
              </a:spcBef>
              <a:buFont typeface="Segoe UI" panose="020B0502040204020203" pitchFamily="34" charset="0"/>
              <a:buChar char="›"/>
              <a:defRPr sz="2200" kern="1200" spc="0">
                <a:solidFill>
                  <a:schemeClr val="tx1">
                    <a:lumMod val="75000"/>
                    <a:lumOff val="25000"/>
                  </a:schemeClr>
                </a:solidFill>
                <a:latin typeface="+mn-lt"/>
                <a:ea typeface="+mn-ea"/>
                <a:cs typeface="Segoe UI" panose="020B0502040204020203" pitchFamily="34" charset="0"/>
              </a:defRPr>
            </a:lvl2pPr>
            <a:lvl3pPr marL="714357" indent="-228594" algn="l" defTabSz="914377" rtl="0" eaLnBrk="1" latinLnBrk="0" hangingPunct="1">
              <a:lnSpc>
                <a:spcPct val="90000"/>
              </a:lnSpc>
              <a:spcBef>
                <a:spcPts val="300"/>
              </a:spcBef>
              <a:buFont typeface="Segoe UI" panose="020B0502040204020203" pitchFamily="34" charset="0"/>
              <a:buChar char="›"/>
              <a:defRPr sz="2000" kern="1200" spc="0">
                <a:solidFill>
                  <a:schemeClr val="tx1">
                    <a:lumMod val="75000"/>
                    <a:lumOff val="25000"/>
                  </a:schemeClr>
                </a:solidFill>
                <a:latin typeface="+mn-lt"/>
                <a:ea typeface="+mn-ea"/>
                <a:cs typeface="Segoe UI" panose="020B0502040204020203" pitchFamily="34" charset="0"/>
              </a:defRPr>
            </a:lvl3pPr>
            <a:lvl4pPr marL="985814" indent="-228594" algn="l" defTabSz="914377" rtl="0" eaLnBrk="1" latinLnBrk="0" hangingPunct="1">
              <a:lnSpc>
                <a:spcPct val="90000"/>
              </a:lnSpc>
              <a:spcBef>
                <a:spcPts val="0"/>
              </a:spcBef>
              <a:buFont typeface="Segoe UI" panose="020B0502040204020203" pitchFamily="34" charset="0"/>
              <a:buChar char="›"/>
              <a:defRPr sz="2000" kern="1200" spc="0">
                <a:solidFill>
                  <a:schemeClr val="tx1">
                    <a:lumMod val="75000"/>
                    <a:lumOff val="25000"/>
                  </a:schemeClr>
                </a:solidFill>
                <a:latin typeface="+mn-lt"/>
                <a:ea typeface="+mn-ea"/>
                <a:cs typeface="Segoe UI" panose="020B0502040204020203" pitchFamily="34" charset="0"/>
              </a:defRPr>
            </a:lvl4pPr>
            <a:lvl5pPr marL="1257269" indent="-228594" algn="l" defTabSz="914377" rtl="0" eaLnBrk="1" latinLnBrk="0" hangingPunct="1">
              <a:lnSpc>
                <a:spcPct val="90000"/>
              </a:lnSpc>
              <a:spcBef>
                <a:spcPts val="0"/>
              </a:spcBef>
              <a:buFont typeface="Segoe UI" panose="020B0502040204020203" pitchFamily="34" charset="0"/>
              <a:buChar char="›"/>
              <a:defRPr sz="2000" kern="1200" spc="0">
                <a:solidFill>
                  <a:schemeClr val="tx1">
                    <a:lumMod val="75000"/>
                    <a:lumOff val="25000"/>
                  </a:schemeClr>
                </a:solidFill>
                <a:latin typeface="+mn-lt"/>
                <a:ea typeface="+mn-ea"/>
                <a:cs typeface="Segoe UI" panose="020B0502040204020203"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endParaRPr lang="en-CA" sz="2600"/>
          </a:p>
        </p:txBody>
      </p:sp>
      <p:graphicFrame>
        <p:nvGraphicFramePr>
          <p:cNvPr id="5" name="Table 4">
            <a:extLst>
              <a:ext uri="{FF2B5EF4-FFF2-40B4-BE49-F238E27FC236}">
                <a16:creationId xmlns:a16="http://schemas.microsoft.com/office/drawing/2014/main" id="{755C209B-4913-F08F-1B44-39E363867CBA}"/>
              </a:ext>
            </a:extLst>
          </p:cNvPr>
          <p:cNvGraphicFramePr>
            <a:graphicFrameLocks noGrp="1"/>
          </p:cNvGraphicFramePr>
          <p:nvPr>
            <p:extLst>
              <p:ext uri="{D42A27DB-BD31-4B8C-83A1-F6EECF244321}">
                <p14:modId xmlns:p14="http://schemas.microsoft.com/office/powerpoint/2010/main" val="76007168"/>
              </p:ext>
            </p:extLst>
          </p:nvPr>
        </p:nvGraphicFramePr>
        <p:xfrm>
          <a:off x="7543584" y="1041400"/>
          <a:ext cx="4481603" cy="1483360"/>
        </p:xfrm>
        <a:graphic>
          <a:graphicData uri="http://schemas.openxmlformats.org/drawingml/2006/table">
            <a:tbl>
              <a:tblPr firstRow="1" bandRow="1">
                <a:tableStyleId>{5940675A-B579-460E-94D1-54222C63F5DA}</a:tableStyleId>
              </a:tblPr>
              <a:tblGrid>
                <a:gridCol w="1890908">
                  <a:extLst>
                    <a:ext uri="{9D8B030D-6E8A-4147-A177-3AD203B41FA5}">
                      <a16:colId xmlns:a16="http://schemas.microsoft.com/office/drawing/2014/main" val="1751389579"/>
                    </a:ext>
                  </a:extLst>
                </a:gridCol>
                <a:gridCol w="422822">
                  <a:extLst>
                    <a:ext uri="{9D8B030D-6E8A-4147-A177-3AD203B41FA5}">
                      <a16:colId xmlns:a16="http://schemas.microsoft.com/office/drawing/2014/main" val="845163977"/>
                    </a:ext>
                  </a:extLst>
                </a:gridCol>
                <a:gridCol w="1743581">
                  <a:extLst>
                    <a:ext uri="{9D8B030D-6E8A-4147-A177-3AD203B41FA5}">
                      <a16:colId xmlns:a16="http://schemas.microsoft.com/office/drawing/2014/main" val="2798683742"/>
                    </a:ext>
                  </a:extLst>
                </a:gridCol>
                <a:gridCol w="424292">
                  <a:extLst>
                    <a:ext uri="{9D8B030D-6E8A-4147-A177-3AD203B41FA5}">
                      <a16:colId xmlns:a16="http://schemas.microsoft.com/office/drawing/2014/main" val="2443295495"/>
                    </a:ext>
                  </a:extLst>
                </a:gridCol>
              </a:tblGrid>
              <a:tr h="370840">
                <a:tc>
                  <a:txBody>
                    <a:bodyPr/>
                    <a:lstStyle/>
                    <a:p>
                      <a:r>
                        <a:rPr lang="en-CA" sz="1400"/>
                        <a:t>Central Data</a:t>
                      </a:r>
                    </a:p>
                  </a:txBody>
                  <a:tcPr>
                    <a:solidFill>
                      <a:schemeClr val="bg1"/>
                    </a:solidFill>
                  </a:tcPr>
                </a:tc>
                <a:tc>
                  <a:txBody>
                    <a:bodyPr/>
                    <a:lstStyle/>
                    <a:p>
                      <a:endParaRPr lang="en-CA" sz="1400"/>
                    </a:p>
                  </a:txBody>
                  <a:tcPr>
                    <a:solidFill>
                      <a:schemeClr val="bg1"/>
                    </a:solidFill>
                  </a:tcPr>
                </a:tc>
                <a:tc>
                  <a:txBody>
                    <a:bodyPr/>
                    <a:lstStyle/>
                    <a:p>
                      <a:r>
                        <a:rPr lang="en-CA" sz="1400"/>
                        <a:t>Integrated Visuals</a:t>
                      </a:r>
                    </a:p>
                  </a:txBody>
                  <a:tcPr>
                    <a:solidFill>
                      <a:schemeClr val="bg1"/>
                    </a:solidFill>
                  </a:tcPr>
                </a:tc>
                <a:tc>
                  <a:txBody>
                    <a:bodyPr/>
                    <a:lstStyle/>
                    <a:p>
                      <a:endParaRPr lang="en-CA" sz="1400"/>
                    </a:p>
                  </a:txBody>
                  <a:tcPr>
                    <a:solidFill>
                      <a:schemeClr val="bg1"/>
                    </a:solidFill>
                  </a:tcPr>
                </a:tc>
                <a:extLst>
                  <a:ext uri="{0D108BD9-81ED-4DB2-BD59-A6C34878D82A}">
                    <a16:rowId xmlns:a16="http://schemas.microsoft.com/office/drawing/2014/main" val="2259770833"/>
                  </a:ext>
                </a:extLst>
              </a:tr>
              <a:tr h="370840">
                <a:tc>
                  <a:txBody>
                    <a:bodyPr/>
                    <a:lstStyle/>
                    <a:p>
                      <a:r>
                        <a:rPr lang="en-CA" sz="1400"/>
                        <a:t>Update Control</a:t>
                      </a:r>
                    </a:p>
                  </a:txBody>
                  <a:tcPr>
                    <a:solidFill>
                      <a:schemeClr val="bg1"/>
                    </a:solidFill>
                  </a:tcPr>
                </a:tc>
                <a:tc>
                  <a:txBody>
                    <a:bodyPr/>
                    <a:lstStyle/>
                    <a:p>
                      <a:endParaRPr lang="en-CA" sz="1400"/>
                    </a:p>
                  </a:txBody>
                  <a:tcPr>
                    <a:solidFill>
                      <a:schemeClr val="bg1"/>
                    </a:solidFill>
                  </a:tcPr>
                </a:tc>
                <a:tc>
                  <a:txBody>
                    <a:bodyPr/>
                    <a:lstStyle/>
                    <a:p>
                      <a:r>
                        <a:rPr lang="en-CA" sz="1400"/>
                        <a:t>Process Monitoring</a:t>
                      </a:r>
                    </a:p>
                  </a:txBody>
                  <a:tcPr>
                    <a:solidFill>
                      <a:schemeClr val="bg1"/>
                    </a:solidFill>
                  </a:tcPr>
                </a:tc>
                <a:tc>
                  <a:txBody>
                    <a:bodyPr/>
                    <a:lstStyle/>
                    <a:p>
                      <a:endParaRPr lang="en-CA" sz="1400"/>
                    </a:p>
                  </a:txBody>
                  <a:tcPr>
                    <a:solidFill>
                      <a:schemeClr val="bg1"/>
                    </a:solidFill>
                  </a:tcPr>
                </a:tc>
                <a:extLst>
                  <a:ext uri="{0D108BD9-81ED-4DB2-BD59-A6C34878D82A}">
                    <a16:rowId xmlns:a16="http://schemas.microsoft.com/office/drawing/2014/main" val="3119633920"/>
                  </a:ext>
                </a:extLst>
              </a:tr>
              <a:tr h="370840">
                <a:tc>
                  <a:txBody>
                    <a:bodyPr/>
                    <a:lstStyle/>
                    <a:p>
                      <a:r>
                        <a:rPr lang="en-CA" sz="1400"/>
                        <a:t>Analytics w/ Data</a:t>
                      </a:r>
                    </a:p>
                  </a:txBody>
                  <a:tcPr>
                    <a:solidFill>
                      <a:schemeClr val="bg1"/>
                    </a:solidFill>
                  </a:tcPr>
                </a:tc>
                <a:tc>
                  <a:txBody>
                    <a:bodyPr/>
                    <a:lstStyle/>
                    <a:p>
                      <a:endParaRPr lang="en-CA" sz="1400"/>
                    </a:p>
                  </a:txBody>
                  <a:tcPr>
                    <a:solidFill>
                      <a:schemeClr val="bg1"/>
                    </a:solidFill>
                  </a:tcPr>
                </a:tc>
                <a:tc>
                  <a:txBody>
                    <a:bodyPr/>
                    <a:lstStyle/>
                    <a:p>
                      <a:r>
                        <a:rPr lang="en-CA" sz="1400"/>
                        <a:t>Process Resilience</a:t>
                      </a:r>
                    </a:p>
                  </a:txBody>
                  <a:tcPr>
                    <a:solidFill>
                      <a:schemeClr val="bg1"/>
                    </a:solidFill>
                  </a:tcPr>
                </a:tc>
                <a:tc>
                  <a:txBody>
                    <a:bodyPr/>
                    <a:lstStyle/>
                    <a:p>
                      <a:endParaRPr lang="en-CA" sz="1400"/>
                    </a:p>
                  </a:txBody>
                  <a:tcPr>
                    <a:solidFill>
                      <a:schemeClr val="bg1"/>
                    </a:solidFill>
                  </a:tcPr>
                </a:tc>
                <a:extLst>
                  <a:ext uri="{0D108BD9-81ED-4DB2-BD59-A6C34878D82A}">
                    <a16:rowId xmlns:a16="http://schemas.microsoft.com/office/drawing/2014/main" val="4025869636"/>
                  </a:ext>
                </a:extLst>
              </a:tr>
              <a:tr h="370840">
                <a:tc>
                  <a:txBody>
                    <a:bodyPr/>
                    <a:lstStyle/>
                    <a:p>
                      <a:r>
                        <a:rPr lang="en-CA" sz="1400"/>
                        <a:t>Access Controls</a:t>
                      </a:r>
                    </a:p>
                  </a:txBody>
                  <a:tcPr>
                    <a:solidFill>
                      <a:schemeClr val="bg1"/>
                    </a:solidFill>
                  </a:tcPr>
                </a:tc>
                <a:tc>
                  <a:txBody>
                    <a:bodyPr/>
                    <a:lstStyle/>
                    <a:p>
                      <a:endParaRPr lang="en-CA" sz="1400"/>
                    </a:p>
                  </a:txBody>
                  <a:tcPr>
                    <a:solidFill>
                      <a:schemeClr val="bg1"/>
                    </a:solidFill>
                  </a:tcPr>
                </a:tc>
                <a:tc>
                  <a:txBody>
                    <a:bodyPr/>
                    <a:lstStyle/>
                    <a:p>
                      <a:r>
                        <a:rPr lang="en-CA" sz="1400"/>
                        <a:t>Accelerators</a:t>
                      </a:r>
                    </a:p>
                  </a:txBody>
                  <a:tcPr>
                    <a:solidFill>
                      <a:schemeClr val="bg1"/>
                    </a:solidFill>
                  </a:tcPr>
                </a:tc>
                <a:tc>
                  <a:txBody>
                    <a:bodyPr/>
                    <a:lstStyle/>
                    <a:p>
                      <a:endParaRPr lang="en-CA" sz="1400"/>
                    </a:p>
                  </a:txBody>
                  <a:tcPr>
                    <a:solidFill>
                      <a:schemeClr val="bg1"/>
                    </a:solidFill>
                  </a:tcPr>
                </a:tc>
                <a:extLst>
                  <a:ext uri="{0D108BD9-81ED-4DB2-BD59-A6C34878D82A}">
                    <a16:rowId xmlns:a16="http://schemas.microsoft.com/office/drawing/2014/main" val="1717208953"/>
                  </a:ext>
                </a:extLst>
              </a:tr>
            </a:tbl>
          </a:graphicData>
        </a:graphic>
      </p:graphicFrame>
      <p:pic>
        <p:nvPicPr>
          <p:cNvPr id="11" name="Picture 18" descr="Check Mark Transparent Images – Browse 19,974 Stock Photos, Vectors, and  Video | Adobe Stock">
            <a:extLst>
              <a:ext uri="{FF2B5EF4-FFF2-40B4-BE49-F238E27FC236}">
                <a16:creationId xmlns:a16="http://schemas.microsoft.com/office/drawing/2014/main" id="{90AFE13B-530B-75A8-1A89-21255217214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2444" t="24944" r="55427" b="23875"/>
          <a:stretch/>
        </p:blipFill>
        <p:spPr bwMode="auto">
          <a:xfrm>
            <a:off x="9490577" y="1493013"/>
            <a:ext cx="332846" cy="265116"/>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3F847677-1BF6-F345-491A-6129A452D4A0}"/>
              </a:ext>
            </a:extLst>
          </p:cNvPr>
          <p:cNvSpPr txBox="1"/>
          <p:nvPr/>
        </p:nvSpPr>
        <p:spPr>
          <a:xfrm>
            <a:off x="409131" y="930665"/>
            <a:ext cx="6448870" cy="5632311"/>
          </a:xfrm>
          <a:prstGeom prst="rect">
            <a:avLst/>
          </a:prstGeom>
          <a:noFill/>
        </p:spPr>
        <p:txBody>
          <a:bodyPr wrap="square">
            <a:spAutoFit/>
          </a:bodyPr>
          <a:lstStyle/>
          <a:p>
            <a:r>
              <a:rPr lang="en-CA" b="1"/>
              <a:t>Central data</a:t>
            </a:r>
          </a:p>
          <a:p>
            <a:pPr marL="742950" lvl="1" indent="-285750">
              <a:buFont typeface="Arial" panose="020B0604020202020204" pitchFamily="34" charset="0"/>
              <a:buChar char="•"/>
            </a:pPr>
            <a:r>
              <a:rPr lang="en-CA"/>
              <a:t>Easily onboard own data in any common format</a:t>
            </a:r>
          </a:p>
          <a:p>
            <a:pPr marL="742950" lvl="1" indent="-285750">
              <a:buFont typeface="Arial" panose="020B0604020202020204" pitchFamily="34" charset="0"/>
              <a:buChar char="•"/>
            </a:pPr>
            <a:r>
              <a:rPr lang="en-CA"/>
              <a:t>Access and manipulate with Bank governed data (</a:t>
            </a:r>
            <a:r>
              <a:rPr lang="en-CA" err="1"/>
              <a:t>eg</a:t>
            </a:r>
            <a:r>
              <a:rPr lang="en-CA"/>
              <a:t> LSEG QAD &amp; Azure Delta)</a:t>
            </a:r>
          </a:p>
          <a:p>
            <a:pPr lvl="1"/>
            <a:endParaRPr lang="en-CA"/>
          </a:p>
          <a:p>
            <a:r>
              <a:rPr lang="en-CA"/>
              <a:t>Flexible and timely </a:t>
            </a:r>
            <a:r>
              <a:rPr lang="en-CA" b="1"/>
              <a:t>updates</a:t>
            </a:r>
          </a:p>
          <a:p>
            <a:pPr marL="742950" lvl="1" indent="-285750">
              <a:buFont typeface="Arial" panose="020B0604020202020204" pitchFamily="34" charset="0"/>
              <a:buChar char="•"/>
            </a:pPr>
            <a:r>
              <a:rPr lang="en-CA"/>
              <a:t>Flexible scheduling and triggers of: data refresh, notebooks/code and PBI reports</a:t>
            </a:r>
          </a:p>
          <a:p>
            <a:pPr marL="742950" lvl="1" indent="-285750">
              <a:buFont typeface="Arial" panose="020B0604020202020204" pitchFamily="34" charset="0"/>
              <a:buChar char="•"/>
            </a:pPr>
            <a:r>
              <a:rPr lang="en-CA"/>
              <a:t>Near real-time updates possible (</a:t>
            </a:r>
            <a:r>
              <a:rPr lang="en-CA" err="1"/>
              <a:t>eg</a:t>
            </a:r>
            <a:r>
              <a:rPr lang="en-CA"/>
              <a:t> LSEG Workspace prices taken intraday)</a:t>
            </a:r>
          </a:p>
          <a:p>
            <a:pPr marL="742950" lvl="1" indent="-285750">
              <a:buFont typeface="Arial" panose="020B0604020202020204" pitchFamily="34" charset="0"/>
              <a:buChar char="•"/>
            </a:pPr>
            <a:endParaRPr lang="en-CA"/>
          </a:p>
          <a:p>
            <a:r>
              <a:rPr lang="en-CA"/>
              <a:t>Efficient and streamlined </a:t>
            </a:r>
            <a:r>
              <a:rPr lang="en-CA" b="1"/>
              <a:t>analytics connected to their data</a:t>
            </a:r>
          </a:p>
          <a:p>
            <a:pPr marL="742950" lvl="1" indent="-285750">
              <a:buFont typeface="Arial" panose="020B0604020202020204" pitchFamily="34" charset="0"/>
              <a:buChar char="•"/>
            </a:pPr>
            <a:r>
              <a:rPr lang="en-CA"/>
              <a:t>Multi-language coding and debugging is supported and efficient</a:t>
            </a:r>
          </a:p>
          <a:p>
            <a:pPr marL="742950" lvl="1" indent="-285750">
              <a:buFont typeface="Arial" panose="020B0604020202020204" pitchFamily="34" charset="0"/>
              <a:buChar char="•"/>
            </a:pPr>
            <a:r>
              <a:rPr lang="en-CA"/>
              <a:t>Compute is fast and reliable with their data</a:t>
            </a:r>
          </a:p>
          <a:p>
            <a:pPr marL="742950" lvl="1" indent="-285750">
              <a:buFont typeface="Arial" panose="020B0604020202020204" pitchFamily="34" charset="0"/>
              <a:buChar char="•"/>
            </a:pPr>
            <a:r>
              <a:rPr lang="en-CA"/>
              <a:t>Commonly used coding packages are readily available</a:t>
            </a:r>
          </a:p>
          <a:p>
            <a:pPr marL="742950" lvl="1" indent="-285750">
              <a:buFont typeface="Arial" panose="020B0604020202020204" pitchFamily="34" charset="0"/>
              <a:buChar char="•"/>
            </a:pPr>
            <a:r>
              <a:rPr lang="en-CA"/>
              <a:t>External tools can read data and write back to central location </a:t>
            </a:r>
          </a:p>
          <a:p>
            <a:endParaRPr lang="en-CA"/>
          </a:p>
          <a:p>
            <a:endParaRPr lang="en-CA"/>
          </a:p>
        </p:txBody>
      </p:sp>
      <p:pic>
        <p:nvPicPr>
          <p:cNvPr id="15" name="Picture 18" descr="Check Mark Transparent Images – Browse 19,974 Stock Photos, Vectors, and  Video | Adobe Stock">
            <a:extLst>
              <a:ext uri="{FF2B5EF4-FFF2-40B4-BE49-F238E27FC236}">
                <a16:creationId xmlns:a16="http://schemas.microsoft.com/office/drawing/2014/main" id="{D38AEF43-C819-2212-3733-FF1D3A61EBF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2444" t="24944" r="55427" b="23875"/>
          <a:stretch/>
        </p:blipFill>
        <p:spPr bwMode="auto">
          <a:xfrm>
            <a:off x="9471419" y="1138750"/>
            <a:ext cx="332846" cy="265116"/>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18" descr="Check Mark Transparent Images – Browse 19,974 Stock Photos, Vectors, and  Video | Adobe Stock">
            <a:extLst>
              <a:ext uri="{FF2B5EF4-FFF2-40B4-BE49-F238E27FC236}">
                <a16:creationId xmlns:a16="http://schemas.microsoft.com/office/drawing/2014/main" id="{583EB55B-0891-A218-6F65-AA35C83D25A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2444" t="24944" r="55427" b="23875"/>
          <a:stretch/>
        </p:blipFill>
        <p:spPr bwMode="auto">
          <a:xfrm>
            <a:off x="9494714" y="1866092"/>
            <a:ext cx="332846" cy="265116"/>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6B854A27-7C79-635C-8F4D-7E679E2A77BC}"/>
              </a:ext>
            </a:extLst>
          </p:cNvPr>
          <p:cNvSpPr txBox="1"/>
          <p:nvPr/>
        </p:nvSpPr>
        <p:spPr>
          <a:xfrm>
            <a:off x="7369792" y="2988860"/>
            <a:ext cx="4655396" cy="1477328"/>
          </a:xfrm>
          <a:prstGeom prst="rect">
            <a:avLst/>
          </a:prstGeom>
          <a:noFill/>
        </p:spPr>
        <p:txBody>
          <a:bodyPr wrap="square" rtlCol="0">
            <a:spAutoFit/>
          </a:bodyPr>
          <a:lstStyle/>
          <a:p>
            <a:r>
              <a:rPr lang="en-CA"/>
              <a:t>Self-serve data </a:t>
            </a:r>
            <a:r>
              <a:rPr lang="en-CA" b="1"/>
              <a:t>access controls</a:t>
            </a:r>
          </a:p>
          <a:p>
            <a:pPr marL="742950" lvl="1" indent="-285750">
              <a:buFont typeface="Arial" panose="020B0604020202020204" pitchFamily="34" charset="0"/>
              <a:buChar char="•"/>
            </a:pPr>
            <a:r>
              <a:rPr lang="en-CA"/>
              <a:t>Users can self-manage access with AD groups</a:t>
            </a:r>
          </a:p>
          <a:p>
            <a:pPr marL="742950" lvl="1" indent="-285750">
              <a:buFont typeface="Arial" panose="020B0604020202020204" pitchFamily="34" charset="0"/>
              <a:buChar char="•"/>
            </a:pPr>
            <a:r>
              <a:rPr lang="en-CA"/>
              <a:t>Triton can efficiently monitor and support user activity</a:t>
            </a:r>
          </a:p>
        </p:txBody>
      </p:sp>
      <p:pic>
        <p:nvPicPr>
          <p:cNvPr id="19" name="Picture 18" descr="Check Mark Transparent Images – Browse 19,974 Stock Photos, Vectors, and  Video | Adobe Stock">
            <a:extLst>
              <a:ext uri="{FF2B5EF4-FFF2-40B4-BE49-F238E27FC236}">
                <a16:creationId xmlns:a16="http://schemas.microsoft.com/office/drawing/2014/main" id="{CC8252F8-DD46-1905-DD76-26325D7029D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2444" t="24944" r="55427" b="23875"/>
          <a:stretch/>
        </p:blipFill>
        <p:spPr bwMode="auto">
          <a:xfrm>
            <a:off x="9490577" y="2222229"/>
            <a:ext cx="332846" cy="2651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077701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377FC8CC-BF48-4372-ADBD-E108291B94CD}"/>
              </a:ext>
            </a:extLst>
          </p:cNvPr>
          <p:cNvSpPr txBox="1">
            <a:spLocks/>
          </p:cNvSpPr>
          <p:nvPr/>
        </p:nvSpPr>
        <p:spPr>
          <a:xfrm>
            <a:off x="409130" y="213396"/>
            <a:ext cx="11298775" cy="717269"/>
          </a:xfrm>
          <a:prstGeom prst="rect">
            <a:avLst/>
          </a:prstGeom>
        </p:spPr>
        <p:txBody>
          <a:bodyPr anchor="b">
            <a:normAutofit/>
          </a:bodyPr>
          <a:lstStyle>
            <a:lvl1pPr algn="l" defTabSz="914377" rtl="0" eaLnBrk="1" latinLnBrk="0" hangingPunct="1">
              <a:lnSpc>
                <a:spcPct val="90000"/>
              </a:lnSpc>
              <a:spcBef>
                <a:spcPct val="0"/>
              </a:spcBef>
              <a:buNone/>
              <a:defRPr sz="4000" u="none" kern="1200" spc="-100" baseline="0">
                <a:solidFill>
                  <a:schemeClr val="accent6"/>
                </a:solidFill>
                <a:uFill>
                  <a:solidFill>
                    <a:schemeClr val="tx2">
                      <a:lumMod val="60000"/>
                      <a:lumOff val="40000"/>
                    </a:schemeClr>
                  </a:solidFill>
                </a:uFill>
                <a:latin typeface="+mj-lt"/>
                <a:ea typeface="Segoe UI Black" panose="020B0A02040204020203" pitchFamily="34" charset="0"/>
                <a:cs typeface="Segoe UI Light" panose="020B0502040204020203" pitchFamily="34" charset="0"/>
              </a:defRPr>
            </a:lvl1pPr>
          </a:lstStyle>
          <a:p>
            <a:pPr marL="0" marR="0" lvl="0" indent="0" algn="ctr" defTabSz="914377" rtl="0" eaLnBrk="1" fontAlgn="auto" latinLnBrk="0" hangingPunct="1">
              <a:lnSpc>
                <a:spcPct val="90000"/>
              </a:lnSpc>
              <a:spcBef>
                <a:spcPct val="0"/>
              </a:spcBef>
              <a:spcAft>
                <a:spcPts val="0"/>
              </a:spcAft>
              <a:buClrTx/>
              <a:buSzTx/>
              <a:buFontTx/>
              <a:buNone/>
              <a:tabLst/>
              <a:defRPr/>
            </a:pPr>
            <a:r>
              <a:rPr lang="en-US">
                <a:solidFill>
                  <a:srgbClr val="31849B"/>
                </a:solidFill>
                <a:uFill>
                  <a:solidFill>
                    <a:srgbClr val="1F497D">
                      <a:lumMod val="60000"/>
                      <a:lumOff val="40000"/>
                    </a:srgbClr>
                  </a:solidFill>
                </a:uFill>
                <a:latin typeface="Segoe UI Semibold"/>
              </a:rPr>
              <a:t>End User Requirements of Triton 2/2</a:t>
            </a:r>
            <a:endParaRPr kumimoji="0" lang="en-CA" sz="4000" b="0" i="0" u="none" strike="noStrike" kern="1200" cap="none" spc="-100" normalizeH="0" baseline="0" noProof="0">
              <a:ln>
                <a:noFill/>
              </a:ln>
              <a:solidFill>
                <a:srgbClr val="31849B"/>
              </a:solidFill>
              <a:effectLst/>
              <a:uLnTx/>
              <a:uFill>
                <a:solidFill>
                  <a:srgbClr val="1F497D">
                    <a:lumMod val="60000"/>
                    <a:lumOff val="40000"/>
                  </a:srgbClr>
                </a:solidFill>
              </a:uFill>
              <a:latin typeface="Segoe UI Semibold"/>
              <a:ea typeface="Segoe UI Black" panose="020B0A02040204020203" pitchFamily="34" charset="0"/>
              <a:cs typeface="Segoe UI Light" panose="020B0502040204020203" pitchFamily="34" charset="0"/>
            </a:endParaRPr>
          </a:p>
        </p:txBody>
      </p:sp>
      <p:sp>
        <p:nvSpPr>
          <p:cNvPr id="3" name="Content Placeholder 1">
            <a:extLst>
              <a:ext uri="{FF2B5EF4-FFF2-40B4-BE49-F238E27FC236}">
                <a16:creationId xmlns:a16="http://schemas.microsoft.com/office/drawing/2014/main" id="{F18B3A7A-0FEA-575A-76EE-3BF6578AA256}"/>
              </a:ext>
            </a:extLst>
          </p:cNvPr>
          <p:cNvSpPr txBox="1">
            <a:spLocks/>
          </p:cNvSpPr>
          <p:nvPr/>
        </p:nvSpPr>
        <p:spPr>
          <a:xfrm>
            <a:off x="535943" y="1318079"/>
            <a:ext cx="5399999" cy="5326525"/>
          </a:xfrm>
          <a:prstGeom prst="rect">
            <a:avLst/>
          </a:prstGeom>
        </p:spPr>
        <p:txBody>
          <a:bodyPr vert="horz" lIns="0" tIns="0" rIns="0" bIns="0" rtlCol="0" anchor="ctr" anchorCtr="0">
            <a:normAutofit/>
          </a:bodyPr>
          <a:lstStyle>
            <a:lvl1pPr marL="228594" indent="-228594" algn="l" defTabSz="914377" rtl="0" eaLnBrk="1" latinLnBrk="0" hangingPunct="1">
              <a:lnSpc>
                <a:spcPct val="90000"/>
              </a:lnSpc>
              <a:spcBef>
                <a:spcPts val="1800"/>
              </a:spcBef>
              <a:buFont typeface="Wingdings" panose="05000000000000000000" pitchFamily="2" charset="2"/>
              <a:buChar char="§"/>
              <a:defRPr sz="2600" kern="1200" spc="0" baseline="0">
                <a:solidFill>
                  <a:schemeClr val="tx1">
                    <a:lumMod val="75000"/>
                    <a:lumOff val="25000"/>
                  </a:schemeClr>
                </a:solidFill>
                <a:latin typeface="+mn-lt"/>
                <a:ea typeface="+mn-ea"/>
                <a:cs typeface="Segoe UI" panose="020B0502040204020203" pitchFamily="34" charset="0"/>
              </a:defRPr>
            </a:lvl1pPr>
            <a:lvl2pPr marL="450839" indent="-228594" algn="l" defTabSz="914377" rtl="0" eaLnBrk="1" latinLnBrk="0" hangingPunct="1">
              <a:lnSpc>
                <a:spcPct val="90000"/>
              </a:lnSpc>
              <a:spcBef>
                <a:spcPts val="600"/>
              </a:spcBef>
              <a:buFont typeface="Segoe UI" panose="020B0502040204020203" pitchFamily="34" charset="0"/>
              <a:buChar char="›"/>
              <a:defRPr sz="2200" kern="1200" spc="0">
                <a:solidFill>
                  <a:schemeClr val="tx1">
                    <a:lumMod val="75000"/>
                    <a:lumOff val="25000"/>
                  </a:schemeClr>
                </a:solidFill>
                <a:latin typeface="+mn-lt"/>
                <a:ea typeface="+mn-ea"/>
                <a:cs typeface="Segoe UI" panose="020B0502040204020203" pitchFamily="34" charset="0"/>
              </a:defRPr>
            </a:lvl2pPr>
            <a:lvl3pPr marL="714357" indent="-228594" algn="l" defTabSz="914377" rtl="0" eaLnBrk="1" latinLnBrk="0" hangingPunct="1">
              <a:lnSpc>
                <a:spcPct val="90000"/>
              </a:lnSpc>
              <a:spcBef>
                <a:spcPts val="300"/>
              </a:spcBef>
              <a:buFont typeface="Segoe UI" panose="020B0502040204020203" pitchFamily="34" charset="0"/>
              <a:buChar char="›"/>
              <a:defRPr sz="2000" kern="1200" spc="0">
                <a:solidFill>
                  <a:schemeClr val="tx1">
                    <a:lumMod val="75000"/>
                    <a:lumOff val="25000"/>
                  </a:schemeClr>
                </a:solidFill>
                <a:latin typeface="+mn-lt"/>
                <a:ea typeface="+mn-ea"/>
                <a:cs typeface="Segoe UI" panose="020B0502040204020203" pitchFamily="34" charset="0"/>
              </a:defRPr>
            </a:lvl3pPr>
            <a:lvl4pPr marL="985814" indent="-228594" algn="l" defTabSz="914377" rtl="0" eaLnBrk="1" latinLnBrk="0" hangingPunct="1">
              <a:lnSpc>
                <a:spcPct val="90000"/>
              </a:lnSpc>
              <a:spcBef>
                <a:spcPts val="0"/>
              </a:spcBef>
              <a:buFont typeface="Segoe UI" panose="020B0502040204020203" pitchFamily="34" charset="0"/>
              <a:buChar char="›"/>
              <a:defRPr sz="2000" kern="1200" spc="0">
                <a:solidFill>
                  <a:schemeClr val="tx1">
                    <a:lumMod val="75000"/>
                    <a:lumOff val="25000"/>
                  </a:schemeClr>
                </a:solidFill>
                <a:latin typeface="+mn-lt"/>
                <a:ea typeface="+mn-ea"/>
                <a:cs typeface="Segoe UI" panose="020B0502040204020203" pitchFamily="34" charset="0"/>
              </a:defRPr>
            </a:lvl4pPr>
            <a:lvl5pPr marL="1257269" indent="-228594" algn="l" defTabSz="914377" rtl="0" eaLnBrk="1" latinLnBrk="0" hangingPunct="1">
              <a:lnSpc>
                <a:spcPct val="90000"/>
              </a:lnSpc>
              <a:spcBef>
                <a:spcPts val="0"/>
              </a:spcBef>
              <a:buFont typeface="Segoe UI" panose="020B0502040204020203" pitchFamily="34" charset="0"/>
              <a:buChar char="›"/>
              <a:defRPr sz="2000" kern="1200" spc="0">
                <a:solidFill>
                  <a:schemeClr val="tx1">
                    <a:lumMod val="75000"/>
                    <a:lumOff val="25000"/>
                  </a:schemeClr>
                </a:solidFill>
                <a:latin typeface="+mn-lt"/>
                <a:ea typeface="+mn-ea"/>
                <a:cs typeface="Segoe UI" panose="020B0502040204020203"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endParaRPr lang="en-CA" sz="2600"/>
          </a:p>
        </p:txBody>
      </p:sp>
      <p:graphicFrame>
        <p:nvGraphicFramePr>
          <p:cNvPr id="5" name="Table 4">
            <a:extLst>
              <a:ext uri="{FF2B5EF4-FFF2-40B4-BE49-F238E27FC236}">
                <a16:creationId xmlns:a16="http://schemas.microsoft.com/office/drawing/2014/main" id="{755C209B-4913-F08F-1B44-39E363867CBA}"/>
              </a:ext>
            </a:extLst>
          </p:cNvPr>
          <p:cNvGraphicFramePr>
            <a:graphicFrameLocks noGrp="1"/>
          </p:cNvGraphicFramePr>
          <p:nvPr/>
        </p:nvGraphicFramePr>
        <p:xfrm>
          <a:off x="7543584" y="1041400"/>
          <a:ext cx="4481603" cy="1483360"/>
        </p:xfrm>
        <a:graphic>
          <a:graphicData uri="http://schemas.openxmlformats.org/drawingml/2006/table">
            <a:tbl>
              <a:tblPr firstRow="1" bandRow="1">
                <a:tableStyleId>{5940675A-B579-460E-94D1-54222C63F5DA}</a:tableStyleId>
              </a:tblPr>
              <a:tblGrid>
                <a:gridCol w="1890908">
                  <a:extLst>
                    <a:ext uri="{9D8B030D-6E8A-4147-A177-3AD203B41FA5}">
                      <a16:colId xmlns:a16="http://schemas.microsoft.com/office/drawing/2014/main" val="1751389579"/>
                    </a:ext>
                  </a:extLst>
                </a:gridCol>
                <a:gridCol w="422822">
                  <a:extLst>
                    <a:ext uri="{9D8B030D-6E8A-4147-A177-3AD203B41FA5}">
                      <a16:colId xmlns:a16="http://schemas.microsoft.com/office/drawing/2014/main" val="845163977"/>
                    </a:ext>
                  </a:extLst>
                </a:gridCol>
                <a:gridCol w="1743581">
                  <a:extLst>
                    <a:ext uri="{9D8B030D-6E8A-4147-A177-3AD203B41FA5}">
                      <a16:colId xmlns:a16="http://schemas.microsoft.com/office/drawing/2014/main" val="2798683742"/>
                    </a:ext>
                  </a:extLst>
                </a:gridCol>
                <a:gridCol w="424292">
                  <a:extLst>
                    <a:ext uri="{9D8B030D-6E8A-4147-A177-3AD203B41FA5}">
                      <a16:colId xmlns:a16="http://schemas.microsoft.com/office/drawing/2014/main" val="2443295495"/>
                    </a:ext>
                  </a:extLst>
                </a:gridCol>
              </a:tblGrid>
              <a:tr h="370840">
                <a:tc>
                  <a:txBody>
                    <a:bodyPr/>
                    <a:lstStyle/>
                    <a:p>
                      <a:r>
                        <a:rPr lang="en-CA" sz="1400"/>
                        <a:t>Central Data</a:t>
                      </a:r>
                    </a:p>
                  </a:txBody>
                  <a:tcPr>
                    <a:solidFill>
                      <a:schemeClr val="bg1"/>
                    </a:solidFill>
                  </a:tcPr>
                </a:tc>
                <a:tc>
                  <a:txBody>
                    <a:bodyPr/>
                    <a:lstStyle/>
                    <a:p>
                      <a:endParaRPr lang="en-CA" sz="1400"/>
                    </a:p>
                  </a:txBody>
                  <a:tcPr>
                    <a:solidFill>
                      <a:schemeClr val="bg1"/>
                    </a:solidFill>
                  </a:tcPr>
                </a:tc>
                <a:tc>
                  <a:txBody>
                    <a:bodyPr/>
                    <a:lstStyle/>
                    <a:p>
                      <a:r>
                        <a:rPr lang="en-CA" sz="1400"/>
                        <a:t>Integrated Visuals</a:t>
                      </a:r>
                    </a:p>
                  </a:txBody>
                  <a:tcPr>
                    <a:solidFill>
                      <a:schemeClr val="bg1"/>
                    </a:solidFill>
                  </a:tcPr>
                </a:tc>
                <a:tc>
                  <a:txBody>
                    <a:bodyPr/>
                    <a:lstStyle/>
                    <a:p>
                      <a:endParaRPr lang="en-CA" sz="1400"/>
                    </a:p>
                  </a:txBody>
                  <a:tcPr>
                    <a:solidFill>
                      <a:schemeClr val="bg1"/>
                    </a:solidFill>
                  </a:tcPr>
                </a:tc>
                <a:extLst>
                  <a:ext uri="{0D108BD9-81ED-4DB2-BD59-A6C34878D82A}">
                    <a16:rowId xmlns:a16="http://schemas.microsoft.com/office/drawing/2014/main" val="2259770833"/>
                  </a:ext>
                </a:extLst>
              </a:tr>
              <a:tr h="370840">
                <a:tc>
                  <a:txBody>
                    <a:bodyPr/>
                    <a:lstStyle/>
                    <a:p>
                      <a:r>
                        <a:rPr lang="en-CA" sz="1400"/>
                        <a:t>Update Control</a:t>
                      </a:r>
                    </a:p>
                  </a:txBody>
                  <a:tcPr>
                    <a:solidFill>
                      <a:schemeClr val="bg1"/>
                    </a:solidFill>
                  </a:tcPr>
                </a:tc>
                <a:tc>
                  <a:txBody>
                    <a:bodyPr/>
                    <a:lstStyle/>
                    <a:p>
                      <a:endParaRPr lang="en-CA" sz="1400"/>
                    </a:p>
                  </a:txBody>
                  <a:tcPr>
                    <a:solidFill>
                      <a:schemeClr val="bg1"/>
                    </a:solidFill>
                  </a:tcPr>
                </a:tc>
                <a:tc>
                  <a:txBody>
                    <a:bodyPr/>
                    <a:lstStyle/>
                    <a:p>
                      <a:r>
                        <a:rPr lang="en-CA" sz="1400"/>
                        <a:t>Process Monitoring</a:t>
                      </a:r>
                    </a:p>
                  </a:txBody>
                  <a:tcPr>
                    <a:solidFill>
                      <a:schemeClr val="bg1"/>
                    </a:solidFill>
                  </a:tcPr>
                </a:tc>
                <a:tc>
                  <a:txBody>
                    <a:bodyPr/>
                    <a:lstStyle/>
                    <a:p>
                      <a:endParaRPr lang="en-CA" sz="1400"/>
                    </a:p>
                  </a:txBody>
                  <a:tcPr>
                    <a:solidFill>
                      <a:schemeClr val="bg1"/>
                    </a:solidFill>
                  </a:tcPr>
                </a:tc>
                <a:extLst>
                  <a:ext uri="{0D108BD9-81ED-4DB2-BD59-A6C34878D82A}">
                    <a16:rowId xmlns:a16="http://schemas.microsoft.com/office/drawing/2014/main" val="3119633920"/>
                  </a:ext>
                </a:extLst>
              </a:tr>
              <a:tr h="370840">
                <a:tc>
                  <a:txBody>
                    <a:bodyPr/>
                    <a:lstStyle/>
                    <a:p>
                      <a:r>
                        <a:rPr lang="en-CA" sz="1400"/>
                        <a:t>Analytics w/ Data</a:t>
                      </a:r>
                    </a:p>
                  </a:txBody>
                  <a:tcPr>
                    <a:solidFill>
                      <a:schemeClr val="bg1"/>
                    </a:solidFill>
                  </a:tcPr>
                </a:tc>
                <a:tc>
                  <a:txBody>
                    <a:bodyPr/>
                    <a:lstStyle/>
                    <a:p>
                      <a:endParaRPr lang="en-CA" sz="1400"/>
                    </a:p>
                  </a:txBody>
                  <a:tcPr>
                    <a:solidFill>
                      <a:schemeClr val="bg1"/>
                    </a:solidFill>
                  </a:tcPr>
                </a:tc>
                <a:tc>
                  <a:txBody>
                    <a:bodyPr/>
                    <a:lstStyle/>
                    <a:p>
                      <a:r>
                        <a:rPr lang="en-CA" sz="1400"/>
                        <a:t>Process Resilience</a:t>
                      </a:r>
                    </a:p>
                  </a:txBody>
                  <a:tcPr>
                    <a:solidFill>
                      <a:schemeClr val="bg1"/>
                    </a:solidFill>
                  </a:tcPr>
                </a:tc>
                <a:tc>
                  <a:txBody>
                    <a:bodyPr/>
                    <a:lstStyle/>
                    <a:p>
                      <a:endParaRPr lang="en-CA" sz="1400"/>
                    </a:p>
                  </a:txBody>
                  <a:tcPr>
                    <a:solidFill>
                      <a:schemeClr val="bg1"/>
                    </a:solidFill>
                  </a:tcPr>
                </a:tc>
                <a:extLst>
                  <a:ext uri="{0D108BD9-81ED-4DB2-BD59-A6C34878D82A}">
                    <a16:rowId xmlns:a16="http://schemas.microsoft.com/office/drawing/2014/main" val="4025869636"/>
                  </a:ext>
                </a:extLst>
              </a:tr>
              <a:tr h="370840">
                <a:tc>
                  <a:txBody>
                    <a:bodyPr/>
                    <a:lstStyle/>
                    <a:p>
                      <a:r>
                        <a:rPr lang="en-CA" sz="1400"/>
                        <a:t>Access Controls</a:t>
                      </a:r>
                    </a:p>
                  </a:txBody>
                  <a:tcPr>
                    <a:solidFill>
                      <a:schemeClr val="bg1"/>
                    </a:solidFill>
                  </a:tcPr>
                </a:tc>
                <a:tc>
                  <a:txBody>
                    <a:bodyPr/>
                    <a:lstStyle/>
                    <a:p>
                      <a:endParaRPr lang="en-CA" sz="1400"/>
                    </a:p>
                  </a:txBody>
                  <a:tcPr>
                    <a:solidFill>
                      <a:schemeClr val="bg1"/>
                    </a:solidFill>
                  </a:tcPr>
                </a:tc>
                <a:tc>
                  <a:txBody>
                    <a:bodyPr/>
                    <a:lstStyle/>
                    <a:p>
                      <a:r>
                        <a:rPr lang="en-CA" sz="1400"/>
                        <a:t>Accelerators</a:t>
                      </a:r>
                    </a:p>
                  </a:txBody>
                  <a:tcPr>
                    <a:solidFill>
                      <a:schemeClr val="bg1"/>
                    </a:solidFill>
                  </a:tcPr>
                </a:tc>
                <a:tc>
                  <a:txBody>
                    <a:bodyPr/>
                    <a:lstStyle/>
                    <a:p>
                      <a:endParaRPr lang="en-CA" sz="1400"/>
                    </a:p>
                  </a:txBody>
                  <a:tcPr>
                    <a:solidFill>
                      <a:schemeClr val="bg1"/>
                    </a:solidFill>
                  </a:tcPr>
                </a:tc>
                <a:extLst>
                  <a:ext uri="{0D108BD9-81ED-4DB2-BD59-A6C34878D82A}">
                    <a16:rowId xmlns:a16="http://schemas.microsoft.com/office/drawing/2014/main" val="1717208953"/>
                  </a:ext>
                </a:extLst>
              </a:tr>
            </a:tbl>
          </a:graphicData>
        </a:graphic>
      </p:graphicFrame>
      <p:pic>
        <p:nvPicPr>
          <p:cNvPr id="11" name="Picture 18" descr="Check Mark Transparent Images – Browse 19,974 Stock Photos, Vectors, and  Video | Adobe Stock">
            <a:extLst>
              <a:ext uri="{FF2B5EF4-FFF2-40B4-BE49-F238E27FC236}">
                <a16:creationId xmlns:a16="http://schemas.microsoft.com/office/drawing/2014/main" id="{90AFE13B-530B-75A8-1A89-21255217214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2444" t="24944" r="55427" b="23875"/>
          <a:stretch/>
        </p:blipFill>
        <p:spPr bwMode="auto">
          <a:xfrm>
            <a:off x="11692341" y="1498138"/>
            <a:ext cx="332846" cy="265116"/>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3F847677-1BF6-F345-491A-6129A452D4A0}"/>
              </a:ext>
            </a:extLst>
          </p:cNvPr>
          <p:cNvSpPr txBox="1"/>
          <p:nvPr/>
        </p:nvSpPr>
        <p:spPr>
          <a:xfrm>
            <a:off x="409131" y="930665"/>
            <a:ext cx="6728648" cy="6186309"/>
          </a:xfrm>
          <a:prstGeom prst="rect">
            <a:avLst/>
          </a:prstGeom>
          <a:noFill/>
        </p:spPr>
        <p:txBody>
          <a:bodyPr wrap="square">
            <a:spAutoFit/>
          </a:bodyPr>
          <a:lstStyle/>
          <a:p>
            <a:r>
              <a:rPr lang="en-CA" b="1"/>
              <a:t>Integrated visualization</a:t>
            </a:r>
          </a:p>
          <a:p>
            <a:pPr marL="742950" lvl="1" indent="-285750">
              <a:buFont typeface="Arial" panose="020B0604020202020204" pitchFamily="34" charset="0"/>
              <a:buChar char="•"/>
            </a:pPr>
            <a:r>
              <a:rPr lang="en-CA"/>
              <a:t>Visualisation is integrated inside of notebooks/code</a:t>
            </a:r>
          </a:p>
          <a:p>
            <a:pPr marL="742950" lvl="1" indent="-285750">
              <a:buFont typeface="Arial" panose="020B0604020202020204" pitchFamily="34" charset="0"/>
              <a:buChar char="•"/>
            </a:pPr>
            <a:r>
              <a:rPr lang="en-CA"/>
              <a:t>Going from data/model output to a dashboard/report is fast and easy</a:t>
            </a:r>
          </a:p>
          <a:p>
            <a:pPr lvl="1"/>
            <a:endParaRPr lang="en-CA"/>
          </a:p>
          <a:p>
            <a:r>
              <a:rPr lang="en-CA"/>
              <a:t>Flexible and scalable scheduling and </a:t>
            </a:r>
            <a:r>
              <a:rPr lang="en-CA" b="1"/>
              <a:t>monitoring of processes</a:t>
            </a:r>
          </a:p>
          <a:p>
            <a:pPr marL="742950" lvl="1" indent="-285750">
              <a:buFont typeface="Arial" panose="020B0604020202020204" pitchFamily="34" charset="0"/>
              <a:buChar char="•"/>
            </a:pPr>
            <a:r>
              <a:rPr lang="en-CA"/>
              <a:t>Ability to schedule and monitor data updates, pipelines, notebooks, datasets</a:t>
            </a:r>
          </a:p>
          <a:p>
            <a:pPr marL="742950" lvl="1" indent="-285750">
              <a:buFont typeface="Arial" panose="020B0604020202020204" pitchFamily="34" charset="0"/>
              <a:buChar char="•"/>
            </a:pPr>
            <a:r>
              <a:rPr lang="en-CA"/>
              <a:t>No code solutions to set-up event-based alerts</a:t>
            </a:r>
          </a:p>
          <a:p>
            <a:pPr lvl="1"/>
            <a:endParaRPr lang="en-CA"/>
          </a:p>
          <a:p>
            <a:r>
              <a:rPr lang="en-CA" b="1"/>
              <a:t>Resiliency</a:t>
            </a:r>
            <a:r>
              <a:rPr lang="en-CA"/>
              <a:t> of code and data</a:t>
            </a:r>
          </a:p>
          <a:p>
            <a:pPr marL="742950" lvl="1" indent="-285750">
              <a:buFont typeface="Arial" panose="020B0604020202020204" pitchFamily="34" charset="0"/>
              <a:buChar char="•"/>
            </a:pPr>
            <a:r>
              <a:rPr lang="en-CA"/>
              <a:t>Allowable separation of development and “operational” data/code</a:t>
            </a:r>
          </a:p>
          <a:p>
            <a:pPr marL="742950" lvl="1" indent="-285750">
              <a:buFont typeface="Arial" panose="020B0604020202020204" pitchFamily="34" charset="0"/>
              <a:buChar char="•"/>
            </a:pPr>
            <a:r>
              <a:rPr lang="en-CA"/>
              <a:t>Version control of code</a:t>
            </a:r>
          </a:p>
          <a:p>
            <a:pPr marL="742950" lvl="1" indent="-285750">
              <a:buFont typeface="Arial" panose="020B0604020202020204" pitchFamily="34" charset="0"/>
              <a:buChar char="•"/>
            </a:pPr>
            <a:r>
              <a:rPr lang="en-CA"/>
              <a:t>Scalable back-up and recovery</a:t>
            </a:r>
          </a:p>
          <a:p>
            <a:pPr lvl="1"/>
            <a:endParaRPr lang="en-CA"/>
          </a:p>
          <a:p>
            <a:r>
              <a:rPr lang="en-CA"/>
              <a:t>Availability of </a:t>
            </a:r>
            <a:r>
              <a:rPr lang="en-CA" b="1"/>
              <a:t>templates to accelerate </a:t>
            </a:r>
            <a:r>
              <a:rPr lang="en-CA"/>
              <a:t>outcomes</a:t>
            </a:r>
          </a:p>
          <a:p>
            <a:pPr marL="742950" lvl="1" indent="-285750">
              <a:buFont typeface="Arial" panose="020B0604020202020204" pitchFamily="34" charset="0"/>
              <a:buChar char="•"/>
            </a:pPr>
            <a:r>
              <a:rPr lang="en-CA"/>
              <a:t>Notebook</a:t>
            </a:r>
          </a:p>
          <a:p>
            <a:pPr marL="742950" lvl="1" indent="-285750">
              <a:buFont typeface="Arial" panose="020B0604020202020204" pitchFamily="34" charset="0"/>
              <a:buChar char="•"/>
            </a:pPr>
            <a:r>
              <a:rPr lang="en-CA"/>
              <a:t>Pipeline</a:t>
            </a:r>
          </a:p>
          <a:p>
            <a:pPr marL="742950" lvl="1" indent="-285750">
              <a:buFont typeface="Arial" panose="020B0604020202020204" pitchFamily="34" charset="0"/>
              <a:buChar char="•"/>
            </a:pPr>
            <a:r>
              <a:rPr lang="en-CA"/>
              <a:t>PBI report</a:t>
            </a:r>
          </a:p>
          <a:p>
            <a:endParaRPr lang="en-CA"/>
          </a:p>
          <a:p>
            <a:endParaRPr lang="en-CA"/>
          </a:p>
        </p:txBody>
      </p:sp>
      <p:pic>
        <p:nvPicPr>
          <p:cNvPr id="15" name="Picture 18" descr="Check Mark Transparent Images – Browse 19,974 Stock Photos, Vectors, and  Video | Adobe Stock">
            <a:extLst>
              <a:ext uri="{FF2B5EF4-FFF2-40B4-BE49-F238E27FC236}">
                <a16:creationId xmlns:a16="http://schemas.microsoft.com/office/drawing/2014/main" id="{D38AEF43-C819-2212-3733-FF1D3A61EBF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2444" t="24944" r="55427" b="23875"/>
          <a:stretch/>
        </p:blipFill>
        <p:spPr bwMode="auto">
          <a:xfrm>
            <a:off x="11673183" y="1143875"/>
            <a:ext cx="332846" cy="265116"/>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18" descr="Check Mark Transparent Images – Browse 19,974 Stock Photos, Vectors, and  Video | Adobe Stock">
            <a:extLst>
              <a:ext uri="{FF2B5EF4-FFF2-40B4-BE49-F238E27FC236}">
                <a16:creationId xmlns:a16="http://schemas.microsoft.com/office/drawing/2014/main" id="{583EB55B-0891-A218-6F65-AA35C83D25A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2444" t="24944" r="55427" b="23875"/>
          <a:stretch/>
        </p:blipFill>
        <p:spPr bwMode="auto">
          <a:xfrm>
            <a:off x="11663637" y="1833281"/>
            <a:ext cx="332846" cy="265116"/>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18" descr="Check Mark Transparent Images – Browse 19,974 Stock Photos, Vectors, and  Video | Adobe Stock">
            <a:extLst>
              <a:ext uri="{FF2B5EF4-FFF2-40B4-BE49-F238E27FC236}">
                <a16:creationId xmlns:a16="http://schemas.microsoft.com/office/drawing/2014/main" id="{E081AC25-C079-ED83-B4E8-0D908D17A7B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2444" t="24944" r="55427" b="23875"/>
          <a:stretch/>
        </p:blipFill>
        <p:spPr bwMode="auto">
          <a:xfrm>
            <a:off x="11656057" y="2248153"/>
            <a:ext cx="332846" cy="2651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46791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1C4CAA3-6EEF-9797-D963-A0A9FA3DE91F}"/>
              </a:ext>
            </a:extLst>
          </p:cNvPr>
          <p:cNvSpPr>
            <a:spLocks noGrp="1"/>
          </p:cNvSpPr>
          <p:nvPr>
            <p:ph idx="1"/>
          </p:nvPr>
        </p:nvSpPr>
        <p:spPr/>
        <p:txBody>
          <a:bodyPr/>
          <a:lstStyle/>
          <a:p>
            <a:r>
              <a:rPr lang="en-CA"/>
              <a:t>Indicators of Successfully or Not-Successfully met is an overall gauge of whether the current capabilities meet user needs and expectations 	 </a:t>
            </a:r>
          </a:p>
          <a:p>
            <a:pPr lvl="1"/>
            <a:r>
              <a:rPr lang="en-CA"/>
              <a:t>keeps majority of users working in the desired environment, using patterns that are in long term best interest of the Bank</a:t>
            </a:r>
          </a:p>
        </p:txBody>
      </p:sp>
      <p:sp>
        <p:nvSpPr>
          <p:cNvPr id="3" name="Title 2">
            <a:extLst>
              <a:ext uri="{FF2B5EF4-FFF2-40B4-BE49-F238E27FC236}">
                <a16:creationId xmlns:a16="http://schemas.microsoft.com/office/drawing/2014/main" id="{B312AD97-3205-35E1-D327-13E1DC39B7C0}"/>
              </a:ext>
            </a:extLst>
          </p:cNvPr>
          <p:cNvSpPr>
            <a:spLocks noGrp="1"/>
          </p:cNvSpPr>
          <p:nvPr>
            <p:ph type="title"/>
          </p:nvPr>
        </p:nvSpPr>
        <p:spPr/>
        <p:txBody>
          <a:bodyPr/>
          <a:lstStyle/>
          <a:p>
            <a:r>
              <a:rPr lang="en-CA"/>
              <a:t>Evaluation Criteria</a:t>
            </a:r>
          </a:p>
        </p:txBody>
      </p:sp>
    </p:spTree>
    <p:extLst>
      <p:ext uri="{BB962C8B-B14F-4D97-AF65-F5344CB8AC3E}">
        <p14:creationId xmlns:p14="http://schemas.microsoft.com/office/powerpoint/2010/main" val="40613973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197BD4-F128-CA42-8FF1-83F1A0E3E26F}"/>
              </a:ext>
            </a:extLst>
          </p:cNvPr>
          <p:cNvSpPr>
            <a:spLocks noGrp="1"/>
          </p:cNvSpPr>
          <p:nvPr>
            <p:ph type="title"/>
          </p:nvPr>
        </p:nvSpPr>
        <p:spPr/>
        <p:txBody>
          <a:bodyPr/>
          <a:lstStyle/>
          <a:p>
            <a:r>
              <a:rPr lang="en-CA"/>
              <a:t>Current Pain Points in User Experience</a:t>
            </a:r>
          </a:p>
        </p:txBody>
      </p:sp>
    </p:spTree>
    <p:extLst>
      <p:ext uri="{BB962C8B-B14F-4D97-AF65-F5344CB8AC3E}">
        <p14:creationId xmlns:p14="http://schemas.microsoft.com/office/powerpoint/2010/main" val="15644030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377FC8CC-BF48-4372-ADBD-E108291B94CD}"/>
              </a:ext>
            </a:extLst>
          </p:cNvPr>
          <p:cNvSpPr txBox="1">
            <a:spLocks/>
          </p:cNvSpPr>
          <p:nvPr/>
        </p:nvSpPr>
        <p:spPr>
          <a:xfrm>
            <a:off x="409130" y="213396"/>
            <a:ext cx="11298775" cy="717269"/>
          </a:xfrm>
          <a:prstGeom prst="rect">
            <a:avLst/>
          </a:prstGeom>
        </p:spPr>
        <p:txBody>
          <a:bodyPr anchor="b">
            <a:normAutofit/>
          </a:bodyPr>
          <a:lstStyle>
            <a:lvl1pPr algn="l" defTabSz="914377" rtl="0" eaLnBrk="1" latinLnBrk="0" hangingPunct="1">
              <a:lnSpc>
                <a:spcPct val="90000"/>
              </a:lnSpc>
              <a:spcBef>
                <a:spcPct val="0"/>
              </a:spcBef>
              <a:buNone/>
              <a:defRPr sz="4000" u="none" kern="1200" spc="-100" baseline="0">
                <a:solidFill>
                  <a:schemeClr val="accent6"/>
                </a:solidFill>
                <a:uFill>
                  <a:solidFill>
                    <a:schemeClr val="tx2">
                      <a:lumMod val="60000"/>
                      <a:lumOff val="40000"/>
                    </a:schemeClr>
                  </a:solidFill>
                </a:uFill>
                <a:latin typeface="+mj-lt"/>
                <a:ea typeface="Segoe UI Black" panose="020B0A02040204020203" pitchFamily="34" charset="0"/>
                <a:cs typeface="Segoe UI Light" panose="020B0502040204020203" pitchFamily="34" charset="0"/>
              </a:defRPr>
            </a:lvl1pPr>
          </a:lstStyle>
          <a:p>
            <a:pPr marL="0" marR="0" lvl="0" indent="0" algn="ctr" defTabSz="914377" rtl="0" eaLnBrk="1" fontAlgn="auto" latinLnBrk="0" hangingPunct="1">
              <a:lnSpc>
                <a:spcPct val="90000"/>
              </a:lnSpc>
              <a:spcBef>
                <a:spcPct val="0"/>
              </a:spcBef>
              <a:spcAft>
                <a:spcPts val="0"/>
              </a:spcAft>
              <a:buClrTx/>
              <a:buSzTx/>
              <a:buFontTx/>
              <a:buNone/>
              <a:tabLst/>
              <a:defRPr/>
            </a:pPr>
            <a:r>
              <a:rPr lang="en-US">
                <a:solidFill>
                  <a:srgbClr val="31849B"/>
                </a:solidFill>
                <a:uFill>
                  <a:solidFill>
                    <a:srgbClr val="1F497D">
                      <a:lumMod val="60000"/>
                      <a:lumOff val="40000"/>
                    </a:srgbClr>
                  </a:solidFill>
                </a:uFill>
                <a:latin typeface="Segoe UI Semibold"/>
              </a:rPr>
              <a:t>Challenges with Current Analytic Centrale</a:t>
            </a:r>
            <a:endParaRPr kumimoji="0" lang="en-CA" sz="4000" b="0" i="0" u="none" strike="noStrike" kern="1200" cap="none" spc="-100" normalizeH="0" baseline="0" noProof="0">
              <a:ln>
                <a:noFill/>
              </a:ln>
              <a:solidFill>
                <a:srgbClr val="31849B"/>
              </a:solidFill>
              <a:effectLst/>
              <a:uLnTx/>
              <a:uFill>
                <a:solidFill>
                  <a:srgbClr val="1F497D">
                    <a:lumMod val="60000"/>
                    <a:lumOff val="40000"/>
                  </a:srgbClr>
                </a:solidFill>
              </a:uFill>
              <a:latin typeface="Segoe UI Semibold"/>
              <a:ea typeface="Segoe UI Black" panose="020B0A02040204020203" pitchFamily="34" charset="0"/>
              <a:cs typeface="Segoe UI Light" panose="020B0502040204020203" pitchFamily="34" charset="0"/>
            </a:endParaRPr>
          </a:p>
        </p:txBody>
      </p:sp>
      <p:sp>
        <p:nvSpPr>
          <p:cNvPr id="3" name="Content Placeholder 1">
            <a:extLst>
              <a:ext uri="{FF2B5EF4-FFF2-40B4-BE49-F238E27FC236}">
                <a16:creationId xmlns:a16="http://schemas.microsoft.com/office/drawing/2014/main" id="{F18B3A7A-0FEA-575A-76EE-3BF6578AA256}"/>
              </a:ext>
            </a:extLst>
          </p:cNvPr>
          <p:cNvSpPr txBox="1">
            <a:spLocks/>
          </p:cNvSpPr>
          <p:nvPr/>
        </p:nvSpPr>
        <p:spPr>
          <a:xfrm>
            <a:off x="5961528" y="1531474"/>
            <a:ext cx="5399999" cy="5326525"/>
          </a:xfrm>
          <a:prstGeom prst="rect">
            <a:avLst/>
          </a:prstGeom>
        </p:spPr>
        <p:txBody>
          <a:bodyPr vert="horz" lIns="0" tIns="0" rIns="0" bIns="0" rtlCol="0" anchor="ctr" anchorCtr="0">
            <a:normAutofit/>
          </a:bodyPr>
          <a:lstStyle>
            <a:lvl1pPr marL="228594" indent="-228594" algn="l" defTabSz="914377" rtl="0" eaLnBrk="1" latinLnBrk="0" hangingPunct="1">
              <a:lnSpc>
                <a:spcPct val="90000"/>
              </a:lnSpc>
              <a:spcBef>
                <a:spcPts val="1800"/>
              </a:spcBef>
              <a:buFont typeface="Wingdings" panose="05000000000000000000" pitchFamily="2" charset="2"/>
              <a:buChar char="§"/>
              <a:defRPr sz="2600" kern="1200" spc="0" baseline="0">
                <a:solidFill>
                  <a:schemeClr val="tx1">
                    <a:lumMod val="75000"/>
                    <a:lumOff val="25000"/>
                  </a:schemeClr>
                </a:solidFill>
                <a:latin typeface="+mn-lt"/>
                <a:ea typeface="+mn-ea"/>
                <a:cs typeface="Segoe UI" panose="020B0502040204020203" pitchFamily="34" charset="0"/>
              </a:defRPr>
            </a:lvl1pPr>
            <a:lvl2pPr marL="450839" indent="-228594" algn="l" defTabSz="914377" rtl="0" eaLnBrk="1" latinLnBrk="0" hangingPunct="1">
              <a:lnSpc>
                <a:spcPct val="90000"/>
              </a:lnSpc>
              <a:spcBef>
                <a:spcPts val="600"/>
              </a:spcBef>
              <a:buFont typeface="Segoe UI" panose="020B0502040204020203" pitchFamily="34" charset="0"/>
              <a:buChar char="›"/>
              <a:defRPr sz="2200" kern="1200" spc="0">
                <a:solidFill>
                  <a:schemeClr val="tx1">
                    <a:lumMod val="75000"/>
                    <a:lumOff val="25000"/>
                  </a:schemeClr>
                </a:solidFill>
                <a:latin typeface="+mn-lt"/>
                <a:ea typeface="+mn-ea"/>
                <a:cs typeface="Segoe UI" panose="020B0502040204020203" pitchFamily="34" charset="0"/>
              </a:defRPr>
            </a:lvl2pPr>
            <a:lvl3pPr marL="714357" indent="-228594" algn="l" defTabSz="914377" rtl="0" eaLnBrk="1" latinLnBrk="0" hangingPunct="1">
              <a:lnSpc>
                <a:spcPct val="90000"/>
              </a:lnSpc>
              <a:spcBef>
                <a:spcPts val="300"/>
              </a:spcBef>
              <a:buFont typeface="Segoe UI" panose="020B0502040204020203" pitchFamily="34" charset="0"/>
              <a:buChar char="›"/>
              <a:defRPr sz="2000" kern="1200" spc="0">
                <a:solidFill>
                  <a:schemeClr val="tx1">
                    <a:lumMod val="75000"/>
                    <a:lumOff val="25000"/>
                  </a:schemeClr>
                </a:solidFill>
                <a:latin typeface="+mn-lt"/>
                <a:ea typeface="+mn-ea"/>
                <a:cs typeface="Segoe UI" panose="020B0502040204020203" pitchFamily="34" charset="0"/>
              </a:defRPr>
            </a:lvl3pPr>
            <a:lvl4pPr marL="985814" indent="-228594" algn="l" defTabSz="914377" rtl="0" eaLnBrk="1" latinLnBrk="0" hangingPunct="1">
              <a:lnSpc>
                <a:spcPct val="90000"/>
              </a:lnSpc>
              <a:spcBef>
                <a:spcPts val="0"/>
              </a:spcBef>
              <a:buFont typeface="Segoe UI" panose="020B0502040204020203" pitchFamily="34" charset="0"/>
              <a:buChar char="›"/>
              <a:defRPr sz="2000" kern="1200" spc="0">
                <a:solidFill>
                  <a:schemeClr val="tx1">
                    <a:lumMod val="75000"/>
                    <a:lumOff val="25000"/>
                  </a:schemeClr>
                </a:solidFill>
                <a:latin typeface="+mn-lt"/>
                <a:ea typeface="+mn-ea"/>
                <a:cs typeface="Segoe UI" panose="020B0502040204020203" pitchFamily="34" charset="0"/>
              </a:defRPr>
            </a:lvl4pPr>
            <a:lvl5pPr marL="1257269" indent="-228594" algn="l" defTabSz="914377" rtl="0" eaLnBrk="1" latinLnBrk="0" hangingPunct="1">
              <a:lnSpc>
                <a:spcPct val="90000"/>
              </a:lnSpc>
              <a:spcBef>
                <a:spcPts val="0"/>
              </a:spcBef>
              <a:buFont typeface="Segoe UI" panose="020B0502040204020203" pitchFamily="34" charset="0"/>
              <a:buChar char="›"/>
              <a:defRPr sz="2000" kern="1200" spc="0">
                <a:solidFill>
                  <a:schemeClr val="tx1">
                    <a:lumMod val="75000"/>
                    <a:lumOff val="25000"/>
                  </a:schemeClr>
                </a:solidFill>
                <a:latin typeface="+mn-lt"/>
                <a:ea typeface="+mn-ea"/>
                <a:cs typeface="Segoe UI" panose="020B0502040204020203"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endParaRPr lang="en-CA" sz="2600"/>
          </a:p>
        </p:txBody>
      </p:sp>
      <p:sp>
        <p:nvSpPr>
          <p:cNvPr id="7" name="Content Placeholder 1">
            <a:extLst>
              <a:ext uri="{FF2B5EF4-FFF2-40B4-BE49-F238E27FC236}">
                <a16:creationId xmlns:a16="http://schemas.microsoft.com/office/drawing/2014/main" id="{E76E0009-C536-83A2-2E1D-384960FAE531}"/>
              </a:ext>
            </a:extLst>
          </p:cNvPr>
          <p:cNvSpPr txBox="1">
            <a:spLocks noGrp="1" noRot="1" noMove="1" noResize="1" noEditPoints="1" noAdjustHandles="1" noChangeArrowheads="1" noChangeShapeType="1"/>
          </p:cNvSpPr>
          <p:nvPr/>
        </p:nvSpPr>
        <p:spPr>
          <a:xfrm>
            <a:off x="334084" y="1170069"/>
            <a:ext cx="4969436" cy="4965120"/>
          </a:xfrm>
          <a:prstGeom prst="rect">
            <a:avLst/>
          </a:prstGeom>
        </p:spPr>
        <p:txBody>
          <a:bodyPr vert="horz" lIns="0" tIns="0" rIns="0" bIns="0" rtlCol="0" anchor="ctr" anchorCtr="0">
            <a:normAutofit/>
          </a:bodyPr>
          <a:lstStyle>
            <a:lvl1pPr marL="228594" indent="-228594" algn="l" defTabSz="914377" rtl="0" eaLnBrk="1" latinLnBrk="0" hangingPunct="1">
              <a:lnSpc>
                <a:spcPct val="90000"/>
              </a:lnSpc>
              <a:spcBef>
                <a:spcPts val="1800"/>
              </a:spcBef>
              <a:buFont typeface="Wingdings" panose="05000000000000000000" pitchFamily="2" charset="2"/>
              <a:buChar char="§"/>
              <a:defRPr sz="2600" kern="1200" spc="0" baseline="0">
                <a:solidFill>
                  <a:schemeClr val="tx1">
                    <a:lumMod val="75000"/>
                    <a:lumOff val="25000"/>
                  </a:schemeClr>
                </a:solidFill>
                <a:latin typeface="+mn-lt"/>
                <a:ea typeface="+mn-ea"/>
                <a:cs typeface="Segoe UI" panose="020B0502040204020203" pitchFamily="34" charset="0"/>
              </a:defRPr>
            </a:lvl1pPr>
            <a:lvl2pPr marL="450839" indent="-228594" algn="l" defTabSz="914377" rtl="0" eaLnBrk="1" latinLnBrk="0" hangingPunct="1">
              <a:lnSpc>
                <a:spcPct val="90000"/>
              </a:lnSpc>
              <a:spcBef>
                <a:spcPts val="600"/>
              </a:spcBef>
              <a:buFont typeface="Segoe UI" panose="020B0502040204020203" pitchFamily="34" charset="0"/>
              <a:buChar char="›"/>
              <a:defRPr sz="2200" kern="1200" spc="0">
                <a:solidFill>
                  <a:schemeClr val="tx1">
                    <a:lumMod val="75000"/>
                    <a:lumOff val="25000"/>
                  </a:schemeClr>
                </a:solidFill>
                <a:latin typeface="+mn-lt"/>
                <a:ea typeface="+mn-ea"/>
                <a:cs typeface="Segoe UI" panose="020B0502040204020203" pitchFamily="34" charset="0"/>
              </a:defRPr>
            </a:lvl2pPr>
            <a:lvl3pPr marL="714357" indent="-228594" algn="l" defTabSz="914377" rtl="0" eaLnBrk="1" latinLnBrk="0" hangingPunct="1">
              <a:lnSpc>
                <a:spcPct val="90000"/>
              </a:lnSpc>
              <a:spcBef>
                <a:spcPts val="300"/>
              </a:spcBef>
              <a:buFont typeface="Segoe UI" panose="020B0502040204020203" pitchFamily="34" charset="0"/>
              <a:buChar char="›"/>
              <a:defRPr sz="2000" kern="1200" spc="0">
                <a:solidFill>
                  <a:schemeClr val="tx1">
                    <a:lumMod val="75000"/>
                    <a:lumOff val="25000"/>
                  </a:schemeClr>
                </a:solidFill>
                <a:latin typeface="+mn-lt"/>
                <a:ea typeface="+mn-ea"/>
                <a:cs typeface="Segoe UI" panose="020B0502040204020203" pitchFamily="34" charset="0"/>
              </a:defRPr>
            </a:lvl3pPr>
            <a:lvl4pPr marL="985814" indent="-228594" algn="l" defTabSz="914377" rtl="0" eaLnBrk="1" latinLnBrk="0" hangingPunct="1">
              <a:lnSpc>
                <a:spcPct val="90000"/>
              </a:lnSpc>
              <a:spcBef>
                <a:spcPts val="0"/>
              </a:spcBef>
              <a:buFont typeface="Segoe UI" panose="020B0502040204020203" pitchFamily="34" charset="0"/>
              <a:buChar char="›"/>
              <a:defRPr sz="2000" kern="1200" spc="0">
                <a:solidFill>
                  <a:schemeClr val="tx1">
                    <a:lumMod val="75000"/>
                    <a:lumOff val="25000"/>
                  </a:schemeClr>
                </a:solidFill>
                <a:latin typeface="+mn-lt"/>
                <a:ea typeface="+mn-ea"/>
                <a:cs typeface="Segoe UI" panose="020B0502040204020203" pitchFamily="34" charset="0"/>
              </a:defRPr>
            </a:lvl4pPr>
            <a:lvl5pPr marL="1257269" indent="-228594" algn="l" defTabSz="914377" rtl="0" eaLnBrk="1" latinLnBrk="0" hangingPunct="1">
              <a:lnSpc>
                <a:spcPct val="90000"/>
              </a:lnSpc>
              <a:spcBef>
                <a:spcPts val="0"/>
              </a:spcBef>
              <a:buFont typeface="Segoe UI" panose="020B0502040204020203" pitchFamily="34" charset="0"/>
              <a:buChar char="›"/>
              <a:defRPr sz="2000" kern="1200" spc="0">
                <a:solidFill>
                  <a:schemeClr val="tx1">
                    <a:lumMod val="75000"/>
                    <a:lumOff val="25000"/>
                  </a:schemeClr>
                </a:solidFill>
                <a:latin typeface="+mn-lt"/>
                <a:ea typeface="+mn-ea"/>
                <a:cs typeface="Segoe UI" panose="020B0502040204020203"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Wingdings" panose="05000000000000000000" pitchFamily="2" charset="2"/>
              <a:buNone/>
            </a:pPr>
            <a:endParaRPr lang="en-CA" sz="2000"/>
          </a:p>
        </p:txBody>
      </p:sp>
      <p:sp>
        <p:nvSpPr>
          <p:cNvPr id="8" name="Content Placeholder 1">
            <a:extLst>
              <a:ext uri="{FF2B5EF4-FFF2-40B4-BE49-F238E27FC236}">
                <a16:creationId xmlns:a16="http://schemas.microsoft.com/office/drawing/2014/main" id="{47254792-07F9-8455-9EF3-B4D4F1629552}"/>
              </a:ext>
            </a:extLst>
          </p:cNvPr>
          <p:cNvSpPr txBox="1">
            <a:spLocks/>
          </p:cNvSpPr>
          <p:nvPr/>
        </p:nvSpPr>
        <p:spPr>
          <a:xfrm>
            <a:off x="7628916" y="2491855"/>
            <a:ext cx="4363621" cy="4895453"/>
          </a:xfrm>
          <a:prstGeom prst="rect">
            <a:avLst/>
          </a:prstGeom>
        </p:spPr>
        <p:txBody>
          <a:bodyPr vert="horz" lIns="0" tIns="0" rIns="0" bIns="0" rtlCol="0" anchor="ctr" anchorCtr="0">
            <a:normAutofit/>
          </a:bodyPr>
          <a:lstStyle>
            <a:lvl1pPr marL="228594" indent="-228594" algn="l" defTabSz="914377" rtl="0" eaLnBrk="1" latinLnBrk="0" hangingPunct="1">
              <a:lnSpc>
                <a:spcPct val="90000"/>
              </a:lnSpc>
              <a:spcBef>
                <a:spcPts val="1800"/>
              </a:spcBef>
              <a:buFont typeface="Wingdings" panose="05000000000000000000" pitchFamily="2" charset="2"/>
              <a:buChar char="§"/>
              <a:defRPr sz="2600" kern="1200" spc="0" baseline="0">
                <a:solidFill>
                  <a:schemeClr val="tx1">
                    <a:lumMod val="75000"/>
                    <a:lumOff val="25000"/>
                  </a:schemeClr>
                </a:solidFill>
                <a:latin typeface="+mn-lt"/>
                <a:ea typeface="+mn-ea"/>
                <a:cs typeface="Segoe UI" panose="020B0502040204020203" pitchFamily="34" charset="0"/>
              </a:defRPr>
            </a:lvl1pPr>
            <a:lvl2pPr marL="450839" indent="-228594" algn="l" defTabSz="914377" rtl="0" eaLnBrk="1" latinLnBrk="0" hangingPunct="1">
              <a:lnSpc>
                <a:spcPct val="90000"/>
              </a:lnSpc>
              <a:spcBef>
                <a:spcPts val="600"/>
              </a:spcBef>
              <a:buFont typeface="Segoe UI" panose="020B0502040204020203" pitchFamily="34" charset="0"/>
              <a:buChar char="›"/>
              <a:defRPr sz="2200" kern="1200" spc="0">
                <a:solidFill>
                  <a:schemeClr val="tx1">
                    <a:lumMod val="75000"/>
                    <a:lumOff val="25000"/>
                  </a:schemeClr>
                </a:solidFill>
                <a:latin typeface="+mn-lt"/>
                <a:ea typeface="+mn-ea"/>
                <a:cs typeface="Segoe UI" panose="020B0502040204020203" pitchFamily="34" charset="0"/>
              </a:defRPr>
            </a:lvl2pPr>
            <a:lvl3pPr marL="714357" indent="-228594" algn="l" defTabSz="914377" rtl="0" eaLnBrk="1" latinLnBrk="0" hangingPunct="1">
              <a:lnSpc>
                <a:spcPct val="90000"/>
              </a:lnSpc>
              <a:spcBef>
                <a:spcPts val="300"/>
              </a:spcBef>
              <a:buFont typeface="Segoe UI" panose="020B0502040204020203" pitchFamily="34" charset="0"/>
              <a:buChar char="›"/>
              <a:defRPr sz="2000" kern="1200" spc="0">
                <a:solidFill>
                  <a:schemeClr val="tx1">
                    <a:lumMod val="75000"/>
                    <a:lumOff val="25000"/>
                  </a:schemeClr>
                </a:solidFill>
                <a:latin typeface="+mn-lt"/>
                <a:ea typeface="+mn-ea"/>
                <a:cs typeface="Segoe UI" panose="020B0502040204020203" pitchFamily="34" charset="0"/>
              </a:defRPr>
            </a:lvl3pPr>
            <a:lvl4pPr marL="985814" indent="-228594" algn="l" defTabSz="914377" rtl="0" eaLnBrk="1" latinLnBrk="0" hangingPunct="1">
              <a:lnSpc>
                <a:spcPct val="90000"/>
              </a:lnSpc>
              <a:spcBef>
                <a:spcPts val="0"/>
              </a:spcBef>
              <a:buFont typeface="Segoe UI" panose="020B0502040204020203" pitchFamily="34" charset="0"/>
              <a:buChar char="›"/>
              <a:defRPr sz="2000" kern="1200" spc="0">
                <a:solidFill>
                  <a:schemeClr val="tx1">
                    <a:lumMod val="75000"/>
                    <a:lumOff val="25000"/>
                  </a:schemeClr>
                </a:solidFill>
                <a:latin typeface="+mn-lt"/>
                <a:ea typeface="+mn-ea"/>
                <a:cs typeface="Segoe UI" panose="020B0502040204020203" pitchFamily="34" charset="0"/>
              </a:defRPr>
            </a:lvl4pPr>
            <a:lvl5pPr marL="1257269" indent="-228594" algn="l" defTabSz="914377" rtl="0" eaLnBrk="1" latinLnBrk="0" hangingPunct="1">
              <a:lnSpc>
                <a:spcPct val="90000"/>
              </a:lnSpc>
              <a:spcBef>
                <a:spcPts val="0"/>
              </a:spcBef>
              <a:buFont typeface="Segoe UI" panose="020B0502040204020203" pitchFamily="34" charset="0"/>
              <a:buChar char="›"/>
              <a:defRPr sz="2000" kern="1200" spc="0">
                <a:solidFill>
                  <a:schemeClr val="tx1">
                    <a:lumMod val="75000"/>
                    <a:lumOff val="25000"/>
                  </a:schemeClr>
                </a:solidFill>
                <a:latin typeface="+mn-lt"/>
                <a:ea typeface="+mn-ea"/>
                <a:cs typeface="Segoe UI" panose="020B0502040204020203"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CA" sz="2000"/>
              <a:t>Integrated </a:t>
            </a:r>
            <a:r>
              <a:rPr lang="en-CA" sz="2000" b="1"/>
              <a:t>visualization</a:t>
            </a:r>
          </a:p>
          <a:p>
            <a:pPr marL="742950" lvl="1" indent="-285750">
              <a:buFont typeface="Arial" panose="020B0604020202020204" pitchFamily="34" charset="0"/>
              <a:buChar char="•"/>
            </a:pPr>
            <a:r>
              <a:rPr lang="en-CA" sz="1600"/>
              <a:t>Databricks better for ad-hoc visualization, not an enterprise BI tool</a:t>
            </a:r>
          </a:p>
          <a:p>
            <a:pPr marL="0" indent="0">
              <a:buNone/>
            </a:pPr>
            <a:r>
              <a:rPr lang="en-CA" sz="2000">
                <a:solidFill>
                  <a:schemeClr val="tx1"/>
                </a:solidFill>
                <a:cs typeface="+mn-cs"/>
              </a:rPr>
              <a:t>Flexible and scalable </a:t>
            </a:r>
            <a:r>
              <a:rPr lang="en-CA" sz="2000" b="1">
                <a:solidFill>
                  <a:schemeClr val="tx1"/>
                </a:solidFill>
                <a:cs typeface="+mn-cs"/>
              </a:rPr>
              <a:t>scheduling and monitoring of processes</a:t>
            </a:r>
          </a:p>
          <a:p>
            <a:pPr lvl="1"/>
            <a:r>
              <a:rPr lang="en-CA" sz="1600"/>
              <a:t>Alert capabilities are limited and manual</a:t>
            </a:r>
          </a:p>
          <a:p>
            <a:r>
              <a:rPr lang="en-CA" sz="2000">
                <a:solidFill>
                  <a:schemeClr val="tx1"/>
                </a:solidFill>
                <a:cs typeface="+mn-cs"/>
              </a:rPr>
              <a:t>Availability of </a:t>
            </a:r>
            <a:r>
              <a:rPr lang="en-CA" sz="2000" b="1">
                <a:solidFill>
                  <a:schemeClr val="tx1"/>
                </a:solidFill>
                <a:cs typeface="+mn-cs"/>
              </a:rPr>
              <a:t>templates</a:t>
            </a:r>
            <a:r>
              <a:rPr lang="en-CA" sz="2000">
                <a:solidFill>
                  <a:schemeClr val="tx1"/>
                </a:solidFill>
                <a:cs typeface="+mn-cs"/>
              </a:rPr>
              <a:t> to accelerate outcomes</a:t>
            </a:r>
          </a:p>
          <a:p>
            <a:pPr lvl="1"/>
            <a:r>
              <a:rPr lang="en-CA" sz="1600"/>
              <a:t>Templates pipelines and BI report not available</a:t>
            </a:r>
          </a:p>
          <a:p>
            <a:pPr marL="0" indent="0">
              <a:buFont typeface="Wingdings" panose="05000000000000000000" pitchFamily="2" charset="2"/>
              <a:buNone/>
            </a:pPr>
            <a:endParaRPr lang="en-CA" sz="1400"/>
          </a:p>
        </p:txBody>
      </p:sp>
      <p:graphicFrame>
        <p:nvGraphicFramePr>
          <p:cNvPr id="2" name="Table 1">
            <a:extLst>
              <a:ext uri="{FF2B5EF4-FFF2-40B4-BE49-F238E27FC236}">
                <a16:creationId xmlns:a16="http://schemas.microsoft.com/office/drawing/2014/main" id="{1F2A3A3C-77A8-C588-59F8-B3D66227CB04}"/>
              </a:ext>
            </a:extLst>
          </p:cNvPr>
          <p:cNvGraphicFramePr>
            <a:graphicFrameLocks noGrp="1"/>
          </p:cNvGraphicFramePr>
          <p:nvPr>
            <p:extLst>
              <p:ext uri="{D42A27DB-BD31-4B8C-83A1-F6EECF244321}">
                <p14:modId xmlns:p14="http://schemas.microsoft.com/office/powerpoint/2010/main" val="2310940140"/>
              </p:ext>
            </p:extLst>
          </p:nvPr>
        </p:nvGraphicFramePr>
        <p:xfrm>
          <a:off x="7628916" y="1070003"/>
          <a:ext cx="4481603" cy="1483360"/>
        </p:xfrm>
        <a:graphic>
          <a:graphicData uri="http://schemas.openxmlformats.org/drawingml/2006/table">
            <a:tbl>
              <a:tblPr firstRow="1" bandRow="1">
                <a:tableStyleId>{5940675A-B579-460E-94D1-54222C63F5DA}</a:tableStyleId>
              </a:tblPr>
              <a:tblGrid>
                <a:gridCol w="1890908">
                  <a:extLst>
                    <a:ext uri="{9D8B030D-6E8A-4147-A177-3AD203B41FA5}">
                      <a16:colId xmlns:a16="http://schemas.microsoft.com/office/drawing/2014/main" val="1751389579"/>
                    </a:ext>
                  </a:extLst>
                </a:gridCol>
                <a:gridCol w="422822">
                  <a:extLst>
                    <a:ext uri="{9D8B030D-6E8A-4147-A177-3AD203B41FA5}">
                      <a16:colId xmlns:a16="http://schemas.microsoft.com/office/drawing/2014/main" val="845163977"/>
                    </a:ext>
                  </a:extLst>
                </a:gridCol>
                <a:gridCol w="1743581">
                  <a:extLst>
                    <a:ext uri="{9D8B030D-6E8A-4147-A177-3AD203B41FA5}">
                      <a16:colId xmlns:a16="http://schemas.microsoft.com/office/drawing/2014/main" val="2798683742"/>
                    </a:ext>
                  </a:extLst>
                </a:gridCol>
                <a:gridCol w="424292">
                  <a:extLst>
                    <a:ext uri="{9D8B030D-6E8A-4147-A177-3AD203B41FA5}">
                      <a16:colId xmlns:a16="http://schemas.microsoft.com/office/drawing/2014/main" val="2443295495"/>
                    </a:ext>
                  </a:extLst>
                </a:gridCol>
              </a:tblGrid>
              <a:tr h="370840">
                <a:tc>
                  <a:txBody>
                    <a:bodyPr/>
                    <a:lstStyle/>
                    <a:p>
                      <a:r>
                        <a:rPr lang="en-CA" sz="1400"/>
                        <a:t>Central Data</a:t>
                      </a:r>
                    </a:p>
                  </a:txBody>
                  <a:tcPr>
                    <a:solidFill>
                      <a:schemeClr val="bg1"/>
                    </a:solidFill>
                  </a:tcPr>
                </a:tc>
                <a:tc>
                  <a:txBody>
                    <a:bodyPr/>
                    <a:lstStyle/>
                    <a:p>
                      <a:endParaRPr lang="en-CA" sz="1400"/>
                    </a:p>
                  </a:txBody>
                  <a:tcPr>
                    <a:solidFill>
                      <a:schemeClr val="bg1"/>
                    </a:solidFill>
                  </a:tcPr>
                </a:tc>
                <a:tc>
                  <a:txBody>
                    <a:bodyPr/>
                    <a:lstStyle/>
                    <a:p>
                      <a:r>
                        <a:rPr lang="en-CA" sz="1400"/>
                        <a:t>Integrated Visuals</a:t>
                      </a:r>
                    </a:p>
                  </a:txBody>
                  <a:tcPr>
                    <a:solidFill>
                      <a:schemeClr val="bg1"/>
                    </a:solidFill>
                  </a:tcPr>
                </a:tc>
                <a:tc>
                  <a:txBody>
                    <a:bodyPr/>
                    <a:lstStyle/>
                    <a:p>
                      <a:endParaRPr lang="en-CA" sz="1400"/>
                    </a:p>
                  </a:txBody>
                  <a:tcPr>
                    <a:solidFill>
                      <a:schemeClr val="bg1"/>
                    </a:solidFill>
                  </a:tcPr>
                </a:tc>
                <a:extLst>
                  <a:ext uri="{0D108BD9-81ED-4DB2-BD59-A6C34878D82A}">
                    <a16:rowId xmlns:a16="http://schemas.microsoft.com/office/drawing/2014/main" val="2259770833"/>
                  </a:ext>
                </a:extLst>
              </a:tr>
              <a:tr h="370840">
                <a:tc>
                  <a:txBody>
                    <a:bodyPr/>
                    <a:lstStyle/>
                    <a:p>
                      <a:r>
                        <a:rPr lang="en-CA" sz="1400"/>
                        <a:t>Update Control</a:t>
                      </a:r>
                    </a:p>
                  </a:txBody>
                  <a:tcPr>
                    <a:solidFill>
                      <a:schemeClr val="bg1"/>
                    </a:solidFill>
                  </a:tcPr>
                </a:tc>
                <a:tc>
                  <a:txBody>
                    <a:bodyPr/>
                    <a:lstStyle/>
                    <a:p>
                      <a:endParaRPr lang="en-CA" sz="1400"/>
                    </a:p>
                  </a:txBody>
                  <a:tcPr>
                    <a:solidFill>
                      <a:schemeClr val="bg1"/>
                    </a:solidFill>
                  </a:tcPr>
                </a:tc>
                <a:tc>
                  <a:txBody>
                    <a:bodyPr/>
                    <a:lstStyle/>
                    <a:p>
                      <a:r>
                        <a:rPr lang="en-CA" sz="1400"/>
                        <a:t>Process Monitoring</a:t>
                      </a:r>
                    </a:p>
                  </a:txBody>
                  <a:tcPr>
                    <a:solidFill>
                      <a:schemeClr val="bg1"/>
                    </a:solidFill>
                  </a:tcPr>
                </a:tc>
                <a:tc>
                  <a:txBody>
                    <a:bodyPr/>
                    <a:lstStyle/>
                    <a:p>
                      <a:endParaRPr lang="en-CA" sz="1400"/>
                    </a:p>
                  </a:txBody>
                  <a:tcPr>
                    <a:solidFill>
                      <a:schemeClr val="bg1"/>
                    </a:solidFill>
                  </a:tcPr>
                </a:tc>
                <a:extLst>
                  <a:ext uri="{0D108BD9-81ED-4DB2-BD59-A6C34878D82A}">
                    <a16:rowId xmlns:a16="http://schemas.microsoft.com/office/drawing/2014/main" val="3119633920"/>
                  </a:ext>
                </a:extLst>
              </a:tr>
              <a:tr h="370840">
                <a:tc>
                  <a:txBody>
                    <a:bodyPr/>
                    <a:lstStyle/>
                    <a:p>
                      <a:r>
                        <a:rPr lang="en-CA" sz="1400"/>
                        <a:t>Analytics w/ Data</a:t>
                      </a:r>
                    </a:p>
                  </a:txBody>
                  <a:tcPr>
                    <a:solidFill>
                      <a:schemeClr val="bg1"/>
                    </a:solidFill>
                  </a:tcPr>
                </a:tc>
                <a:tc>
                  <a:txBody>
                    <a:bodyPr/>
                    <a:lstStyle/>
                    <a:p>
                      <a:endParaRPr lang="en-CA" sz="1400"/>
                    </a:p>
                  </a:txBody>
                  <a:tcPr>
                    <a:solidFill>
                      <a:schemeClr val="bg1"/>
                    </a:solidFill>
                  </a:tcPr>
                </a:tc>
                <a:tc>
                  <a:txBody>
                    <a:bodyPr/>
                    <a:lstStyle/>
                    <a:p>
                      <a:r>
                        <a:rPr lang="en-CA" sz="1400"/>
                        <a:t>Process Resilience</a:t>
                      </a:r>
                    </a:p>
                  </a:txBody>
                  <a:tcPr>
                    <a:solidFill>
                      <a:schemeClr val="bg1"/>
                    </a:solidFill>
                  </a:tcPr>
                </a:tc>
                <a:tc>
                  <a:txBody>
                    <a:bodyPr/>
                    <a:lstStyle/>
                    <a:p>
                      <a:endParaRPr lang="en-CA" sz="1400"/>
                    </a:p>
                  </a:txBody>
                  <a:tcPr>
                    <a:solidFill>
                      <a:schemeClr val="bg1"/>
                    </a:solidFill>
                  </a:tcPr>
                </a:tc>
                <a:extLst>
                  <a:ext uri="{0D108BD9-81ED-4DB2-BD59-A6C34878D82A}">
                    <a16:rowId xmlns:a16="http://schemas.microsoft.com/office/drawing/2014/main" val="4025869636"/>
                  </a:ext>
                </a:extLst>
              </a:tr>
              <a:tr h="370840">
                <a:tc>
                  <a:txBody>
                    <a:bodyPr/>
                    <a:lstStyle/>
                    <a:p>
                      <a:r>
                        <a:rPr lang="en-CA" sz="1400"/>
                        <a:t>Access Controls</a:t>
                      </a:r>
                    </a:p>
                  </a:txBody>
                  <a:tcPr>
                    <a:solidFill>
                      <a:schemeClr val="bg1"/>
                    </a:solidFill>
                  </a:tcPr>
                </a:tc>
                <a:tc>
                  <a:txBody>
                    <a:bodyPr/>
                    <a:lstStyle/>
                    <a:p>
                      <a:endParaRPr lang="en-CA" sz="1400"/>
                    </a:p>
                  </a:txBody>
                  <a:tcPr>
                    <a:solidFill>
                      <a:schemeClr val="bg1"/>
                    </a:solidFill>
                  </a:tcPr>
                </a:tc>
                <a:tc>
                  <a:txBody>
                    <a:bodyPr/>
                    <a:lstStyle/>
                    <a:p>
                      <a:r>
                        <a:rPr lang="en-CA" sz="1400"/>
                        <a:t>Accelerators</a:t>
                      </a:r>
                    </a:p>
                  </a:txBody>
                  <a:tcPr>
                    <a:solidFill>
                      <a:schemeClr val="bg1"/>
                    </a:solidFill>
                  </a:tcPr>
                </a:tc>
                <a:tc>
                  <a:txBody>
                    <a:bodyPr/>
                    <a:lstStyle/>
                    <a:p>
                      <a:endParaRPr lang="en-CA" sz="1400"/>
                    </a:p>
                  </a:txBody>
                  <a:tcPr>
                    <a:solidFill>
                      <a:schemeClr val="bg1"/>
                    </a:solidFill>
                  </a:tcPr>
                </a:tc>
                <a:extLst>
                  <a:ext uri="{0D108BD9-81ED-4DB2-BD59-A6C34878D82A}">
                    <a16:rowId xmlns:a16="http://schemas.microsoft.com/office/drawing/2014/main" val="1717208953"/>
                  </a:ext>
                </a:extLst>
              </a:tr>
            </a:tbl>
          </a:graphicData>
        </a:graphic>
      </p:graphicFrame>
      <p:pic>
        <p:nvPicPr>
          <p:cNvPr id="10" name="Picture 18" descr="Check Mark Transparent Images – Browse 19,974 Stock Photos, Vectors, and  Video | Adobe Stock">
            <a:extLst>
              <a:ext uri="{FF2B5EF4-FFF2-40B4-BE49-F238E27FC236}">
                <a16:creationId xmlns:a16="http://schemas.microsoft.com/office/drawing/2014/main" id="{6956191B-5B18-652B-0BD5-4F7EEA5FC9B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1148" t="24089" r="11954" b="24730"/>
          <a:stretch/>
        </p:blipFill>
        <p:spPr bwMode="auto">
          <a:xfrm>
            <a:off x="9575909" y="1890096"/>
            <a:ext cx="294530" cy="280213"/>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8" descr="Check Mark Transparent Images – Browse 19,974 Stock Photos, Vectors, and  Video | Adobe Stock">
            <a:extLst>
              <a:ext uri="{FF2B5EF4-FFF2-40B4-BE49-F238E27FC236}">
                <a16:creationId xmlns:a16="http://schemas.microsoft.com/office/drawing/2014/main" id="{8523A282-9A49-0577-A7EA-E83C9505A55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1148" t="24089" r="11954" b="24730"/>
          <a:stretch/>
        </p:blipFill>
        <p:spPr bwMode="auto">
          <a:xfrm>
            <a:off x="9588609" y="1111923"/>
            <a:ext cx="294530" cy="280213"/>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8" descr="Check Mark Transparent Images – Browse 19,974 Stock Photos, Vectors, and  Video | Adobe Stock">
            <a:extLst>
              <a:ext uri="{FF2B5EF4-FFF2-40B4-BE49-F238E27FC236}">
                <a16:creationId xmlns:a16="http://schemas.microsoft.com/office/drawing/2014/main" id="{10B3933E-8520-831B-0F25-7055A515A18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1148" t="24089" r="11954" b="24730"/>
          <a:stretch/>
        </p:blipFill>
        <p:spPr bwMode="auto">
          <a:xfrm>
            <a:off x="9578069" y="1510599"/>
            <a:ext cx="294530" cy="280213"/>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5">
            <a:extLst>
              <a:ext uri="{FF2B5EF4-FFF2-40B4-BE49-F238E27FC236}">
                <a16:creationId xmlns:a16="http://schemas.microsoft.com/office/drawing/2014/main" id="{38CC6656-DB95-A3DF-ED8B-FC3B92996114}"/>
              </a:ext>
            </a:extLst>
          </p:cNvPr>
          <p:cNvSpPr txBox="1"/>
          <p:nvPr/>
        </p:nvSpPr>
        <p:spPr>
          <a:xfrm>
            <a:off x="385972" y="1070003"/>
            <a:ext cx="6975257" cy="5816977"/>
          </a:xfrm>
          <a:prstGeom prst="rect">
            <a:avLst/>
          </a:prstGeom>
          <a:noFill/>
        </p:spPr>
        <p:txBody>
          <a:bodyPr wrap="square" rtlCol="0">
            <a:spAutoFit/>
          </a:bodyPr>
          <a:lstStyle/>
          <a:p>
            <a:r>
              <a:rPr lang="en-CA" sz="2000" b="1"/>
              <a:t>Central data</a:t>
            </a:r>
          </a:p>
          <a:p>
            <a:pPr marL="742950" lvl="1" indent="-285750">
              <a:buFont typeface="Arial" panose="020B0604020202020204" pitchFamily="34" charset="0"/>
              <a:buChar char="•"/>
            </a:pPr>
            <a:r>
              <a:rPr lang="en-CA" sz="1600"/>
              <a:t>Limited, slow and manual BYOD</a:t>
            </a:r>
          </a:p>
          <a:p>
            <a:pPr marL="742950" lvl="1" indent="-285750">
              <a:buFont typeface="Arial" panose="020B0604020202020204" pitchFamily="34" charset="0"/>
              <a:buChar char="•"/>
            </a:pPr>
            <a:r>
              <a:rPr lang="en-CA" sz="1600"/>
              <a:t>Unclear how Lake can read other sources</a:t>
            </a:r>
          </a:p>
          <a:p>
            <a:pPr marL="742950" lvl="1" indent="-285750">
              <a:buFont typeface="Arial" panose="020B0604020202020204" pitchFamily="34" charset="0"/>
              <a:buChar char="•"/>
            </a:pPr>
            <a:r>
              <a:rPr lang="en-CA" sz="1600"/>
              <a:t>Behind Private Endpoint – limits integration capability</a:t>
            </a:r>
          </a:p>
          <a:p>
            <a:pPr lvl="1"/>
            <a:endParaRPr lang="en-CA" sz="1600"/>
          </a:p>
          <a:p>
            <a:r>
              <a:rPr lang="en-CA" sz="2000"/>
              <a:t>Flexible and timely </a:t>
            </a:r>
            <a:r>
              <a:rPr lang="en-CA" sz="2000" b="1"/>
              <a:t>updates</a:t>
            </a:r>
          </a:p>
          <a:p>
            <a:pPr marL="742950" lvl="1" indent="-285750">
              <a:buFont typeface="Arial" panose="020B0604020202020204" pitchFamily="34" charset="0"/>
              <a:buChar char="•"/>
            </a:pPr>
            <a:r>
              <a:rPr lang="en-CA" sz="1600"/>
              <a:t>Not possible for users to schedule updates/uploads of data, lack event-based triggers</a:t>
            </a:r>
          </a:p>
          <a:p>
            <a:pPr marL="742950" lvl="1" indent="-285750">
              <a:buFont typeface="Arial" panose="020B0604020202020204" pitchFamily="34" charset="0"/>
              <a:buChar char="•"/>
            </a:pPr>
            <a:r>
              <a:rPr lang="en-CA" sz="1600"/>
              <a:t>Near real-time not automatable</a:t>
            </a:r>
          </a:p>
          <a:p>
            <a:pPr marL="742950" lvl="1" indent="-285750">
              <a:buFont typeface="Arial" panose="020B0604020202020204" pitchFamily="34" charset="0"/>
              <a:buChar char="•"/>
            </a:pPr>
            <a:r>
              <a:rPr lang="en-CA" sz="1600"/>
              <a:t>Incremental generally not feasible</a:t>
            </a:r>
          </a:p>
          <a:p>
            <a:pPr lvl="1"/>
            <a:endParaRPr lang="en-CA" sz="1600"/>
          </a:p>
          <a:p>
            <a:r>
              <a:rPr lang="en-CA" sz="2000"/>
              <a:t>Efficient and streamlined </a:t>
            </a:r>
            <a:r>
              <a:rPr lang="en-CA" sz="2000" b="1"/>
              <a:t>analytics connected to their data</a:t>
            </a:r>
          </a:p>
          <a:p>
            <a:pPr marL="742950" lvl="1" indent="-285750">
              <a:buFont typeface="Arial" panose="020B0604020202020204" pitchFamily="34" charset="0"/>
              <a:buChar char="•"/>
            </a:pPr>
            <a:r>
              <a:rPr lang="en-CA" sz="1600"/>
              <a:t>Individual Cluster is slow to start and disconnects after 20m</a:t>
            </a:r>
          </a:p>
          <a:p>
            <a:pPr marL="742950" lvl="1" indent="-285750">
              <a:buFont typeface="Arial" panose="020B0604020202020204" pitchFamily="34" charset="0"/>
              <a:buChar char="•"/>
            </a:pPr>
            <a:r>
              <a:rPr lang="en-CA" sz="1600"/>
              <a:t>Shared Clusters are slower than legacy tech &amp; inconsistent</a:t>
            </a:r>
          </a:p>
          <a:p>
            <a:pPr marL="742950" lvl="1" indent="-285750">
              <a:buFont typeface="Arial" panose="020B0604020202020204" pitchFamily="34" charset="0"/>
              <a:buChar char="•"/>
            </a:pPr>
            <a:r>
              <a:rPr lang="en-CA" sz="1600"/>
              <a:t>Read from external tools is limited to ODBC (slow) and write-back not possible</a:t>
            </a:r>
          </a:p>
          <a:p>
            <a:pPr lvl="1"/>
            <a:endParaRPr lang="en-CA" sz="1600"/>
          </a:p>
          <a:p>
            <a:r>
              <a:rPr lang="en-CA" sz="2000"/>
              <a:t>Self-serve data </a:t>
            </a:r>
            <a:r>
              <a:rPr lang="en-CA" sz="2000" b="1"/>
              <a:t>access controls</a:t>
            </a:r>
          </a:p>
          <a:p>
            <a:pPr marL="742950" lvl="1" indent="-285750">
              <a:buFont typeface="Arial" panose="020B0604020202020204" pitchFamily="34" charset="0"/>
              <a:buChar char="•"/>
            </a:pPr>
            <a:r>
              <a:rPr lang="en-CA" sz="1600"/>
              <a:t>Schema level controls administered by third party. </a:t>
            </a:r>
          </a:p>
          <a:p>
            <a:pPr marL="742950" lvl="1" indent="-285750">
              <a:buFont typeface="Arial" panose="020B0604020202020204" pitchFamily="34" charset="0"/>
              <a:buChar char="•"/>
            </a:pPr>
            <a:r>
              <a:rPr lang="en-CA" sz="1600"/>
              <a:t>New AD groups regularly needed</a:t>
            </a:r>
          </a:p>
          <a:p>
            <a:pPr lvl="1"/>
            <a:endParaRPr lang="en-CA" sz="1800"/>
          </a:p>
          <a:p>
            <a:pPr marL="742950" lvl="1" indent="-285750">
              <a:buFont typeface="Arial" panose="020B0604020202020204" pitchFamily="34" charset="0"/>
              <a:buChar char="•"/>
            </a:pPr>
            <a:endParaRPr lang="en-CA" sz="1800"/>
          </a:p>
        </p:txBody>
      </p:sp>
      <p:pic>
        <p:nvPicPr>
          <p:cNvPr id="17" name="Picture 18" descr="Check Mark Transparent Images – Browse 19,974 Stock Photos, Vectors, and  Video | Adobe Stock">
            <a:extLst>
              <a:ext uri="{FF2B5EF4-FFF2-40B4-BE49-F238E27FC236}">
                <a16:creationId xmlns:a16="http://schemas.microsoft.com/office/drawing/2014/main" id="{9FA3E4D1-47FD-A34E-9104-BD4C56BB345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2444" t="24944" r="55427" b="23875"/>
          <a:stretch/>
        </p:blipFill>
        <p:spPr bwMode="auto">
          <a:xfrm>
            <a:off x="11714437" y="1833281"/>
            <a:ext cx="332846" cy="237736"/>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18" descr="Check Mark Transparent Images – Browse 19,974 Stock Photos, Vectors, and  Video | Adobe Stock">
            <a:extLst>
              <a:ext uri="{FF2B5EF4-FFF2-40B4-BE49-F238E27FC236}">
                <a16:creationId xmlns:a16="http://schemas.microsoft.com/office/drawing/2014/main" id="{D27497D8-30BD-8634-4CBF-657A118ADF5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2444" t="24944" r="55427" b="23875"/>
          <a:stretch/>
        </p:blipFill>
        <p:spPr bwMode="auto">
          <a:xfrm>
            <a:off x="11739357" y="2245652"/>
            <a:ext cx="332846" cy="237736"/>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8C0E16A9-10A5-41D0-7801-801CA83F4DCD}"/>
              </a:ext>
            </a:extLst>
          </p:cNvPr>
          <p:cNvSpPr/>
          <p:nvPr/>
        </p:nvSpPr>
        <p:spPr>
          <a:xfrm>
            <a:off x="9575909" y="2327462"/>
            <a:ext cx="307230" cy="64159"/>
          </a:xfrm>
          <a:prstGeom prst="rect">
            <a:avLst/>
          </a:prstGeom>
          <a:solidFill>
            <a:srgbClr val="FF993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6772" tIns="63386" rIns="126772" bIns="63386" numCol="1" spcCol="0" rtlCol="0" fromWordArt="0" anchor="ctr" anchorCtr="0" forceAA="0" compatLnSpc="1">
            <a:prstTxWarp prst="textNoShape">
              <a:avLst/>
            </a:prstTxWarp>
            <a:noAutofit/>
          </a:bodyPr>
          <a:lstStyle/>
          <a:p>
            <a:pPr marL="0" marR="0" indent="0" algn="l" defTabSz="914377" rtl="0" eaLnBrk="1" fontAlgn="auto" latinLnBrk="0" hangingPunct="1">
              <a:lnSpc>
                <a:spcPct val="100000"/>
              </a:lnSpc>
              <a:spcBef>
                <a:spcPts val="0"/>
              </a:spcBef>
              <a:spcAft>
                <a:spcPts val="0"/>
              </a:spcAft>
              <a:buClrTx/>
              <a:buSzTx/>
              <a:buFontTx/>
              <a:buNone/>
              <a:tabLst/>
            </a:pPr>
            <a:endParaRPr lang="en-CA" sz="1400" b="1" u="sng">
              <a:solidFill>
                <a:prstClr val="white"/>
              </a:solidFill>
              <a:latin typeface="Segoe UI"/>
            </a:endParaRPr>
          </a:p>
        </p:txBody>
      </p:sp>
      <p:sp>
        <p:nvSpPr>
          <p:cNvPr id="18" name="Rectangle 17">
            <a:extLst>
              <a:ext uri="{FF2B5EF4-FFF2-40B4-BE49-F238E27FC236}">
                <a16:creationId xmlns:a16="http://schemas.microsoft.com/office/drawing/2014/main" id="{5A32B75D-AAC3-3431-52A1-770218F59619}"/>
              </a:ext>
            </a:extLst>
          </p:cNvPr>
          <p:cNvSpPr/>
          <p:nvPr/>
        </p:nvSpPr>
        <p:spPr>
          <a:xfrm>
            <a:off x="11727245" y="1239950"/>
            <a:ext cx="307230" cy="64159"/>
          </a:xfrm>
          <a:prstGeom prst="rect">
            <a:avLst/>
          </a:prstGeom>
          <a:solidFill>
            <a:srgbClr val="FF993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6772" tIns="63386" rIns="126772" bIns="63386" numCol="1" spcCol="0" rtlCol="0" fromWordArt="0" anchor="ctr" anchorCtr="0" forceAA="0" compatLnSpc="1">
            <a:prstTxWarp prst="textNoShape">
              <a:avLst/>
            </a:prstTxWarp>
            <a:noAutofit/>
          </a:bodyPr>
          <a:lstStyle/>
          <a:p>
            <a:pPr marL="0" marR="0" indent="0" algn="l" defTabSz="914377" rtl="0" eaLnBrk="1" fontAlgn="auto" latinLnBrk="0" hangingPunct="1">
              <a:lnSpc>
                <a:spcPct val="100000"/>
              </a:lnSpc>
              <a:spcBef>
                <a:spcPts val="0"/>
              </a:spcBef>
              <a:spcAft>
                <a:spcPts val="0"/>
              </a:spcAft>
              <a:buClrTx/>
              <a:buSzTx/>
              <a:buFontTx/>
              <a:buNone/>
              <a:tabLst/>
            </a:pPr>
            <a:endParaRPr lang="en-CA" sz="1400" b="1" u="sng">
              <a:solidFill>
                <a:prstClr val="white"/>
              </a:solidFill>
              <a:latin typeface="Segoe UI"/>
            </a:endParaRPr>
          </a:p>
        </p:txBody>
      </p:sp>
      <p:sp>
        <p:nvSpPr>
          <p:cNvPr id="19" name="Rectangle 18">
            <a:extLst>
              <a:ext uri="{FF2B5EF4-FFF2-40B4-BE49-F238E27FC236}">
                <a16:creationId xmlns:a16="http://schemas.microsoft.com/office/drawing/2014/main" id="{0CBB83A4-FA57-E0F9-BA65-7A7B2CAD29D7}"/>
              </a:ext>
            </a:extLst>
          </p:cNvPr>
          <p:cNvSpPr/>
          <p:nvPr/>
        </p:nvSpPr>
        <p:spPr>
          <a:xfrm>
            <a:off x="11752165" y="1596596"/>
            <a:ext cx="307230" cy="64159"/>
          </a:xfrm>
          <a:prstGeom prst="rect">
            <a:avLst/>
          </a:prstGeom>
          <a:solidFill>
            <a:srgbClr val="FF993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6772" tIns="63386" rIns="126772" bIns="63386" numCol="1" spcCol="0" rtlCol="0" fromWordArt="0" anchor="ctr" anchorCtr="0" forceAA="0" compatLnSpc="1">
            <a:prstTxWarp prst="textNoShape">
              <a:avLst/>
            </a:prstTxWarp>
            <a:noAutofit/>
          </a:bodyPr>
          <a:lstStyle/>
          <a:p>
            <a:pPr marL="0" marR="0" indent="0" algn="l" defTabSz="914377" rtl="0" eaLnBrk="1" fontAlgn="auto" latinLnBrk="0" hangingPunct="1">
              <a:lnSpc>
                <a:spcPct val="100000"/>
              </a:lnSpc>
              <a:spcBef>
                <a:spcPts val="0"/>
              </a:spcBef>
              <a:spcAft>
                <a:spcPts val="0"/>
              </a:spcAft>
              <a:buClrTx/>
              <a:buSzTx/>
              <a:buFontTx/>
              <a:buNone/>
              <a:tabLst/>
            </a:pPr>
            <a:endParaRPr lang="en-CA" sz="1400" b="1" u="sng">
              <a:solidFill>
                <a:prstClr val="white"/>
              </a:solidFill>
              <a:latin typeface="Segoe UI"/>
            </a:endParaRPr>
          </a:p>
        </p:txBody>
      </p:sp>
    </p:spTree>
    <p:extLst>
      <p:ext uri="{BB962C8B-B14F-4D97-AF65-F5344CB8AC3E}">
        <p14:creationId xmlns:p14="http://schemas.microsoft.com/office/powerpoint/2010/main" val="35940211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377FC8CC-BF48-4372-ADBD-E108291B94CD}"/>
              </a:ext>
            </a:extLst>
          </p:cNvPr>
          <p:cNvSpPr txBox="1">
            <a:spLocks/>
          </p:cNvSpPr>
          <p:nvPr/>
        </p:nvSpPr>
        <p:spPr>
          <a:xfrm>
            <a:off x="422385" y="247277"/>
            <a:ext cx="11298775" cy="717269"/>
          </a:xfrm>
          <a:prstGeom prst="rect">
            <a:avLst/>
          </a:prstGeom>
        </p:spPr>
        <p:txBody>
          <a:bodyPr anchor="b">
            <a:normAutofit/>
          </a:bodyPr>
          <a:lstStyle>
            <a:lvl1pPr algn="l" defTabSz="914377" rtl="0" eaLnBrk="1" latinLnBrk="0" hangingPunct="1">
              <a:lnSpc>
                <a:spcPct val="90000"/>
              </a:lnSpc>
              <a:spcBef>
                <a:spcPct val="0"/>
              </a:spcBef>
              <a:buNone/>
              <a:defRPr sz="4000" u="none" kern="1200" spc="-100" baseline="0">
                <a:solidFill>
                  <a:schemeClr val="accent6"/>
                </a:solidFill>
                <a:uFill>
                  <a:solidFill>
                    <a:schemeClr val="tx2">
                      <a:lumMod val="60000"/>
                      <a:lumOff val="40000"/>
                    </a:schemeClr>
                  </a:solidFill>
                </a:uFill>
                <a:latin typeface="+mj-lt"/>
                <a:ea typeface="Segoe UI Black" panose="020B0A02040204020203" pitchFamily="34" charset="0"/>
                <a:cs typeface="Segoe UI Light" panose="020B0502040204020203" pitchFamily="34" charset="0"/>
              </a:defRPr>
            </a:lvl1pPr>
          </a:lstStyle>
          <a:p>
            <a:pPr marL="0" marR="0" lvl="0" indent="0" algn="ctr" defTabSz="914377" rtl="0" eaLnBrk="1" fontAlgn="auto" latinLnBrk="0" hangingPunct="1">
              <a:lnSpc>
                <a:spcPct val="90000"/>
              </a:lnSpc>
              <a:spcBef>
                <a:spcPct val="0"/>
              </a:spcBef>
              <a:spcAft>
                <a:spcPts val="0"/>
              </a:spcAft>
              <a:buClrTx/>
              <a:buSzTx/>
              <a:buFontTx/>
              <a:buNone/>
              <a:tabLst/>
              <a:defRPr/>
            </a:pPr>
            <a:r>
              <a:rPr lang="en-US">
                <a:solidFill>
                  <a:srgbClr val="31849B"/>
                </a:solidFill>
                <a:uFill>
                  <a:solidFill>
                    <a:srgbClr val="1F497D">
                      <a:lumMod val="60000"/>
                      <a:lumOff val="40000"/>
                    </a:srgbClr>
                  </a:solidFill>
                </a:uFill>
                <a:latin typeface="Segoe UI Semibold"/>
              </a:rPr>
              <a:t>Challenges with Current Power BI</a:t>
            </a:r>
            <a:endParaRPr kumimoji="0" lang="en-CA" sz="4000" b="0" i="0" u="none" strike="noStrike" kern="1200" cap="none" spc="-100" normalizeH="0" baseline="0" noProof="0">
              <a:ln>
                <a:noFill/>
              </a:ln>
              <a:solidFill>
                <a:srgbClr val="31849B"/>
              </a:solidFill>
              <a:effectLst/>
              <a:uLnTx/>
              <a:uFill>
                <a:solidFill>
                  <a:srgbClr val="1F497D">
                    <a:lumMod val="60000"/>
                    <a:lumOff val="40000"/>
                  </a:srgbClr>
                </a:solidFill>
              </a:uFill>
              <a:latin typeface="Segoe UI Semibold"/>
              <a:ea typeface="Segoe UI Black" panose="020B0A02040204020203" pitchFamily="34" charset="0"/>
              <a:cs typeface="Segoe UI Light" panose="020B0502040204020203" pitchFamily="34" charset="0"/>
            </a:endParaRPr>
          </a:p>
        </p:txBody>
      </p:sp>
      <p:sp>
        <p:nvSpPr>
          <p:cNvPr id="3" name="Content Placeholder 1">
            <a:extLst>
              <a:ext uri="{FF2B5EF4-FFF2-40B4-BE49-F238E27FC236}">
                <a16:creationId xmlns:a16="http://schemas.microsoft.com/office/drawing/2014/main" id="{F18B3A7A-0FEA-575A-76EE-3BF6578AA256}"/>
              </a:ext>
            </a:extLst>
          </p:cNvPr>
          <p:cNvSpPr txBox="1">
            <a:spLocks/>
          </p:cNvSpPr>
          <p:nvPr/>
        </p:nvSpPr>
        <p:spPr>
          <a:xfrm>
            <a:off x="5961528" y="1531474"/>
            <a:ext cx="5399999" cy="5326525"/>
          </a:xfrm>
          <a:prstGeom prst="rect">
            <a:avLst/>
          </a:prstGeom>
        </p:spPr>
        <p:txBody>
          <a:bodyPr vert="horz" lIns="0" tIns="0" rIns="0" bIns="0" rtlCol="0" anchor="ctr" anchorCtr="0">
            <a:normAutofit/>
          </a:bodyPr>
          <a:lstStyle>
            <a:lvl1pPr marL="228594" indent="-228594" algn="l" defTabSz="914377" rtl="0" eaLnBrk="1" latinLnBrk="0" hangingPunct="1">
              <a:lnSpc>
                <a:spcPct val="90000"/>
              </a:lnSpc>
              <a:spcBef>
                <a:spcPts val="1800"/>
              </a:spcBef>
              <a:buFont typeface="Wingdings" panose="05000000000000000000" pitchFamily="2" charset="2"/>
              <a:buChar char="§"/>
              <a:defRPr sz="2600" kern="1200" spc="0" baseline="0">
                <a:solidFill>
                  <a:schemeClr val="tx1">
                    <a:lumMod val="75000"/>
                    <a:lumOff val="25000"/>
                  </a:schemeClr>
                </a:solidFill>
                <a:latin typeface="+mn-lt"/>
                <a:ea typeface="+mn-ea"/>
                <a:cs typeface="Segoe UI" panose="020B0502040204020203" pitchFamily="34" charset="0"/>
              </a:defRPr>
            </a:lvl1pPr>
            <a:lvl2pPr marL="450839" indent="-228594" algn="l" defTabSz="914377" rtl="0" eaLnBrk="1" latinLnBrk="0" hangingPunct="1">
              <a:lnSpc>
                <a:spcPct val="90000"/>
              </a:lnSpc>
              <a:spcBef>
                <a:spcPts val="600"/>
              </a:spcBef>
              <a:buFont typeface="Segoe UI" panose="020B0502040204020203" pitchFamily="34" charset="0"/>
              <a:buChar char="›"/>
              <a:defRPr sz="2200" kern="1200" spc="0">
                <a:solidFill>
                  <a:schemeClr val="tx1">
                    <a:lumMod val="75000"/>
                    <a:lumOff val="25000"/>
                  </a:schemeClr>
                </a:solidFill>
                <a:latin typeface="+mn-lt"/>
                <a:ea typeface="+mn-ea"/>
                <a:cs typeface="Segoe UI" panose="020B0502040204020203" pitchFamily="34" charset="0"/>
              </a:defRPr>
            </a:lvl2pPr>
            <a:lvl3pPr marL="714357" indent="-228594" algn="l" defTabSz="914377" rtl="0" eaLnBrk="1" latinLnBrk="0" hangingPunct="1">
              <a:lnSpc>
                <a:spcPct val="90000"/>
              </a:lnSpc>
              <a:spcBef>
                <a:spcPts val="300"/>
              </a:spcBef>
              <a:buFont typeface="Segoe UI" panose="020B0502040204020203" pitchFamily="34" charset="0"/>
              <a:buChar char="›"/>
              <a:defRPr sz="2000" kern="1200" spc="0">
                <a:solidFill>
                  <a:schemeClr val="tx1">
                    <a:lumMod val="75000"/>
                    <a:lumOff val="25000"/>
                  </a:schemeClr>
                </a:solidFill>
                <a:latin typeface="+mn-lt"/>
                <a:ea typeface="+mn-ea"/>
                <a:cs typeface="Segoe UI" panose="020B0502040204020203" pitchFamily="34" charset="0"/>
              </a:defRPr>
            </a:lvl3pPr>
            <a:lvl4pPr marL="985814" indent="-228594" algn="l" defTabSz="914377" rtl="0" eaLnBrk="1" latinLnBrk="0" hangingPunct="1">
              <a:lnSpc>
                <a:spcPct val="90000"/>
              </a:lnSpc>
              <a:spcBef>
                <a:spcPts val="0"/>
              </a:spcBef>
              <a:buFont typeface="Segoe UI" panose="020B0502040204020203" pitchFamily="34" charset="0"/>
              <a:buChar char="›"/>
              <a:defRPr sz="2000" kern="1200" spc="0">
                <a:solidFill>
                  <a:schemeClr val="tx1">
                    <a:lumMod val="75000"/>
                    <a:lumOff val="25000"/>
                  </a:schemeClr>
                </a:solidFill>
                <a:latin typeface="+mn-lt"/>
                <a:ea typeface="+mn-ea"/>
                <a:cs typeface="Segoe UI" panose="020B0502040204020203" pitchFamily="34" charset="0"/>
              </a:defRPr>
            </a:lvl4pPr>
            <a:lvl5pPr marL="1257269" indent="-228594" algn="l" defTabSz="914377" rtl="0" eaLnBrk="1" latinLnBrk="0" hangingPunct="1">
              <a:lnSpc>
                <a:spcPct val="90000"/>
              </a:lnSpc>
              <a:spcBef>
                <a:spcPts val="0"/>
              </a:spcBef>
              <a:buFont typeface="Segoe UI" panose="020B0502040204020203" pitchFamily="34" charset="0"/>
              <a:buChar char="›"/>
              <a:defRPr sz="2000" kern="1200" spc="0">
                <a:solidFill>
                  <a:schemeClr val="tx1">
                    <a:lumMod val="75000"/>
                    <a:lumOff val="25000"/>
                  </a:schemeClr>
                </a:solidFill>
                <a:latin typeface="+mn-lt"/>
                <a:ea typeface="+mn-ea"/>
                <a:cs typeface="Segoe UI" panose="020B0502040204020203"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endParaRPr lang="en-CA" sz="2600"/>
          </a:p>
        </p:txBody>
      </p:sp>
      <p:graphicFrame>
        <p:nvGraphicFramePr>
          <p:cNvPr id="2" name="Table 1">
            <a:extLst>
              <a:ext uri="{FF2B5EF4-FFF2-40B4-BE49-F238E27FC236}">
                <a16:creationId xmlns:a16="http://schemas.microsoft.com/office/drawing/2014/main" id="{598A0B47-E256-36E7-56C8-C2655FF11851}"/>
              </a:ext>
            </a:extLst>
          </p:cNvPr>
          <p:cNvGraphicFramePr>
            <a:graphicFrameLocks noGrp="1"/>
          </p:cNvGraphicFramePr>
          <p:nvPr>
            <p:extLst>
              <p:ext uri="{D42A27DB-BD31-4B8C-83A1-F6EECF244321}">
                <p14:modId xmlns:p14="http://schemas.microsoft.com/office/powerpoint/2010/main" val="3001873668"/>
              </p:ext>
            </p:extLst>
          </p:nvPr>
        </p:nvGraphicFramePr>
        <p:xfrm>
          <a:off x="7628916" y="1070003"/>
          <a:ext cx="4481603" cy="1483360"/>
        </p:xfrm>
        <a:graphic>
          <a:graphicData uri="http://schemas.openxmlformats.org/drawingml/2006/table">
            <a:tbl>
              <a:tblPr firstRow="1" bandRow="1">
                <a:tableStyleId>{5940675A-B579-460E-94D1-54222C63F5DA}</a:tableStyleId>
              </a:tblPr>
              <a:tblGrid>
                <a:gridCol w="1890908">
                  <a:extLst>
                    <a:ext uri="{9D8B030D-6E8A-4147-A177-3AD203B41FA5}">
                      <a16:colId xmlns:a16="http://schemas.microsoft.com/office/drawing/2014/main" val="1751389579"/>
                    </a:ext>
                  </a:extLst>
                </a:gridCol>
                <a:gridCol w="422822">
                  <a:extLst>
                    <a:ext uri="{9D8B030D-6E8A-4147-A177-3AD203B41FA5}">
                      <a16:colId xmlns:a16="http://schemas.microsoft.com/office/drawing/2014/main" val="845163977"/>
                    </a:ext>
                  </a:extLst>
                </a:gridCol>
                <a:gridCol w="1743581">
                  <a:extLst>
                    <a:ext uri="{9D8B030D-6E8A-4147-A177-3AD203B41FA5}">
                      <a16:colId xmlns:a16="http://schemas.microsoft.com/office/drawing/2014/main" val="2798683742"/>
                    </a:ext>
                  </a:extLst>
                </a:gridCol>
                <a:gridCol w="424292">
                  <a:extLst>
                    <a:ext uri="{9D8B030D-6E8A-4147-A177-3AD203B41FA5}">
                      <a16:colId xmlns:a16="http://schemas.microsoft.com/office/drawing/2014/main" val="2443295495"/>
                    </a:ext>
                  </a:extLst>
                </a:gridCol>
              </a:tblGrid>
              <a:tr h="370840">
                <a:tc>
                  <a:txBody>
                    <a:bodyPr/>
                    <a:lstStyle/>
                    <a:p>
                      <a:r>
                        <a:rPr lang="en-CA" sz="1400"/>
                        <a:t>Central Data</a:t>
                      </a:r>
                    </a:p>
                  </a:txBody>
                  <a:tcPr>
                    <a:solidFill>
                      <a:schemeClr val="bg1"/>
                    </a:solidFill>
                  </a:tcPr>
                </a:tc>
                <a:tc>
                  <a:txBody>
                    <a:bodyPr/>
                    <a:lstStyle/>
                    <a:p>
                      <a:endParaRPr lang="en-CA" sz="1400"/>
                    </a:p>
                  </a:txBody>
                  <a:tcPr>
                    <a:solidFill>
                      <a:schemeClr val="bg1"/>
                    </a:solidFill>
                  </a:tcPr>
                </a:tc>
                <a:tc>
                  <a:txBody>
                    <a:bodyPr/>
                    <a:lstStyle/>
                    <a:p>
                      <a:r>
                        <a:rPr lang="en-CA" sz="1400"/>
                        <a:t>Integrated Visuals</a:t>
                      </a:r>
                    </a:p>
                  </a:txBody>
                  <a:tcPr>
                    <a:solidFill>
                      <a:schemeClr val="bg1"/>
                    </a:solidFill>
                  </a:tcPr>
                </a:tc>
                <a:tc>
                  <a:txBody>
                    <a:bodyPr/>
                    <a:lstStyle/>
                    <a:p>
                      <a:endParaRPr lang="en-CA" sz="1400"/>
                    </a:p>
                  </a:txBody>
                  <a:tcPr>
                    <a:solidFill>
                      <a:schemeClr val="bg1"/>
                    </a:solidFill>
                  </a:tcPr>
                </a:tc>
                <a:extLst>
                  <a:ext uri="{0D108BD9-81ED-4DB2-BD59-A6C34878D82A}">
                    <a16:rowId xmlns:a16="http://schemas.microsoft.com/office/drawing/2014/main" val="2259770833"/>
                  </a:ext>
                </a:extLst>
              </a:tr>
              <a:tr h="370840">
                <a:tc>
                  <a:txBody>
                    <a:bodyPr/>
                    <a:lstStyle/>
                    <a:p>
                      <a:r>
                        <a:rPr lang="en-CA" sz="1400"/>
                        <a:t>Update Control</a:t>
                      </a:r>
                    </a:p>
                  </a:txBody>
                  <a:tcPr>
                    <a:solidFill>
                      <a:schemeClr val="bg1"/>
                    </a:solidFill>
                  </a:tcPr>
                </a:tc>
                <a:tc>
                  <a:txBody>
                    <a:bodyPr/>
                    <a:lstStyle/>
                    <a:p>
                      <a:endParaRPr lang="en-CA" sz="1400"/>
                    </a:p>
                  </a:txBody>
                  <a:tcPr>
                    <a:solidFill>
                      <a:schemeClr val="bg1"/>
                    </a:solidFill>
                  </a:tcPr>
                </a:tc>
                <a:tc>
                  <a:txBody>
                    <a:bodyPr/>
                    <a:lstStyle/>
                    <a:p>
                      <a:r>
                        <a:rPr lang="en-CA" sz="1400"/>
                        <a:t>Process Monitoring</a:t>
                      </a:r>
                    </a:p>
                  </a:txBody>
                  <a:tcPr>
                    <a:solidFill>
                      <a:schemeClr val="bg1"/>
                    </a:solidFill>
                  </a:tcPr>
                </a:tc>
                <a:tc>
                  <a:txBody>
                    <a:bodyPr/>
                    <a:lstStyle/>
                    <a:p>
                      <a:endParaRPr lang="en-CA" sz="1400"/>
                    </a:p>
                  </a:txBody>
                  <a:tcPr>
                    <a:solidFill>
                      <a:schemeClr val="bg1"/>
                    </a:solidFill>
                  </a:tcPr>
                </a:tc>
                <a:extLst>
                  <a:ext uri="{0D108BD9-81ED-4DB2-BD59-A6C34878D82A}">
                    <a16:rowId xmlns:a16="http://schemas.microsoft.com/office/drawing/2014/main" val="3119633920"/>
                  </a:ext>
                </a:extLst>
              </a:tr>
              <a:tr h="370840">
                <a:tc>
                  <a:txBody>
                    <a:bodyPr/>
                    <a:lstStyle/>
                    <a:p>
                      <a:r>
                        <a:rPr lang="en-CA" sz="1400"/>
                        <a:t>Analytics w/ Data</a:t>
                      </a:r>
                    </a:p>
                  </a:txBody>
                  <a:tcPr>
                    <a:solidFill>
                      <a:schemeClr val="bg1"/>
                    </a:solidFill>
                  </a:tcPr>
                </a:tc>
                <a:tc>
                  <a:txBody>
                    <a:bodyPr/>
                    <a:lstStyle/>
                    <a:p>
                      <a:endParaRPr lang="en-CA" sz="1400"/>
                    </a:p>
                  </a:txBody>
                  <a:tcPr>
                    <a:solidFill>
                      <a:schemeClr val="bg1"/>
                    </a:solidFill>
                  </a:tcPr>
                </a:tc>
                <a:tc>
                  <a:txBody>
                    <a:bodyPr/>
                    <a:lstStyle/>
                    <a:p>
                      <a:r>
                        <a:rPr lang="en-CA" sz="1400"/>
                        <a:t>Process Resilience</a:t>
                      </a:r>
                    </a:p>
                  </a:txBody>
                  <a:tcPr>
                    <a:solidFill>
                      <a:schemeClr val="bg1"/>
                    </a:solidFill>
                  </a:tcPr>
                </a:tc>
                <a:tc>
                  <a:txBody>
                    <a:bodyPr/>
                    <a:lstStyle/>
                    <a:p>
                      <a:endParaRPr lang="en-CA" sz="1400"/>
                    </a:p>
                  </a:txBody>
                  <a:tcPr>
                    <a:solidFill>
                      <a:schemeClr val="bg1"/>
                    </a:solidFill>
                  </a:tcPr>
                </a:tc>
                <a:extLst>
                  <a:ext uri="{0D108BD9-81ED-4DB2-BD59-A6C34878D82A}">
                    <a16:rowId xmlns:a16="http://schemas.microsoft.com/office/drawing/2014/main" val="4025869636"/>
                  </a:ext>
                </a:extLst>
              </a:tr>
              <a:tr h="370840">
                <a:tc>
                  <a:txBody>
                    <a:bodyPr/>
                    <a:lstStyle/>
                    <a:p>
                      <a:r>
                        <a:rPr lang="en-CA" sz="1400"/>
                        <a:t>Access Controls</a:t>
                      </a:r>
                    </a:p>
                  </a:txBody>
                  <a:tcPr>
                    <a:solidFill>
                      <a:schemeClr val="bg1"/>
                    </a:solidFill>
                  </a:tcPr>
                </a:tc>
                <a:tc>
                  <a:txBody>
                    <a:bodyPr/>
                    <a:lstStyle/>
                    <a:p>
                      <a:endParaRPr lang="en-CA" sz="1400"/>
                    </a:p>
                  </a:txBody>
                  <a:tcPr>
                    <a:solidFill>
                      <a:schemeClr val="bg1"/>
                    </a:solidFill>
                  </a:tcPr>
                </a:tc>
                <a:tc>
                  <a:txBody>
                    <a:bodyPr/>
                    <a:lstStyle/>
                    <a:p>
                      <a:r>
                        <a:rPr lang="en-CA" sz="1400"/>
                        <a:t>Accelerators</a:t>
                      </a:r>
                    </a:p>
                  </a:txBody>
                  <a:tcPr>
                    <a:solidFill>
                      <a:schemeClr val="bg1"/>
                    </a:solidFill>
                  </a:tcPr>
                </a:tc>
                <a:tc>
                  <a:txBody>
                    <a:bodyPr/>
                    <a:lstStyle/>
                    <a:p>
                      <a:endParaRPr lang="en-CA" sz="1400"/>
                    </a:p>
                  </a:txBody>
                  <a:tcPr>
                    <a:solidFill>
                      <a:schemeClr val="bg1"/>
                    </a:solidFill>
                  </a:tcPr>
                </a:tc>
                <a:extLst>
                  <a:ext uri="{0D108BD9-81ED-4DB2-BD59-A6C34878D82A}">
                    <a16:rowId xmlns:a16="http://schemas.microsoft.com/office/drawing/2014/main" val="1717208953"/>
                  </a:ext>
                </a:extLst>
              </a:tr>
            </a:tbl>
          </a:graphicData>
        </a:graphic>
      </p:graphicFrame>
      <p:pic>
        <p:nvPicPr>
          <p:cNvPr id="5" name="Picture 18" descr="Check Mark Transparent Images – Browse 19,974 Stock Photos, Vectors, and  Video | Adobe Stock">
            <a:extLst>
              <a:ext uri="{FF2B5EF4-FFF2-40B4-BE49-F238E27FC236}">
                <a16:creationId xmlns:a16="http://schemas.microsoft.com/office/drawing/2014/main" id="{7259A9B7-56B6-1289-77EB-0AF3947E80F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1148" t="24089" r="11954" b="24730"/>
          <a:stretch/>
        </p:blipFill>
        <p:spPr bwMode="auto">
          <a:xfrm>
            <a:off x="9575909" y="1890096"/>
            <a:ext cx="294530" cy="280213"/>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18" descr="Check Mark Transparent Images – Browse 19,974 Stock Photos, Vectors, and  Video | Adobe Stock">
            <a:extLst>
              <a:ext uri="{FF2B5EF4-FFF2-40B4-BE49-F238E27FC236}">
                <a16:creationId xmlns:a16="http://schemas.microsoft.com/office/drawing/2014/main" id="{779982CA-89BC-837D-85A8-02D0FE292B4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1148" t="24089" r="11954" b="24730"/>
          <a:stretch/>
        </p:blipFill>
        <p:spPr bwMode="auto">
          <a:xfrm>
            <a:off x="9588609" y="1111923"/>
            <a:ext cx="294530" cy="280213"/>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18" descr="Check Mark Transparent Images – Browse 19,974 Stock Photos, Vectors, and  Video | Adobe Stock">
            <a:extLst>
              <a:ext uri="{FF2B5EF4-FFF2-40B4-BE49-F238E27FC236}">
                <a16:creationId xmlns:a16="http://schemas.microsoft.com/office/drawing/2014/main" id="{4BF775FF-053F-7F44-1E8C-4E2A2ADD6F8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1148" t="24089" r="11954" b="24730"/>
          <a:stretch/>
        </p:blipFill>
        <p:spPr bwMode="auto">
          <a:xfrm>
            <a:off x="9578069" y="1510599"/>
            <a:ext cx="294530" cy="280213"/>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8" descr="Check Mark Transparent Images – Browse 19,974 Stock Photos, Vectors, and  Video | Adobe Stock">
            <a:extLst>
              <a:ext uri="{FF2B5EF4-FFF2-40B4-BE49-F238E27FC236}">
                <a16:creationId xmlns:a16="http://schemas.microsoft.com/office/drawing/2014/main" id="{94360FA2-EB6F-4087-10A2-F1D263B0F75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1148" t="24089" r="11954" b="24730"/>
          <a:stretch/>
        </p:blipFill>
        <p:spPr bwMode="auto">
          <a:xfrm>
            <a:off x="11777673" y="1476354"/>
            <a:ext cx="294530" cy="280213"/>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8" descr="Check Mark Transparent Images – Browse 19,974 Stock Photos, Vectors, and  Video | Adobe Stock">
            <a:extLst>
              <a:ext uri="{FF2B5EF4-FFF2-40B4-BE49-F238E27FC236}">
                <a16:creationId xmlns:a16="http://schemas.microsoft.com/office/drawing/2014/main" id="{8F9C3A6C-1F29-7255-037A-DD140DC5F3C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2444" t="24944" r="55427" b="23875"/>
          <a:stretch/>
        </p:blipFill>
        <p:spPr bwMode="auto">
          <a:xfrm>
            <a:off x="11721160" y="1133161"/>
            <a:ext cx="332846" cy="237736"/>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8" descr="Check Mark Transparent Images – Browse 19,974 Stock Photos, Vectors, and  Video | Adobe Stock">
            <a:extLst>
              <a:ext uri="{FF2B5EF4-FFF2-40B4-BE49-F238E27FC236}">
                <a16:creationId xmlns:a16="http://schemas.microsoft.com/office/drawing/2014/main" id="{49C4C51E-427B-3015-E161-8C42234AF6B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1148" t="24089" r="11954" b="24730"/>
          <a:stretch/>
        </p:blipFill>
        <p:spPr bwMode="auto">
          <a:xfrm>
            <a:off x="11740318" y="1882705"/>
            <a:ext cx="294530" cy="280213"/>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18" descr="Check Mark Transparent Images – Browse 19,974 Stock Photos, Vectors, and  Video | Adobe Stock">
            <a:extLst>
              <a:ext uri="{FF2B5EF4-FFF2-40B4-BE49-F238E27FC236}">
                <a16:creationId xmlns:a16="http://schemas.microsoft.com/office/drawing/2014/main" id="{1FA85DA1-DD42-20C0-3A44-4C4F5CACC60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2444" t="24944" r="55427" b="23875"/>
          <a:stretch/>
        </p:blipFill>
        <p:spPr bwMode="auto">
          <a:xfrm>
            <a:off x="11740318" y="2241167"/>
            <a:ext cx="332846" cy="237736"/>
          </a:xfrm>
          <a:prstGeom prst="rect">
            <a:avLst/>
          </a:prstGeom>
          <a:noFill/>
          <a:extLst>
            <a:ext uri="{909E8E84-426E-40DD-AFC4-6F175D3DCCD1}">
              <a14:hiddenFill xmlns:a14="http://schemas.microsoft.com/office/drawing/2010/main">
                <a:solidFill>
                  <a:srgbClr val="FFFFFF"/>
                </a:solidFill>
              </a14:hiddenFill>
            </a:ext>
          </a:extLst>
        </p:spPr>
      </p:pic>
      <p:sp>
        <p:nvSpPr>
          <p:cNvPr id="19" name="TextBox 18">
            <a:extLst>
              <a:ext uri="{FF2B5EF4-FFF2-40B4-BE49-F238E27FC236}">
                <a16:creationId xmlns:a16="http://schemas.microsoft.com/office/drawing/2014/main" id="{3CC5609B-B15B-29EE-2929-EBBAB4662113}"/>
              </a:ext>
            </a:extLst>
          </p:cNvPr>
          <p:cNvSpPr txBox="1"/>
          <p:nvPr/>
        </p:nvSpPr>
        <p:spPr>
          <a:xfrm>
            <a:off x="557453" y="1392136"/>
            <a:ext cx="5873589" cy="5139869"/>
          </a:xfrm>
          <a:prstGeom prst="rect">
            <a:avLst/>
          </a:prstGeom>
          <a:noFill/>
        </p:spPr>
        <p:txBody>
          <a:bodyPr wrap="square">
            <a:spAutoFit/>
          </a:bodyPr>
          <a:lstStyle/>
          <a:p>
            <a:r>
              <a:rPr lang="en-CA" sz="2000" b="1"/>
              <a:t>Central data</a:t>
            </a:r>
          </a:p>
          <a:p>
            <a:pPr marL="742950" lvl="1" indent="-285750">
              <a:buFont typeface="Arial" panose="020B0604020202020204" pitchFamily="34" charset="0"/>
              <a:buChar char="•"/>
            </a:pPr>
            <a:r>
              <a:rPr lang="en-CA" sz="1600"/>
              <a:t>Slow and involved process to bring data from Databricks to PBI, incremental problematic</a:t>
            </a:r>
          </a:p>
          <a:p>
            <a:pPr marL="742950" lvl="1" indent="-285750">
              <a:buFont typeface="Arial" panose="020B0604020202020204" pitchFamily="34" charset="0"/>
              <a:buChar char="•"/>
            </a:pPr>
            <a:r>
              <a:rPr lang="en-CA" sz="1600"/>
              <a:t>Need to serve data to users in 2 environments</a:t>
            </a:r>
          </a:p>
          <a:p>
            <a:pPr lvl="1"/>
            <a:endParaRPr lang="en-CA" sz="1600"/>
          </a:p>
          <a:p>
            <a:r>
              <a:rPr lang="en-CA" sz="2000"/>
              <a:t>Flexible and timely </a:t>
            </a:r>
            <a:r>
              <a:rPr lang="en-CA" sz="2000" b="1"/>
              <a:t>updates</a:t>
            </a:r>
          </a:p>
          <a:p>
            <a:pPr marL="742950" lvl="1" indent="-285750">
              <a:buFont typeface="Arial" panose="020B0604020202020204" pitchFamily="34" charset="0"/>
              <a:buChar char="•"/>
            </a:pPr>
            <a:r>
              <a:rPr lang="en-CA" sz="1600"/>
              <a:t>Incremental loads is not reliable</a:t>
            </a:r>
          </a:p>
          <a:p>
            <a:pPr marL="742950" lvl="1" indent="-285750">
              <a:buFont typeface="Arial" panose="020B0604020202020204" pitchFamily="34" charset="0"/>
              <a:buChar char="•"/>
            </a:pPr>
            <a:r>
              <a:rPr lang="en-CA" sz="1600"/>
              <a:t>Near real-time not optimal</a:t>
            </a:r>
          </a:p>
          <a:p>
            <a:pPr marL="742950" lvl="1" indent="-285750">
              <a:buFont typeface="Arial" panose="020B0604020202020204" pitchFamily="34" charset="0"/>
              <a:buChar char="•"/>
            </a:pPr>
            <a:r>
              <a:rPr lang="en-CA" sz="1600"/>
              <a:t>Manual intervention required to get updated data</a:t>
            </a:r>
          </a:p>
          <a:p>
            <a:pPr lvl="1"/>
            <a:endParaRPr lang="en-CA" sz="1600"/>
          </a:p>
          <a:p>
            <a:r>
              <a:rPr lang="en-CA" sz="2000"/>
              <a:t>Efficient and streamlined </a:t>
            </a:r>
            <a:r>
              <a:rPr lang="en-CA" sz="2000" b="1"/>
              <a:t>analytics connected to their data</a:t>
            </a:r>
          </a:p>
          <a:p>
            <a:pPr marL="742950" lvl="1" indent="-285750">
              <a:buFont typeface="Arial" panose="020B0604020202020204" pitchFamily="34" charset="0"/>
              <a:buChar char="•"/>
            </a:pPr>
            <a:r>
              <a:rPr lang="en-CA" sz="1600"/>
              <a:t>Limited data transformation capabilities</a:t>
            </a:r>
          </a:p>
          <a:p>
            <a:pPr lvl="1"/>
            <a:endParaRPr lang="en-CA" sz="1600"/>
          </a:p>
          <a:p>
            <a:r>
              <a:rPr lang="en-CA" sz="2000"/>
              <a:t>Self-serve data </a:t>
            </a:r>
            <a:r>
              <a:rPr lang="en-CA" sz="2000" b="1"/>
              <a:t>access controls</a:t>
            </a:r>
          </a:p>
          <a:p>
            <a:pPr marL="742950" lvl="1" indent="-285750">
              <a:buFont typeface="Arial" panose="020B0604020202020204" pitchFamily="34" charset="0"/>
              <a:buChar char="•"/>
            </a:pPr>
            <a:r>
              <a:rPr lang="en-CA" sz="1600"/>
              <a:t>Difficult to organize content in Workspace</a:t>
            </a:r>
          </a:p>
          <a:p>
            <a:pPr lvl="1"/>
            <a:endParaRPr lang="en-CA" sz="1600"/>
          </a:p>
          <a:p>
            <a:r>
              <a:rPr lang="en-CA" sz="2000"/>
              <a:t>Integrated </a:t>
            </a:r>
            <a:r>
              <a:rPr lang="en-CA" sz="2000" b="1"/>
              <a:t>visualization</a:t>
            </a:r>
          </a:p>
          <a:p>
            <a:pPr marL="742950" lvl="1" indent="-285750">
              <a:buFont typeface="Arial" panose="020B0604020202020204" pitchFamily="34" charset="0"/>
              <a:buChar char="•"/>
            </a:pPr>
            <a:r>
              <a:rPr lang="en-CA" sz="1600"/>
              <a:t>Code-based visualization is not enabled</a:t>
            </a:r>
          </a:p>
        </p:txBody>
      </p:sp>
      <p:sp>
        <p:nvSpPr>
          <p:cNvPr id="20" name="TextBox 19">
            <a:extLst>
              <a:ext uri="{FF2B5EF4-FFF2-40B4-BE49-F238E27FC236}">
                <a16:creationId xmlns:a16="http://schemas.microsoft.com/office/drawing/2014/main" id="{17F128EB-6F8E-6DBF-1E8D-D684862D10DE}"/>
              </a:ext>
            </a:extLst>
          </p:cNvPr>
          <p:cNvSpPr txBox="1"/>
          <p:nvPr/>
        </p:nvSpPr>
        <p:spPr>
          <a:xfrm>
            <a:off x="6385634" y="2511621"/>
            <a:ext cx="6094820" cy="3693319"/>
          </a:xfrm>
          <a:prstGeom prst="rect">
            <a:avLst/>
          </a:prstGeom>
          <a:noFill/>
        </p:spPr>
        <p:txBody>
          <a:bodyPr wrap="square">
            <a:spAutoFit/>
          </a:bodyPr>
          <a:lstStyle/>
          <a:p>
            <a:pPr lvl="1"/>
            <a:endParaRPr lang="en-CA"/>
          </a:p>
          <a:p>
            <a:r>
              <a:rPr lang="en-CA"/>
              <a:t>Flexible and scalable scheduling and </a:t>
            </a:r>
            <a:r>
              <a:rPr lang="en-CA" b="1"/>
              <a:t>monitoring of processes</a:t>
            </a:r>
          </a:p>
          <a:p>
            <a:pPr marL="742950" lvl="1" indent="-285750">
              <a:buFont typeface="Arial" panose="020B0604020202020204" pitchFamily="34" charset="0"/>
              <a:buChar char="•"/>
            </a:pPr>
            <a:r>
              <a:rPr lang="en-CA"/>
              <a:t>Limited monitoring of workflows only</a:t>
            </a:r>
          </a:p>
          <a:p>
            <a:pPr lvl="1"/>
            <a:endParaRPr lang="en-CA"/>
          </a:p>
          <a:p>
            <a:r>
              <a:rPr lang="en-CA" b="1"/>
              <a:t>Resiliency</a:t>
            </a:r>
            <a:r>
              <a:rPr lang="en-CA"/>
              <a:t> of code and data</a:t>
            </a:r>
          </a:p>
          <a:p>
            <a:pPr marL="742950" lvl="1" indent="-285750">
              <a:buFont typeface="Arial" panose="020B0604020202020204" pitchFamily="34" charset="0"/>
              <a:buChar char="•"/>
            </a:pPr>
            <a:r>
              <a:rPr lang="en-CA"/>
              <a:t>Creation of PBI semantic model is manual</a:t>
            </a:r>
          </a:p>
          <a:p>
            <a:pPr marL="742950" lvl="1" indent="-285750">
              <a:buFont typeface="Arial" panose="020B0604020202020204" pitchFamily="34" charset="0"/>
              <a:buChar char="•"/>
            </a:pPr>
            <a:r>
              <a:rPr lang="en-CA"/>
              <a:t>No back-up possible except semantic model</a:t>
            </a:r>
          </a:p>
          <a:p>
            <a:pPr lvl="1"/>
            <a:endParaRPr lang="en-CA"/>
          </a:p>
          <a:p>
            <a:r>
              <a:rPr lang="en-CA"/>
              <a:t>Availability of </a:t>
            </a:r>
            <a:r>
              <a:rPr lang="en-CA" b="1"/>
              <a:t>templates to accelerate </a:t>
            </a:r>
            <a:r>
              <a:rPr lang="en-CA"/>
              <a:t>outcomes</a:t>
            </a:r>
          </a:p>
          <a:p>
            <a:pPr marL="285750" indent="-285750">
              <a:buFont typeface="Arial" panose="020B0604020202020204" pitchFamily="34" charset="0"/>
              <a:buChar char="•"/>
            </a:pPr>
            <a:r>
              <a:rPr lang="en-CA" sz="1800"/>
              <a:t>Limited to a PBI template report </a:t>
            </a:r>
          </a:p>
          <a:p>
            <a:endParaRPr lang="en-CA"/>
          </a:p>
          <a:p>
            <a:endParaRPr lang="en-CA"/>
          </a:p>
        </p:txBody>
      </p:sp>
      <p:sp>
        <p:nvSpPr>
          <p:cNvPr id="7" name="Rectangle 6">
            <a:extLst>
              <a:ext uri="{FF2B5EF4-FFF2-40B4-BE49-F238E27FC236}">
                <a16:creationId xmlns:a16="http://schemas.microsoft.com/office/drawing/2014/main" id="{93C23A66-432C-5C97-AA52-278ED3C16B6C}"/>
              </a:ext>
            </a:extLst>
          </p:cNvPr>
          <p:cNvSpPr/>
          <p:nvPr/>
        </p:nvSpPr>
        <p:spPr>
          <a:xfrm>
            <a:off x="9575909" y="2327462"/>
            <a:ext cx="307230" cy="64159"/>
          </a:xfrm>
          <a:prstGeom prst="rect">
            <a:avLst/>
          </a:prstGeom>
          <a:solidFill>
            <a:srgbClr val="FF993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6772" tIns="63386" rIns="126772" bIns="63386" numCol="1" spcCol="0" rtlCol="0" fromWordArt="0" anchor="ctr" anchorCtr="0" forceAA="0" compatLnSpc="1">
            <a:prstTxWarp prst="textNoShape">
              <a:avLst/>
            </a:prstTxWarp>
            <a:noAutofit/>
          </a:bodyPr>
          <a:lstStyle/>
          <a:p>
            <a:pPr marL="0" marR="0" indent="0" algn="l" defTabSz="914377" rtl="0" eaLnBrk="1" fontAlgn="auto" latinLnBrk="0" hangingPunct="1">
              <a:lnSpc>
                <a:spcPct val="100000"/>
              </a:lnSpc>
              <a:spcBef>
                <a:spcPts val="0"/>
              </a:spcBef>
              <a:spcAft>
                <a:spcPts val="0"/>
              </a:spcAft>
              <a:buClrTx/>
              <a:buSzTx/>
              <a:buFontTx/>
              <a:buNone/>
              <a:tabLst/>
            </a:pPr>
            <a:endParaRPr lang="en-CA" sz="1400" b="1" u="sng">
              <a:solidFill>
                <a:prstClr val="white"/>
              </a:solidFill>
              <a:latin typeface="Segoe UI"/>
            </a:endParaRPr>
          </a:p>
        </p:txBody>
      </p:sp>
    </p:spTree>
    <p:extLst>
      <p:ext uri="{BB962C8B-B14F-4D97-AF65-F5344CB8AC3E}">
        <p14:creationId xmlns:p14="http://schemas.microsoft.com/office/powerpoint/2010/main" val="33127339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4338DEA0-EADD-B806-5740-96888065071C}"/>
              </a:ext>
            </a:extLst>
          </p:cNvPr>
          <p:cNvSpPr/>
          <p:nvPr/>
        </p:nvSpPr>
        <p:spPr>
          <a:xfrm>
            <a:off x="1930752" y="1448597"/>
            <a:ext cx="3516932" cy="1275818"/>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6772" tIns="63386" rIns="126772" bIns="63386" numCol="1" spcCol="0" rtlCol="0" fromWordArt="0" anchor="ctr" anchorCtr="0" forceAA="0" compatLnSpc="1">
            <a:prstTxWarp prst="textNoShape">
              <a:avLst/>
            </a:prstTxWarp>
            <a:no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3330" b="0" i="0" u="none" strike="noStrike" kern="1200" cap="none" spc="0" normalizeH="0" baseline="0" noProof="0">
              <a:ln>
                <a:noFill/>
              </a:ln>
              <a:solidFill>
                <a:prstClr val="white"/>
              </a:solidFill>
              <a:effectLst/>
              <a:uLnTx/>
              <a:uFillTx/>
              <a:latin typeface="Segoe UI"/>
              <a:ea typeface="+mn-ea"/>
              <a:cs typeface="+mn-cs"/>
            </a:endParaRPr>
          </a:p>
        </p:txBody>
      </p:sp>
      <p:sp>
        <p:nvSpPr>
          <p:cNvPr id="267" name="AutoShape 49">
            <a:extLst>
              <a:ext uri="{FF2B5EF4-FFF2-40B4-BE49-F238E27FC236}">
                <a16:creationId xmlns:a16="http://schemas.microsoft.com/office/drawing/2014/main" id="{518F50F5-CA37-996B-4C39-B8F4F8AB860C}"/>
              </a:ext>
            </a:extLst>
          </p:cNvPr>
          <p:cNvSpPr>
            <a:spLocks noChangeAspect="1" noChangeArrowheads="1" noTextEdit="1"/>
          </p:cNvSpPr>
          <p:nvPr/>
        </p:nvSpPr>
        <p:spPr bwMode="auto">
          <a:xfrm>
            <a:off x="9463543" y="789752"/>
            <a:ext cx="325437" cy="40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black"/>
              </a:solidFill>
              <a:effectLst/>
              <a:uLnTx/>
              <a:uFillTx/>
              <a:latin typeface="Segoe UI"/>
              <a:ea typeface="+mn-ea"/>
              <a:cs typeface="+mn-cs"/>
            </a:endParaRPr>
          </a:p>
        </p:txBody>
      </p:sp>
      <p:sp>
        <p:nvSpPr>
          <p:cNvPr id="425" name="AutoShape 49">
            <a:extLst>
              <a:ext uri="{FF2B5EF4-FFF2-40B4-BE49-F238E27FC236}">
                <a16:creationId xmlns:a16="http://schemas.microsoft.com/office/drawing/2014/main" id="{3D7D78BA-8043-30DF-7C86-86280525640E}"/>
              </a:ext>
            </a:extLst>
          </p:cNvPr>
          <p:cNvSpPr>
            <a:spLocks noChangeAspect="1" noChangeArrowheads="1" noTextEdit="1"/>
          </p:cNvSpPr>
          <p:nvPr/>
        </p:nvSpPr>
        <p:spPr bwMode="auto">
          <a:xfrm>
            <a:off x="11460156" y="802798"/>
            <a:ext cx="325437" cy="40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black"/>
              </a:solidFill>
              <a:effectLst/>
              <a:uLnTx/>
              <a:uFillTx/>
              <a:latin typeface="Segoe UI"/>
              <a:ea typeface="+mn-ea"/>
              <a:cs typeface="+mn-cs"/>
            </a:endParaRPr>
          </a:p>
        </p:txBody>
      </p:sp>
      <p:pic>
        <p:nvPicPr>
          <p:cNvPr id="304" name="Graphic 303" descr="Man with facial hair">
            <a:extLst>
              <a:ext uri="{FF2B5EF4-FFF2-40B4-BE49-F238E27FC236}">
                <a16:creationId xmlns:a16="http://schemas.microsoft.com/office/drawing/2014/main" id="{3EED1409-1F14-8F29-134D-7502BC4B4DAA}"/>
              </a:ext>
            </a:extLst>
          </p:cNvPr>
          <p:cNvPicPr>
            <a:picLocks noChangeAspect="1"/>
          </p:cNvPicPr>
          <p:nvPr/>
        </p:nvPicPr>
        <p:blipFill>
          <a:blip r:embed="rId3" cstate="screen">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51925" y="1287338"/>
            <a:ext cx="600281" cy="813424"/>
          </a:xfrm>
          <a:prstGeom prst="rect">
            <a:avLst/>
          </a:prstGeom>
        </p:spPr>
      </p:pic>
      <p:sp>
        <p:nvSpPr>
          <p:cNvPr id="307" name="Title 1">
            <a:extLst>
              <a:ext uri="{FF2B5EF4-FFF2-40B4-BE49-F238E27FC236}">
                <a16:creationId xmlns:a16="http://schemas.microsoft.com/office/drawing/2014/main" id="{E3D99521-CF72-9E50-9D16-F68C16516B27}"/>
              </a:ext>
            </a:extLst>
          </p:cNvPr>
          <p:cNvSpPr txBox="1">
            <a:spLocks/>
          </p:cNvSpPr>
          <p:nvPr/>
        </p:nvSpPr>
        <p:spPr>
          <a:xfrm>
            <a:off x="824038" y="71495"/>
            <a:ext cx="10800000" cy="717269"/>
          </a:xfrm>
          <a:prstGeom prst="rect">
            <a:avLst/>
          </a:prstGeom>
        </p:spPr>
        <p:txBody>
          <a:bodyPr lIns="91440" tIns="45720" rIns="91440" bIns="45720" anchor="b">
            <a:normAutofit/>
          </a:bodyPr>
          <a:lstStyle>
            <a:lvl1pPr algn="l" defTabSz="914377" rtl="0" eaLnBrk="1" latinLnBrk="0" hangingPunct="1">
              <a:lnSpc>
                <a:spcPct val="90000"/>
              </a:lnSpc>
              <a:spcBef>
                <a:spcPct val="0"/>
              </a:spcBef>
              <a:buNone/>
              <a:defRPr sz="4000" u="none" kern="1200" spc="-100" baseline="0">
                <a:solidFill>
                  <a:schemeClr val="accent6"/>
                </a:solidFill>
                <a:uFill>
                  <a:solidFill>
                    <a:schemeClr val="tx2">
                      <a:lumMod val="60000"/>
                      <a:lumOff val="40000"/>
                    </a:schemeClr>
                  </a:solidFill>
                </a:uFill>
                <a:latin typeface="+mj-lt"/>
                <a:ea typeface="Segoe UI Black" panose="020B0A02040204020203" pitchFamily="34" charset="0"/>
                <a:cs typeface="Segoe UI Light" panose="020B0502040204020203" pitchFamily="34" charset="0"/>
              </a:defRPr>
            </a:lvl1pPr>
          </a:lstStyle>
          <a:p>
            <a:pPr algn="ctr">
              <a:defRPr/>
            </a:pPr>
            <a:r>
              <a:rPr lang="en-US" sz="2800">
                <a:solidFill>
                  <a:srgbClr val="31849B"/>
                </a:solidFill>
                <a:uFill>
                  <a:solidFill>
                    <a:srgbClr val="1F497D">
                      <a:lumMod val="60000"/>
                      <a:lumOff val="40000"/>
                    </a:srgbClr>
                  </a:solidFill>
                </a:uFill>
                <a:latin typeface="Segoe UI Semibold"/>
                <a:ea typeface="Segoe UI Black"/>
                <a:cs typeface="Segoe UI Light"/>
              </a:rPr>
              <a:t>Current triton user workflow</a:t>
            </a:r>
            <a:endParaRPr lang="en-CA" sz="2800">
              <a:solidFill>
                <a:srgbClr val="31849B"/>
              </a:solidFill>
              <a:uFill>
                <a:solidFill>
                  <a:srgbClr val="1F497D">
                    <a:lumMod val="60000"/>
                    <a:lumOff val="40000"/>
                  </a:srgbClr>
                </a:solidFill>
              </a:uFill>
              <a:latin typeface="Segoe UI Semibold"/>
              <a:ea typeface="Segoe UI Black"/>
              <a:cs typeface="Segoe UI Light"/>
            </a:endParaRPr>
          </a:p>
        </p:txBody>
      </p:sp>
      <p:sp>
        <p:nvSpPr>
          <p:cNvPr id="25" name="TextBox 24">
            <a:extLst>
              <a:ext uri="{FF2B5EF4-FFF2-40B4-BE49-F238E27FC236}">
                <a16:creationId xmlns:a16="http://schemas.microsoft.com/office/drawing/2014/main" id="{F5E75F20-ADD1-C822-352D-B66661E02307}"/>
              </a:ext>
            </a:extLst>
          </p:cNvPr>
          <p:cNvSpPr txBox="1"/>
          <p:nvPr/>
        </p:nvSpPr>
        <p:spPr>
          <a:xfrm>
            <a:off x="262875" y="5450048"/>
            <a:ext cx="1406482" cy="738664"/>
          </a:xfrm>
          <a:prstGeom prst="rect">
            <a:avLst/>
          </a:prstGeom>
          <a:noFill/>
        </p:spPr>
        <p:txBody>
          <a:bodyPr wrap="square"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CA" sz="1050" b="1">
                <a:solidFill>
                  <a:prstClr val="black"/>
                </a:solidFill>
                <a:latin typeface="Segoe UI"/>
              </a:rPr>
              <a:t>Triton PBI App</a:t>
            </a:r>
            <a:br>
              <a:rPr lang="en-CA" sz="1050">
                <a:solidFill>
                  <a:prstClr val="black"/>
                </a:solidFill>
                <a:latin typeface="Segoe UI"/>
              </a:rPr>
            </a:br>
            <a:r>
              <a:rPr lang="en-CA" sz="1000">
                <a:solidFill>
                  <a:prstClr val="black"/>
                </a:solidFill>
                <a:latin typeface="Segoe UI"/>
              </a:rPr>
              <a:t>Data search</a:t>
            </a:r>
          </a:p>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CA" sz="1000" b="0" i="0" u="none" strike="noStrike" kern="1200" cap="none" spc="0" normalizeH="0" baseline="0" noProof="0">
                <a:ln>
                  <a:noFill/>
                </a:ln>
                <a:solidFill>
                  <a:prstClr val="black"/>
                </a:solidFill>
                <a:effectLst/>
                <a:uLnTx/>
                <a:uFillTx/>
                <a:latin typeface="Segoe UI"/>
                <a:ea typeface="+mn-ea"/>
                <a:cs typeface="+mn-cs"/>
              </a:rPr>
              <a:t>Tutorial</a:t>
            </a:r>
          </a:p>
          <a:p>
            <a:pPr marL="0" marR="0" lvl="0" indent="0" algn="ctr" defTabSz="914377" rtl="0" eaLnBrk="1" fontAlgn="auto" latinLnBrk="0" hangingPunct="1">
              <a:lnSpc>
                <a:spcPct val="100000"/>
              </a:lnSpc>
              <a:spcBef>
                <a:spcPts val="0"/>
              </a:spcBef>
              <a:spcAft>
                <a:spcPts val="0"/>
              </a:spcAft>
              <a:buClrTx/>
              <a:buSzTx/>
              <a:buFontTx/>
              <a:buNone/>
              <a:tabLst/>
              <a:defRPr/>
            </a:pPr>
            <a:r>
              <a:rPr lang="en-CA" sz="1000">
                <a:solidFill>
                  <a:prstClr val="black"/>
                </a:solidFill>
                <a:latin typeface="Segoe UI"/>
              </a:rPr>
              <a:t>Chatbot</a:t>
            </a:r>
            <a:endParaRPr kumimoji="0" lang="en-CA" sz="1000" b="0" i="0" u="none" strike="noStrike" kern="1200" cap="none" spc="0" normalizeH="0" baseline="0" noProof="0">
              <a:ln>
                <a:noFill/>
              </a:ln>
              <a:solidFill>
                <a:prstClr val="black"/>
              </a:solidFill>
              <a:effectLst/>
              <a:uLnTx/>
              <a:uFillTx/>
              <a:latin typeface="Segoe UI"/>
              <a:ea typeface="+mn-ea"/>
              <a:cs typeface="+mn-cs"/>
            </a:endParaRPr>
          </a:p>
        </p:txBody>
      </p:sp>
      <p:pic>
        <p:nvPicPr>
          <p:cNvPr id="2054" name="Picture 6" descr="Course, courses, learning, online, teaching, tutorial, video icon">
            <a:extLst>
              <a:ext uri="{FF2B5EF4-FFF2-40B4-BE49-F238E27FC236}">
                <a16:creationId xmlns:a16="http://schemas.microsoft.com/office/drawing/2014/main" id="{C391E127-22EB-BDE0-05FC-09D39160B8DE}"/>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03025" y="4822324"/>
            <a:ext cx="467318" cy="467318"/>
          </a:xfrm>
          <a:prstGeom prst="rect">
            <a:avLst/>
          </a:prstGeom>
          <a:noFill/>
          <a:extLst>
            <a:ext uri="{909E8E84-426E-40DD-AFC4-6F175D3DCCD1}">
              <a14:hiddenFill xmlns:a14="http://schemas.microsoft.com/office/drawing/2010/main">
                <a:solidFill>
                  <a:srgbClr val="FFFFFF"/>
                </a:solidFill>
              </a14:hiddenFill>
            </a:ext>
          </a:extLst>
        </p:spPr>
      </p:pic>
      <p:cxnSp>
        <p:nvCxnSpPr>
          <p:cNvPr id="460" name="Straight Connector 459">
            <a:extLst>
              <a:ext uri="{FF2B5EF4-FFF2-40B4-BE49-F238E27FC236}">
                <a16:creationId xmlns:a16="http://schemas.microsoft.com/office/drawing/2014/main" id="{08C1346D-F9A5-36DC-5706-7F6C0B284B42}"/>
              </a:ext>
            </a:extLst>
          </p:cNvPr>
          <p:cNvCxnSpPr>
            <a:cxnSpLocks/>
          </p:cNvCxnSpPr>
          <p:nvPr/>
        </p:nvCxnSpPr>
        <p:spPr>
          <a:xfrm>
            <a:off x="1870612" y="4565136"/>
            <a:ext cx="0" cy="446336"/>
          </a:xfrm>
          <a:prstGeom prst="line">
            <a:avLst/>
          </a:prstGeom>
        </p:spPr>
        <p:style>
          <a:lnRef idx="1">
            <a:schemeClr val="dk1"/>
          </a:lnRef>
          <a:fillRef idx="0">
            <a:schemeClr val="dk1"/>
          </a:fillRef>
          <a:effectRef idx="0">
            <a:schemeClr val="dk1"/>
          </a:effectRef>
          <a:fontRef idx="minor">
            <a:schemeClr val="tx1"/>
          </a:fontRef>
        </p:style>
      </p:cxnSp>
      <p:sp>
        <p:nvSpPr>
          <p:cNvPr id="20" name="Rectangle 19">
            <a:extLst>
              <a:ext uri="{FF2B5EF4-FFF2-40B4-BE49-F238E27FC236}">
                <a16:creationId xmlns:a16="http://schemas.microsoft.com/office/drawing/2014/main" id="{313818DA-A52A-956B-72B8-7EBCA9C41937}"/>
              </a:ext>
            </a:extLst>
          </p:cNvPr>
          <p:cNvSpPr/>
          <p:nvPr/>
        </p:nvSpPr>
        <p:spPr>
          <a:xfrm>
            <a:off x="-9896" y="6655571"/>
            <a:ext cx="12201896" cy="20243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prstClr val="white"/>
              </a:solidFill>
              <a:effectLst/>
              <a:uLnTx/>
              <a:uFillTx/>
              <a:latin typeface="Poppins"/>
              <a:ea typeface="+mn-ea"/>
              <a:cs typeface="+mn-cs"/>
            </a:endParaRPr>
          </a:p>
        </p:txBody>
      </p:sp>
      <p:sp>
        <p:nvSpPr>
          <p:cNvPr id="45" name="Rectangle 44">
            <a:extLst>
              <a:ext uri="{FF2B5EF4-FFF2-40B4-BE49-F238E27FC236}">
                <a16:creationId xmlns:a16="http://schemas.microsoft.com/office/drawing/2014/main" id="{D21FF9D0-4A53-FB04-4EFA-4B52DEB7D9D0}"/>
              </a:ext>
            </a:extLst>
          </p:cNvPr>
          <p:cNvSpPr/>
          <p:nvPr/>
        </p:nvSpPr>
        <p:spPr>
          <a:xfrm>
            <a:off x="1930894" y="873500"/>
            <a:ext cx="3516932" cy="537005"/>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6772" tIns="63386" rIns="126772" bIns="63386" numCol="1" spcCol="0" rtlCol="0" fromWordArt="0" anchor="ctr" anchorCtr="0" forceAA="0" compatLnSpc="1">
            <a:prstTxWarp prst="textNoShape">
              <a:avLst/>
            </a:prstTxWarp>
            <a:no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600" b="1" i="0" strike="noStrike" kern="1200" cap="none" spc="0" normalizeH="0" baseline="0" noProof="0">
                <a:ln>
                  <a:noFill/>
                </a:ln>
                <a:solidFill>
                  <a:prstClr val="white"/>
                </a:solidFill>
                <a:effectLst/>
                <a:uLnTx/>
                <a:uFillTx/>
                <a:latin typeface="Segoe UI"/>
                <a:ea typeface="+mn-ea"/>
                <a:cs typeface="+mn-cs"/>
              </a:rPr>
              <a:t>User </a:t>
            </a:r>
            <a:r>
              <a:rPr lang="en-US" sz="1600" b="1">
                <a:solidFill>
                  <a:prstClr val="white"/>
                </a:solidFill>
                <a:latin typeface="Segoe UI"/>
              </a:rPr>
              <a:t>Environment 1</a:t>
            </a:r>
            <a:br>
              <a:rPr lang="en-US" sz="1600" b="1">
                <a:solidFill>
                  <a:prstClr val="white"/>
                </a:solidFill>
                <a:latin typeface="Segoe UI"/>
              </a:rPr>
            </a:br>
            <a:r>
              <a:rPr lang="en-US" sz="1400" b="1">
                <a:solidFill>
                  <a:prstClr val="white"/>
                </a:solidFill>
                <a:latin typeface="Segoe UI"/>
              </a:rPr>
              <a:t> </a:t>
            </a:r>
            <a:r>
              <a:rPr kumimoji="0" lang="en-US" sz="1400" b="1" i="0" strike="noStrike" kern="1200" cap="none" spc="0" normalizeH="0" baseline="0" noProof="0">
                <a:ln>
                  <a:noFill/>
                </a:ln>
                <a:solidFill>
                  <a:prstClr val="white"/>
                </a:solidFill>
                <a:effectLst/>
                <a:uLnTx/>
                <a:uFillTx/>
                <a:latin typeface="Segoe UI"/>
                <a:ea typeface="+mn-ea"/>
                <a:cs typeface="+mn-cs"/>
              </a:rPr>
              <a:t>Analytics Centrale</a:t>
            </a:r>
          </a:p>
        </p:txBody>
      </p:sp>
      <p:sp>
        <p:nvSpPr>
          <p:cNvPr id="53" name="TextBox 52">
            <a:extLst>
              <a:ext uri="{FF2B5EF4-FFF2-40B4-BE49-F238E27FC236}">
                <a16:creationId xmlns:a16="http://schemas.microsoft.com/office/drawing/2014/main" id="{E16F2016-D0D9-2351-0D8A-90ADD15BDE1B}"/>
              </a:ext>
            </a:extLst>
          </p:cNvPr>
          <p:cNvSpPr txBox="1"/>
          <p:nvPr/>
        </p:nvSpPr>
        <p:spPr>
          <a:xfrm>
            <a:off x="1759648" y="2182644"/>
            <a:ext cx="1636702" cy="577081"/>
          </a:xfrm>
          <a:prstGeom prst="rect">
            <a:avLst/>
          </a:prstGeom>
          <a:noFill/>
        </p:spPr>
        <p:txBody>
          <a:bodyPr wrap="square"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CA" sz="1050" i="0" strike="noStrike" kern="1200" cap="none" spc="0" normalizeH="0" baseline="0" noProof="0">
                <a:ln>
                  <a:noFill/>
                </a:ln>
                <a:solidFill>
                  <a:prstClr val="black"/>
                </a:solidFill>
                <a:effectLst/>
                <a:uLnTx/>
                <a:uFillTx/>
                <a:latin typeface="Segoe UI"/>
                <a:ea typeface="+mn-ea"/>
                <a:cs typeface="+mn-cs"/>
              </a:rPr>
              <a:t>Databricks</a:t>
            </a:r>
          </a:p>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CA" sz="1050" i="0" strike="noStrike" kern="1200" cap="none" spc="0" normalizeH="0" baseline="0" noProof="0">
                <a:ln>
                  <a:noFill/>
                </a:ln>
                <a:solidFill>
                  <a:prstClr val="black"/>
                </a:solidFill>
                <a:effectLst/>
                <a:uLnTx/>
                <a:uFillTx/>
                <a:latin typeface="Segoe UI"/>
                <a:ea typeface="+mn-ea"/>
                <a:cs typeface="+mn-cs"/>
              </a:rPr>
              <a:t> notebooks</a:t>
            </a:r>
          </a:p>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CA" sz="1050" i="0" strike="noStrike" kern="1200" cap="none" spc="0" normalizeH="0" baseline="0" noProof="0">
              <a:ln>
                <a:noFill/>
              </a:ln>
              <a:solidFill>
                <a:prstClr val="black"/>
              </a:solidFill>
              <a:effectLst/>
              <a:uLnTx/>
              <a:uFillTx/>
              <a:latin typeface="Segoe UI"/>
              <a:ea typeface="+mn-ea"/>
              <a:cs typeface="+mn-cs"/>
            </a:endParaRPr>
          </a:p>
        </p:txBody>
      </p:sp>
      <p:pic>
        <p:nvPicPr>
          <p:cNvPr id="458" name="Picture 14" descr="Notebook Icon Png #113514 - Free Icons Library">
            <a:extLst>
              <a:ext uri="{FF2B5EF4-FFF2-40B4-BE49-F238E27FC236}">
                <a16:creationId xmlns:a16="http://schemas.microsoft.com/office/drawing/2014/main" id="{7BF3EA85-6897-994C-ECC2-E67DCF7A2712}"/>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374344" y="1623564"/>
            <a:ext cx="513040" cy="513040"/>
          </a:xfrm>
          <a:prstGeom prst="rect">
            <a:avLst/>
          </a:prstGeom>
          <a:noFill/>
          <a:extLst>
            <a:ext uri="{909E8E84-426E-40DD-AFC4-6F175D3DCCD1}">
              <a14:hiddenFill xmlns:a14="http://schemas.microsoft.com/office/drawing/2010/main">
                <a:solidFill>
                  <a:srgbClr val="FFFFFF"/>
                </a:solidFill>
              </a14:hiddenFill>
            </a:ext>
          </a:extLst>
        </p:spPr>
      </p:pic>
      <p:grpSp>
        <p:nvGrpSpPr>
          <p:cNvPr id="463" name="Group 62">
            <a:extLst>
              <a:ext uri="{FF2B5EF4-FFF2-40B4-BE49-F238E27FC236}">
                <a16:creationId xmlns:a16="http://schemas.microsoft.com/office/drawing/2014/main" id="{7EB369A8-8094-6BAE-6226-7C9CD10C9098}"/>
              </a:ext>
            </a:extLst>
          </p:cNvPr>
          <p:cNvGrpSpPr>
            <a:grpSpLocks noChangeAspect="1"/>
          </p:cNvGrpSpPr>
          <p:nvPr/>
        </p:nvGrpSpPr>
        <p:grpSpPr bwMode="auto">
          <a:xfrm>
            <a:off x="4244476" y="1637873"/>
            <a:ext cx="672764" cy="2798777"/>
            <a:chOff x="2976" y="1554"/>
            <a:chExt cx="462" cy="1932"/>
          </a:xfrm>
        </p:grpSpPr>
        <p:sp>
          <p:nvSpPr>
            <p:cNvPr id="464" name="AutoShape 61">
              <a:extLst>
                <a:ext uri="{FF2B5EF4-FFF2-40B4-BE49-F238E27FC236}">
                  <a16:creationId xmlns:a16="http://schemas.microsoft.com/office/drawing/2014/main" id="{546893EB-8771-CDCF-AA72-8FCE564A726B}"/>
                </a:ext>
              </a:extLst>
            </p:cNvPr>
            <p:cNvSpPr>
              <a:spLocks noChangeAspect="1" noChangeArrowheads="1" noTextEdit="1"/>
            </p:cNvSpPr>
            <p:nvPr/>
          </p:nvSpPr>
          <p:spPr bwMode="auto">
            <a:xfrm>
              <a:off x="2996" y="3128"/>
              <a:ext cx="332" cy="3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black"/>
                </a:solidFill>
                <a:effectLst/>
                <a:uLnTx/>
                <a:uFillTx/>
                <a:latin typeface="Segoe UI"/>
                <a:ea typeface="+mn-ea"/>
                <a:cs typeface="+mn-cs"/>
              </a:endParaRPr>
            </a:p>
          </p:txBody>
        </p:sp>
        <p:sp>
          <p:nvSpPr>
            <p:cNvPr id="466" name="Freeform 63">
              <a:extLst>
                <a:ext uri="{FF2B5EF4-FFF2-40B4-BE49-F238E27FC236}">
                  <a16:creationId xmlns:a16="http://schemas.microsoft.com/office/drawing/2014/main" id="{50B0CF05-BDD8-EB66-0E38-7E9B6D43AB70}"/>
                </a:ext>
              </a:extLst>
            </p:cNvPr>
            <p:cNvSpPr>
              <a:spLocks/>
            </p:cNvSpPr>
            <p:nvPr/>
          </p:nvSpPr>
          <p:spPr bwMode="auto">
            <a:xfrm>
              <a:off x="2976" y="1629"/>
              <a:ext cx="462" cy="282"/>
            </a:xfrm>
            <a:custGeom>
              <a:avLst/>
              <a:gdLst>
                <a:gd name="T0" fmla="*/ 251 w 331"/>
                <a:gd name="T1" fmla="*/ 24 h 279"/>
                <a:gd name="T2" fmla="*/ 251 w 331"/>
                <a:gd name="T3" fmla="*/ 24 h 279"/>
                <a:gd name="T4" fmla="*/ 207 w 331"/>
                <a:gd name="T5" fmla="*/ 29 h 279"/>
                <a:gd name="T6" fmla="*/ 165 w 331"/>
                <a:gd name="T7" fmla="*/ 31 h 279"/>
                <a:gd name="T8" fmla="*/ 124 w 331"/>
                <a:gd name="T9" fmla="*/ 29 h 279"/>
                <a:gd name="T10" fmla="*/ 79 w 331"/>
                <a:gd name="T11" fmla="*/ 24 h 279"/>
                <a:gd name="T12" fmla="*/ 37 w 331"/>
                <a:gd name="T13" fmla="*/ 15 h 279"/>
                <a:gd name="T14" fmla="*/ 0 w 331"/>
                <a:gd name="T15" fmla="*/ 0 h 279"/>
                <a:gd name="T16" fmla="*/ 0 w 331"/>
                <a:gd name="T17" fmla="*/ 233 h 279"/>
                <a:gd name="T18" fmla="*/ 4 w 331"/>
                <a:gd name="T19" fmla="*/ 242 h 279"/>
                <a:gd name="T20" fmla="*/ 16 w 331"/>
                <a:gd name="T21" fmla="*/ 251 h 279"/>
                <a:gd name="T22" fmla="*/ 30 w 331"/>
                <a:gd name="T23" fmla="*/ 257 h 279"/>
                <a:gd name="T24" fmla="*/ 42 w 331"/>
                <a:gd name="T25" fmla="*/ 262 h 279"/>
                <a:gd name="T26" fmla="*/ 71 w 331"/>
                <a:gd name="T27" fmla="*/ 270 h 279"/>
                <a:gd name="T28" fmla="*/ 102 w 331"/>
                <a:gd name="T29" fmla="*/ 275 h 279"/>
                <a:gd name="T30" fmla="*/ 135 w 331"/>
                <a:gd name="T31" fmla="*/ 278 h 279"/>
                <a:gd name="T32" fmla="*/ 165 w 331"/>
                <a:gd name="T33" fmla="*/ 279 h 279"/>
                <a:gd name="T34" fmla="*/ 196 w 331"/>
                <a:gd name="T35" fmla="*/ 278 h 279"/>
                <a:gd name="T36" fmla="*/ 228 w 331"/>
                <a:gd name="T37" fmla="*/ 275 h 279"/>
                <a:gd name="T38" fmla="*/ 260 w 331"/>
                <a:gd name="T39" fmla="*/ 270 h 279"/>
                <a:gd name="T40" fmla="*/ 289 w 331"/>
                <a:gd name="T41" fmla="*/ 262 h 279"/>
                <a:gd name="T42" fmla="*/ 300 w 331"/>
                <a:gd name="T43" fmla="*/ 257 h 279"/>
                <a:gd name="T44" fmla="*/ 314 w 331"/>
                <a:gd name="T45" fmla="*/ 251 h 279"/>
                <a:gd name="T46" fmla="*/ 326 w 331"/>
                <a:gd name="T47" fmla="*/ 242 h 279"/>
                <a:gd name="T48" fmla="*/ 331 w 331"/>
                <a:gd name="T49" fmla="*/ 233 h 279"/>
                <a:gd name="T50" fmla="*/ 331 w 331"/>
                <a:gd name="T51" fmla="*/ 0 h 279"/>
                <a:gd name="T52" fmla="*/ 294 w 331"/>
                <a:gd name="T53" fmla="*/ 15 h 279"/>
                <a:gd name="T54" fmla="*/ 251 w 331"/>
                <a:gd name="T55" fmla="*/ 24 h 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331" h="279">
                  <a:moveTo>
                    <a:pt x="251" y="24"/>
                  </a:moveTo>
                  <a:lnTo>
                    <a:pt x="251" y="24"/>
                  </a:lnTo>
                  <a:cubicBezTo>
                    <a:pt x="236" y="27"/>
                    <a:pt x="221" y="29"/>
                    <a:pt x="207" y="29"/>
                  </a:cubicBezTo>
                  <a:cubicBezTo>
                    <a:pt x="192" y="30"/>
                    <a:pt x="178" y="31"/>
                    <a:pt x="165" y="31"/>
                  </a:cubicBezTo>
                  <a:cubicBezTo>
                    <a:pt x="152" y="31"/>
                    <a:pt x="139" y="30"/>
                    <a:pt x="124" y="29"/>
                  </a:cubicBezTo>
                  <a:cubicBezTo>
                    <a:pt x="109" y="29"/>
                    <a:pt x="94" y="27"/>
                    <a:pt x="79" y="24"/>
                  </a:cubicBezTo>
                  <a:cubicBezTo>
                    <a:pt x="65" y="22"/>
                    <a:pt x="50" y="19"/>
                    <a:pt x="37" y="15"/>
                  </a:cubicBezTo>
                  <a:cubicBezTo>
                    <a:pt x="23" y="11"/>
                    <a:pt x="10" y="6"/>
                    <a:pt x="0" y="0"/>
                  </a:cubicBezTo>
                  <a:lnTo>
                    <a:pt x="0" y="233"/>
                  </a:lnTo>
                  <a:cubicBezTo>
                    <a:pt x="0" y="236"/>
                    <a:pt x="1" y="239"/>
                    <a:pt x="4" y="242"/>
                  </a:cubicBezTo>
                  <a:cubicBezTo>
                    <a:pt x="8" y="245"/>
                    <a:pt x="12" y="248"/>
                    <a:pt x="16" y="251"/>
                  </a:cubicBezTo>
                  <a:cubicBezTo>
                    <a:pt x="21" y="253"/>
                    <a:pt x="25" y="255"/>
                    <a:pt x="30" y="257"/>
                  </a:cubicBezTo>
                  <a:cubicBezTo>
                    <a:pt x="35" y="259"/>
                    <a:pt x="39" y="261"/>
                    <a:pt x="42" y="262"/>
                  </a:cubicBezTo>
                  <a:cubicBezTo>
                    <a:pt x="51" y="265"/>
                    <a:pt x="60" y="268"/>
                    <a:pt x="71" y="270"/>
                  </a:cubicBezTo>
                  <a:cubicBezTo>
                    <a:pt x="81" y="272"/>
                    <a:pt x="92" y="273"/>
                    <a:pt x="102" y="275"/>
                  </a:cubicBezTo>
                  <a:cubicBezTo>
                    <a:pt x="113" y="276"/>
                    <a:pt x="124" y="277"/>
                    <a:pt x="135" y="278"/>
                  </a:cubicBezTo>
                  <a:cubicBezTo>
                    <a:pt x="145" y="278"/>
                    <a:pt x="155" y="279"/>
                    <a:pt x="165" y="279"/>
                  </a:cubicBezTo>
                  <a:cubicBezTo>
                    <a:pt x="175" y="279"/>
                    <a:pt x="185" y="278"/>
                    <a:pt x="196" y="278"/>
                  </a:cubicBezTo>
                  <a:cubicBezTo>
                    <a:pt x="207" y="277"/>
                    <a:pt x="217" y="276"/>
                    <a:pt x="228" y="275"/>
                  </a:cubicBezTo>
                  <a:cubicBezTo>
                    <a:pt x="239" y="273"/>
                    <a:pt x="249" y="272"/>
                    <a:pt x="260" y="270"/>
                  </a:cubicBezTo>
                  <a:cubicBezTo>
                    <a:pt x="270" y="268"/>
                    <a:pt x="280" y="265"/>
                    <a:pt x="289" y="262"/>
                  </a:cubicBezTo>
                  <a:cubicBezTo>
                    <a:pt x="292" y="261"/>
                    <a:pt x="295" y="259"/>
                    <a:pt x="300" y="257"/>
                  </a:cubicBezTo>
                  <a:cubicBezTo>
                    <a:pt x="305" y="255"/>
                    <a:pt x="310" y="253"/>
                    <a:pt x="314" y="251"/>
                  </a:cubicBezTo>
                  <a:cubicBezTo>
                    <a:pt x="319" y="248"/>
                    <a:pt x="323" y="245"/>
                    <a:pt x="326" y="242"/>
                  </a:cubicBezTo>
                  <a:cubicBezTo>
                    <a:pt x="329" y="239"/>
                    <a:pt x="331" y="236"/>
                    <a:pt x="331" y="233"/>
                  </a:cubicBezTo>
                  <a:lnTo>
                    <a:pt x="331" y="0"/>
                  </a:lnTo>
                  <a:cubicBezTo>
                    <a:pt x="320" y="6"/>
                    <a:pt x="308" y="11"/>
                    <a:pt x="294" y="15"/>
                  </a:cubicBezTo>
                  <a:cubicBezTo>
                    <a:pt x="280" y="19"/>
                    <a:pt x="266" y="22"/>
                    <a:pt x="251" y="24"/>
                  </a:cubicBezTo>
                  <a:close/>
                </a:path>
              </a:pathLst>
            </a:custGeom>
            <a:solidFill>
              <a:schemeClr val="accent6">
                <a:lumMod val="50000"/>
              </a:schemeClr>
            </a:solidFill>
            <a:ln w="0">
              <a:noFill/>
              <a:prstDash val="solid"/>
              <a:round/>
              <a:headEnd/>
              <a:tailEnd/>
            </a:ln>
          </p:spPr>
          <p:txBody>
            <a:bodyPr vert="horz" wrap="square" lIns="0" tIns="0" rIns="0" bIns="0" numCol="1" anchor="ctr" anchorCtr="0" compatLnSpc="1">
              <a:prstTxWarp prst="textNoShape">
                <a:avLst/>
              </a:prstTxWarp>
            </a:bodyP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CA" sz="1000" b="1" i="0" u="none" strike="noStrike" kern="1200" cap="none" spc="0" normalizeH="0" baseline="0" noProof="0">
                <a:ln>
                  <a:noFill/>
                </a:ln>
                <a:solidFill>
                  <a:prstClr val="white"/>
                </a:solidFill>
                <a:effectLst/>
                <a:uLnTx/>
                <a:uFillTx/>
                <a:latin typeface="Segoe UI"/>
                <a:ea typeface="+mn-ea"/>
                <a:cs typeface="+mn-cs"/>
              </a:endParaRPr>
            </a:p>
          </p:txBody>
        </p:sp>
        <p:sp>
          <p:nvSpPr>
            <p:cNvPr id="469" name="Freeform 64">
              <a:extLst>
                <a:ext uri="{FF2B5EF4-FFF2-40B4-BE49-F238E27FC236}">
                  <a16:creationId xmlns:a16="http://schemas.microsoft.com/office/drawing/2014/main" id="{BBB9EEBA-EF98-0948-433E-CAF98BDF859F}"/>
                </a:ext>
              </a:extLst>
            </p:cNvPr>
            <p:cNvSpPr>
              <a:spLocks/>
            </p:cNvSpPr>
            <p:nvPr/>
          </p:nvSpPr>
          <p:spPr bwMode="auto">
            <a:xfrm>
              <a:off x="2976" y="1554"/>
              <a:ext cx="448" cy="97"/>
            </a:xfrm>
            <a:custGeom>
              <a:avLst/>
              <a:gdLst>
                <a:gd name="T0" fmla="*/ 3 w 331"/>
                <a:gd name="T1" fmla="*/ 51 h 90"/>
                <a:gd name="T2" fmla="*/ 3 w 331"/>
                <a:gd name="T3" fmla="*/ 51 h 90"/>
                <a:gd name="T4" fmla="*/ 20 w 331"/>
                <a:gd name="T5" fmla="*/ 65 h 90"/>
                <a:gd name="T6" fmla="*/ 46 w 331"/>
                <a:gd name="T7" fmla="*/ 75 h 90"/>
                <a:gd name="T8" fmla="*/ 76 w 331"/>
                <a:gd name="T9" fmla="*/ 82 h 90"/>
                <a:gd name="T10" fmla="*/ 108 w 331"/>
                <a:gd name="T11" fmla="*/ 87 h 90"/>
                <a:gd name="T12" fmla="*/ 139 w 331"/>
                <a:gd name="T13" fmla="*/ 89 h 90"/>
                <a:gd name="T14" fmla="*/ 165 w 331"/>
                <a:gd name="T15" fmla="*/ 90 h 90"/>
                <a:gd name="T16" fmla="*/ 191 w 331"/>
                <a:gd name="T17" fmla="*/ 89 h 90"/>
                <a:gd name="T18" fmla="*/ 222 w 331"/>
                <a:gd name="T19" fmla="*/ 87 h 90"/>
                <a:gd name="T20" fmla="*/ 254 w 331"/>
                <a:gd name="T21" fmla="*/ 82 h 90"/>
                <a:gd name="T22" fmla="*/ 285 w 331"/>
                <a:gd name="T23" fmla="*/ 75 h 90"/>
                <a:gd name="T24" fmla="*/ 310 w 331"/>
                <a:gd name="T25" fmla="*/ 65 h 90"/>
                <a:gd name="T26" fmla="*/ 328 w 331"/>
                <a:gd name="T27" fmla="*/ 51 h 90"/>
                <a:gd name="T28" fmla="*/ 330 w 331"/>
                <a:gd name="T29" fmla="*/ 48 h 90"/>
                <a:gd name="T30" fmla="*/ 331 w 331"/>
                <a:gd name="T31" fmla="*/ 45 h 90"/>
                <a:gd name="T32" fmla="*/ 326 w 331"/>
                <a:gd name="T33" fmla="*/ 35 h 90"/>
                <a:gd name="T34" fmla="*/ 314 w 331"/>
                <a:gd name="T35" fmla="*/ 27 h 90"/>
                <a:gd name="T36" fmla="*/ 300 w 331"/>
                <a:gd name="T37" fmla="*/ 20 h 90"/>
                <a:gd name="T38" fmla="*/ 289 w 331"/>
                <a:gd name="T39" fmla="*/ 15 h 90"/>
                <a:gd name="T40" fmla="*/ 259 w 331"/>
                <a:gd name="T41" fmla="*/ 8 h 90"/>
                <a:gd name="T42" fmla="*/ 228 w 331"/>
                <a:gd name="T43" fmla="*/ 2 h 90"/>
                <a:gd name="T44" fmla="*/ 196 w 331"/>
                <a:gd name="T45" fmla="*/ 1 h 90"/>
                <a:gd name="T46" fmla="*/ 165 w 331"/>
                <a:gd name="T47" fmla="*/ 0 h 90"/>
                <a:gd name="T48" fmla="*/ 135 w 331"/>
                <a:gd name="T49" fmla="*/ 1 h 90"/>
                <a:gd name="T50" fmla="*/ 103 w 331"/>
                <a:gd name="T51" fmla="*/ 2 h 90"/>
                <a:gd name="T52" fmla="*/ 71 w 331"/>
                <a:gd name="T53" fmla="*/ 8 h 90"/>
                <a:gd name="T54" fmla="*/ 42 w 331"/>
                <a:gd name="T55" fmla="*/ 15 h 90"/>
                <a:gd name="T56" fmla="*/ 30 w 331"/>
                <a:gd name="T57" fmla="*/ 20 h 90"/>
                <a:gd name="T58" fmla="*/ 16 w 331"/>
                <a:gd name="T59" fmla="*/ 27 h 90"/>
                <a:gd name="T60" fmla="*/ 4 w 331"/>
                <a:gd name="T61" fmla="*/ 35 h 90"/>
                <a:gd name="T62" fmla="*/ 0 w 331"/>
                <a:gd name="T63" fmla="*/ 45 h 90"/>
                <a:gd name="T64" fmla="*/ 0 w 331"/>
                <a:gd name="T65" fmla="*/ 48 h 90"/>
                <a:gd name="T66" fmla="*/ 3 w 331"/>
                <a:gd name="T67" fmla="*/ 51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31" h="90">
                  <a:moveTo>
                    <a:pt x="3" y="51"/>
                  </a:moveTo>
                  <a:lnTo>
                    <a:pt x="3" y="51"/>
                  </a:lnTo>
                  <a:cubicBezTo>
                    <a:pt x="7" y="56"/>
                    <a:pt x="13" y="61"/>
                    <a:pt x="20" y="65"/>
                  </a:cubicBezTo>
                  <a:cubicBezTo>
                    <a:pt x="28" y="69"/>
                    <a:pt x="36" y="72"/>
                    <a:pt x="46" y="75"/>
                  </a:cubicBezTo>
                  <a:cubicBezTo>
                    <a:pt x="55" y="78"/>
                    <a:pt x="65" y="80"/>
                    <a:pt x="76" y="82"/>
                  </a:cubicBezTo>
                  <a:cubicBezTo>
                    <a:pt x="87" y="84"/>
                    <a:pt x="98" y="86"/>
                    <a:pt x="108" y="87"/>
                  </a:cubicBezTo>
                  <a:cubicBezTo>
                    <a:pt x="119" y="88"/>
                    <a:pt x="129" y="89"/>
                    <a:pt x="139" y="89"/>
                  </a:cubicBezTo>
                  <a:cubicBezTo>
                    <a:pt x="149" y="90"/>
                    <a:pt x="158" y="90"/>
                    <a:pt x="165" y="90"/>
                  </a:cubicBezTo>
                  <a:cubicBezTo>
                    <a:pt x="173" y="90"/>
                    <a:pt x="182" y="90"/>
                    <a:pt x="191" y="89"/>
                  </a:cubicBezTo>
                  <a:cubicBezTo>
                    <a:pt x="201" y="89"/>
                    <a:pt x="211" y="88"/>
                    <a:pt x="222" y="87"/>
                  </a:cubicBezTo>
                  <a:cubicBezTo>
                    <a:pt x="233" y="86"/>
                    <a:pt x="244" y="84"/>
                    <a:pt x="254" y="82"/>
                  </a:cubicBezTo>
                  <a:cubicBezTo>
                    <a:pt x="265" y="80"/>
                    <a:pt x="275" y="78"/>
                    <a:pt x="285" y="75"/>
                  </a:cubicBezTo>
                  <a:cubicBezTo>
                    <a:pt x="294" y="72"/>
                    <a:pt x="303" y="69"/>
                    <a:pt x="310" y="65"/>
                  </a:cubicBezTo>
                  <a:cubicBezTo>
                    <a:pt x="318" y="61"/>
                    <a:pt x="324" y="56"/>
                    <a:pt x="328" y="51"/>
                  </a:cubicBezTo>
                  <a:cubicBezTo>
                    <a:pt x="329" y="50"/>
                    <a:pt x="329" y="49"/>
                    <a:pt x="330" y="48"/>
                  </a:cubicBezTo>
                  <a:cubicBezTo>
                    <a:pt x="331" y="47"/>
                    <a:pt x="331" y="46"/>
                    <a:pt x="331" y="45"/>
                  </a:cubicBezTo>
                  <a:cubicBezTo>
                    <a:pt x="331" y="41"/>
                    <a:pt x="329" y="38"/>
                    <a:pt x="326" y="35"/>
                  </a:cubicBezTo>
                  <a:cubicBezTo>
                    <a:pt x="323" y="32"/>
                    <a:pt x="319" y="29"/>
                    <a:pt x="314" y="27"/>
                  </a:cubicBezTo>
                  <a:cubicBezTo>
                    <a:pt x="310" y="24"/>
                    <a:pt x="305" y="22"/>
                    <a:pt x="300" y="20"/>
                  </a:cubicBezTo>
                  <a:cubicBezTo>
                    <a:pt x="295" y="18"/>
                    <a:pt x="292" y="16"/>
                    <a:pt x="289" y="15"/>
                  </a:cubicBezTo>
                  <a:cubicBezTo>
                    <a:pt x="279" y="12"/>
                    <a:pt x="270" y="10"/>
                    <a:pt x="259" y="8"/>
                  </a:cubicBezTo>
                  <a:cubicBezTo>
                    <a:pt x="249" y="6"/>
                    <a:pt x="238" y="4"/>
                    <a:pt x="228" y="2"/>
                  </a:cubicBezTo>
                  <a:cubicBezTo>
                    <a:pt x="217" y="1"/>
                    <a:pt x="207" y="1"/>
                    <a:pt x="196" y="1"/>
                  </a:cubicBezTo>
                  <a:cubicBezTo>
                    <a:pt x="185" y="0"/>
                    <a:pt x="175" y="0"/>
                    <a:pt x="165" y="0"/>
                  </a:cubicBezTo>
                  <a:cubicBezTo>
                    <a:pt x="155" y="0"/>
                    <a:pt x="145" y="0"/>
                    <a:pt x="135" y="1"/>
                  </a:cubicBezTo>
                  <a:cubicBezTo>
                    <a:pt x="124" y="1"/>
                    <a:pt x="113" y="1"/>
                    <a:pt x="103" y="2"/>
                  </a:cubicBezTo>
                  <a:cubicBezTo>
                    <a:pt x="92" y="4"/>
                    <a:pt x="81" y="6"/>
                    <a:pt x="71" y="8"/>
                  </a:cubicBezTo>
                  <a:cubicBezTo>
                    <a:pt x="61" y="10"/>
                    <a:pt x="51" y="12"/>
                    <a:pt x="42" y="15"/>
                  </a:cubicBezTo>
                  <a:cubicBezTo>
                    <a:pt x="39" y="16"/>
                    <a:pt x="35" y="18"/>
                    <a:pt x="30" y="20"/>
                  </a:cubicBezTo>
                  <a:cubicBezTo>
                    <a:pt x="25" y="22"/>
                    <a:pt x="21" y="24"/>
                    <a:pt x="16" y="27"/>
                  </a:cubicBezTo>
                  <a:cubicBezTo>
                    <a:pt x="12" y="29"/>
                    <a:pt x="8" y="32"/>
                    <a:pt x="4" y="35"/>
                  </a:cubicBezTo>
                  <a:cubicBezTo>
                    <a:pt x="1" y="38"/>
                    <a:pt x="0" y="41"/>
                    <a:pt x="0" y="45"/>
                  </a:cubicBezTo>
                  <a:cubicBezTo>
                    <a:pt x="0" y="46"/>
                    <a:pt x="0" y="47"/>
                    <a:pt x="0" y="48"/>
                  </a:cubicBezTo>
                  <a:cubicBezTo>
                    <a:pt x="1" y="49"/>
                    <a:pt x="2" y="50"/>
                    <a:pt x="3" y="51"/>
                  </a:cubicBezTo>
                  <a:close/>
                </a:path>
              </a:pathLst>
            </a:custGeom>
            <a:solidFill>
              <a:schemeClr val="accent6">
                <a:lumMod val="50000"/>
              </a:schemeClr>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black"/>
                </a:solidFill>
                <a:effectLst/>
                <a:uLnTx/>
                <a:uFillTx/>
                <a:latin typeface="Segoe UI"/>
                <a:ea typeface="+mn-ea"/>
                <a:cs typeface="+mn-cs"/>
              </a:endParaRPr>
            </a:p>
          </p:txBody>
        </p:sp>
      </p:grpSp>
      <p:sp>
        <p:nvSpPr>
          <p:cNvPr id="470" name="TextBox 469">
            <a:extLst>
              <a:ext uri="{FF2B5EF4-FFF2-40B4-BE49-F238E27FC236}">
                <a16:creationId xmlns:a16="http://schemas.microsoft.com/office/drawing/2014/main" id="{EFD5263E-0211-0B23-4ED9-0F3F77D38E6A}"/>
              </a:ext>
            </a:extLst>
          </p:cNvPr>
          <p:cNvSpPr txBox="1"/>
          <p:nvPr/>
        </p:nvSpPr>
        <p:spPr>
          <a:xfrm>
            <a:off x="3689412" y="2272994"/>
            <a:ext cx="1772884" cy="415498"/>
          </a:xfrm>
          <a:prstGeom prst="rect">
            <a:avLst/>
          </a:prstGeom>
          <a:noFill/>
        </p:spPr>
        <p:txBody>
          <a:bodyPr wrap="square"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CA" sz="1050">
                <a:solidFill>
                  <a:prstClr val="black"/>
                </a:solidFill>
                <a:latin typeface="Segoe UI"/>
              </a:rPr>
              <a:t>Tables in user catalog/</a:t>
            </a:r>
            <a:r>
              <a:rPr lang="en-CA" sz="1050" err="1">
                <a:solidFill>
                  <a:prstClr val="black"/>
                </a:solidFill>
                <a:latin typeface="Segoe UI"/>
              </a:rPr>
              <a:t>db</a:t>
            </a:r>
            <a:endParaRPr kumimoji="0" lang="en-CA" sz="1050" i="0" strike="noStrike" kern="1200" cap="none" spc="0" normalizeH="0" baseline="0" noProof="0">
              <a:ln>
                <a:noFill/>
              </a:ln>
              <a:solidFill>
                <a:prstClr val="black"/>
              </a:solidFill>
              <a:effectLst/>
              <a:uLnTx/>
              <a:uFillTx/>
              <a:latin typeface="Segoe UI"/>
              <a:ea typeface="+mn-ea"/>
              <a:cs typeface="+mn-cs"/>
            </a:endParaRPr>
          </a:p>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CA" sz="1050" i="0" strike="noStrike" kern="1200" cap="none" spc="0" normalizeH="0" baseline="0" noProof="0">
              <a:ln>
                <a:noFill/>
              </a:ln>
              <a:solidFill>
                <a:prstClr val="black"/>
              </a:solidFill>
              <a:effectLst/>
              <a:uLnTx/>
              <a:uFillTx/>
              <a:latin typeface="Segoe UI"/>
              <a:ea typeface="+mn-ea"/>
              <a:cs typeface="+mn-cs"/>
            </a:endParaRPr>
          </a:p>
        </p:txBody>
      </p:sp>
      <p:pic>
        <p:nvPicPr>
          <p:cNvPr id="509" name="Picture 2" descr="Repo, push, code, development, programming, repository icon - Download ...">
            <a:extLst>
              <a:ext uri="{FF2B5EF4-FFF2-40B4-BE49-F238E27FC236}">
                <a16:creationId xmlns:a16="http://schemas.microsoft.com/office/drawing/2014/main" id="{7F0136D3-D42F-48D9-B7FC-C9156829C736}"/>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290139" y="3117082"/>
            <a:ext cx="469172" cy="469172"/>
          </a:xfrm>
          <a:prstGeom prst="rect">
            <a:avLst/>
          </a:prstGeom>
          <a:noFill/>
          <a:extLst>
            <a:ext uri="{909E8E84-426E-40DD-AFC4-6F175D3DCCD1}">
              <a14:hiddenFill xmlns:a14="http://schemas.microsoft.com/office/drawing/2010/main">
                <a:solidFill>
                  <a:srgbClr val="FFFFFF"/>
                </a:solidFill>
              </a14:hiddenFill>
            </a:ext>
          </a:extLst>
        </p:spPr>
      </p:pic>
      <p:sp>
        <p:nvSpPr>
          <p:cNvPr id="510" name="TextBox 509">
            <a:extLst>
              <a:ext uri="{FF2B5EF4-FFF2-40B4-BE49-F238E27FC236}">
                <a16:creationId xmlns:a16="http://schemas.microsoft.com/office/drawing/2014/main" id="{3D25B3F0-E0F8-B147-5258-DC7C161DEA57}"/>
              </a:ext>
            </a:extLst>
          </p:cNvPr>
          <p:cNvSpPr txBox="1"/>
          <p:nvPr/>
        </p:nvSpPr>
        <p:spPr>
          <a:xfrm>
            <a:off x="1922835" y="3609973"/>
            <a:ext cx="1055454" cy="415498"/>
          </a:xfrm>
          <a:prstGeom prst="rect">
            <a:avLst/>
          </a:prstGeom>
          <a:noFill/>
        </p:spPr>
        <p:txBody>
          <a:bodyPr wrap="square"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CA" sz="1050" i="0" strike="noStrike" kern="1200" cap="none" spc="0" normalizeH="0" baseline="0" noProof="0">
                <a:ln>
                  <a:noFill/>
                </a:ln>
                <a:solidFill>
                  <a:prstClr val="black"/>
                </a:solidFill>
                <a:effectLst/>
                <a:uLnTx/>
                <a:uFillTx/>
                <a:latin typeface="Segoe UI"/>
                <a:ea typeface="+mn-ea"/>
                <a:cs typeface="+mn-cs"/>
              </a:rPr>
              <a:t>Code back-</a:t>
            </a:r>
            <a:r>
              <a:rPr lang="en-CA" sz="1050">
                <a:solidFill>
                  <a:prstClr val="black"/>
                </a:solidFill>
                <a:latin typeface="Segoe UI"/>
              </a:rPr>
              <a:t>up </a:t>
            </a:r>
          </a:p>
          <a:p>
            <a:pPr marL="0" marR="0" lvl="0" indent="0" algn="ctr" defTabSz="914377" rtl="0" eaLnBrk="1" fontAlgn="auto" latinLnBrk="0" hangingPunct="1">
              <a:lnSpc>
                <a:spcPct val="100000"/>
              </a:lnSpc>
              <a:spcBef>
                <a:spcPts val="0"/>
              </a:spcBef>
              <a:spcAft>
                <a:spcPts val="0"/>
              </a:spcAft>
              <a:buClrTx/>
              <a:buSzTx/>
              <a:buFontTx/>
              <a:buNone/>
              <a:tabLst/>
              <a:defRPr/>
            </a:pPr>
            <a:r>
              <a:rPr lang="en-CA" sz="1050">
                <a:solidFill>
                  <a:prstClr val="black"/>
                </a:solidFill>
                <a:latin typeface="Segoe UI"/>
              </a:rPr>
              <a:t>in GitHub</a:t>
            </a:r>
            <a:endParaRPr kumimoji="0" lang="en-CA" sz="1050" i="0" strike="noStrike" kern="1200" cap="none" spc="0" normalizeH="0" baseline="0" noProof="0">
              <a:ln>
                <a:noFill/>
              </a:ln>
              <a:solidFill>
                <a:prstClr val="black"/>
              </a:solidFill>
              <a:effectLst/>
              <a:uLnTx/>
              <a:uFillTx/>
              <a:latin typeface="Segoe UI"/>
              <a:ea typeface="+mn-ea"/>
              <a:cs typeface="+mn-cs"/>
            </a:endParaRPr>
          </a:p>
        </p:txBody>
      </p:sp>
      <p:sp>
        <p:nvSpPr>
          <p:cNvPr id="259" name="Rectangle 258">
            <a:extLst>
              <a:ext uri="{FF2B5EF4-FFF2-40B4-BE49-F238E27FC236}">
                <a16:creationId xmlns:a16="http://schemas.microsoft.com/office/drawing/2014/main" id="{2330CF74-34F9-CE79-4CAC-53E5309FC913}"/>
              </a:ext>
            </a:extLst>
          </p:cNvPr>
          <p:cNvSpPr/>
          <p:nvPr/>
        </p:nvSpPr>
        <p:spPr>
          <a:xfrm>
            <a:off x="5857839" y="1416724"/>
            <a:ext cx="3516932" cy="1296785"/>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6772" tIns="63386" rIns="126772" bIns="63386" numCol="1" spcCol="0" rtlCol="0" fromWordArt="0" anchor="ctr" anchorCtr="0" forceAA="0" compatLnSpc="1">
            <a:prstTxWarp prst="textNoShape">
              <a:avLst/>
            </a:prstTxWarp>
            <a:no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3330" b="0" i="0" u="none" strike="noStrike" kern="1200" cap="none" spc="0" normalizeH="0" baseline="0" noProof="0">
              <a:ln>
                <a:noFill/>
              </a:ln>
              <a:solidFill>
                <a:prstClr val="white"/>
              </a:solidFill>
              <a:effectLst/>
              <a:uLnTx/>
              <a:uFillTx/>
              <a:latin typeface="Segoe UI"/>
              <a:ea typeface="+mn-ea"/>
              <a:cs typeface="+mn-cs"/>
            </a:endParaRPr>
          </a:p>
        </p:txBody>
      </p:sp>
      <p:sp>
        <p:nvSpPr>
          <p:cNvPr id="260" name="Rectangle 259">
            <a:extLst>
              <a:ext uri="{FF2B5EF4-FFF2-40B4-BE49-F238E27FC236}">
                <a16:creationId xmlns:a16="http://schemas.microsoft.com/office/drawing/2014/main" id="{9166E7FF-E75E-7604-B5D0-77737C8E8DA4}"/>
              </a:ext>
            </a:extLst>
          </p:cNvPr>
          <p:cNvSpPr/>
          <p:nvPr/>
        </p:nvSpPr>
        <p:spPr>
          <a:xfrm>
            <a:off x="5857839" y="882910"/>
            <a:ext cx="3516938" cy="502537"/>
          </a:xfrm>
          <a:prstGeom prst="rect">
            <a:avLst/>
          </a:prstGeom>
          <a:solidFill>
            <a:srgbClr val="FF993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6772" tIns="63386" rIns="126772" bIns="63386" numCol="1" spcCol="0" rtlCol="0" fromWordArt="0" anchor="ctr" anchorCtr="0" forceAA="0" compatLnSpc="1">
            <a:prstTxWarp prst="textNoShape">
              <a:avLst/>
            </a:prstTxWarp>
            <a:no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1600" b="1">
                <a:solidFill>
                  <a:prstClr val="white"/>
                </a:solidFill>
                <a:latin typeface="Segoe UI"/>
              </a:rPr>
              <a:t>User Environment 2</a:t>
            </a:r>
            <a:br>
              <a:rPr lang="en-US" sz="1600" b="1">
                <a:solidFill>
                  <a:prstClr val="white"/>
                </a:solidFill>
                <a:latin typeface="Segoe UI"/>
              </a:rPr>
            </a:br>
            <a:r>
              <a:rPr lang="en-US" sz="1400" b="1">
                <a:solidFill>
                  <a:prstClr val="white"/>
                </a:solidFill>
                <a:latin typeface="Segoe UI"/>
              </a:rPr>
              <a:t>Dedicated PBI workspace for team</a:t>
            </a:r>
            <a:endParaRPr kumimoji="0" lang="en-US" sz="1400" b="1" i="0" u="none" strike="noStrike" kern="1200" cap="none" spc="0" normalizeH="0" baseline="0" noProof="0">
              <a:ln>
                <a:noFill/>
              </a:ln>
              <a:solidFill>
                <a:prstClr val="white"/>
              </a:solidFill>
              <a:effectLst/>
              <a:uLnTx/>
              <a:uFillTx/>
              <a:latin typeface="Segoe UI"/>
              <a:ea typeface="+mn-ea"/>
              <a:cs typeface="+mn-cs"/>
            </a:endParaRPr>
          </a:p>
        </p:txBody>
      </p:sp>
      <p:grpSp>
        <p:nvGrpSpPr>
          <p:cNvPr id="261" name="Group 62">
            <a:extLst>
              <a:ext uri="{FF2B5EF4-FFF2-40B4-BE49-F238E27FC236}">
                <a16:creationId xmlns:a16="http://schemas.microsoft.com/office/drawing/2014/main" id="{33650BF2-D7EB-A127-03AE-544C7BFBA3A6}"/>
              </a:ext>
            </a:extLst>
          </p:cNvPr>
          <p:cNvGrpSpPr>
            <a:grpSpLocks noChangeAspect="1"/>
          </p:cNvGrpSpPr>
          <p:nvPr/>
        </p:nvGrpSpPr>
        <p:grpSpPr bwMode="auto">
          <a:xfrm>
            <a:off x="6045715" y="1687292"/>
            <a:ext cx="723444" cy="767127"/>
            <a:chOff x="2996" y="2920"/>
            <a:chExt cx="531" cy="566"/>
          </a:xfrm>
        </p:grpSpPr>
        <p:sp>
          <p:nvSpPr>
            <p:cNvPr id="262" name="AutoShape 61">
              <a:extLst>
                <a:ext uri="{FF2B5EF4-FFF2-40B4-BE49-F238E27FC236}">
                  <a16:creationId xmlns:a16="http://schemas.microsoft.com/office/drawing/2014/main" id="{60B7CD5F-9520-7E90-436D-26D113E7C254}"/>
                </a:ext>
              </a:extLst>
            </p:cNvPr>
            <p:cNvSpPr>
              <a:spLocks noChangeAspect="1" noChangeArrowheads="1" noTextEdit="1"/>
            </p:cNvSpPr>
            <p:nvPr/>
          </p:nvSpPr>
          <p:spPr bwMode="auto">
            <a:xfrm>
              <a:off x="2996" y="3128"/>
              <a:ext cx="332" cy="3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black"/>
                </a:solidFill>
                <a:effectLst/>
                <a:uLnTx/>
                <a:uFillTx/>
                <a:latin typeface="Segoe UI"/>
                <a:ea typeface="+mn-ea"/>
                <a:cs typeface="+mn-cs"/>
              </a:endParaRPr>
            </a:p>
          </p:txBody>
        </p:sp>
        <p:sp>
          <p:nvSpPr>
            <p:cNvPr id="263" name="Freeform 63">
              <a:extLst>
                <a:ext uri="{FF2B5EF4-FFF2-40B4-BE49-F238E27FC236}">
                  <a16:creationId xmlns:a16="http://schemas.microsoft.com/office/drawing/2014/main" id="{AA708EC1-24D3-D763-7CBA-8793249A4C46}"/>
                </a:ext>
              </a:extLst>
            </p:cNvPr>
            <p:cNvSpPr>
              <a:spLocks/>
            </p:cNvSpPr>
            <p:nvPr/>
          </p:nvSpPr>
          <p:spPr bwMode="auto">
            <a:xfrm>
              <a:off x="3065" y="2995"/>
              <a:ext cx="462" cy="282"/>
            </a:xfrm>
            <a:custGeom>
              <a:avLst/>
              <a:gdLst>
                <a:gd name="T0" fmla="*/ 251 w 331"/>
                <a:gd name="T1" fmla="*/ 24 h 279"/>
                <a:gd name="T2" fmla="*/ 251 w 331"/>
                <a:gd name="T3" fmla="*/ 24 h 279"/>
                <a:gd name="T4" fmla="*/ 207 w 331"/>
                <a:gd name="T5" fmla="*/ 29 h 279"/>
                <a:gd name="T6" fmla="*/ 165 w 331"/>
                <a:gd name="T7" fmla="*/ 31 h 279"/>
                <a:gd name="T8" fmla="*/ 124 w 331"/>
                <a:gd name="T9" fmla="*/ 29 h 279"/>
                <a:gd name="T10" fmla="*/ 79 w 331"/>
                <a:gd name="T11" fmla="*/ 24 h 279"/>
                <a:gd name="T12" fmla="*/ 37 w 331"/>
                <a:gd name="T13" fmla="*/ 15 h 279"/>
                <a:gd name="T14" fmla="*/ 0 w 331"/>
                <a:gd name="T15" fmla="*/ 0 h 279"/>
                <a:gd name="T16" fmla="*/ 0 w 331"/>
                <a:gd name="T17" fmla="*/ 233 h 279"/>
                <a:gd name="T18" fmla="*/ 4 w 331"/>
                <a:gd name="T19" fmla="*/ 242 h 279"/>
                <a:gd name="T20" fmla="*/ 16 w 331"/>
                <a:gd name="T21" fmla="*/ 251 h 279"/>
                <a:gd name="T22" fmla="*/ 30 w 331"/>
                <a:gd name="T23" fmla="*/ 257 h 279"/>
                <a:gd name="T24" fmla="*/ 42 w 331"/>
                <a:gd name="T25" fmla="*/ 262 h 279"/>
                <a:gd name="T26" fmla="*/ 71 w 331"/>
                <a:gd name="T27" fmla="*/ 270 h 279"/>
                <a:gd name="T28" fmla="*/ 102 w 331"/>
                <a:gd name="T29" fmla="*/ 275 h 279"/>
                <a:gd name="T30" fmla="*/ 135 w 331"/>
                <a:gd name="T31" fmla="*/ 278 h 279"/>
                <a:gd name="T32" fmla="*/ 165 w 331"/>
                <a:gd name="T33" fmla="*/ 279 h 279"/>
                <a:gd name="T34" fmla="*/ 196 w 331"/>
                <a:gd name="T35" fmla="*/ 278 h 279"/>
                <a:gd name="T36" fmla="*/ 228 w 331"/>
                <a:gd name="T37" fmla="*/ 275 h 279"/>
                <a:gd name="T38" fmla="*/ 260 w 331"/>
                <a:gd name="T39" fmla="*/ 270 h 279"/>
                <a:gd name="T40" fmla="*/ 289 w 331"/>
                <a:gd name="T41" fmla="*/ 262 h 279"/>
                <a:gd name="T42" fmla="*/ 300 w 331"/>
                <a:gd name="T43" fmla="*/ 257 h 279"/>
                <a:gd name="T44" fmla="*/ 314 w 331"/>
                <a:gd name="T45" fmla="*/ 251 h 279"/>
                <a:gd name="T46" fmla="*/ 326 w 331"/>
                <a:gd name="T47" fmla="*/ 242 h 279"/>
                <a:gd name="T48" fmla="*/ 331 w 331"/>
                <a:gd name="T49" fmla="*/ 233 h 279"/>
                <a:gd name="T50" fmla="*/ 331 w 331"/>
                <a:gd name="T51" fmla="*/ 0 h 279"/>
                <a:gd name="T52" fmla="*/ 294 w 331"/>
                <a:gd name="T53" fmla="*/ 15 h 279"/>
                <a:gd name="T54" fmla="*/ 251 w 331"/>
                <a:gd name="T55" fmla="*/ 24 h 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331" h="279">
                  <a:moveTo>
                    <a:pt x="251" y="24"/>
                  </a:moveTo>
                  <a:lnTo>
                    <a:pt x="251" y="24"/>
                  </a:lnTo>
                  <a:cubicBezTo>
                    <a:pt x="236" y="27"/>
                    <a:pt x="221" y="29"/>
                    <a:pt x="207" y="29"/>
                  </a:cubicBezTo>
                  <a:cubicBezTo>
                    <a:pt x="192" y="30"/>
                    <a:pt x="178" y="31"/>
                    <a:pt x="165" y="31"/>
                  </a:cubicBezTo>
                  <a:cubicBezTo>
                    <a:pt x="152" y="31"/>
                    <a:pt x="139" y="30"/>
                    <a:pt x="124" y="29"/>
                  </a:cubicBezTo>
                  <a:cubicBezTo>
                    <a:pt x="109" y="29"/>
                    <a:pt x="94" y="27"/>
                    <a:pt x="79" y="24"/>
                  </a:cubicBezTo>
                  <a:cubicBezTo>
                    <a:pt x="65" y="22"/>
                    <a:pt x="50" y="19"/>
                    <a:pt x="37" y="15"/>
                  </a:cubicBezTo>
                  <a:cubicBezTo>
                    <a:pt x="23" y="11"/>
                    <a:pt x="10" y="6"/>
                    <a:pt x="0" y="0"/>
                  </a:cubicBezTo>
                  <a:lnTo>
                    <a:pt x="0" y="233"/>
                  </a:lnTo>
                  <a:cubicBezTo>
                    <a:pt x="0" y="236"/>
                    <a:pt x="1" y="239"/>
                    <a:pt x="4" y="242"/>
                  </a:cubicBezTo>
                  <a:cubicBezTo>
                    <a:pt x="8" y="245"/>
                    <a:pt x="12" y="248"/>
                    <a:pt x="16" y="251"/>
                  </a:cubicBezTo>
                  <a:cubicBezTo>
                    <a:pt x="21" y="253"/>
                    <a:pt x="25" y="255"/>
                    <a:pt x="30" y="257"/>
                  </a:cubicBezTo>
                  <a:cubicBezTo>
                    <a:pt x="35" y="259"/>
                    <a:pt x="39" y="261"/>
                    <a:pt x="42" y="262"/>
                  </a:cubicBezTo>
                  <a:cubicBezTo>
                    <a:pt x="51" y="265"/>
                    <a:pt x="60" y="268"/>
                    <a:pt x="71" y="270"/>
                  </a:cubicBezTo>
                  <a:cubicBezTo>
                    <a:pt x="81" y="272"/>
                    <a:pt x="92" y="273"/>
                    <a:pt x="102" y="275"/>
                  </a:cubicBezTo>
                  <a:cubicBezTo>
                    <a:pt x="113" y="276"/>
                    <a:pt x="124" y="277"/>
                    <a:pt x="135" y="278"/>
                  </a:cubicBezTo>
                  <a:cubicBezTo>
                    <a:pt x="145" y="278"/>
                    <a:pt x="155" y="279"/>
                    <a:pt x="165" y="279"/>
                  </a:cubicBezTo>
                  <a:cubicBezTo>
                    <a:pt x="175" y="279"/>
                    <a:pt x="185" y="278"/>
                    <a:pt x="196" y="278"/>
                  </a:cubicBezTo>
                  <a:cubicBezTo>
                    <a:pt x="207" y="277"/>
                    <a:pt x="217" y="276"/>
                    <a:pt x="228" y="275"/>
                  </a:cubicBezTo>
                  <a:cubicBezTo>
                    <a:pt x="239" y="273"/>
                    <a:pt x="249" y="272"/>
                    <a:pt x="260" y="270"/>
                  </a:cubicBezTo>
                  <a:cubicBezTo>
                    <a:pt x="270" y="268"/>
                    <a:pt x="280" y="265"/>
                    <a:pt x="289" y="262"/>
                  </a:cubicBezTo>
                  <a:cubicBezTo>
                    <a:pt x="292" y="261"/>
                    <a:pt x="295" y="259"/>
                    <a:pt x="300" y="257"/>
                  </a:cubicBezTo>
                  <a:cubicBezTo>
                    <a:pt x="305" y="255"/>
                    <a:pt x="310" y="253"/>
                    <a:pt x="314" y="251"/>
                  </a:cubicBezTo>
                  <a:cubicBezTo>
                    <a:pt x="319" y="248"/>
                    <a:pt x="323" y="245"/>
                    <a:pt x="326" y="242"/>
                  </a:cubicBezTo>
                  <a:cubicBezTo>
                    <a:pt x="329" y="239"/>
                    <a:pt x="331" y="236"/>
                    <a:pt x="331" y="233"/>
                  </a:cubicBezTo>
                  <a:lnTo>
                    <a:pt x="331" y="0"/>
                  </a:lnTo>
                  <a:cubicBezTo>
                    <a:pt x="320" y="6"/>
                    <a:pt x="308" y="11"/>
                    <a:pt x="294" y="15"/>
                  </a:cubicBezTo>
                  <a:cubicBezTo>
                    <a:pt x="280" y="19"/>
                    <a:pt x="266" y="22"/>
                    <a:pt x="251" y="24"/>
                  </a:cubicBezTo>
                  <a:close/>
                </a:path>
              </a:pathLst>
            </a:custGeom>
            <a:solidFill>
              <a:schemeClr val="accent4">
                <a:lumMod val="75000"/>
              </a:schemeClr>
            </a:solidFill>
            <a:ln w="0">
              <a:noFill/>
              <a:prstDash val="solid"/>
              <a:round/>
              <a:headEnd/>
              <a:tailEnd/>
            </a:ln>
          </p:spPr>
          <p:txBody>
            <a:bodyPr vert="horz" wrap="square" lIns="0" tIns="0" rIns="0" bIns="0" numCol="1" anchor="ctr" anchorCtr="0" compatLnSpc="1">
              <a:prstTxWarp prst="textNoShape">
                <a:avLst/>
              </a:prstTxWarp>
            </a:bodyP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CA" sz="1000" b="1" i="0" u="none" strike="noStrike" kern="1200" cap="none" spc="0" normalizeH="0" baseline="0" noProof="0">
                <a:ln>
                  <a:noFill/>
                </a:ln>
                <a:solidFill>
                  <a:prstClr val="white"/>
                </a:solidFill>
                <a:effectLst/>
                <a:uLnTx/>
                <a:uFillTx/>
                <a:latin typeface="Segoe UI"/>
                <a:ea typeface="+mn-ea"/>
                <a:cs typeface="+mn-cs"/>
              </a:endParaRPr>
            </a:p>
          </p:txBody>
        </p:sp>
        <p:sp>
          <p:nvSpPr>
            <p:cNvPr id="264" name="Freeform 64">
              <a:extLst>
                <a:ext uri="{FF2B5EF4-FFF2-40B4-BE49-F238E27FC236}">
                  <a16:creationId xmlns:a16="http://schemas.microsoft.com/office/drawing/2014/main" id="{27F91D58-3BF4-B2C0-B5C7-2B2775DBDF66}"/>
                </a:ext>
              </a:extLst>
            </p:cNvPr>
            <p:cNvSpPr>
              <a:spLocks/>
            </p:cNvSpPr>
            <p:nvPr/>
          </p:nvSpPr>
          <p:spPr bwMode="auto">
            <a:xfrm>
              <a:off x="3065" y="2920"/>
              <a:ext cx="448" cy="97"/>
            </a:xfrm>
            <a:custGeom>
              <a:avLst/>
              <a:gdLst>
                <a:gd name="T0" fmla="*/ 3 w 331"/>
                <a:gd name="T1" fmla="*/ 51 h 90"/>
                <a:gd name="T2" fmla="*/ 3 w 331"/>
                <a:gd name="T3" fmla="*/ 51 h 90"/>
                <a:gd name="T4" fmla="*/ 20 w 331"/>
                <a:gd name="T5" fmla="*/ 65 h 90"/>
                <a:gd name="T6" fmla="*/ 46 w 331"/>
                <a:gd name="T7" fmla="*/ 75 h 90"/>
                <a:gd name="T8" fmla="*/ 76 w 331"/>
                <a:gd name="T9" fmla="*/ 82 h 90"/>
                <a:gd name="T10" fmla="*/ 108 w 331"/>
                <a:gd name="T11" fmla="*/ 87 h 90"/>
                <a:gd name="T12" fmla="*/ 139 w 331"/>
                <a:gd name="T13" fmla="*/ 89 h 90"/>
                <a:gd name="T14" fmla="*/ 165 w 331"/>
                <a:gd name="T15" fmla="*/ 90 h 90"/>
                <a:gd name="T16" fmla="*/ 191 w 331"/>
                <a:gd name="T17" fmla="*/ 89 h 90"/>
                <a:gd name="T18" fmla="*/ 222 w 331"/>
                <a:gd name="T19" fmla="*/ 87 h 90"/>
                <a:gd name="T20" fmla="*/ 254 w 331"/>
                <a:gd name="T21" fmla="*/ 82 h 90"/>
                <a:gd name="T22" fmla="*/ 285 w 331"/>
                <a:gd name="T23" fmla="*/ 75 h 90"/>
                <a:gd name="T24" fmla="*/ 310 w 331"/>
                <a:gd name="T25" fmla="*/ 65 h 90"/>
                <a:gd name="T26" fmla="*/ 328 w 331"/>
                <a:gd name="T27" fmla="*/ 51 h 90"/>
                <a:gd name="T28" fmla="*/ 330 w 331"/>
                <a:gd name="T29" fmla="*/ 48 h 90"/>
                <a:gd name="T30" fmla="*/ 331 w 331"/>
                <a:gd name="T31" fmla="*/ 45 h 90"/>
                <a:gd name="T32" fmla="*/ 326 w 331"/>
                <a:gd name="T33" fmla="*/ 35 h 90"/>
                <a:gd name="T34" fmla="*/ 314 w 331"/>
                <a:gd name="T35" fmla="*/ 27 h 90"/>
                <a:gd name="T36" fmla="*/ 300 w 331"/>
                <a:gd name="T37" fmla="*/ 20 h 90"/>
                <a:gd name="T38" fmla="*/ 289 w 331"/>
                <a:gd name="T39" fmla="*/ 15 h 90"/>
                <a:gd name="T40" fmla="*/ 259 w 331"/>
                <a:gd name="T41" fmla="*/ 8 h 90"/>
                <a:gd name="T42" fmla="*/ 228 w 331"/>
                <a:gd name="T43" fmla="*/ 2 h 90"/>
                <a:gd name="T44" fmla="*/ 196 w 331"/>
                <a:gd name="T45" fmla="*/ 1 h 90"/>
                <a:gd name="T46" fmla="*/ 165 w 331"/>
                <a:gd name="T47" fmla="*/ 0 h 90"/>
                <a:gd name="T48" fmla="*/ 135 w 331"/>
                <a:gd name="T49" fmla="*/ 1 h 90"/>
                <a:gd name="T50" fmla="*/ 103 w 331"/>
                <a:gd name="T51" fmla="*/ 2 h 90"/>
                <a:gd name="T52" fmla="*/ 71 w 331"/>
                <a:gd name="T53" fmla="*/ 8 h 90"/>
                <a:gd name="T54" fmla="*/ 42 w 331"/>
                <a:gd name="T55" fmla="*/ 15 h 90"/>
                <a:gd name="T56" fmla="*/ 30 w 331"/>
                <a:gd name="T57" fmla="*/ 20 h 90"/>
                <a:gd name="T58" fmla="*/ 16 w 331"/>
                <a:gd name="T59" fmla="*/ 27 h 90"/>
                <a:gd name="T60" fmla="*/ 4 w 331"/>
                <a:gd name="T61" fmla="*/ 35 h 90"/>
                <a:gd name="T62" fmla="*/ 0 w 331"/>
                <a:gd name="T63" fmla="*/ 45 h 90"/>
                <a:gd name="T64" fmla="*/ 0 w 331"/>
                <a:gd name="T65" fmla="*/ 48 h 90"/>
                <a:gd name="T66" fmla="*/ 3 w 331"/>
                <a:gd name="T67" fmla="*/ 51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31" h="90">
                  <a:moveTo>
                    <a:pt x="3" y="51"/>
                  </a:moveTo>
                  <a:lnTo>
                    <a:pt x="3" y="51"/>
                  </a:lnTo>
                  <a:cubicBezTo>
                    <a:pt x="7" y="56"/>
                    <a:pt x="13" y="61"/>
                    <a:pt x="20" y="65"/>
                  </a:cubicBezTo>
                  <a:cubicBezTo>
                    <a:pt x="28" y="69"/>
                    <a:pt x="36" y="72"/>
                    <a:pt x="46" y="75"/>
                  </a:cubicBezTo>
                  <a:cubicBezTo>
                    <a:pt x="55" y="78"/>
                    <a:pt x="65" y="80"/>
                    <a:pt x="76" y="82"/>
                  </a:cubicBezTo>
                  <a:cubicBezTo>
                    <a:pt x="87" y="84"/>
                    <a:pt x="98" y="86"/>
                    <a:pt x="108" y="87"/>
                  </a:cubicBezTo>
                  <a:cubicBezTo>
                    <a:pt x="119" y="88"/>
                    <a:pt x="129" y="89"/>
                    <a:pt x="139" y="89"/>
                  </a:cubicBezTo>
                  <a:cubicBezTo>
                    <a:pt x="149" y="90"/>
                    <a:pt x="158" y="90"/>
                    <a:pt x="165" y="90"/>
                  </a:cubicBezTo>
                  <a:cubicBezTo>
                    <a:pt x="173" y="90"/>
                    <a:pt x="182" y="90"/>
                    <a:pt x="191" y="89"/>
                  </a:cubicBezTo>
                  <a:cubicBezTo>
                    <a:pt x="201" y="89"/>
                    <a:pt x="211" y="88"/>
                    <a:pt x="222" y="87"/>
                  </a:cubicBezTo>
                  <a:cubicBezTo>
                    <a:pt x="233" y="86"/>
                    <a:pt x="244" y="84"/>
                    <a:pt x="254" y="82"/>
                  </a:cubicBezTo>
                  <a:cubicBezTo>
                    <a:pt x="265" y="80"/>
                    <a:pt x="275" y="78"/>
                    <a:pt x="285" y="75"/>
                  </a:cubicBezTo>
                  <a:cubicBezTo>
                    <a:pt x="294" y="72"/>
                    <a:pt x="303" y="69"/>
                    <a:pt x="310" y="65"/>
                  </a:cubicBezTo>
                  <a:cubicBezTo>
                    <a:pt x="318" y="61"/>
                    <a:pt x="324" y="56"/>
                    <a:pt x="328" y="51"/>
                  </a:cubicBezTo>
                  <a:cubicBezTo>
                    <a:pt x="329" y="50"/>
                    <a:pt x="329" y="49"/>
                    <a:pt x="330" y="48"/>
                  </a:cubicBezTo>
                  <a:cubicBezTo>
                    <a:pt x="331" y="47"/>
                    <a:pt x="331" y="46"/>
                    <a:pt x="331" y="45"/>
                  </a:cubicBezTo>
                  <a:cubicBezTo>
                    <a:pt x="331" y="41"/>
                    <a:pt x="329" y="38"/>
                    <a:pt x="326" y="35"/>
                  </a:cubicBezTo>
                  <a:cubicBezTo>
                    <a:pt x="323" y="32"/>
                    <a:pt x="319" y="29"/>
                    <a:pt x="314" y="27"/>
                  </a:cubicBezTo>
                  <a:cubicBezTo>
                    <a:pt x="310" y="24"/>
                    <a:pt x="305" y="22"/>
                    <a:pt x="300" y="20"/>
                  </a:cubicBezTo>
                  <a:cubicBezTo>
                    <a:pt x="295" y="18"/>
                    <a:pt x="292" y="16"/>
                    <a:pt x="289" y="15"/>
                  </a:cubicBezTo>
                  <a:cubicBezTo>
                    <a:pt x="279" y="12"/>
                    <a:pt x="270" y="10"/>
                    <a:pt x="259" y="8"/>
                  </a:cubicBezTo>
                  <a:cubicBezTo>
                    <a:pt x="249" y="6"/>
                    <a:pt x="238" y="4"/>
                    <a:pt x="228" y="2"/>
                  </a:cubicBezTo>
                  <a:cubicBezTo>
                    <a:pt x="217" y="1"/>
                    <a:pt x="207" y="1"/>
                    <a:pt x="196" y="1"/>
                  </a:cubicBezTo>
                  <a:cubicBezTo>
                    <a:pt x="185" y="0"/>
                    <a:pt x="175" y="0"/>
                    <a:pt x="165" y="0"/>
                  </a:cubicBezTo>
                  <a:cubicBezTo>
                    <a:pt x="155" y="0"/>
                    <a:pt x="145" y="0"/>
                    <a:pt x="135" y="1"/>
                  </a:cubicBezTo>
                  <a:cubicBezTo>
                    <a:pt x="124" y="1"/>
                    <a:pt x="113" y="1"/>
                    <a:pt x="103" y="2"/>
                  </a:cubicBezTo>
                  <a:cubicBezTo>
                    <a:pt x="92" y="4"/>
                    <a:pt x="81" y="6"/>
                    <a:pt x="71" y="8"/>
                  </a:cubicBezTo>
                  <a:cubicBezTo>
                    <a:pt x="61" y="10"/>
                    <a:pt x="51" y="12"/>
                    <a:pt x="42" y="15"/>
                  </a:cubicBezTo>
                  <a:cubicBezTo>
                    <a:pt x="39" y="16"/>
                    <a:pt x="35" y="18"/>
                    <a:pt x="30" y="20"/>
                  </a:cubicBezTo>
                  <a:cubicBezTo>
                    <a:pt x="25" y="22"/>
                    <a:pt x="21" y="24"/>
                    <a:pt x="16" y="27"/>
                  </a:cubicBezTo>
                  <a:cubicBezTo>
                    <a:pt x="12" y="29"/>
                    <a:pt x="8" y="32"/>
                    <a:pt x="4" y="35"/>
                  </a:cubicBezTo>
                  <a:cubicBezTo>
                    <a:pt x="1" y="38"/>
                    <a:pt x="0" y="41"/>
                    <a:pt x="0" y="45"/>
                  </a:cubicBezTo>
                  <a:cubicBezTo>
                    <a:pt x="0" y="46"/>
                    <a:pt x="0" y="47"/>
                    <a:pt x="0" y="48"/>
                  </a:cubicBezTo>
                  <a:cubicBezTo>
                    <a:pt x="1" y="49"/>
                    <a:pt x="2" y="50"/>
                    <a:pt x="3" y="51"/>
                  </a:cubicBezTo>
                  <a:close/>
                </a:path>
              </a:pathLst>
            </a:custGeom>
            <a:solidFill>
              <a:schemeClr val="accent4">
                <a:lumMod val="75000"/>
              </a:schemeClr>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black"/>
                </a:solidFill>
                <a:effectLst/>
                <a:uLnTx/>
                <a:uFillTx/>
                <a:latin typeface="Segoe UI"/>
                <a:ea typeface="+mn-ea"/>
                <a:cs typeface="+mn-cs"/>
              </a:endParaRPr>
            </a:p>
          </p:txBody>
        </p:sp>
      </p:grpSp>
      <p:pic>
        <p:nvPicPr>
          <p:cNvPr id="279" name="Picture 26" descr="Seo report Special Flat icon">
            <a:extLst>
              <a:ext uri="{FF2B5EF4-FFF2-40B4-BE49-F238E27FC236}">
                <a16:creationId xmlns:a16="http://schemas.microsoft.com/office/drawing/2014/main" id="{881C0261-E464-FBF4-780A-30F40EE14162}"/>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7365167" y="1696362"/>
            <a:ext cx="485215" cy="485215"/>
          </a:xfrm>
          <a:prstGeom prst="rect">
            <a:avLst/>
          </a:prstGeom>
          <a:noFill/>
          <a:extLst>
            <a:ext uri="{909E8E84-426E-40DD-AFC4-6F175D3DCCD1}">
              <a14:hiddenFill xmlns:a14="http://schemas.microsoft.com/office/drawing/2010/main">
                <a:solidFill>
                  <a:srgbClr val="FFFFFF"/>
                </a:solidFill>
              </a14:hiddenFill>
            </a:ext>
          </a:extLst>
        </p:spPr>
      </p:pic>
      <p:cxnSp>
        <p:nvCxnSpPr>
          <p:cNvPr id="19" name="Straight Arrow Connector 18">
            <a:extLst>
              <a:ext uri="{FF2B5EF4-FFF2-40B4-BE49-F238E27FC236}">
                <a16:creationId xmlns:a16="http://schemas.microsoft.com/office/drawing/2014/main" id="{56E3EFDE-545A-6E0C-2B5D-ED089441DAA9}"/>
              </a:ext>
            </a:extLst>
          </p:cNvPr>
          <p:cNvCxnSpPr>
            <a:cxnSpLocks/>
          </p:cNvCxnSpPr>
          <p:nvPr/>
        </p:nvCxnSpPr>
        <p:spPr>
          <a:xfrm>
            <a:off x="3384893" y="1935352"/>
            <a:ext cx="298634" cy="0"/>
          </a:xfrm>
          <a:prstGeom prst="straightConnector1">
            <a:avLst/>
          </a:prstGeom>
          <a:ln w="28575">
            <a:solidFill>
              <a:srgbClr val="FF9933"/>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AC47D34D-6C5E-6588-549A-C5001AAE7125}"/>
              </a:ext>
            </a:extLst>
          </p:cNvPr>
          <p:cNvCxnSpPr>
            <a:cxnSpLocks/>
          </p:cNvCxnSpPr>
          <p:nvPr/>
        </p:nvCxnSpPr>
        <p:spPr>
          <a:xfrm>
            <a:off x="8271398" y="5504532"/>
            <a:ext cx="222935" cy="345884"/>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90F5A672-5ABA-3AB0-E7CB-3F79D40BB9D0}"/>
              </a:ext>
            </a:extLst>
          </p:cNvPr>
          <p:cNvSpPr txBox="1"/>
          <p:nvPr/>
        </p:nvSpPr>
        <p:spPr>
          <a:xfrm>
            <a:off x="3683527" y="3648360"/>
            <a:ext cx="1636702" cy="577081"/>
          </a:xfrm>
          <a:prstGeom prst="rect">
            <a:avLst/>
          </a:prstGeom>
          <a:noFill/>
        </p:spPr>
        <p:txBody>
          <a:bodyPr wrap="square"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CA" sz="1050">
                <a:solidFill>
                  <a:prstClr val="black"/>
                </a:solidFill>
                <a:latin typeface="Segoe UI"/>
              </a:rPr>
              <a:t>External </a:t>
            </a:r>
            <a:br>
              <a:rPr lang="en-CA" sz="1050">
                <a:solidFill>
                  <a:prstClr val="black"/>
                </a:solidFill>
                <a:latin typeface="Segoe UI"/>
              </a:rPr>
            </a:br>
            <a:r>
              <a:rPr lang="en-CA" sz="1050">
                <a:solidFill>
                  <a:prstClr val="black"/>
                </a:solidFill>
                <a:latin typeface="Segoe UI"/>
              </a:rPr>
              <a:t>tools</a:t>
            </a:r>
            <a:endParaRPr lang="en-CA" sz="1050">
              <a:solidFill>
                <a:prstClr val="black"/>
              </a:solidFill>
            </a:endParaRPr>
          </a:p>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CA" sz="1050" i="0" strike="noStrike" kern="1200" cap="none" spc="0" normalizeH="0" baseline="0" noProof="0">
              <a:ln>
                <a:noFill/>
              </a:ln>
              <a:solidFill>
                <a:prstClr val="black"/>
              </a:solidFill>
              <a:effectLst/>
              <a:uLnTx/>
              <a:uFillTx/>
              <a:latin typeface="Segoe UI"/>
              <a:ea typeface="+mn-ea"/>
              <a:cs typeface="+mn-cs"/>
            </a:endParaRPr>
          </a:p>
        </p:txBody>
      </p:sp>
      <p:cxnSp>
        <p:nvCxnSpPr>
          <p:cNvPr id="471" name="Straight Arrow Connector 470">
            <a:extLst>
              <a:ext uri="{FF2B5EF4-FFF2-40B4-BE49-F238E27FC236}">
                <a16:creationId xmlns:a16="http://schemas.microsoft.com/office/drawing/2014/main" id="{AAAD4CFE-8EC0-D3A5-ECC0-C238C062C2E4}"/>
              </a:ext>
            </a:extLst>
          </p:cNvPr>
          <p:cNvCxnSpPr>
            <a:cxnSpLocks/>
          </p:cNvCxnSpPr>
          <p:nvPr/>
        </p:nvCxnSpPr>
        <p:spPr>
          <a:xfrm flipH="1" flipV="1">
            <a:off x="8200781" y="5402702"/>
            <a:ext cx="967439" cy="49398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3" name="Rectangle 62">
            <a:extLst>
              <a:ext uri="{FF2B5EF4-FFF2-40B4-BE49-F238E27FC236}">
                <a16:creationId xmlns:a16="http://schemas.microsoft.com/office/drawing/2014/main" id="{4CAB5515-1D82-7AA6-AE56-B61DF2136BFE}"/>
              </a:ext>
            </a:extLst>
          </p:cNvPr>
          <p:cNvSpPr/>
          <p:nvPr/>
        </p:nvSpPr>
        <p:spPr>
          <a:xfrm>
            <a:off x="1952400" y="4619904"/>
            <a:ext cx="3516932" cy="1816214"/>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6772" tIns="63386" rIns="126772" bIns="63386" numCol="1" spcCol="0" rtlCol="0" fromWordArt="0" anchor="ctr" anchorCtr="0" forceAA="0" compatLnSpc="1">
            <a:prstTxWarp prst="textNoShape">
              <a:avLst/>
            </a:prstTxWarp>
            <a:no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3330" b="0" i="0" u="none" strike="noStrike" kern="1200" cap="none" spc="0" normalizeH="0" baseline="0" noProof="0">
              <a:ln>
                <a:noFill/>
              </a:ln>
              <a:solidFill>
                <a:prstClr val="white"/>
              </a:solidFill>
              <a:effectLst/>
              <a:uLnTx/>
              <a:uFillTx/>
              <a:latin typeface="Segoe UI"/>
              <a:ea typeface="+mn-ea"/>
              <a:cs typeface="+mn-cs"/>
            </a:endParaRPr>
          </a:p>
        </p:txBody>
      </p:sp>
      <p:sp>
        <p:nvSpPr>
          <p:cNvPr id="450" name="Rectangle 449">
            <a:extLst>
              <a:ext uri="{FF2B5EF4-FFF2-40B4-BE49-F238E27FC236}">
                <a16:creationId xmlns:a16="http://schemas.microsoft.com/office/drawing/2014/main" id="{A3C43E95-6926-33BE-0647-1D043D94A997}"/>
              </a:ext>
            </a:extLst>
          </p:cNvPr>
          <p:cNvSpPr/>
          <p:nvPr/>
        </p:nvSpPr>
        <p:spPr>
          <a:xfrm>
            <a:off x="1945364" y="4322238"/>
            <a:ext cx="3516932" cy="537005"/>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6772" tIns="63386" rIns="126772" bIns="63386" numCol="1" spcCol="0" rtlCol="0" fromWordArt="0" anchor="ctr" anchorCtr="0" forceAA="0" compatLnSpc="1">
            <a:prstTxWarp prst="textNoShape">
              <a:avLst/>
            </a:prstTxWarp>
            <a:no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600" b="1" i="0" strike="noStrike" kern="1200" cap="none" spc="0" normalizeH="0" baseline="0" noProof="0">
                <a:ln>
                  <a:noFill/>
                </a:ln>
                <a:solidFill>
                  <a:prstClr val="white"/>
                </a:solidFill>
                <a:effectLst/>
                <a:uLnTx/>
                <a:uFillTx/>
                <a:latin typeface="Segoe UI"/>
                <a:ea typeface="+mn-ea"/>
                <a:cs typeface="+mn-cs"/>
              </a:rPr>
              <a:t>Triton </a:t>
            </a:r>
            <a:r>
              <a:rPr lang="en-US" sz="1600" b="1">
                <a:solidFill>
                  <a:prstClr val="white"/>
                </a:solidFill>
                <a:latin typeface="Segoe UI"/>
              </a:rPr>
              <a:t>Environment 1</a:t>
            </a:r>
            <a:br>
              <a:rPr lang="en-US" sz="1600" b="1">
                <a:solidFill>
                  <a:prstClr val="white"/>
                </a:solidFill>
                <a:latin typeface="Segoe UI"/>
              </a:rPr>
            </a:br>
            <a:r>
              <a:rPr lang="en-US" sz="1400" b="1">
                <a:solidFill>
                  <a:prstClr val="white"/>
                </a:solidFill>
                <a:latin typeface="Segoe UI"/>
              </a:rPr>
              <a:t> </a:t>
            </a:r>
            <a:r>
              <a:rPr kumimoji="0" lang="en-US" sz="1400" b="1" i="0" strike="noStrike" kern="1200" cap="none" spc="0" normalizeH="0" baseline="0" noProof="0">
                <a:ln>
                  <a:noFill/>
                </a:ln>
                <a:solidFill>
                  <a:prstClr val="white"/>
                </a:solidFill>
                <a:effectLst/>
                <a:uLnTx/>
                <a:uFillTx/>
                <a:latin typeface="Segoe UI"/>
                <a:ea typeface="+mn-ea"/>
                <a:cs typeface="+mn-cs"/>
              </a:rPr>
              <a:t>Databricks production</a:t>
            </a:r>
          </a:p>
        </p:txBody>
      </p:sp>
      <p:sp>
        <p:nvSpPr>
          <p:cNvPr id="452" name="TextBox 451">
            <a:extLst>
              <a:ext uri="{FF2B5EF4-FFF2-40B4-BE49-F238E27FC236}">
                <a16:creationId xmlns:a16="http://schemas.microsoft.com/office/drawing/2014/main" id="{28986EEF-9A38-7737-017B-EBD3D67792CC}"/>
              </a:ext>
            </a:extLst>
          </p:cNvPr>
          <p:cNvSpPr txBox="1"/>
          <p:nvPr/>
        </p:nvSpPr>
        <p:spPr>
          <a:xfrm>
            <a:off x="2605380" y="5674978"/>
            <a:ext cx="1636702" cy="577081"/>
          </a:xfrm>
          <a:prstGeom prst="rect">
            <a:avLst/>
          </a:prstGeom>
          <a:noFill/>
        </p:spPr>
        <p:txBody>
          <a:bodyPr wrap="square"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CA" sz="1050" i="0" strike="noStrike" kern="1200" cap="none" spc="0" normalizeH="0" baseline="0" noProof="0">
                <a:ln>
                  <a:noFill/>
                </a:ln>
                <a:solidFill>
                  <a:prstClr val="black"/>
                </a:solidFill>
                <a:effectLst/>
                <a:uLnTx/>
                <a:uFillTx/>
                <a:latin typeface="Segoe UI"/>
                <a:ea typeface="+mn-ea"/>
                <a:cs typeface="+mn-cs"/>
              </a:rPr>
              <a:t>Databricks</a:t>
            </a:r>
          </a:p>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CA" sz="1050" i="0" strike="noStrike" kern="1200" cap="none" spc="0" normalizeH="0" baseline="0" noProof="0">
                <a:ln>
                  <a:noFill/>
                </a:ln>
                <a:solidFill>
                  <a:prstClr val="black"/>
                </a:solidFill>
                <a:effectLst/>
                <a:uLnTx/>
                <a:uFillTx/>
                <a:latin typeface="Segoe UI"/>
                <a:ea typeface="+mn-ea"/>
                <a:cs typeface="+mn-cs"/>
              </a:rPr>
              <a:t> notebooks</a:t>
            </a:r>
          </a:p>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CA" sz="1050" i="0" strike="noStrike" kern="1200" cap="none" spc="0" normalizeH="0" baseline="0" noProof="0">
              <a:ln>
                <a:noFill/>
              </a:ln>
              <a:solidFill>
                <a:prstClr val="black"/>
              </a:solidFill>
              <a:effectLst/>
              <a:uLnTx/>
              <a:uFillTx/>
              <a:latin typeface="Segoe UI"/>
              <a:ea typeface="+mn-ea"/>
              <a:cs typeface="+mn-cs"/>
            </a:endParaRPr>
          </a:p>
        </p:txBody>
      </p:sp>
      <p:pic>
        <p:nvPicPr>
          <p:cNvPr id="453" name="Picture 14" descr="Notebook Icon Png #113514 - Free Icons Library">
            <a:extLst>
              <a:ext uri="{FF2B5EF4-FFF2-40B4-BE49-F238E27FC236}">
                <a16:creationId xmlns:a16="http://schemas.microsoft.com/office/drawing/2014/main" id="{007BAE2F-A07A-4BFF-02C8-6038BEEF4708}"/>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129190" y="5087270"/>
            <a:ext cx="513040" cy="513040"/>
          </a:xfrm>
          <a:prstGeom prst="rect">
            <a:avLst/>
          </a:prstGeom>
          <a:noFill/>
          <a:extLst>
            <a:ext uri="{909E8E84-426E-40DD-AFC4-6F175D3DCCD1}">
              <a14:hiddenFill xmlns:a14="http://schemas.microsoft.com/office/drawing/2010/main">
                <a:solidFill>
                  <a:srgbClr val="FFFFFF"/>
                </a:solidFill>
              </a14:hiddenFill>
            </a:ext>
          </a:extLst>
        </p:spPr>
      </p:pic>
      <p:grpSp>
        <p:nvGrpSpPr>
          <p:cNvPr id="454" name="Group 62">
            <a:extLst>
              <a:ext uri="{FF2B5EF4-FFF2-40B4-BE49-F238E27FC236}">
                <a16:creationId xmlns:a16="http://schemas.microsoft.com/office/drawing/2014/main" id="{4EAD63DA-F922-EDBE-A542-460A3E834CCF}"/>
              </a:ext>
            </a:extLst>
          </p:cNvPr>
          <p:cNvGrpSpPr>
            <a:grpSpLocks noChangeAspect="1"/>
          </p:cNvGrpSpPr>
          <p:nvPr/>
        </p:nvGrpSpPr>
        <p:grpSpPr bwMode="auto">
          <a:xfrm>
            <a:off x="4370796" y="5055581"/>
            <a:ext cx="672764" cy="2798777"/>
            <a:chOff x="2976" y="1554"/>
            <a:chExt cx="462" cy="1932"/>
          </a:xfrm>
        </p:grpSpPr>
        <p:sp>
          <p:nvSpPr>
            <p:cNvPr id="455" name="AutoShape 61">
              <a:extLst>
                <a:ext uri="{FF2B5EF4-FFF2-40B4-BE49-F238E27FC236}">
                  <a16:creationId xmlns:a16="http://schemas.microsoft.com/office/drawing/2014/main" id="{57F3F422-E476-4C3C-7A0C-004CD75EF7FA}"/>
                </a:ext>
              </a:extLst>
            </p:cNvPr>
            <p:cNvSpPr>
              <a:spLocks noChangeAspect="1" noChangeArrowheads="1" noTextEdit="1"/>
            </p:cNvSpPr>
            <p:nvPr/>
          </p:nvSpPr>
          <p:spPr bwMode="auto">
            <a:xfrm>
              <a:off x="2996" y="3128"/>
              <a:ext cx="332" cy="3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black"/>
                </a:solidFill>
                <a:effectLst/>
                <a:uLnTx/>
                <a:uFillTx/>
                <a:latin typeface="Segoe UI"/>
                <a:ea typeface="+mn-ea"/>
                <a:cs typeface="+mn-cs"/>
              </a:endParaRPr>
            </a:p>
          </p:txBody>
        </p:sp>
        <p:sp>
          <p:nvSpPr>
            <p:cNvPr id="456" name="Freeform 63">
              <a:extLst>
                <a:ext uri="{FF2B5EF4-FFF2-40B4-BE49-F238E27FC236}">
                  <a16:creationId xmlns:a16="http://schemas.microsoft.com/office/drawing/2014/main" id="{2C88F385-C64E-0020-8AF2-FD78C159373F}"/>
                </a:ext>
              </a:extLst>
            </p:cNvPr>
            <p:cNvSpPr>
              <a:spLocks/>
            </p:cNvSpPr>
            <p:nvPr/>
          </p:nvSpPr>
          <p:spPr bwMode="auto">
            <a:xfrm>
              <a:off x="2976" y="1629"/>
              <a:ext cx="462" cy="282"/>
            </a:xfrm>
            <a:custGeom>
              <a:avLst/>
              <a:gdLst>
                <a:gd name="T0" fmla="*/ 251 w 331"/>
                <a:gd name="T1" fmla="*/ 24 h 279"/>
                <a:gd name="T2" fmla="*/ 251 w 331"/>
                <a:gd name="T3" fmla="*/ 24 h 279"/>
                <a:gd name="T4" fmla="*/ 207 w 331"/>
                <a:gd name="T5" fmla="*/ 29 h 279"/>
                <a:gd name="T6" fmla="*/ 165 w 331"/>
                <a:gd name="T7" fmla="*/ 31 h 279"/>
                <a:gd name="T8" fmla="*/ 124 w 331"/>
                <a:gd name="T9" fmla="*/ 29 h 279"/>
                <a:gd name="T10" fmla="*/ 79 w 331"/>
                <a:gd name="T11" fmla="*/ 24 h 279"/>
                <a:gd name="T12" fmla="*/ 37 w 331"/>
                <a:gd name="T13" fmla="*/ 15 h 279"/>
                <a:gd name="T14" fmla="*/ 0 w 331"/>
                <a:gd name="T15" fmla="*/ 0 h 279"/>
                <a:gd name="T16" fmla="*/ 0 w 331"/>
                <a:gd name="T17" fmla="*/ 233 h 279"/>
                <a:gd name="T18" fmla="*/ 4 w 331"/>
                <a:gd name="T19" fmla="*/ 242 h 279"/>
                <a:gd name="T20" fmla="*/ 16 w 331"/>
                <a:gd name="T21" fmla="*/ 251 h 279"/>
                <a:gd name="T22" fmla="*/ 30 w 331"/>
                <a:gd name="T23" fmla="*/ 257 h 279"/>
                <a:gd name="T24" fmla="*/ 42 w 331"/>
                <a:gd name="T25" fmla="*/ 262 h 279"/>
                <a:gd name="T26" fmla="*/ 71 w 331"/>
                <a:gd name="T27" fmla="*/ 270 h 279"/>
                <a:gd name="T28" fmla="*/ 102 w 331"/>
                <a:gd name="T29" fmla="*/ 275 h 279"/>
                <a:gd name="T30" fmla="*/ 135 w 331"/>
                <a:gd name="T31" fmla="*/ 278 h 279"/>
                <a:gd name="T32" fmla="*/ 165 w 331"/>
                <a:gd name="T33" fmla="*/ 279 h 279"/>
                <a:gd name="T34" fmla="*/ 196 w 331"/>
                <a:gd name="T35" fmla="*/ 278 h 279"/>
                <a:gd name="T36" fmla="*/ 228 w 331"/>
                <a:gd name="T37" fmla="*/ 275 h 279"/>
                <a:gd name="T38" fmla="*/ 260 w 331"/>
                <a:gd name="T39" fmla="*/ 270 h 279"/>
                <a:gd name="T40" fmla="*/ 289 w 331"/>
                <a:gd name="T41" fmla="*/ 262 h 279"/>
                <a:gd name="T42" fmla="*/ 300 w 331"/>
                <a:gd name="T43" fmla="*/ 257 h 279"/>
                <a:gd name="T44" fmla="*/ 314 w 331"/>
                <a:gd name="T45" fmla="*/ 251 h 279"/>
                <a:gd name="T46" fmla="*/ 326 w 331"/>
                <a:gd name="T47" fmla="*/ 242 h 279"/>
                <a:gd name="T48" fmla="*/ 331 w 331"/>
                <a:gd name="T49" fmla="*/ 233 h 279"/>
                <a:gd name="T50" fmla="*/ 331 w 331"/>
                <a:gd name="T51" fmla="*/ 0 h 279"/>
                <a:gd name="T52" fmla="*/ 294 w 331"/>
                <a:gd name="T53" fmla="*/ 15 h 279"/>
                <a:gd name="T54" fmla="*/ 251 w 331"/>
                <a:gd name="T55" fmla="*/ 24 h 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331" h="279">
                  <a:moveTo>
                    <a:pt x="251" y="24"/>
                  </a:moveTo>
                  <a:lnTo>
                    <a:pt x="251" y="24"/>
                  </a:lnTo>
                  <a:cubicBezTo>
                    <a:pt x="236" y="27"/>
                    <a:pt x="221" y="29"/>
                    <a:pt x="207" y="29"/>
                  </a:cubicBezTo>
                  <a:cubicBezTo>
                    <a:pt x="192" y="30"/>
                    <a:pt x="178" y="31"/>
                    <a:pt x="165" y="31"/>
                  </a:cubicBezTo>
                  <a:cubicBezTo>
                    <a:pt x="152" y="31"/>
                    <a:pt x="139" y="30"/>
                    <a:pt x="124" y="29"/>
                  </a:cubicBezTo>
                  <a:cubicBezTo>
                    <a:pt x="109" y="29"/>
                    <a:pt x="94" y="27"/>
                    <a:pt x="79" y="24"/>
                  </a:cubicBezTo>
                  <a:cubicBezTo>
                    <a:pt x="65" y="22"/>
                    <a:pt x="50" y="19"/>
                    <a:pt x="37" y="15"/>
                  </a:cubicBezTo>
                  <a:cubicBezTo>
                    <a:pt x="23" y="11"/>
                    <a:pt x="10" y="6"/>
                    <a:pt x="0" y="0"/>
                  </a:cubicBezTo>
                  <a:lnTo>
                    <a:pt x="0" y="233"/>
                  </a:lnTo>
                  <a:cubicBezTo>
                    <a:pt x="0" y="236"/>
                    <a:pt x="1" y="239"/>
                    <a:pt x="4" y="242"/>
                  </a:cubicBezTo>
                  <a:cubicBezTo>
                    <a:pt x="8" y="245"/>
                    <a:pt x="12" y="248"/>
                    <a:pt x="16" y="251"/>
                  </a:cubicBezTo>
                  <a:cubicBezTo>
                    <a:pt x="21" y="253"/>
                    <a:pt x="25" y="255"/>
                    <a:pt x="30" y="257"/>
                  </a:cubicBezTo>
                  <a:cubicBezTo>
                    <a:pt x="35" y="259"/>
                    <a:pt x="39" y="261"/>
                    <a:pt x="42" y="262"/>
                  </a:cubicBezTo>
                  <a:cubicBezTo>
                    <a:pt x="51" y="265"/>
                    <a:pt x="60" y="268"/>
                    <a:pt x="71" y="270"/>
                  </a:cubicBezTo>
                  <a:cubicBezTo>
                    <a:pt x="81" y="272"/>
                    <a:pt x="92" y="273"/>
                    <a:pt x="102" y="275"/>
                  </a:cubicBezTo>
                  <a:cubicBezTo>
                    <a:pt x="113" y="276"/>
                    <a:pt x="124" y="277"/>
                    <a:pt x="135" y="278"/>
                  </a:cubicBezTo>
                  <a:cubicBezTo>
                    <a:pt x="145" y="278"/>
                    <a:pt x="155" y="279"/>
                    <a:pt x="165" y="279"/>
                  </a:cubicBezTo>
                  <a:cubicBezTo>
                    <a:pt x="175" y="279"/>
                    <a:pt x="185" y="278"/>
                    <a:pt x="196" y="278"/>
                  </a:cubicBezTo>
                  <a:cubicBezTo>
                    <a:pt x="207" y="277"/>
                    <a:pt x="217" y="276"/>
                    <a:pt x="228" y="275"/>
                  </a:cubicBezTo>
                  <a:cubicBezTo>
                    <a:pt x="239" y="273"/>
                    <a:pt x="249" y="272"/>
                    <a:pt x="260" y="270"/>
                  </a:cubicBezTo>
                  <a:cubicBezTo>
                    <a:pt x="270" y="268"/>
                    <a:pt x="280" y="265"/>
                    <a:pt x="289" y="262"/>
                  </a:cubicBezTo>
                  <a:cubicBezTo>
                    <a:pt x="292" y="261"/>
                    <a:pt x="295" y="259"/>
                    <a:pt x="300" y="257"/>
                  </a:cubicBezTo>
                  <a:cubicBezTo>
                    <a:pt x="305" y="255"/>
                    <a:pt x="310" y="253"/>
                    <a:pt x="314" y="251"/>
                  </a:cubicBezTo>
                  <a:cubicBezTo>
                    <a:pt x="319" y="248"/>
                    <a:pt x="323" y="245"/>
                    <a:pt x="326" y="242"/>
                  </a:cubicBezTo>
                  <a:cubicBezTo>
                    <a:pt x="329" y="239"/>
                    <a:pt x="331" y="236"/>
                    <a:pt x="331" y="233"/>
                  </a:cubicBezTo>
                  <a:lnTo>
                    <a:pt x="331" y="0"/>
                  </a:lnTo>
                  <a:cubicBezTo>
                    <a:pt x="320" y="6"/>
                    <a:pt x="308" y="11"/>
                    <a:pt x="294" y="15"/>
                  </a:cubicBezTo>
                  <a:cubicBezTo>
                    <a:pt x="280" y="19"/>
                    <a:pt x="266" y="22"/>
                    <a:pt x="251" y="24"/>
                  </a:cubicBezTo>
                  <a:close/>
                </a:path>
              </a:pathLst>
            </a:custGeom>
            <a:solidFill>
              <a:schemeClr val="accent6">
                <a:lumMod val="50000"/>
              </a:schemeClr>
            </a:solidFill>
            <a:ln w="0">
              <a:noFill/>
              <a:prstDash val="solid"/>
              <a:round/>
              <a:headEnd/>
              <a:tailEnd/>
            </a:ln>
          </p:spPr>
          <p:txBody>
            <a:bodyPr vert="horz" wrap="square" lIns="0" tIns="0" rIns="0" bIns="0" numCol="1" anchor="ctr" anchorCtr="0" compatLnSpc="1">
              <a:prstTxWarp prst="textNoShape">
                <a:avLst/>
              </a:prstTxWarp>
            </a:bodyP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CA" sz="1000" b="1" i="0" u="none" strike="noStrike" kern="1200" cap="none" spc="0" normalizeH="0" baseline="0" noProof="0">
                <a:ln>
                  <a:noFill/>
                </a:ln>
                <a:solidFill>
                  <a:prstClr val="white"/>
                </a:solidFill>
                <a:effectLst/>
                <a:uLnTx/>
                <a:uFillTx/>
                <a:latin typeface="Segoe UI"/>
                <a:ea typeface="+mn-ea"/>
                <a:cs typeface="+mn-cs"/>
              </a:endParaRPr>
            </a:p>
          </p:txBody>
        </p:sp>
        <p:sp>
          <p:nvSpPr>
            <p:cNvPr id="461" name="Freeform 64">
              <a:extLst>
                <a:ext uri="{FF2B5EF4-FFF2-40B4-BE49-F238E27FC236}">
                  <a16:creationId xmlns:a16="http://schemas.microsoft.com/office/drawing/2014/main" id="{AC8FD79E-161B-19D3-B07E-B0DABC23563C}"/>
                </a:ext>
              </a:extLst>
            </p:cNvPr>
            <p:cNvSpPr>
              <a:spLocks/>
            </p:cNvSpPr>
            <p:nvPr/>
          </p:nvSpPr>
          <p:spPr bwMode="auto">
            <a:xfrm>
              <a:off x="2976" y="1554"/>
              <a:ext cx="448" cy="97"/>
            </a:xfrm>
            <a:custGeom>
              <a:avLst/>
              <a:gdLst>
                <a:gd name="T0" fmla="*/ 3 w 331"/>
                <a:gd name="T1" fmla="*/ 51 h 90"/>
                <a:gd name="T2" fmla="*/ 3 w 331"/>
                <a:gd name="T3" fmla="*/ 51 h 90"/>
                <a:gd name="T4" fmla="*/ 20 w 331"/>
                <a:gd name="T5" fmla="*/ 65 h 90"/>
                <a:gd name="T6" fmla="*/ 46 w 331"/>
                <a:gd name="T7" fmla="*/ 75 h 90"/>
                <a:gd name="T8" fmla="*/ 76 w 331"/>
                <a:gd name="T9" fmla="*/ 82 h 90"/>
                <a:gd name="T10" fmla="*/ 108 w 331"/>
                <a:gd name="T11" fmla="*/ 87 h 90"/>
                <a:gd name="T12" fmla="*/ 139 w 331"/>
                <a:gd name="T13" fmla="*/ 89 h 90"/>
                <a:gd name="T14" fmla="*/ 165 w 331"/>
                <a:gd name="T15" fmla="*/ 90 h 90"/>
                <a:gd name="T16" fmla="*/ 191 w 331"/>
                <a:gd name="T17" fmla="*/ 89 h 90"/>
                <a:gd name="T18" fmla="*/ 222 w 331"/>
                <a:gd name="T19" fmla="*/ 87 h 90"/>
                <a:gd name="T20" fmla="*/ 254 w 331"/>
                <a:gd name="T21" fmla="*/ 82 h 90"/>
                <a:gd name="T22" fmla="*/ 285 w 331"/>
                <a:gd name="T23" fmla="*/ 75 h 90"/>
                <a:gd name="T24" fmla="*/ 310 w 331"/>
                <a:gd name="T25" fmla="*/ 65 h 90"/>
                <a:gd name="T26" fmla="*/ 328 w 331"/>
                <a:gd name="T27" fmla="*/ 51 h 90"/>
                <a:gd name="T28" fmla="*/ 330 w 331"/>
                <a:gd name="T29" fmla="*/ 48 h 90"/>
                <a:gd name="T30" fmla="*/ 331 w 331"/>
                <a:gd name="T31" fmla="*/ 45 h 90"/>
                <a:gd name="T32" fmla="*/ 326 w 331"/>
                <a:gd name="T33" fmla="*/ 35 h 90"/>
                <a:gd name="T34" fmla="*/ 314 w 331"/>
                <a:gd name="T35" fmla="*/ 27 h 90"/>
                <a:gd name="T36" fmla="*/ 300 w 331"/>
                <a:gd name="T37" fmla="*/ 20 h 90"/>
                <a:gd name="T38" fmla="*/ 289 w 331"/>
                <a:gd name="T39" fmla="*/ 15 h 90"/>
                <a:gd name="T40" fmla="*/ 259 w 331"/>
                <a:gd name="T41" fmla="*/ 8 h 90"/>
                <a:gd name="T42" fmla="*/ 228 w 331"/>
                <a:gd name="T43" fmla="*/ 2 h 90"/>
                <a:gd name="T44" fmla="*/ 196 w 331"/>
                <a:gd name="T45" fmla="*/ 1 h 90"/>
                <a:gd name="T46" fmla="*/ 165 w 331"/>
                <a:gd name="T47" fmla="*/ 0 h 90"/>
                <a:gd name="T48" fmla="*/ 135 w 331"/>
                <a:gd name="T49" fmla="*/ 1 h 90"/>
                <a:gd name="T50" fmla="*/ 103 w 331"/>
                <a:gd name="T51" fmla="*/ 2 h 90"/>
                <a:gd name="T52" fmla="*/ 71 w 331"/>
                <a:gd name="T53" fmla="*/ 8 h 90"/>
                <a:gd name="T54" fmla="*/ 42 w 331"/>
                <a:gd name="T55" fmla="*/ 15 h 90"/>
                <a:gd name="T56" fmla="*/ 30 w 331"/>
                <a:gd name="T57" fmla="*/ 20 h 90"/>
                <a:gd name="T58" fmla="*/ 16 w 331"/>
                <a:gd name="T59" fmla="*/ 27 h 90"/>
                <a:gd name="T60" fmla="*/ 4 w 331"/>
                <a:gd name="T61" fmla="*/ 35 h 90"/>
                <a:gd name="T62" fmla="*/ 0 w 331"/>
                <a:gd name="T63" fmla="*/ 45 h 90"/>
                <a:gd name="T64" fmla="*/ 0 w 331"/>
                <a:gd name="T65" fmla="*/ 48 h 90"/>
                <a:gd name="T66" fmla="*/ 3 w 331"/>
                <a:gd name="T67" fmla="*/ 51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31" h="90">
                  <a:moveTo>
                    <a:pt x="3" y="51"/>
                  </a:moveTo>
                  <a:lnTo>
                    <a:pt x="3" y="51"/>
                  </a:lnTo>
                  <a:cubicBezTo>
                    <a:pt x="7" y="56"/>
                    <a:pt x="13" y="61"/>
                    <a:pt x="20" y="65"/>
                  </a:cubicBezTo>
                  <a:cubicBezTo>
                    <a:pt x="28" y="69"/>
                    <a:pt x="36" y="72"/>
                    <a:pt x="46" y="75"/>
                  </a:cubicBezTo>
                  <a:cubicBezTo>
                    <a:pt x="55" y="78"/>
                    <a:pt x="65" y="80"/>
                    <a:pt x="76" y="82"/>
                  </a:cubicBezTo>
                  <a:cubicBezTo>
                    <a:pt x="87" y="84"/>
                    <a:pt x="98" y="86"/>
                    <a:pt x="108" y="87"/>
                  </a:cubicBezTo>
                  <a:cubicBezTo>
                    <a:pt x="119" y="88"/>
                    <a:pt x="129" y="89"/>
                    <a:pt x="139" y="89"/>
                  </a:cubicBezTo>
                  <a:cubicBezTo>
                    <a:pt x="149" y="90"/>
                    <a:pt x="158" y="90"/>
                    <a:pt x="165" y="90"/>
                  </a:cubicBezTo>
                  <a:cubicBezTo>
                    <a:pt x="173" y="90"/>
                    <a:pt x="182" y="90"/>
                    <a:pt x="191" y="89"/>
                  </a:cubicBezTo>
                  <a:cubicBezTo>
                    <a:pt x="201" y="89"/>
                    <a:pt x="211" y="88"/>
                    <a:pt x="222" y="87"/>
                  </a:cubicBezTo>
                  <a:cubicBezTo>
                    <a:pt x="233" y="86"/>
                    <a:pt x="244" y="84"/>
                    <a:pt x="254" y="82"/>
                  </a:cubicBezTo>
                  <a:cubicBezTo>
                    <a:pt x="265" y="80"/>
                    <a:pt x="275" y="78"/>
                    <a:pt x="285" y="75"/>
                  </a:cubicBezTo>
                  <a:cubicBezTo>
                    <a:pt x="294" y="72"/>
                    <a:pt x="303" y="69"/>
                    <a:pt x="310" y="65"/>
                  </a:cubicBezTo>
                  <a:cubicBezTo>
                    <a:pt x="318" y="61"/>
                    <a:pt x="324" y="56"/>
                    <a:pt x="328" y="51"/>
                  </a:cubicBezTo>
                  <a:cubicBezTo>
                    <a:pt x="329" y="50"/>
                    <a:pt x="329" y="49"/>
                    <a:pt x="330" y="48"/>
                  </a:cubicBezTo>
                  <a:cubicBezTo>
                    <a:pt x="331" y="47"/>
                    <a:pt x="331" y="46"/>
                    <a:pt x="331" y="45"/>
                  </a:cubicBezTo>
                  <a:cubicBezTo>
                    <a:pt x="331" y="41"/>
                    <a:pt x="329" y="38"/>
                    <a:pt x="326" y="35"/>
                  </a:cubicBezTo>
                  <a:cubicBezTo>
                    <a:pt x="323" y="32"/>
                    <a:pt x="319" y="29"/>
                    <a:pt x="314" y="27"/>
                  </a:cubicBezTo>
                  <a:cubicBezTo>
                    <a:pt x="310" y="24"/>
                    <a:pt x="305" y="22"/>
                    <a:pt x="300" y="20"/>
                  </a:cubicBezTo>
                  <a:cubicBezTo>
                    <a:pt x="295" y="18"/>
                    <a:pt x="292" y="16"/>
                    <a:pt x="289" y="15"/>
                  </a:cubicBezTo>
                  <a:cubicBezTo>
                    <a:pt x="279" y="12"/>
                    <a:pt x="270" y="10"/>
                    <a:pt x="259" y="8"/>
                  </a:cubicBezTo>
                  <a:cubicBezTo>
                    <a:pt x="249" y="6"/>
                    <a:pt x="238" y="4"/>
                    <a:pt x="228" y="2"/>
                  </a:cubicBezTo>
                  <a:cubicBezTo>
                    <a:pt x="217" y="1"/>
                    <a:pt x="207" y="1"/>
                    <a:pt x="196" y="1"/>
                  </a:cubicBezTo>
                  <a:cubicBezTo>
                    <a:pt x="185" y="0"/>
                    <a:pt x="175" y="0"/>
                    <a:pt x="165" y="0"/>
                  </a:cubicBezTo>
                  <a:cubicBezTo>
                    <a:pt x="155" y="0"/>
                    <a:pt x="145" y="0"/>
                    <a:pt x="135" y="1"/>
                  </a:cubicBezTo>
                  <a:cubicBezTo>
                    <a:pt x="124" y="1"/>
                    <a:pt x="113" y="1"/>
                    <a:pt x="103" y="2"/>
                  </a:cubicBezTo>
                  <a:cubicBezTo>
                    <a:pt x="92" y="4"/>
                    <a:pt x="81" y="6"/>
                    <a:pt x="71" y="8"/>
                  </a:cubicBezTo>
                  <a:cubicBezTo>
                    <a:pt x="61" y="10"/>
                    <a:pt x="51" y="12"/>
                    <a:pt x="42" y="15"/>
                  </a:cubicBezTo>
                  <a:cubicBezTo>
                    <a:pt x="39" y="16"/>
                    <a:pt x="35" y="18"/>
                    <a:pt x="30" y="20"/>
                  </a:cubicBezTo>
                  <a:cubicBezTo>
                    <a:pt x="25" y="22"/>
                    <a:pt x="21" y="24"/>
                    <a:pt x="16" y="27"/>
                  </a:cubicBezTo>
                  <a:cubicBezTo>
                    <a:pt x="12" y="29"/>
                    <a:pt x="8" y="32"/>
                    <a:pt x="4" y="35"/>
                  </a:cubicBezTo>
                  <a:cubicBezTo>
                    <a:pt x="1" y="38"/>
                    <a:pt x="0" y="41"/>
                    <a:pt x="0" y="45"/>
                  </a:cubicBezTo>
                  <a:cubicBezTo>
                    <a:pt x="0" y="46"/>
                    <a:pt x="0" y="47"/>
                    <a:pt x="0" y="48"/>
                  </a:cubicBezTo>
                  <a:cubicBezTo>
                    <a:pt x="1" y="49"/>
                    <a:pt x="2" y="50"/>
                    <a:pt x="3" y="51"/>
                  </a:cubicBezTo>
                  <a:close/>
                </a:path>
              </a:pathLst>
            </a:custGeom>
            <a:solidFill>
              <a:schemeClr val="accent6">
                <a:lumMod val="50000"/>
              </a:schemeClr>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black"/>
                </a:solidFill>
                <a:effectLst/>
                <a:uLnTx/>
                <a:uFillTx/>
                <a:latin typeface="Segoe UI"/>
                <a:ea typeface="+mn-ea"/>
                <a:cs typeface="+mn-cs"/>
              </a:endParaRPr>
            </a:p>
          </p:txBody>
        </p:sp>
      </p:grpSp>
      <p:sp>
        <p:nvSpPr>
          <p:cNvPr id="462" name="TextBox 461">
            <a:extLst>
              <a:ext uri="{FF2B5EF4-FFF2-40B4-BE49-F238E27FC236}">
                <a16:creationId xmlns:a16="http://schemas.microsoft.com/office/drawing/2014/main" id="{51F71688-A6A1-1127-66BF-23FC2134DA4D}"/>
              </a:ext>
            </a:extLst>
          </p:cNvPr>
          <p:cNvSpPr txBox="1"/>
          <p:nvPr/>
        </p:nvSpPr>
        <p:spPr>
          <a:xfrm>
            <a:off x="3967203" y="5689112"/>
            <a:ext cx="1636702" cy="738664"/>
          </a:xfrm>
          <a:prstGeom prst="rect">
            <a:avLst/>
          </a:prstGeom>
          <a:noFill/>
        </p:spPr>
        <p:txBody>
          <a:bodyPr wrap="square"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CA" sz="1050">
                <a:solidFill>
                  <a:prstClr val="black"/>
                </a:solidFill>
                <a:latin typeface="Segoe UI"/>
              </a:rPr>
              <a:t>Databricks user facing tables (i.e. user Lakehouse)</a:t>
            </a:r>
            <a:endParaRPr kumimoji="0" lang="en-CA" sz="1050" i="0" strike="noStrike" kern="1200" cap="none" spc="0" normalizeH="0" baseline="0" noProof="0">
              <a:ln>
                <a:noFill/>
              </a:ln>
              <a:solidFill>
                <a:prstClr val="black"/>
              </a:solidFill>
              <a:effectLst/>
              <a:uLnTx/>
              <a:uFillTx/>
              <a:latin typeface="Segoe UI"/>
              <a:ea typeface="+mn-ea"/>
              <a:cs typeface="+mn-cs"/>
            </a:endParaRPr>
          </a:p>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CA" sz="1050" i="0" strike="noStrike" kern="1200" cap="none" spc="0" normalizeH="0" baseline="0" noProof="0">
              <a:ln>
                <a:noFill/>
              </a:ln>
              <a:solidFill>
                <a:prstClr val="black"/>
              </a:solidFill>
              <a:effectLst/>
              <a:uLnTx/>
              <a:uFillTx/>
              <a:latin typeface="Segoe UI"/>
              <a:ea typeface="+mn-ea"/>
              <a:cs typeface="+mn-cs"/>
            </a:endParaRPr>
          </a:p>
        </p:txBody>
      </p:sp>
      <p:cxnSp>
        <p:nvCxnSpPr>
          <p:cNvPr id="465" name="Straight Arrow Connector 464">
            <a:extLst>
              <a:ext uri="{FF2B5EF4-FFF2-40B4-BE49-F238E27FC236}">
                <a16:creationId xmlns:a16="http://schemas.microsoft.com/office/drawing/2014/main" id="{6C8872C9-67A5-A0E3-285F-3E42EE44A9DB}"/>
              </a:ext>
            </a:extLst>
          </p:cNvPr>
          <p:cNvCxnSpPr>
            <a:cxnSpLocks/>
          </p:cNvCxnSpPr>
          <p:nvPr/>
        </p:nvCxnSpPr>
        <p:spPr>
          <a:xfrm>
            <a:off x="3711493" y="5333476"/>
            <a:ext cx="298634" cy="0"/>
          </a:xfrm>
          <a:prstGeom prst="straightConnector1">
            <a:avLst/>
          </a:prstGeom>
          <a:ln w="28575">
            <a:solidFill>
              <a:srgbClr val="FF9933"/>
            </a:solidFill>
            <a:tailEnd type="triangle"/>
          </a:ln>
        </p:spPr>
        <p:style>
          <a:lnRef idx="1">
            <a:schemeClr val="accent1"/>
          </a:lnRef>
          <a:fillRef idx="0">
            <a:schemeClr val="accent1"/>
          </a:fillRef>
          <a:effectRef idx="0">
            <a:schemeClr val="accent1"/>
          </a:effectRef>
          <a:fontRef idx="minor">
            <a:schemeClr val="tx1"/>
          </a:fontRef>
        </p:style>
      </p:cxnSp>
      <p:pic>
        <p:nvPicPr>
          <p:cNvPr id="467" name="Picture 12" descr="Computer network, data base, database, raw, simple, tech, technology ...">
            <a:extLst>
              <a:ext uri="{FF2B5EF4-FFF2-40B4-BE49-F238E27FC236}">
                <a16:creationId xmlns:a16="http://schemas.microsoft.com/office/drawing/2014/main" id="{D532E893-2857-4D77-E742-182A1660B5C7}"/>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2053039" y="4996142"/>
            <a:ext cx="681680" cy="681680"/>
          </a:xfrm>
          <a:prstGeom prst="rect">
            <a:avLst/>
          </a:prstGeom>
          <a:noFill/>
          <a:extLst>
            <a:ext uri="{909E8E84-426E-40DD-AFC4-6F175D3DCCD1}">
              <a14:hiddenFill xmlns:a14="http://schemas.microsoft.com/office/drawing/2010/main">
                <a:solidFill>
                  <a:srgbClr val="FFFFFF"/>
                </a:solidFill>
              </a14:hiddenFill>
            </a:ext>
          </a:extLst>
        </p:spPr>
      </p:pic>
      <p:sp>
        <p:nvSpPr>
          <p:cNvPr id="468" name="TextBox 467">
            <a:extLst>
              <a:ext uri="{FF2B5EF4-FFF2-40B4-BE49-F238E27FC236}">
                <a16:creationId xmlns:a16="http://schemas.microsoft.com/office/drawing/2014/main" id="{FDC2FFA6-4D0D-8D31-09CD-6E230691532A}"/>
              </a:ext>
            </a:extLst>
          </p:cNvPr>
          <p:cNvSpPr txBox="1"/>
          <p:nvPr/>
        </p:nvSpPr>
        <p:spPr>
          <a:xfrm>
            <a:off x="1612507" y="5653205"/>
            <a:ext cx="1636702" cy="415498"/>
          </a:xfrm>
          <a:prstGeom prst="rect">
            <a:avLst/>
          </a:prstGeom>
          <a:noFill/>
        </p:spPr>
        <p:txBody>
          <a:bodyPr wrap="square"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CA" sz="1050" i="0" strike="noStrike" kern="1200" cap="none" spc="0" normalizeH="0" baseline="0" noProof="0">
                <a:ln>
                  <a:noFill/>
                </a:ln>
                <a:solidFill>
                  <a:prstClr val="black"/>
                </a:solidFill>
                <a:effectLst/>
                <a:uLnTx/>
                <a:uFillTx/>
                <a:latin typeface="Segoe UI"/>
                <a:ea typeface="+mn-ea"/>
                <a:cs typeface="+mn-cs"/>
              </a:rPr>
              <a:t>Data pipelines</a:t>
            </a:r>
          </a:p>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CA" sz="1050" i="0" strike="noStrike" kern="1200" cap="none" spc="0" normalizeH="0" baseline="0" noProof="0">
              <a:ln>
                <a:noFill/>
              </a:ln>
              <a:solidFill>
                <a:prstClr val="black"/>
              </a:solidFill>
              <a:effectLst/>
              <a:uLnTx/>
              <a:uFillTx/>
              <a:latin typeface="Segoe UI"/>
              <a:ea typeface="+mn-ea"/>
              <a:cs typeface="+mn-cs"/>
            </a:endParaRPr>
          </a:p>
        </p:txBody>
      </p:sp>
      <p:cxnSp>
        <p:nvCxnSpPr>
          <p:cNvPr id="472" name="Straight Arrow Connector 471">
            <a:extLst>
              <a:ext uri="{FF2B5EF4-FFF2-40B4-BE49-F238E27FC236}">
                <a16:creationId xmlns:a16="http://schemas.microsoft.com/office/drawing/2014/main" id="{E5A6891B-94DB-E464-687A-2E0B20216694}"/>
              </a:ext>
            </a:extLst>
          </p:cNvPr>
          <p:cNvCxnSpPr>
            <a:cxnSpLocks/>
          </p:cNvCxnSpPr>
          <p:nvPr/>
        </p:nvCxnSpPr>
        <p:spPr>
          <a:xfrm>
            <a:off x="2683953" y="5288903"/>
            <a:ext cx="298634" cy="0"/>
          </a:xfrm>
          <a:prstGeom prst="straightConnector1">
            <a:avLst/>
          </a:prstGeom>
          <a:ln w="28575">
            <a:solidFill>
              <a:srgbClr val="FF9933"/>
            </a:solidFill>
            <a:tailEnd type="triangle"/>
          </a:ln>
        </p:spPr>
        <p:style>
          <a:lnRef idx="1">
            <a:schemeClr val="accent1"/>
          </a:lnRef>
          <a:fillRef idx="0">
            <a:schemeClr val="accent1"/>
          </a:fillRef>
          <a:effectRef idx="0">
            <a:schemeClr val="accent1"/>
          </a:effectRef>
          <a:fontRef idx="minor">
            <a:schemeClr val="tx1"/>
          </a:fontRef>
        </p:style>
      </p:cxnSp>
      <p:sp>
        <p:nvSpPr>
          <p:cNvPr id="474" name="TextBox 473">
            <a:extLst>
              <a:ext uri="{FF2B5EF4-FFF2-40B4-BE49-F238E27FC236}">
                <a16:creationId xmlns:a16="http://schemas.microsoft.com/office/drawing/2014/main" id="{61E3E42C-D761-3390-735D-85638A7A28E4}"/>
              </a:ext>
            </a:extLst>
          </p:cNvPr>
          <p:cNvSpPr txBox="1"/>
          <p:nvPr/>
        </p:nvSpPr>
        <p:spPr>
          <a:xfrm>
            <a:off x="5913286" y="2232346"/>
            <a:ext cx="1186739" cy="577081"/>
          </a:xfrm>
          <a:prstGeom prst="rect">
            <a:avLst/>
          </a:prstGeom>
          <a:noFill/>
        </p:spPr>
        <p:txBody>
          <a:bodyPr wrap="square"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CA" sz="1050">
                <a:solidFill>
                  <a:prstClr val="black"/>
                </a:solidFill>
                <a:latin typeface="Segoe UI"/>
              </a:rPr>
              <a:t>PBI semantic model/dataset</a:t>
            </a:r>
            <a:endParaRPr kumimoji="0" lang="en-CA" sz="1050" i="0" strike="noStrike" kern="1200" cap="none" spc="0" normalizeH="0" baseline="0" noProof="0">
              <a:ln>
                <a:noFill/>
              </a:ln>
              <a:solidFill>
                <a:prstClr val="black"/>
              </a:solidFill>
              <a:effectLst/>
              <a:uLnTx/>
              <a:uFillTx/>
              <a:latin typeface="Segoe UI"/>
              <a:ea typeface="+mn-ea"/>
              <a:cs typeface="+mn-cs"/>
            </a:endParaRPr>
          </a:p>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CA" sz="1050" i="0" strike="noStrike" kern="1200" cap="none" spc="0" normalizeH="0" baseline="0" noProof="0">
              <a:ln>
                <a:noFill/>
              </a:ln>
              <a:solidFill>
                <a:prstClr val="black"/>
              </a:solidFill>
              <a:effectLst/>
              <a:uLnTx/>
              <a:uFillTx/>
              <a:latin typeface="Segoe UI"/>
              <a:ea typeface="+mn-ea"/>
              <a:cs typeface="+mn-cs"/>
            </a:endParaRPr>
          </a:p>
        </p:txBody>
      </p:sp>
      <p:sp>
        <p:nvSpPr>
          <p:cNvPr id="475" name="TextBox 474">
            <a:extLst>
              <a:ext uri="{FF2B5EF4-FFF2-40B4-BE49-F238E27FC236}">
                <a16:creationId xmlns:a16="http://schemas.microsoft.com/office/drawing/2014/main" id="{05DFDD00-1D24-F6D9-3D53-BD242FD24FDF}"/>
              </a:ext>
            </a:extLst>
          </p:cNvPr>
          <p:cNvSpPr txBox="1"/>
          <p:nvPr/>
        </p:nvSpPr>
        <p:spPr>
          <a:xfrm>
            <a:off x="7050658" y="2305117"/>
            <a:ext cx="1186739" cy="415498"/>
          </a:xfrm>
          <a:prstGeom prst="rect">
            <a:avLst/>
          </a:prstGeom>
          <a:noFill/>
        </p:spPr>
        <p:txBody>
          <a:bodyPr wrap="square"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CA" sz="1050">
                <a:solidFill>
                  <a:prstClr val="black"/>
                </a:solidFill>
                <a:latin typeface="Segoe UI"/>
              </a:rPr>
              <a:t>PBI report</a:t>
            </a:r>
            <a:endParaRPr kumimoji="0" lang="en-CA" sz="1050" i="0" strike="noStrike" kern="1200" cap="none" spc="0" normalizeH="0" baseline="0" noProof="0">
              <a:ln>
                <a:noFill/>
              </a:ln>
              <a:solidFill>
                <a:prstClr val="black"/>
              </a:solidFill>
              <a:effectLst/>
              <a:uLnTx/>
              <a:uFillTx/>
              <a:latin typeface="Segoe UI"/>
              <a:ea typeface="+mn-ea"/>
              <a:cs typeface="+mn-cs"/>
            </a:endParaRPr>
          </a:p>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CA" sz="1050" i="0" strike="noStrike" kern="1200" cap="none" spc="0" normalizeH="0" baseline="0" noProof="0">
              <a:ln>
                <a:noFill/>
              </a:ln>
              <a:solidFill>
                <a:prstClr val="black"/>
              </a:solidFill>
              <a:effectLst/>
              <a:uLnTx/>
              <a:uFillTx/>
              <a:latin typeface="Segoe UI"/>
              <a:ea typeface="+mn-ea"/>
              <a:cs typeface="+mn-cs"/>
            </a:endParaRPr>
          </a:p>
        </p:txBody>
      </p:sp>
      <p:pic>
        <p:nvPicPr>
          <p:cNvPr id="477" name="Picture 6" descr="Course, courses, learning, online, teaching, tutorial, video icon">
            <a:extLst>
              <a:ext uri="{FF2B5EF4-FFF2-40B4-BE49-F238E27FC236}">
                <a16:creationId xmlns:a16="http://schemas.microsoft.com/office/drawing/2014/main" id="{396D9D18-BF6A-3F27-1F1E-EB7F2ECE4DA1}"/>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419155" y="1761254"/>
            <a:ext cx="516719" cy="516719"/>
          </a:xfrm>
          <a:prstGeom prst="rect">
            <a:avLst/>
          </a:prstGeom>
          <a:noFill/>
          <a:extLst>
            <a:ext uri="{909E8E84-426E-40DD-AFC4-6F175D3DCCD1}">
              <a14:hiddenFill xmlns:a14="http://schemas.microsoft.com/office/drawing/2010/main">
                <a:solidFill>
                  <a:srgbClr val="FFFFFF"/>
                </a:solidFill>
              </a14:hiddenFill>
            </a:ext>
          </a:extLst>
        </p:spPr>
      </p:pic>
      <p:sp>
        <p:nvSpPr>
          <p:cNvPr id="478" name="TextBox 477">
            <a:extLst>
              <a:ext uri="{FF2B5EF4-FFF2-40B4-BE49-F238E27FC236}">
                <a16:creationId xmlns:a16="http://schemas.microsoft.com/office/drawing/2014/main" id="{F3A0795E-CBD6-A311-8EFF-6A2C2C3B832E}"/>
              </a:ext>
            </a:extLst>
          </p:cNvPr>
          <p:cNvSpPr txBox="1"/>
          <p:nvPr/>
        </p:nvSpPr>
        <p:spPr>
          <a:xfrm>
            <a:off x="8084144" y="2353705"/>
            <a:ext cx="1186739" cy="415498"/>
          </a:xfrm>
          <a:prstGeom prst="rect">
            <a:avLst/>
          </a:prstGeom>
          <a:noFill/>
        </p:spPr>
        <p:txBody>
          <a:bodyPr wrap="square"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CA" sz="1050">
                <a:solidFill>
                  <a:prstClr val="black"/>
                </a:solidFill>
                <a:latin typeface="Segoe UI"/>
              </a:rPr>
              <a:t>Team App</a:t>
            </a:r>
            <a:endParaRPr kumimoji="0" lang="en-CA" sz="1050" i="0" strike="noStrike" kern="1200" cap="none" spc="0" normalizeH="0" baseline="0" noProof="0">
              <a:ln>
                <a:noFill/>
              </a:ln>
              <a:solidFill>
                <a:prstClr val="black"/>
              </a:solidFill>
              <a:effectLst/>
              <a:uLnTx/>
              <a:uFillTx/>
              <a:latin typeface="Segoe UI"/>
              <a:ea typeface="+mn-ea"/>
              <a:cs typeface="+mn-cs"/>
            </a:endParaRPr>
          </a:p>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CA" sz="1050" i="0" strike="noStrike" kern="1200" cap="none" spc="0" normalizeH="0" baseline="0" noProof="0">
              <a:ln>
                <a:noFill/>
              </a:ln>
              <a:solidFill>
                <a:prstClr val="black"/>
              </a:solidFill>
              <a:effectLst/>
              <a:uLnTx/>
              <a:uFillTx/>
              <a:latin typeface="Segoe UI"/>
              <a:ea typeface="+mn-ea"/>
              <a:cs typeface="+mn-cs"/>
            </a:endParaRPr>
          </a:p>
        </p:txBody>
      </p:sp>
      <p:sp>
        <p:nvSpPr>
          <p:cNvPr id="480" name="Rectangle 479">
            <a:extLst>
              <a:ext uri="{FF2B5EF4-FFF2-40B4-BE49-F238E27FC236}">
                <a16:creationId xmlns:a16="http://schemas.microsoft.com/office/drawing/2014/main" id="{72B2E651-E407-07E4-D7F8-F5A5680FE77E}"/>
              </a:ext>
            </a:extLst>
          </p:cNvPr>
          <p:cNvSpPr/>
          <p:nvPr/>
        </p:nvSpPr>
        <p:spPr>
          <a:xfrm>
            <a:off x="5951080" y="4853601"/>
            <a:ext cx="3516932" cy="1572688"/>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6772" tIns="63386" rIns="126772" bIns="63386" numCol="1" spcCol="0" rtlCol="0" fromWordArt="0" anchor="ctr" anchorCtr="0" forceAA="0" compatLnSpc="1">
            <a:prstTxWarp prst="textNoShape">
              <a:avLst/>
            </a:prstTxWarp>
            <a:no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3330" b="0" i="0" u="none" strike="noStrike" kern="1200" cap="none" spc="0" normalizeH="0" baseline="0" noProof="0">
              <a:ln>
                <a:noFill/>
              </a:ln>
              <a:solidFill>
                <a:prstClr val="white"/>
              </a:solidFill>
              <a:effectLst/>
              <a:uLnTx/>
              <a:uFillTx/>
              <a:latin typeface="Segoe UI"/>
              <a:ea typeface="+mn-ea"/>
              <a:cs typeface="+mn-cs"/>
            </a:endParaRPr>
          </a:p>
        </p:txBody>
      </p:sp>
      <p:sp>
        <p:nvSpPr>
          <p:cNvPr id="481" name="Rectangle 480">
            <a:extLst>
              <a:ext uri="{FF2B5EF4-FFF2-40B4-BE49-F238E27FC236}">
                <a16:creationId xmlns:a16="http://schemas.microsoft.com/office/drawing/2014/main" id="{25B97BD2-DA9A-8C2B-52EA-F9B4BA5CB3D3}"/>
              </a:ext>
            </a:extLst>
          </p:cNvPr>
          <p:cNvSpPr/>
          <p:nvPr/>
        </p:nvSpPr>
        <p:spPr>
          <a:xfrm>
            <a:off x="5951080" y="4319787"/>
            <a:ext cx="3516938" cy="502537"/>
          </a:xfrm>
          <a:prstGeom prst="rect">
            <a:avLst/>
          </a:prstGeom>
          <a:solidFill>
            <a:srgbClr val="FF993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6772" tIns="63386" rIns="126772" bIns="63386" numCol="1" spcCol="0" rtlCol="0" fromWordArt="0" anchor="ctr" anchorCtr="0" forceAA="0" compatLnSpc="1">
            <a:prstTxWarp prst="textNoShape">
              <a:avLst/>
            </a:prstTxWarp>
            <a:no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1600" b="1">
                <a:solidFill>
                  <a:prstClr val="white"/>
                </a:solidFill>
                <a:latin typeface="Segoe UI"/>
              </a:rPr>
              <a:t>Triton Environment 2</a:t>
            </a:r>
            <a:br>
              <a:rPr lang="en-US" sz="1600" b="1">
                <a:solidFill>
                  <a:prstClr val="white"/>
                </a:solidFill>
                <a:latin typeface="Segoe UI"/>
              </a:rPr>
            </a:br>
            <a:r>
              <a:rPr lang="en-US" sz="1400" b="1">
                <a:solidFill>
                  <a:prstClr val="white"/>
                </a:solidFill>
                <a:latin typeface="Segoe UI"/>
              </a:rPr>
              <a:t>Triton dedicated PBI workspaces</a:t>
            </a:r>
            <a:endParaRPr kumimoji="0" lang="en-US" sz="1400" b="1" i="0" u="none" strike="noStrike" kern="1200" cap="none" spc="0" normalizeH="0" baseline="0" noProof="0">
              <a:ln>
                <a:noFill/>
              </a:ln>
              <a:solidFill>
                <a:prstClr val="white"/>
              </a:solidFill>
              <a:effectLst/>
              <a:uLnTx/>
              <a:uFillTx/>
              <a:latin typeface="Segoe UI"/>
              <a:ea typeface="+mn-ea"/>
              <a:cs typeface="+mn-cs"/>
            </a:endParaRPr>
          </a:p>
        </p:txBody>
      </p:sp>
      <p:sp>
        <p:nvSpPr>
          <p:cNvPr id="487" name="TextBox 486">
            <a:extLst>
              <a:ext uri="{FF2B5EF4-FFF2-40B4-BE49-F238E27FC236}">
                <a16:creationId xmlns:a16="http://schemas.microsoft.com/office/drawing/2014/main" id="{291101BC-4356-2C4A-F2AD-2235CA66E4C8}"/>
              </a:ext>
            </a:extLst>
          </p:cNvPr>
          <p:cNvSpPr txBox="1"/>
          <p:nvPr/>
        </p:nvSpPr>
        <p:spPr>
          <a:xfrm>
            <a:off x="6051712" y="5677822"/>
            <a:ext cx="1186739" cy="415498"/>
          </a:xfrm>
          <a:prstGeom prst="rect">
            <a:avLst/>
          </a:prstGeom>
          <a:noFill/>
        </p:spPr>
        <p:txBody>
          <a:bodyPr wrap="square"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CA" sz="1050" b="1">
                <a:solidFill>
                  <a:prstClr val="black"/>
                </a:solidFill>
                <a:latin typeface="Segoe UI"/>
              </a:rPr>
              <a:t>PBI dataflows</a:t>
            </a:r>
            <a:endParaRPr kumimoji="0" lang="en-CA" sz="1050" b="1" i="0" u="none" strike="noStrike" kern="1200" cap="none" spc="0" normalizeH="0" baseline="0" noProof="0">
              <a:ln>
                <a:noFill/>
              </a:ln>
              <a:solidFill>
                <a:prstClr val="black"/>
              </a:solidFill>
              <a:effectLst/>
              <a:uLnTx/>
              <a:uFillTx/>
              <a:latin typeface="Segoe UI"/>
              <a:ea typeface="+mn-ea"/>
              <a:cs typeface="+mn-cs"/>
            </a:endParaRPr>
          </a:p>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CA" sz="1050" b="1" i="0" u="none" strike="noStrike" kern="1200" cap="none" spc="0" normalizeH="0" baseline="0" noProof="0">
              <a:ln>
                <a:noFill/>
              </a:ln>
              <a:solidFill>
                <a:prstClr val="black"/>
              </a:solidFill>
              <a:effectLst/>
              <a:uLnTx/>
              <a:uFillTx/>
              <a:latin typeface="Segoe UI"/>
              <a:ea typeface="+mn-ea"/>
              <a:cs typeface="+mn-cs"/>
            </a:endParaRPr>
          </a:p>
        </p:txBody>
      </p:sp>
      <p:sp>
        <p:nvSpPr>
          <p:cNvPr id="488" name="TextBox 487">
            <a:extLst>
              <a:ext uri="{FF2B5EF4-FFF2-40B4-BE49-F238E27FC236}">
                <a16:creationId xmlns:a16="http://schemas.microsoft.com/office/drawing/2014/main" id="{9163547E-0672-EE99-4DCB-237B4F3880BE}"/>
              </a:ext>
            </a:extLst>
          </p:cNvPr>
          <p:cNvSpPr txBox="1"/>
          <p:nvPr/>
        </p:nvSpPr>
        <p:spPr>
          <a:xfrm>
            <a:off x="8005408" y="5662437"/>
            <a:ext cx="1186739" cy="577081"/>
          </a:xfrm>
          <a:prstGeom prst="rect">
            <a:avLst/>
          </a:prstGeom>
          <a:noFill/>
        </p:spPr>
        <p:txBody>
          <a:bodyPr wrap="square"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CA" sz="1050" b="1">
                <a:solidFill>
                  <a:prstClr val="black"/>
                </a:solidFill>
                <a:latin typeface="Segoe UI"/>
              </a:rPr>
              <a:t>PBI template report</a:t>
            </a:r>
            <a:endParaRPr kumimoji="0" lang="en-CA" sz="1050" b="1" i="0" u="none" strike="noStrike" kern="1200" cap="none" spc="0" normalizeH="0" baseline="0" noProof="0">
              <a:ln>
                <a:noFill/>
              </a:ln>
              <a:solidFill>
                <a:prstClr val="black"/>
              </a:solidFill>
              <a:effectLst/>
              <a:uLnTx/>
              <a:uFillTx/>
              <a:latin typeface="Segoe UI"/>
              <a:ea typeface="+mn-ea"/>
              <a:cs typeface="+mn-cs"/>
            </a:endParaRPr>
          </a:p>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CA" sz="1050" b="1" i="0" u="none" strike="noStrike" kern="1200" cap="none" spc="0" normalizeH="0" baseline="0" noProof="0">
              <a:ln>
                <a:noFill/>
              </a:ln>
              <a:solidFill>
                <a:prstClr val="black"/>
              </a:solidFill>
              <a:effectLst/>
              <a:uLnTx/>
              <a:uFillTx/>
              <a:latin typeface="Segoe UI"/>
              <a:ea typeface="+mn-ea"/>
              <a:cs typeface="+mn-cs"/>
            </a:endParaRPr>
          </a:p>
        </p:txBody>
      </p:sp>
      <p:pic>
        <p:nvPicPr>
          <p:cNvPr id="489" name="Picture 26" descr="Seo report Special Flat icon">
            <a:extLst>
              <a:ext uri="{FF2B5EF4-FFF2-40B4-BE49-F238E27FC236}">
                <a16:creationId xmlns:a16="http://schemas.microsoft.com/office/drawing/2014/main" id="{B6EE8CCA-D2F0-26E2-918C-C6A23337B225}"/>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8356171" y="5094374"/>
            <a:ext cx="485215" cy="485215"/>
          </a:xfrm>
          <a:prstGeom prst="rect">
            <a:avLst/>
          </a:prstGeom>
          <a:noFill/>
          <a:extLst>
            <a:ext uri="{909E8E84-426E-40DD-AFC4-6F175D3DCCD1}">
              <a14:hiddenFill xmlns:a14="http://schemas.microsoft.com/office/drawing/2010/main">
                <a:solidFill>
                  <a:srgbClr val="FFFFFF"/>
                </a:solidFill>
              </a14:hiddenFill>
            </a:ext>
          </a:extLst>
        </p:spPr>
      </p:pic>
      <p:pic>
        <p:nvPicPr>
          <p:cNvPr id="492" name="Picture 12" descr="Computer network, data base, database, raw, simple, tech, technology ...">
            <a:extLst>
              <a:ext uri="{FF2B5EF4-FFF2-40B4-BE49-F238E27FC236}">
                <a16:creationId xmlns:a16="http://schemas.microsoft.com/office/drawing/2014/main" id="{E1201455-483D-C8BF-A73E-1AF5D74A2716}"/>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6264698" y="4964865"/>
            <a:ext cx="681680" cy="681680"/>
          </a:xfrm>
          <a:prstGeom prst="rect">
            <a:avLst/>
          </a:prstGeom>
          <a:noFill/>
          <a:extLst>
            <a:ext uri="{909E8E84-426E-40DD-AFC4-6F175D3DCCD1}">
              <a14:hiddenFill xmlns:a14="http://schemas.microsoft.com/office/drawing/2010/main">
                <a:solidFill>
                  <a:srgbClr val="FFFFFF"/>
                </a:solidFill>
              </a14:hiddenFill>
            </a:ext>
          </a:extLst>
        </p:spPr>
      </p:pic>
      <p:cxnSp>
        <p:nvCxnSpPr>
          <p:cNvPr id="493" name="Straight Arrow Connector 492">
            <a:extLst>
              <a:ext uri="{FF2B5EF4-FFF2-40B4-BE49-F238E27FC236}">
                <a16:creationId xmlns:a16="http://schemas.microsoft.com/office/drawing/2014/main" id="{72D812F9-A0F1-635E-8D0B-97E809357113}"/>
              </a:ext>
            </a:extLst>
          </p:cNvPr>
          <p:cNvCxnSpPr>
            <a:cxnSpLocks/>
          </p:cNvCxnSpPr>
          <p:nvPr/>
        </p:nvCxnSpPr>
        <p:spPr>
          <a:xfrm flipH="1" flipV="1">
            <a:off x="2793052" y="2602787"/>
            <a:ext cx="1678152" cy="2362078"/>
          </a:xfrm>
          <a:prstGeom prst="straightConnector1">
            <a:avLst/>
          </a:prstGeom>
          <a:ln w="6350">
            <a:solidFill>
              <a:srgbClr val="FF9933"/>
            </a:solidFill>
            <a:tailEnd type="triangle"/>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4F98D1AB-084A-FE7F-028A-57B1820FE7D0}"/>
              </a:ext>
            </a:extLst>
          </p:cNvPr>
          <p:cNvSpPr txBox="1"/>
          <p:nvPr/>
        </p:nvSpPr>
        <p:spPr>
          <a:xfrm>
            <a:off x="1938039" y="2708700"/>
            <a:ext cx="3484074" cy="415498"/>
          </a:xfrm>
          <a:prstGeom prst="rect">
            <a:avLst/>
          </a:prstGeom>
          <a:noFill/>
        </p:spPr>
        <p:txBody>
          <a:bodyPr wrap="square"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CA" sz="1050" b="1">
                <a:solidFill>
                  <a:prstClr val="black"/>
                </a:solidFill>
                <a:latin typeface="Segoe UI"/>
              </a:rPr>
              <a:t>Databricks code-based environment to transform data and build models</a:t>
            </a:r>
            <a:endParaRPr kumimoji="0" lang="en-CA" sz="1050" b="1" i="0" u="none" strike="noStrike" kern="1200" cap="none" spc="0" normalizeH="0" baseline="0" noProof="0">
              <a:ln>
                <a:noFill/>
              </a:ln>
              <a:solidFill>
                <a:prstClr val="black"/>
              </a:solidFill>
              <a:effectLst/>
              <a:uLnTx/>
              <a:uFillTx/>
              <a:latin typeface="Segoe UI"/>
              <a:ea typeface="+mn-ea"/>
              <a:cs typeface="+mn-cs"/>
            </a:endParaRPr>
          </a:p>
        </p:txBody>
      </p:sp>
      <p:cxnSp>
        <p:nvCxnSpPr>
          <p:cNvPr id="502" name="Straight Arrow Connector 501">
            <a:extLst>
              <a:ext uri="{FF2B5EF4-FFF2-40B4-BE49-F238E27FC236}">
                <a16:creationId xmlns:a16="http://schemas.microsoft.com/office/drawing/2014/main" id="{26B1182C-9D1A-38BE-F309-9498009EBD4D}"/>
              </a:ext>
            </a:extLst>
          </p:cNvPr>
          <p:cNvCxnSpPr>
            <a:cxnSpLocks/>
          </p:cNvCxnSpPr>
          <p:nvPr/>
        </p:nvCxnSpPr>
        <p:spPr>
          <a:xfrm flipV="1">
            <a:off x="5262786" y="5352257"/>
            <a:ext cx="954074" cy="8151"/>
          </a:xfrm>
          <a:prstGeom prst="straightConnector1">
            <a:avLst/>
          </a:prstGeom>
          <a:ln w="6350">
            <a:solidFill>
              <a:srgbClr val="FF9933"/>
            </a:solidFill>
            <a:tailEnd type="triangle"/>
          </a:ln>
        </p:spPr>
        <p:style>
          <a:lnRef idx="1">
            <a:schemeClr val="accent1"/>
          </a:lnRef>
          <a:fillRef idx="0">
            <a:schemeClr val="accent1"/>
          </a:fillRef>
          <a:effectRef idx="0">
            <a:schemeClr val="accent1"/>
          </a:effectRef>
          <a:fontRef idx="minor">
            <a:schemeClr val="tx1"/>
          </a:fontRef>
        </p:style>
      </p:cxnSp>
      <p:cxnSp>
        <p:nvCxnSpPr>
          <p:cNvPr id="505" name="Straight Arrow Connector 504">
            <a:extLst>
              <a:ext uri="{FF2B5EF4-FFF2-40B4-BE49-F238E27FC236}">
                <a16:creationId xmlns:a16="http://schemas.microsoft.com/office/drawing/2014/main" id="{58A4957E-7603-D711-347F-2357C91F31EF}"/>
              </a:ext>
            </a:extLst>
          </p:cNvPr>
          <p:cNvCxnSpPr>
            <a:cxnSpLocks/>
          </p:cNvCxnSpPr>
          <p:nvPr/>
        </p:nvCxnSpPr>
        <p:spPr>
          <a:xfrm>
            <a:off x="5072344" y="1881994"/>
            <a:ext cx="986546" cy="0"/>
          </a:xfrm>
          <a:prstGeom prst="straightConnector1">
            <a:avLst/>
          </a:prstGeom>
          <a:ln w="6350">
            <a:solidFill>
              <a:srgbClr val="FF9933"/>
            </a:solidFill>
            <a:tailEnd type="triangle"/>
          </a:ln>
        </p:spPr>
        <p:style>
          <a:lnRef idx="1">
            <a:schemeClr val="accent1"/>
          </a:lnRef>
          <a:fillRef idx="0">
            <a:schemeClr val="accent1"/>
          </a:fillRef>
          <a:effectRef idx="0">
            <a:schemeClr val="accent1"/>
          </a:effectRef>
          <a:fontRef idx="minor">
            <a:schemeClr val="tx1"/>
          </a:fontRef>
        </p:style>
      </p:cxnSp>
      <p:cxnSp>
        <p:nvCxnSpPr>
          <p:cNvPr id="511" name="Straight Arrow Connector 510">
            <a:extLst>
              <a:ext uri="{FF2B5EF4-FFF2-40B4-BE49-F238E27FC236}">
                <a16:creationId xmlns:a16="http://schemas.microsoft.com/office/drawing/2014/main" id="{97568116-C98C-5F15-9DBD-06BAA2135E1B}"/>
              </a:ext>
            </a:extLst>
          </p:cNvPr>
          <p:cNvCxnSpPr>
            <a:cxnSpLocks/>
          </p:cNvCxnSpPr>
          <p:nvPr/>
        </p:nvCxnSpPr>
        <p:spPr>
          <a:xfrm flipH="1" flipV="1">
            <a:off x="6736508" y="2664225"/>
            <a:ext cx="1700683" cy="2296348"/>
          </a:xfrm>
          <a:prstGeom prst="straightConnector1">
            <a:avLst/>
          </a:prstGeom>
          <a:ln w="6350">
            <a:solidFill>
              <a:srgbClr val="FF9933"/>
            </a:solidFill>
            <a:tailEnd type="triangle"/>
          </a:ln>
        </p:spPr>
        <p:style>
          <a:lnRef idx="1">
            <a:schemeClr val="accent1"/>
          </a:lnRef>
          <a:fillRef idx="0">
            <a:schemeClr val="accent1"/>
          </a:fillRef>
          <a:effectRef idx="0">
            <a:schemeClr val="accent1"/>
          </a:effectRef>
          <a:fontRef idx="minor">
            <a:schemeClr val="tx1"/>
          </a:fontRef>
        </p:style>
      </p:cxnSp>
      <p:grpSp>
        <p:nvGrpSpPr>
          <p:cNvPr id="273" name="Group 62">
            <a:extLst>
              <a:ext uri="{FF2B5EF4-FFF2-40B4-BE49-F238E27FC236}">
                <a16:creationId xmlns:a16="http://schemas.microsoft.com/office/drawing/2014/main" id="{15242CFE-0504-2EA6-1B43-97911E44300A}"/>
              </a:ext>
            </a:extLst>
          </p:cNvPr>
          <p:cNvGrpSpPr>
            <a:grpSpLocks noChangeAspect="1"/>
          </p:cNvGrpSpPr>
          <p:nvPr/>
        </p:nvGrpSpPr>
        <p:grpSpPr bwMode="auto">
          <a:xfrm>
            <a:off x="3398476" y="3136786"/>
            <a:ext cx="350440" cy="506875"/>
            <a:chOff x="3065" y="2920"/>
            <a:chExt cx="462" cy="357"/>
          </a:xfrm>
          <a:solidFill>
            <a:srgbClr val="3A67BA"/>
          </a:solidFill>
        </p:grpSpPr>
        <p:sp>
          <p:nvSpPr>
            <p:cNvPr id="274" name="Freeform 63">
              <a:extLst>
                <a:ext uri="{FF2B5EF4-FFF2-40B4-BE49-F238E27FC236}">
                  <a16:creationId xmlns:a16="http://schemas.microsoft.com/office/drawing/2014/main" id="{77805BCD-2595-566A-877E-3E8802B71C76}"/>
                </a:ext>
              </a:extLst>
            </p:cNvPr>
            <p:cNvSpPr>
              <a:spLocks/>
            </p:cNvSpPr>
            <p:nvPr/>
          </p:nvSpPr>
          <p:spPr bwMode="auto">
            <a:xfrm>
              <a:off x="3065" y="2995"/>
              <a:ext cx="462" cy="282"/>
            </a:xfrm>
            <a:custGeom>
              <a:avLst/>
              <a:gdLst>
                <a:gd name="T0" fmla="*/ 251 w 331"/>
                <a:gd name="T1" fmla="*/ 24 h 279"/>
                <a:gd name="T2" fmla="*/ 251 w 331"/>
                <a:gd name="T3" fmla="*/ 24 h 279"/>
                <a:gd name="T4" fmla="*/ 207 w 331"/>
                <a:gd name="T5" fmla="*/ 29 h 279"/>
                <a:gd name="T6" fmla="*/ 165 w 331"/>
                <a:gd name="T7" fmla="*/ 31 h 279"/>
                <a:gd name="T8" fmla="*/ 124 w 331"/>
                <a:gd name="T9" fmla="*/ 29 h 279"/>
                <a:gd name="T10" fmla="*/ 79 w 331"/>
                <a:gd name="T11" fmla="*/ 24 h 279"/>
                <a:gd name="T12" fmla="*/ 37 w 331"/>
                <a:gd name="T13" fmla="*/ 15 h 279"/>
                <a:gd name="T14" fmla="*/ 0 w 331"/>
                <a:gd name="T15" fmla="*/ 0 h 279"/>
                <a:gd name="T16" fmla="*/ 0 w 331"/>
                <a:gd name="T17" fmla="*/ 233 h 279"/>
                <a:gd name="T18" fmla="*/ 4 w 331"/>
                <a:gd name="T19" fmla="*/ 242 h 279"/>
                <a:gd name="T20" fmla="*/ 16 w 331"/>
                <a:gd name="T21" fmla="*/ 251 h 279"/>
                <a:gd name="T22" fmla="*/ 30 w 331"/>
                <a:gd name="T23" fmla="*/ 257 h 279"/>
                <a:gd name="T24" fmla="*/ 42 w 331"/>
                <a:gd name="T25" fmla="*/ 262 h 279"/>
                <a:gd name="T26" fmla="*/ 71 w 331"/>
                <a:gd name="T27" fmla="*/ 270 h 279"/>
                <a:gd name="T28" fmla="*/ 102 w 331"/>
                <a:gd name="T29" fmla="*/ 275 h 279"/>
                <a:gd name="T30" fmla="*/ 135 w 331"/>
                <a:gd name="T31" fmla="*/ 278 h 279"/>
                <a:gd name="T32" fmla="*/ 165 w 331"/>
                <a:gd name="T33" fmla="*/ 279 h 279"/>
                <a:gd name="T34" fmla="*/ 196 w 331"/>
                <a:gd name="T35" fmla="*/ 278 h 279"/>
                <a:gd name="T36" fmla="*/ 228 w 331"/>
                <a:gd name="T37" fmla="*/ 275 h 279"/>
                <a:gd name="T38" fmla="*/ 260 w 331"/>
                <a:gd name="T39" fmla="*/ 270 h 279"/>
                <a:gd name="T40" fmla="*/ 289 w 331"/>
                <a:gd name="T41" fmla="*/ 262 h 279"/>
                <a:gd name="T42" fmla="*/ 300 w 331"/>
                <a:gd name="T43" fmla="*/ 257 h 279"/>
                <a:gd name="T44" fmla="*/ 314 w 331"/>
                <a:gd name="T45" fmla="*/ 251 h 279"/>
                <a:gd name="T46" fmla="*/ 326 w 331"/>
                <a:gd name="T47" fmla="*/ 242 h 279"/>
                <a:gd name="T48" fmla="*/ 331 w 331"/>
                <a:gd name="T49" fmla="*/ 233 h 279"/>
                <a:gd name="T50" fmla="*/ 331 w 331"/>
                <a:gd name="T51" fmla="*/ 0 h 279"/>
                <a:gd name="T52" fmla="*/ 294 w 331"/>
                <a:gd name="T53" fmla="*/ 15 h 279"/>
                <a:gd name="T54" fmla="*/ 251 w 331"/>
                <a:gd name="T55" fmla="*/ 24 h 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331" h="279">
                  <a:moveTo>
                    <a:pt x="251" y="24"/>
                  </a:moveTo>
                  <a:lnTo>
                    <a:pt x="251" y="24"/>
                  </a:lnTo>
                  <a:cubicBezTo>
                    <a:pt x="236" y="27"/>
                    <a:pt x="221" y="29"/>
                    <a:pt x="207" y="29"/>
                  </a:cubicBezTo>
                  <a:cubicBezTo>
                    <a:pt x="192" y="30"/>
                    <a:pt x="178" y="31"/>
                    <a:pt x="165" y="31"/>
                  </a:cubicBezTo>
                  <a:cubicBezTo>
                    <a:pt x="152" y="31"/>
                    <a:pt x="139" y="30"/>
                    <a:pt x="124" y="29"/>
                  </a:cubicBezTo>
                  <a:cubicBezTo>
                    <a:pt x="109" y="29"/>
                    <a:pt x="94" y="27"/>
                    <a:pt x="79" y="24"/>
                  </a:cubicBezTo>
                  <a:cubicBezTo>
                    <a:pt x="65" y="22"/>
                    <a:pt x="50" y="19"/>
                    <a:pt x="37" y="15"/>
                  </a:cubicBezTo>
                  <a:cubicBezTo>
                    <a:pt x="23" y="11"/>
                    <a:pt x="10" y="6"/>
                    <a:pt x="0" y="0"/>
                  </a:cubicBezTo>
                  <a:lnTo>
                    <a:pt x="0" y="233"/>
                  </a:lnTo>
                  <a:cubicBezTo>
                    <a:pt x="0" y="236"/>
                    <a:pt x="1" y="239"/>
                    <a:pt x="4" y="242"/>
                  </a:cubicBezTo>
                  <a:cubicBezTo>
                    <a:pt x="8" y="245"/>
                    <a:pt x="12" y="248"/>
                    <a:pt x="16" y="251"/>
                  </a:cubicBezTo>
                  <a:cubicBezTo>
                    <a:pt x="21" y="253"/>
                    <a:pt x="25" y="255"/>
                    <a:pt x="30" y="257"/>
                  </a:cubicBezTo>
                  <a:cubicBezTo>
                    <a:pt x="35" y="259"/>
                    <a:pt x="39" y="261"/>
                    <a:pt x="42" y="262"/>
                  </a:cubicBezTo>
                  <a:cubicBezTo>
                    <a:pt x="51" y="265"/>
                    <a:pt x="60" y="268"/>
                    <a:pt x="71" y="270"/>
                  </a:cubicBezTo>
                  <a:cubicBezTo>
                    <a:pt x="81" y="272"/>
                    <a:pt x="92" y="273"/>
                    <a:pt x="102" y="275"/>
                  </a:cubicBezTo>
                  <a:cubicBezTo>
                    <a:pt x="113" y="276"/>
                    <a:pt x="124" y="277"/>
                    <a:pt x="135" y="278"/>
                  </a:cubicBezTo>
                  <a:cubicBezTo>
                    <a:pt x="145" y="278"/>
                    <a:pt x="155" y="279"/>
                    <a:pt x="165" y="279"/>
                  </a:cubicBezTo>
                  <a:cubicBezTo>
                    <a:pt x="175" y="279"/>
                    <a:pt x="185" y="278"/>
                    <a:pt x="196" y="278"/>
                  </a:cubicBezTo>
                  <a:cubicBezTo>
                    <a:pt x="207" y="277"/>
                    <a:pt x="217" y="276"/>
                    <a:pt x="228" y="275"/>
                  </a:cubicBezTo>
                  <a:cubicBezTo>
                    <a:pt x="239" y="273"/>
                    <a:pt x="249" y="272"/>
                    <a:pt x="260" y="270"/>
                  </a:cubicBezTo>
                  <a:cubicBezTo>
                    <a:pt x="270" y="268"/>
                    <a:pt x="280" y="265"/>
                    <a:pt x="289" y="262"/>
                  </a:cubicBezTo>
                  <a:cubicBezTo>
                    <a:pt x="292" y="261"/>
                    <a:pt x="295" y="259"/>
                    <a:pt x="300" y="257"/>
                  </a:cubicBezTo>
                  <a:cubicBezTo>
                    <a:pt x="305" y="255"/>
                    <a:pt x="310" y="253"/>
                    <a:pt x="314" y="251"/>
                  </a:cubicBezTo>
                  <a:cubicBezTo>
                    <a:pt x="319" y="248"/>
                    <a:pt x="323" y="245"/>
                    <a:pt x="326" y="242"/>
                  </a:cubicBezTo>
                  <a:cubicBezTo>
                    <a:pt x="329" y="239"/>
                    <a:pt x="331" y="236"/>
                    <a:pt x="331" y="233"/>
                  </a:cubicBezTo>
                  <a:lnTo>
                    <a:pt x="331" y="0"/>
                  </a:lnTo>
                  <a:cubicBezTo>
                    <a:pt x="320" y="6"/>
                    <a:pt x="308" y="11"/>
                    <a:pt x="294" y="15"/>
                  </a:cubicBezTo>
                  <a:cubicBezTo>
                    <a:pt x="280" y="19"/>
                    <a:pt x="266" y="22"/>
                    <a:pt x="251" y="24"/>
                  </a:cubicBezTo>
                  <a:close/>
                </a:path>
              </a:pathLst>
            </a:custGeom>
            <a:grpFill/>
            <a:ln w="0">
              <a:noFill/>
              <a:prstDash val="solid"/>
              <a:round/>
              <a:headEnd/>
              <a:tailEnd/>
            </a:ln>
          </p:spPr>
          <p:txBody>
            <a:bodyPr vert="horz" wrap="square" lIns="0" tIns="0" rIns="0" bIns="0" numCol="1" anchor="ctr" anchorCtr="0" compatLnSpc="1">
              <a:prstTxWarp prst="textNoShape">
                <a:avLst/>
              </a:prstTxWarp>
            </a:bodyP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CA" sz="1000" b="1" i="0" u="none" strike="noStrike" kern="1200" cap="none" spc="0" normalizeH="0" baseline="0" noProof="0">
                <a:ln>
                  <a:noFill/>
                </a:ln>
                <a:solidFill>
                  <a:prstClr val="white"/>
                </a:solidFill>
                <a:effectLst/>
                <a:uLnTx/>
                <a:uFillTx/>
                <a:latin typeface="Segoe UI"/>
                <a:ea typeface="+mn-ea"/>
                <a:cs typeface="+mn-cs"/>
              </a:endParaRPr>
            </a:p>
          </p:txBody>
        </p:sp>
        <p:sp>
          <p:nvSpPr>
            <p:cNvPr id="275" name="Freeform 64">
              <a:extLst>
                <a:ext uri="{FF2B5EF4-FFF2-40B4-BE49-F238E27FC236}">
                  <a16:creationId xmlns:a16="http://schemas.microsoft.com/office/drawing/2014/main" id="{16250780-9EC3-6E97-E363-4E8C86C94808}"/>
                </a:ext>
              </a:extLst>
            </p:cNvPr>
            <p:cNvSpPr>
              <a:spLocks/>
            </p:cNvSpPr>
            <p:nvPr/>
          </p:nvSpPr>
          <p:spPr bwMode="auto">
            <a:xfrm>
              <a:off x="3065" y="2920"/>
              <a:ext cx="448" cy="97"/>
            </a:xfrm>
            <a:custGeom>
              <a:avLst/>
              <a:gdLst>
                <a:gd name="T0" fmla="*/ 3 w 331"/>
                <a:gd name="T1" fmla="*/ 51 h 90"/>
                <a:gd name="T2" fmla="*/ 3 w 331"/>
                <a:gd name="T3" fmla="*/ 51 h 90"/>
                <a:gd name="T4" fmla="*/ 20 w 331"/>
                <a:gd name="T5" fmla="*/ 65 h 90"/>
                <a:gd name="T6" fmla="*/ 46 w 331"/>
                <a:gd name="T7" fmla="*/ 75 h 90"/>
                <a:gd name="T8" fmla="*/ 76 w 331"/>
                <a:gd name="T9" fmla="*/ 82 h 90"/>
                <a:gd name="T10" fmla="*/ 108 w 331"/>
                <a:gd name="T11" fmla="*/ 87 h 90"/>
                <a:gd name="T12" fmla="*/ 139 w 331"/>
                <a:gd name="T13" fmla="*/ 89 h 90"/>
                <a:gd name="T14" fmla="*/ 165 w 331"/>
                <a:gd name="T15" fmla="*/ 90 h 90"/>
                <a:gd name="T16" fmla="*/ 191 w 331"/>
                <a:gd name="T17" fmla="*/ 89 h 90"/>
                <a:gd name="T18" fmla="*/ 222 w 331"/>
                <a:gd name="T19" fmla="*/ 87 h 90"/>
                <a:gd name="T20" fmla="*/ 254 w 331"/>
                <a:gd name="T21" fmla="*/ 82 h 90"/>
                <a:gd name="T22" fmla="*/ 285 w 331"/>
                <a:gd name="T23" fmla="*/ 75 h 90"/>
                <a:gd name="T24" fmla="*/ 310 w 331"/>
                <a:gd name="T25" fmla="*/ 65 h 90"/>
                <a:gd name="T26" fmla="*/ 328 w 331"/>
                <a:gd name="T27" fmla="*/ 51 h 90"/>
                <a:gd name="T28" fmla="*/ 330 w 331"/>
                <a:gd name="T29" fmla="*/ 48 h 90"/>
                <a:gd name="T30" fmla="*/ 331 w 331"/>
                <a:gd name="T31" fmla="*/ 45 h 90"/>
                <a:gd name="T32" fmla="*/ 326 w 331"/>
                <a:gd name="T33" fmla="*/ 35 h 90"/>
                <a:gd name="T34" fmla="*/ 314 w 331"/>
                <a:gd name="T35" fmla="*/ 27 h 90"/>
                <a:gd name="T36" fmla="*/ 300 w 331"/>
                <a:gd name="T37" fmla="*/ 20 h 90"/>
                <a:gd name="T38" fmla="*/ 289 w 331"/>
                <a:gd name="T39" fmla="*/ 15 h 90"/>
                <a:gd name="T40" fmla="*/ 259 w 331"/>
                <a:gd name="T41" fmla="*/ 8 h 90"/>
                <a:gd name="T42" fmla="*/ 228 w 331"/>
                <a:gd name="T43" fmla="*/ 2 h 90"/>
                <a:gd name="T44" fmla="*/ 196 w 331"/>
                <a:gd name="T45" fmla="*/ 1 h 90"/>
                <a:gd name="T46" fmla="*/ 165 w 331"/>
                <a:gd name="T47" fmla="*/ 0 h 90"/>
                <a:gd name="T48" fmla="*/ 135 w 331"/>
                <a:gd name="T49" fmla="*/ 1 h 90"/>
                <a:gd name="T50" fmla="*/ 103 w 331"/>
                <a:gd name="T51" fmla="*/ 2 h 90"/>
                <a:gd name="T52" fmla="*/ 71 w 331"/>
                <a:gd name="T53" fmla="*/ 8 h 90"/>
                <a:gd name="T54" fmla="*/ 42 w 331"/>
                <a:gd name="T55" fmla="*/ 15 h 90"/>
                <a:gd name="T56" fmla="*/ 30 w 331"/>
                <a:gd name="T57" fmla="*/ 20 h 90"/>
                <a:gd name="T58" fmla="*/ 16 w 331"/>
                <a:gd name="T59" fmla="*/ 27 h 90"/>
                <a:gd name="T60" fmla="*/ 4 w 331"/>
                <a:gd name="T61" fmla="*/ 35 h 90"/>
                <a:gd name="T62" fmla="*/ 0 w 331"/>
                <a:gd name="T63" fmla="*/ 45 h 90"/>
                <a:gd name="T64" fmla="*/ 0 w 331"/>
                <a:gd name="T65" fmla="*/ 48 h 90"/>
                <a:gd name="T66" fmla="*/ 3 w 331"/>
                <a:gd name="T67" fmla="*/ 51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31" h="90">
                  <a:moveTo>
                    <a:pt x="3" y="51"/>
                  </a:moveTo>
                  <a:lnTo>
                    <a:pt x="3" y="51"/>
                  </a:lnTo>
                  <a:cubicBezTo>
                    <a:pt x="7" y="56"/>
                    <a:pt x="13" y="61"/>
                    <a:pt x="20" y="65"/>
                  </a:cubicBezTo>
                  <a:cubicBezTo>
                    <a:pt x="28" y="69"/>
                    <a:pt x="36" y="72"/>
                    <a:pt x="46" y="75"/>
                  </a:cubicBezTo>
                  <a:cubicBezTo>
                    <a:pt x="55" y="78"/>
                    <a:pt x="65" y="80"/>
                    <a:pt x="76" y="82"/>
                  </a:cubicBezTo>
                  <a:cubicBezTo>
                    <a:pt x="87" y="84"/>
                    <a:pt x="98" y="86"/>
                    <a:pt x="108" y="87"/>
                  </a:cubicBezTo>
                  <a:cubicBezTo>
                    <a:pt x="119" y="88"/>
                    <a:pt x="129" y="89"/>
                    <a:pt x="139" y="89"/>
                  </a:cubicBezTo>
                  <a:cubicBezTo>
                    <a:pt x="149" y="90"/>
                    <a:pt x="158" y="90"/>
                    <a:pt x="165" y="90"/>
                  </a:cubicBezTo>
                  <a:cubicBezTo>
                    <a:pt x="173" y="90"/>
                    <a:pt x="182" y="90"/>
                    <a:pt x="191" y="89"/>
                  </a:cubicBezTo>
                  <a:cubicBezTo>
                    <a:pt x="201" y="89"/>
                    <a:pt x="211" y="88"/>
                    <a:pt x="222" y="87"/>
                  </a:cubicBezTo>
                  <a:cubicBezTo>
                    <a:pt x="233" y="86"/>
                    <a:pt x="244" y="84"/>
                    <a:pt x="254" y="82"/>
                  </a:cubicBezTo>
                  <a:cubicBezTo>
                    <a:pt x="265" y="80"/>
                    <a:pt x="275" y="78"/>
                    <a:pt x="285" y="75"/>
                  </a:cubicBezTo>
                  <a:cubicBezTo>
                    <a:pt x="294" y="72"/>
                    <a:pt x="303" y="69"/>
                    <a:pt x="310" y="65"/>
                  </a:cubicBezTo>
                  <a:cubicBezTo>
                    <a:pt x="318" y="61"/>
                    <a:pt x="324" y="56"/>
                    <a:pt x="328" y="51"/>
                  </a:cubicBezTo>
                  <a:cubicBezTo>
                    <a:pt x="329" y="50"/>
                    <a:pt x="329" y="49"/>
                    <a:pt x="330" y="48"/>
                  </a:cubicBezTo>
                  <a:cubicBezTo>
                    <a:pt x="331" y="47"/>
                    <a:pt x="331" y="46"/>
                    <a:pt x="331" y="45"/>
                  </a:cubicBezTo>
                  <a:cubicBezTo>
                    <a:pt x="331" y="41"/>
                    <a:pt x="329" y="38"/>
                    <a:pt x="326" y="35"/>
                  </a:cubicBezTo>
                  <a:cubicBezTo>
                    <a:pt x="323" y="32"/>
                    <a:pt x="319" y="29"/>
                    <a:pt x="314" y="27"/>
                  </a:cubicBezTo>
                  <a:cubicBezTo>
                    <a:pt x="310" y="24"/>
                    <a:pt x="305" y="22"/>
                    <a:pt x="300" y="20"/>
                  </a:cubicBezTo>
                  <a:cubicBezTo>
                    <a:pt x="295" y="18"/>
                    <a:pt x="292" y="16"/>
                    <a:pt x="289" y="15"/>
                  </a:cubicBezTo>
                  <a:cubicBezTo>
                    <a:pt x="279" y="12"/>
                    <a:pt x="270" y="10"/>
                    <a:pt x="259" y="8"/>
                  </a:cubicBezTo>
                  <a:cubicBezTo>
                    <a:pt x="249" y="6"/>
                    <a:pt x="238" y="4"/>
                    <a:pt x="228" y="2"/>
                  </a:cubicBezTo>
                  <a:cubicBezTo>
                    <a:pt x="217" y="1"/>
                    <a:pt x="207" y="1"/>
                    <a:pt x="196" y="1"/>
                  </a:cubicBezTo>
                  <a:cubicBezTo>
                    <a:pt x="185" y="0"/>
                    <a:pt x="175" y="0"/>
                    <a:pt x="165" y="0"/>
                  </a:cubicBezTo>
                  <a:cubicBezTo>
                    <a:pt x="155" y="0"/>
                    <a:pt x="145" y="0"/>
                    <a:pt x="135" y="1"/>
                  </a:cubicBezTo>
                  <a:cubicBezTo>
                    <a:pt x="124" y="1"/>
                    <a:pt x="113" y="1"/>
                    <a:pt x="103" y="2"/>
                  </a:cubicBezTo>
                  <a:cubicBezTo>
                    <a:pt x="92" y="4"/>
                    <a:pt x="81" y="6"/>
                    <a:pt x="71" y="8"/>
                  </a:cubicBezTo>
                  <a:cubicBezTo>
                    <a:pt x="61" y="10"/>
                    <a:pt x="51" y="12"/>
                    <a:pt x="42" y="15"/>
                  </a:cubicBezTo>
                  <a:cubicBezTo>
                    <a:pt x="39" y="16"/>
                    <a:pt x="35" y="18"/>
                    <a:pt x="30" y="20"/>
                  </a:cubicBezTo>
                  <a:cubicBezTo>
                    <a:pt x="25" y="22"/>
                    <a:pt x="21" y="24"/>
                    <a:pt x="16" y="27"/>
                  </a:cubicBezTo>
                  <a:cubicBezTo>
                    <a:pt x="12" y="29"/>
                    <a:pt x="8" y="32"/>
                    <a:pt x="4" y="35"/>
                  </a:cubicBezTo>
                  <a:cubicBezTo>
                    <a:pt x="1" y="38"/>
                    <a:pt x="0" y="41"/>
                    <a:pt x="0" y="45"/>
                  </a:cubicBezTo>
                  <a:cubicBezTo>
                    <a:pt x="0" y="46"/>
                    <a:pt x="0" y="47"/>
                    <a:pt x="0" y="48"/>
                  </a:cubicBezTo>
                  <a:cubicBezTo>
                    <a:pt x="1" y="49"/>
                    <a:pt x="2" y="50"/>
                    <a:pt x="3" y="5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black"/>
                </a:solidFill>
                <a:effectLst/>
                <a:uLnTx/>
                <a:uFillTx/>
                <a:latin typeface="Segoe UI"/>
                <a:ea typeface="+mn-ea"/>
                <a:cs typeface="+mn-cs"/>
              </a:endParaRPr>
            </a:p>
          </p:txBody>
        </p:sp>
      </p:grpSp>
      <p:sp>
        <p:nvSpPr>
          <p:cNvPr id="276" name="TextBox 275">
            <a:extLst>
              <a:ext uri="{FF2B5EF4-FFF2-40B4-BE49-F238E27FC236}">
                <a16:creationId xmlns:a16="http://schemas.microsoft.com/office/drawing/2014/main" id="{6980C6C3-A6BC-1EF5-5315-A663A39674E9}"/>
              </a:ext>
            </a:extLst>
          </p:cNvPr>
          <p:cNvSpPr txBox="1"/>
          <p:nvPr/>
        </p:nvSpPr>
        <p:spPr>
          <a:xfrm>
            <a:off x="2952549" y="3630995"/>
            <a:ext cx="1337877" cy="415498"/>
          </a:xfrm>
          <a:prstGeom prst="rect">
            <a:avLst/>
          </a:prstGeom>
          <a:noFill/>
        </p:spPr>
        <p:txBody>
          <a:bodyPr wrap="square"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CA" sz="1050" i="0" strike="noStrike" kern="1200" cap="none" spc="0" normalizeH="0" baseline="0" noProof="0">
                <a:ln>
                  <a:noFill/>
                </a:ln>
                <a:solidFill>
                  <a:prstClr val="black"/>
                </a:solidFill>
                <a:effectLst/>
                <a:uLnTx/>
                <a:uFillTx/>
                <a:latin typeface="Segoe UI"/>
                <a:ea typeface="+mn-ea"/>
                <a:cs typeface="+mn-cs"/>
              </a:rPr>
              <a:t>User data </a:t>
            </a:r>
            <a:br>
              <a:rPr kumimoji="0" lang="en-CA" sz="1050" i="0" strike="noStrike" kern="1200" cap="none" spc="0" normalizeH="0" baseline="0" noProof="0">
                <a:ln>
                  <a:noFill/>
                </a:ln>
                <a:solidFill>
                  <a:prstClr val="black"/>
                </a:solidFill>
                <a:effectLst/>
                <a:uLnTx/>
                <a:uFillTx/>
                <a:latin typeface="Segoe UI"/>
                <a:ea typeface="+mn-ea"/>
                <a:cs typeface="+mn-cs"/>
              </a:rPr>
            </a:br>
            <a:r>
              <a:rPr kumimoji="0" lang="en-CA" sz="1050" i="0" strike="noStrike" kern="1200" cap="none" spc="0" normalizeH="0" baseline="0" noProof="0">
                <a:ln>
                  <a:noFill/>
                </a:ln>
                <a:solidFill>
                  <a:prstClr val="black"/>
                </a:solidFill>
                <a:effectLst/>
                <a:uLnTx/>
                <a:uFillTx/>
                <a:latin typeface="Segoe UI"/>
                <a:ea typeface="+mn-ea"/>
                <a:cs typeface="+mn-cs"/>
              </a:rPr>
              <a:t>(non-managed)</a:t>
            </a:r>
          </a:p>
        </p:txBody>
      </p:sp>
      <p:sp>
        <p:nvSpPr>
          <p:cNvPr id="6" name="TextBox 5">
            <a:extLst>
              <a:ext uri="{FF2B5EF4-FFF2-40B4-BE49-F238E27FC236}">
                <a16:creationId xmlns:a16="http://schemas.microsoft.com/office/drawing/2014/main" id="{9250A282-586E-6CF4-BCEF-E6C455B3CD95}"/>
              </a:ext>
            </a:extLst>
          </p:cNvPr>
          <p:cNvSpPr txBox="1"/>
          <p:nvPr/>
        </p:nvSpPr>
        <p:spPr>
          <a:xfrm>
            <a:off x="5720401" y="2756264"/>
            <a:ext cx="3588952" cy="415498"/>
          </a:xfrm>
          <a:prstGeom prst="rect">
            <a:avLst/>
          </a:prstGeom>
          <a:noFill/>
        </p:spPr>
        <p:txBody>
          <a:bodyPr wrap="square"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CA" sz="1050" b="1">
                <a:solidFill>
                  <a:prstClr val="black"/>
                </a:solidFill>
                <a:latin typeface="Segoe UI"/>
              </a:rPr>
              <a:t>Power BI space to visualize data, create and share reports</a:t>
            </a:r>
            <a:endParaRPr kumimoji="0" lang="en-CA" sz="1050" b="1" i="0" u="none" strike="noStrike" kern="1200" cap="none" spc="0" normalizeH="0" baseline="0" noProof="0">
              <a:ln>
                <a:noFill/>
              </a:ln>
              <a:solidFill>
                <a:prstClr val="black"/>
              </a:solidFill>
              <a:effectLst/>
              <a:uLnTx/>
              <a:uFillTx/>
              <a:latin typeface="Segoe UI"/>
              <a:ea typeface="+mn-ea"/>
              <a:cs typeface="+mn-cs"/>
            </a:endParaRPr>
          </a:p>
        </p:txBody>
      </p:sp>
      <p:cxnSp>
        <p:nvCxnSpPr>
          <p:cNvPr id="289" name="Straight Arrow Connector 288">
            <a:extLst>
              <a:ext uri="{FF2B5EF4-FFF2-40B4-BE49-F238E27FC236}">
                <a16:creationId xmlns:a16="http://schemas.microsoft.com/office/drawing/2014/main" id="{AC819060-7C86-F740-ABF5-3961A4A3A2EC}"/>
              </a:ext>
            </a:extLst>
          </p:cNvPr>
          <p:cNvCxnSpPr>
            <a:cxnSpLocks/>
          </p:cNvCxnSpPr>
          <p:nvPr/>
        </p:nvCxnSpPr>
        <p:spPr>
          <a:xfrm>
            <a:off x="6950708" y="1948046"/>
            <a:ext cx="298634" cy="0"/>
          </a:xfrm>
          <a:prstGeom prst="straightConnector1">
            <a:avLst/>
          </a:prstGeom>
          <a:ln w="28575">
            <a:solidFill>
              <a:srgbClr val="FF9933"/>
            </a:solidFill>
            <a:tailEnd type="triangle"/>
          </a:ln>
        </p:spPr>
        <p:style>
          <a:lnRef idx="1">
            <a:schemeClr val="accent1"/>
          </a:lnRef>
          <a:fillRef idx="0">
            <a:schemeClr val="accent1"/>
          </a:fillRef>
          <a:effectRef idx="0">
            <a:schemeClr val="accent1"/>
          </a:effectRef>
          <a:fontRef idx="minor">
            <a:schemeClr val="tx1"/>
          </a:fontRef>
        </p:style>
      </p:cxnSp>
      <p:cxnSp>
        <p:nvCxnSpPr>
          <p:cNvPr id="290" name="Straight Arrow Connector 289">
            <a:extLst>
              <a:ext uri="{FF2B5EF4-FFF2-40B4-BE49-F238E27FC236}">
                <a16:creationId xmlns:a16="http://schemas.microsoft.com/office/drawing/2014/main" id="{2BAF7AB1-CBF5-36F5-CD3D-80C7CA6766C5}"/>
              </a:ext>
            </a:extLst>
          </p:cNvPr>
          <p:cNvCxnSpPr>
            <a:cxnSpLocks/>
          </p:cNvCxnSpPr>
          <p:nvPr/>
        </p:nvCxnSpPr>
        <p:spPr>
          <a:xfrm>
            <a:off x="8002782" y="1952155"/>
            <a:ext cx="298634" cy="0"/>
          </a:xfrm>
          <a:prstGeom prst="straightConnector1">
            <a:avLst/>
          </a:prstGeom>
          <a:ln w="28575">
            <a:solidFill>
              <a:srgbClr val="FF9933"/>
            </a:solidFill>
            <a:tailEnd type="triangle"/>
          </a:ln>
        </p:spPr>
        <p:style>
          <a:lnRef idx="1">
            <a:schemeClr val="accent1"/>
          </a:lnRef>
          <a:fillRef idx="0">
            <a:schemeClr val="accent1"/>
          </a:fillRef>
          <a:effectRef idx="0">
            <a:schemeClr val="accent1"/>
          </a:effectRef>
          <a:fontRef idx="minor">
            <a:schemeClr val="tx1"/>
          </a:fontRef>
        </p:style>
      </p:cxnSp>
      <p:pic>
        <p:nvPicPr>
          <p:cNvPr id="292" name="Picture 291">
            <a:extLst>
              <a:ext uri="{FF2B5EF4-FFF2-40B4-BE49-F238E27FC236}">
                <a16:creationId xmlns:a16="http://schemas.microsoft.com/office/drawing/2014/main" id="{268C3AD7-15DB-C299-3BE0-23BA9FFB3AF2}"/>
              </a:ext>
            </a:extLst>
          </p:cNvPr>
          <p:cNvPicPr>
            <a:picLocks noChangeAspect="1"/>
          </p:cNvPicPr>
          <p:nvPr/>
        </p:nvPicPr>
        <p:blipFill>
          <a:blip r:embed="rId10"/>
          <a:stretch>
            <a:fillRect/>
          </a:stretch>
        </p:blipFill>
        <p:spPr>
          <a:xfrm>
            <a:off x="4259610" y="3186792"/>
            <a:ext cx="490144" cy="469398"/>
          </a:xfrm>
          <a:prstGeom prst="rect">
            <a:avLst/>
          </a:prstGeom>
        </p:spPr>
      </p:pic>
      <p:pic>
        <p:nvPicPr>
          <p:cNvPr id="298" name="Picture 297">
            <a:extLst>
              <a:ext uri="{FF2B5EF4-FFF2-40B4-BE49-F238E27FC236}">
                <a16:creationId xmlns:a16="http://schemas.microsoft.com/office/drawing/2014/main" id="{B01BD939-43A5-272C-978D-61E68121CDB0}"/>
              </a:ext>
            </a:extLst>
          </p:cNvPr>
          <p:cNvPicPr>
            <a:picLocks noChangeAspect="1"/>
          </p:cNvPicPr>
          <p:nvPr/>
        </p:nvPicPr>
        <p:blipFill>
          <a:blip r:embed="rId11"/>
          <a:stretch>
            <a:fillRect/>
          </a:stretch>
        </p:blipFill>
        <p:spPr>
          <a:xfrm>
            <a:off x="5094214" y="3225973"/>
            <a:ext cx="432361" cy="444047"/>
          </a:xfrm>
          <a:prstGeom prst="rect">
            <a:avLst/>
          </a:prstGeom>
        </p:spPr>
      </p:pic>
      <p:sp>
        <p:nvSpPr>
          <p:cNvPr id="299" name="TextBox 298">
            <a:extLst>
              <a:ext uri="{FF2B5EF4-FFF2-40B4-BE49-F238E27FC236}">
                <a16:creationId xmlns:a16="http://schemas.microsoft.com/office/drawing/2014/main" id="{CD3F4772-9241-C877-1F84-26F885F6EEF3}"/>
              </a:ext>
            </a:extLst>
          </p:cNvPr>
          <p:cNvSpPr txBox="1"/>
          <p:nvPr/>
        </p:nvSpPr>
        <p:spPr>
          <a:xfrm>
            <a:off x="4625656" y="3695924"/>
            <a:ext cx="1337877" cy="253916"/>
          </a:xfrm>
          <a:prstGeom prst="rect">
            <a:avLst/>
          </a:prstGeom>
          <a:noFill/>
        </p:spPr>
        <p:txBody>
          <a:bodyPr wrap="square"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CA" sz="1050" i="0" strike="noStrike" kern="1200" cap="none" spc="0" normalizeH="0" baseline="0" noProof="0">
                <a:ln>
                  <a:noFill/>
                </a:ln>
                <a:solidFill>
                  <a:prstClr val="black"/>
                </a:solidFill>
                <a:effectLst/>
                <a:uLnTx/>
                <a:uFillTx/>
                <a:latin typeface="Segoe UI"/>
                <a:ea typeface="+mn-ea"/>
                <a:cs typeface="+mn-cs"/>
              </a:rPr>
              <a:t>R Drive</a:t>
            </a:r>
          </a:p>
        </p:txBody>
      </p:sp>
      <p:cxnSp>
        <p:nvCxnSpPr>
          <p:cNvPr id="301" name="Straight Arrow Connector 300">
            <a:extLst>
              <a:ext uri="{FF2B5EF4-FFF2-40B4-BE49-F238E27FC236}">
                <a16:creationId xmlns:a16="http://schemas.microsoft.com/office/drawing/2014/main" id="{A8178D6E-2F9F-D78E-2265-0CC7935124C1}"/>
              </a:ext>
            </a:extLst>
          </p:cNvPr>
          <p:cNvCxnSpPr>
            <a:cxnSpLocks/>
          </p:cNvCxnSpPr>
          <p:nvPr/>
        </p:nvCxnSpPr>
        <p:spPr>
          <a:xfrm>
            <a:off x="3849623" y="3364658"/>
            <a:ext cx="244369" cy="0"/>
          </a:xfrm>
          <a:prstGeom prst="straightConnector1">
            <a:avLst/>
          </a:prstGeom>
          <a:ln w="6350">
            <a:solidFill>
              <a:srgbClr val="FF9933"/>
            </a:solidFill>
            <a:tailEnd type="triangle"/>
          </a:ln>
        </p:spPr>
        <p:style>
          <a:lnRef idx="1">
            <a:schemeClr val="accent1"/>
          </a:lnRef>
          <a:fillRef idx="0">
            <a:schemeClr val="accent1"/>
          </a:fillRef>
          <a:effectRef idx="0">
            <a:schemeClr val="accent1"/>
          </a:effectRef>
          <a:fontRef idx="minor">
            <a:schemeClr val="tx1"/>
          </a:fontRef>
        </p:style>
      </p:cxnSp>
      <p:cxnSp>
        <p:nvCxnSpPr>
          <p:cNvPr id="303" name="Straight Arrow Connector 302">
            <a:extLst>
              <a:ext uri="{FF2B5EF4-FFF2-40B4-BE49-F238E27FC236}">
                <a16:creationId xmlns:a16="http://schemas.microsoft.com/office/drawing/2014/main" id="{985968BE-F1CD-AC56-B568-0A41A1294C80}"/>
              </a:ext>
            </a:extLst>
          </p:cNvPr>
          <p:cNvCxnSpPr>
            <a:cxnSpLocks/>
          </p:cNvCxnSpPr>
          <p:nvPr/>
        </p:nvCxnSpPr>
        <p:spPr>
          <a:xfrm>
            <a:off x="4836692" y="3415902"/>
            <a:ext cx="184817" cy="0"/>
          </a:xfrm>
          <a:prstGeom prst="straightConnector1">
            <a:avLst/>
          </a:prstGeom>
          <a:ln w="63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06" name="Straight Arrow Connector 305">
            <a:extLst>
              <a:ext uri="{FF2B5EF4-FFF2-40B4-BE49-F238E27FC236}">
                <a16:creationId xmlns:a16="http://schemas.microsoft.com/office/drawing/2014/main" id="{8C9F5F2D-2F81-1EA3-7C26-1EE306081E4A}"/>
              </a:ext>
            </a:extLst>
          </p:cNvPr>
          <p:cNvCxnSpPr>
            <a:cxnSpLocks/>
          </p:cNvCxnSpPr>
          <p:nvPr/>
        </p:nvCxnSpPr>
        <p:spPr>
          <a:xfrm flipH="1" flipV="1">
            <a:off x="2800833" y="2575400"/>
            <a:ext cx="2469131" cy="576631"/>
          </a:xfrm>
          <a:prstGeom prst="straightConnector1">
            <a:avLst/>
          </a:prstGeom>
          <a:ln w="6350">
            <a:solidFill>
              <a:srgbClr val="FF9933"/>
            </a:solidFill>
            <a:tailEnd type="triangle"/>
          </a:ln>
        </p:spPr>
        <p:style>
          <a:lnRef idx="1">
            <a:schemeClr val="accent1"/>
          </a:lnRef>
          <a:fillRef idx="0">
            <a:schemeClr val="accent1"/>
          </a:fillRef>
          <a:effectRef idx="0">
            <a:schemeClr val="accent1"/>
          </a:effectRef>
          <a:fontRef idx="minor">
            <a:schemeClr val="tx1"/>
          </a:fontRef>
        </p:style>
      </p:cxnSp>
      <p:cxnSp>
        <p:nvCxnSpPr>
          <p:cNvPr id="311" name="Straight Arrow Connector 310">
            <a:extLst>
              <a:ext uri="{FF2B5EF4-FFF2-40B4-BE49-F238E27FC236}">
                <a16:creationId xmlns:a16="http://schemas.microsoft.com/office/drawing/2014/main" id="{FD8652D7-6D7D-9F19-399E-F7DE034320EA}"/>
              </a:ext>
            </a:extLst>
          </p:cNvPr>
          <p:cNvCxnSpPr>
            <a:cxnSpLocks/>
          </p:cNvCxnSpPr>
          <p:nvPr/>
        </p:nvCxnSpPr>
        <p:spPr>
          <a:xfrm>
            <a:off x="7317133" y="5305705"/>
            <a:ext cx="298634" cy="0"/>
          </a:xfrm>
          <a:prstGeom prst="straightConnector1">
            <a:avLst/>
          </a:prstGeom>
          <a:ln w="28575">
            <a:solidFill>
              <a:srgbClr val="FF9933"/>
            </a:solidFill>
            <a:tailEnd type="triangle"/>
          </a:ln>
        </p:spPr>
        <p:style>
          <a:lnRef idx="1">
            <a:schemeClr val="accent1"/>
          </a:lnRef>
          <a:fillRef idx="0">
            <a:schemeClr val="accent1"/>
          </a:fillRef>
          <a:effectRef idx="0">
            <a:schemeClr val="accent1"/>
          </a:effectRef>
          <a:fontRef idx="minor">
            <a:schemeClr val="tx1"/>
          </a:fontRef>
        </p:style>
      </p:cxnSp>
      <p:cxnSp>
        <p:nvCxnSpPr>
          <p:cNvPr id="312" name="Straight Arrow Connector 311">
            <a:extLst>
              <a:ext uri="{FF2B5EF4-FFF2-40B4-BE49-F238E27FC236}">
                <a16:creationId xmlns:a16="http://schemas.microsoft.com/office/drawing/2014/main" id="{9608E784-FD9D-9525-878D-C31AD30AB2B3}"/>
              </a:ext>
            </a:extLst>
          </p:cNvPr>
          <p:cNvCxnSpPr>
            <a:cxnSpLocks/>
          </p:cNvCxnSpPr>
          <p:nvPr/>
        </p:nvCxnSpPr>
        <p:spPr>
          <a:xfrm flipH="1" flipV="1">
            <a:off x="2768327" y="2580701"/>
            <a:ext cx="707325" cy="507877"/>
          </a:xfrm>
          <a:prstGeom prst="straightConnector1">
            <a:avLst/>
          </a:prstGeom>
          <a:ln w="6350">
            <a:solidFill>
              <a:srgbClr val="FF9933"/>
            </a:solidFill>
            <a:tailEnd type="triangle"/>
          </a:ln>
        </p:spPr>
        <p:style>
          <a:lnRef idx="1">
            <a:schemeClr val="accent1"/>
          </a:lnRef>
          <a:fillRef idx="0">
            <a:schemeClr val="accent1"/>
          </a:fillRef>
          <a:effectRef idx="0">
            <a:schemeClr val="accent1"/>
          </a:effectRef>
          <a:fontRef idx="minor">
            <a:schemeClr val="tx1"/>
          </a:fontRef>
        </p:style>
      </p:cxnSp>
      <p:cxnSp>
        <p:nvCxnSpPr>
          <p:cNvPr id="2049" name="Straight Arrow Connector 2048">
            <a:extLst>
              <a:ext uri="{FF2B5EF4-FFF2-40B4-BE49-F238E27FC236}">
                <a16:creationId xmlns:a16="http://schemas.microsoft.com/office/drawing/2014/main" id="{CAA501B5-A80A-420E-FF3E-AC77D3F95B07}"/>
              </a:ext>
            </a:extLst>
          </p:cNvPr>
          <p:cNvCxnSpPr>
            <a:cxnSpLocks/>
          </p:cNvCxnSpPr>
          <p:nvPr/>
        </p:nvCxnSpPr>
        <p:spPr>
          <a:xfrm flipV="1">
            <a:off x="1025708" y="2496257"/>
            <a:ext cx="0" cy="1928627"/>
          </a:xfrm>
          <a:prstGeom prst="straightConnector1">
            <a:avLst/>
          </a:prstGeom>
          <a:ln w="6350">
            <a:solidFill>
              <a:srgbClr val="FF9933"/>
            </a:solidFill>
            <a:tailEnd type="triangle"/>
          </a:ln>
        </p:spPr>
        <p:style>
          <a:lnRef idx="1">
            <a:schemeClr val="accent1"/>
          </a:lnRef>
          <a:fillRef idx="0">
            <a:schemeClr val="accent1"/>
          </a:fillRef>
          <a:effectRef idx="0">
            <a:schemeClr val="accent1"/>
          </a:effectRef>
          <a:fontRef idx="minor">
            <a:schemeClr val="tx1"/>
          </a:fontRef>
        </p:style>
      </p:cxnSp>
      <p:cxnSp>
        <p:nvCxnSpPr>
          <p:cNvPr id="2055" name="Straight Connector 2054">
            <a:extLst>
              <a:ext uri="{FF2B5EF4-FFF2-40B4-BE49-F238E27FC236}">
                <a16:creationId xmlns:a16="http://schemas.microsoft.com/office/drawing/2014/main" id="{BC5893A2-AB11-ADE6-EEE5-1DF8DBF3C8BE}"/>
              </a:ext>
            </a:extLst>
          </p:cNvPr>
          <p:cNvCxnSpPr/>
          <p:nvPr/>
        </p:nvCxnSpPr>
        <p:spPr>
          <a:xfrm>
            <a:off x="113211" y="4225441"/>
            <a:ext cx="11965577" cy="0"/>
          </a:xfrm>
          <a:prstGeom prst="line">
            <a:avLst/>
          </a:prstGeom>
          <a:ln w="19050">
            <a:solidFill>
              <a:schemeClr val="tx1">
                <a:lumMod val="50000"/>
                <a:lumOff val="50000"/>
              </a:schemeClr>
            </a:solidFill>
            <a:prstDash val="lgDashDot"/>
          </a:ln>
        </p:spPr>
        <p:style>
          <a:lnRef idx="1">
            <a:schemeClr val="accent1"/>
          </a:lnRef>
          <a:fillRef idx="0">
            <a:schemeClr val="accent1"/>
          </a:fillRef>
          <a:effectRef idx="0">
            <a:schemeClr val="accent1"/>
          </a:effectRef>
          <a:fontRef idx="minor">
            <a:schemeClr val="tx1"/>
          </a:fontRef>
        </p:style>
      </p:cxnSp>
      <p:cxnSp>
        <p:nvCxnSpPr>
          <p:cNvPr id="2058" name="Straight Arrow Connector 2057">
            <a:extLst>
              <a:ext uri="{FF2B5EF4-FFF2-40B4-BE49-F238E27FC236}">
                <a16:creationId xmlns:a16="http://schemas.microsoft.com/office/drawing/2014/main" id="{94C73150-6321-C95F-772E-3CDB9BB6DF1A}"/>
              </a:ext>
            </a:extLst>
          </p:cNvPr>
          <p:cNvCxnSpPr>
            <a:cxnSpLocks/>
          </p:cNvCxnSpPr>
          <p:nvPr/>
        </p:nvCxnSpPr>
        <p:spPr>
          <a:xfrm flipH="1" flipV="1">
            <a:off x="4537166" y="4046493"/>
            <a:ext cx="101843" cy="904167"/>
          </a:xfrm>
          <a:prstGeom prst="straightConnector1">
            <a:avLst/>
          </a:prstGeom>
          <a:ln w="6350">
            <a:solidFill>
              <a:srgbClr val="FF9933"/>
            </a:solidFill>
            <a:tailEnd type="triangle"/>
          </a:ln>
        </p:spPr>
        <p:style>
          <a:lnRef idx="1">
            <a:schemeClr val="accent1"/>
          </a:lnRef>
          <a:fillRef idx="0">
            <a:schemeClr val="accent1"/>
          </a:fillRef>
          <a:effectRef idx="0">
            <a:schemeClr val="accent1"/>
          </a:effectRef>
          <a:fontRef idx="minor">
            <a:schemeClr val="tx1"/>
          </a:fontRef>
        </p:style>
      </p:cxnSp>
      <p:cxnSp>
        <p:nvCxnSpPr>
          <p:cNvPr id="2060" name="Straight Arrow Connector 2059">
            <a:extLst>
              <a:ext uri="{FF2B5EF4-FFF2-40B4-BE49-F238E27FC236}">
                <a16:creationId xmlns:a16="http://schemas.microsoft.com/office/drawing/2014/main" id="{D6478435-C33F-A45C-2617-D07CAE6D5358}"/>
              </a:ext>
            </a:extLst>
          </p:cNvPr>
          <p:cNvCxnSpPr>
            <a:cxnSpLocks/>
          </p:cNvCxnSpPr>
          <p:nvPr/>
        </p:nvCxnSpPr>
        <p:spPr>
          <a:xfrm>
            <a:off x="2550528" y="2589357"/>
            <a:ext cx="15690" cy="498871"/>
          </a:xfrm>
          <a:prstGeom prst="straightConnector1">
            <a:avLst/>
          </a:prstGeom>
          <a:ln w="6350">
            <a:solidFill>
              <a:srgbClr val="FF9933"/>
            </a:solidFill>
            <a:tailEnd type="triangle"/>
          </a:ln>
        </p:spPr>
        <p:style>
          <a:lnRef idx="1">
            <a:schemeClr val="accent1"/>
          </a:lnRef>
          <a:fillRef idx="0">
            <a:schemeClr val="accent1"/>
          </a:fillRef>
          <a:effectRef idx="0">
            <a:schemeClr val="accent1"/>
          </a:effectRef>
          <a:fontRef idx="minor">
            <a:schemeClr val="tx1"/>
          </a:fontRef>
        </p:style>
      </p:cxnSp>
      <p:pic>
        <p:nvPicPr>
          <p:cNvPr id="2063" name="Picture 2062">
            <a:extLst>
              <a:ext uri="{FF2B5EF4-FFF2-40B4-BE49-F238E27FC236}">
                <a16:creationId xmlns:a16="http://schemas.microsoft.com/office/drawing/2014/main" id="{12C9465B-4207-0EC7-AEBC-7EB11F766647}"/>
              </a:ext>
            </a:extLst>
          </p:cNvPr>
          <p:cNvPicPr>
            <a:picLocks noChangeAspect="1"/>
          </p:cNvPicPr>
          <p:nvPr/>
        </p:nvPicPr>
        <p:blipFill>
          <a:blip r:embed="rId12"/>
          <a:stretch>
            <a:fillRect/>
          </a:stretch>
        </p:blipFill>
        <p:spPr>
          <a:xfrm>
            <a:off x="7951163" y="3321873"/>
            <a:ext cx="452112" cy="468032"/>
          </a:xfrm>
          <a:prstGeom prst="rect">
            <a:avLst/>
          </a:prstGeom>
        </p:spPr>
      </p:pic>
      <p:cxnSp>
        <p:nvCxnSpPr>
          <p:cNvPr id="2064" name="Straight Arrow Connector 2063">
            <a:extLst>
              <a:ext uri="{FF2B5EF4-FFF2-40B4-BE49-F238E27FC236}">
                <a16:creationId xmlns:a16="http://schemas.microsoft.com/office/drawing/2014/main" id="{D468BA2E-E14C-2EBB-C0DF-E71BA0798D44}"/>
              </a:ext>
            </a:extLst>
          </p:cNvPr>
          <p:cNvCxnSpPr>
            <a:cxnSpLocks/>
          </p:cNvCxnSpPr>
          <p:nvPr/>
        </p:nvCxnSpPr>
        <p:spPr>
          <a:xfrm>
            <a:off x="7760763" y="2567599"/>
            <a:ext cx="320522" cy="705659"/>
          </a:xfrm>
          <a:prstGeom prst="straightConnector1">
            <a:avLst/>
          </a:prstGeom>
          <a:ln w="6350">
            <a:solidFill>
              <a:srgbClr val="FF9933"/>
            </a:solidFill>
            <a:tailEnd type="triangle"/>
          </a:ln>
        </p:spPr>
        <p:style>
          <a:lnRef idx="1">
            <a:schemeClr val="accent1"/>
          </a:lnRef>
          <a:fillRef idx="0">
            <a:schemeClr val="accent1"/>
          </a:fillRef>
          <a:effectRef idx="0">
            <a:schemeClr val="accent1"/>
          </a:effectRef>
          <a:fontRef idx="minor">
            <a:schemeClr val="tx1"/>
          </a:fontRef>
        </p:style>
      </p:cxnSp>
      <p:sp>
        <p:nvSpPr>
          <p:cNvPr id="2066" name="TextBox 2065">
            <a:extLst>
              <a:ext uri="{FF2B5EF4-FFF2-40B4-BE49-F238E27FC236}">
                <a16:creationId xmlns:a16="http://schemas.microsoft.com/office/drawing/2014/main" id="{E9F02A00-D8E1-F4F5-9D77-A984F4C6578E}"/>
              </a:ext>
            </a:extLst>
          </p:cNvPr>
          <p:cNvSpPr txBox="1"/>
          <p:nvPr/>
        </p:nvSpPr>
        <p:spPr>
          <a:xfrm>
            <a:off x="7541760" y="3761106"/>
            <a:ext cx="1337877" cy="415498"/>
          </a:xfrm>
          <a:prstGeom prst="rect">
            <a:avLst/>
          </a:prstGeom>
          <a:noFill/>
        </p:spPr>
        <p:txBody>
          <a:bodyPr wrap="square"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CA" sz="1050" i="0" u="none" strike="noStrike" kern="1200" cap="none" spc="0" normalizeH="0" baseline="0" noProof="0">
                <a:ln>
                  <a:noFill/>
                </a:ln>
                <a:solidFill>
                  <a:prstClr val="black"/>
                </a:solidFill>
                <a:effectLst/>
                <a:uLnTx/>
                <a:uFillTx/>
                <a:latin typeface="Segoe UI"/>
                <a:ea typeface="+mn-ea"/>
                <a:cs typeface="+mn-cs"/>
              </a:rPr>
              <a:t>Report back-up in SharePoint</a:t>
            </a:r>
          </a:p>
        </p:txBody>
      </p:sp>
    </p:spTree>
    <p:extLst>
      <p:ext uri="{BB962C8B-B14F-4D97-AF65-F5344CB8AC3E}">
        <p14:creationId xmlns:p14="http://schemas.microsoft.com/office/powerpoint/2010/main" val="41609974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197BD4-F128-CA42-8FF1-83F1A0E3E26F}"/>
              </a:ext>
            </a:extLst>
          </p:cNvPr>
          <p:cNvSpPr>
            <a:spLocks noGrp="1"/>
          </p:cNvSpPr>
          <p:nvPr>
            <p:ph type="title"/>
          </p:nvPr>
        </p:nvSpPr>
        <p:spPr/>
        <p:txBody>
          <a:bodyPr/>
          <a:lstStyle/>
          <a:p>
            <a:r>
              <a:rPr lang="en-CA"/>
              <a:t>Fabric PoC – End User Experience</a:t>
            </a:r>
          </a:p>
        </p:txBody>
      </p:sp>
    </p:spTree>
    <p:extLst>
      <p:ext uri="{BB962C8B-B14F-4D97-AF65-F5344CB8AC3E}">
        <p14:creationId xmlns:p14="http://schemas.microsoft.com/office/powerpoint/2010/main" val="6930443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377FC8CC-BF48-4372-ADBD-E108291B94CD}"/>
              </a:ext>
            </a:extLst>
          </p:cNvPr>
          <p:cNvSpPr txBox="1">
            <a:spLocks/>
          </p:cNvSpPr>
          <p:nvPr/>
        </p:nvSpPr>
        <p:spPr>
          <a:xfrm>
            <a:off x="696001" y="213396"/>
            <a:ext cx="10800000" cy="717269"/>
          </a:xfrm>
          <a:prstGeom prst="rect">
            <a:avLst/>
          </a:prstGeom>
        </p:spPr>
        <p:txBody>
          <a:bodyPr anchor="b">
            <a:normAutofit/>
          </a:bodyPr>
          <a:lstStyle>
            <a:lvl1pPr algn="l" defTabSz="914377" rtl="0" eaLnBrk="1" latinLnBrk="0" hangingPunct="1">
              <a:lnSpc>
                <a:spcPct val="90000"/>
              </a:lnSpc>
              <a:spcBef>
                <a:spcPct val="0"/>
              </a:spcBef>
              <a:buNone/>
              <a:defRPr sz="4000" u="none" kern="1200" spc="-100" baseline="0">
                <a:solidFill>
                  <a:schemeClr val="accent6"/>
                </a:solidFill>
                <a:uFill>
                  <a:solidFill>
                    <a:schemeClr val="tx2">
                      <a:lumMod val="60000"/>
                      <a:lumOff val="40000"/>
                    </a:schemeClr>
                  </a:solidFill>
                </a:uFill>
                <a:latin typeface="+mj-lt"/>
                <a:ea typeface="Segoe UI Black" panose="020B0A02040204020203" pitchFamily="34" charset="0"/>
                <a:cs typeface="Segoe UI Light" panose="020B0502040204020203" pitchFamily="34" charset="0"/>
              </a:defRPr>
            </a:lvl1pPr>
          </a:lstStyle>
          <a:p>
            <a:pPr marL="0" marR="0" lvl="0" indent="0" algn="ctr" defTabSz="914377" rtl="0" eaLnBrk="1" fontAlgn="auto" latinLnBrk="0" hangingPunct="1">
              <a:lnSpc>
                <a:spcPct val="90000"/>
              </a:lnSpc>
              <a:spcBef>
                <a:spcPct val="0"/>
              </a:spcBef>
              <a:spcAft>
                <a:spcPts val="0"/>
              </a:spcAft>
              <a:buClrTx/>
              <a:buSzTx/>
              <a:buFontTx/>
              <a:buNone/>
              <a:tabLst/>
              <a:defRPr/>
            </a:pPr>
            <a:r>
              <a:rPr kumimoji="0" lang="en-US" sz="4000" b="0" i="0" u="none" strike="noStrike" kern="1200" cap="none" spc="-100" normalizeH="0" baseline="0" noProof="0">
                <a:ln>
                  <a:noFill/>
                </a:ln>
                <a:solidFill>
                  <a:srgbClr val="31849B"/>
                </a:solidFill>
                <a:effectLst/>
                <a:uLnTx/>
                <a:uFill>
                  <a:solidFill>
                    <a:srgbClr val="1F497D">
                      <a:lumMod val="60000"/>
                      <a:lumOff val="40000"/>
                    </a:srgbClr>
                  </a:solidFill>
                </a:uFill>
                <a:latin typeface="Segoe UI Semibold"/>
                <a:ea typeface="Segoe UI Black" panose="020B0A02040204020203" pitchFamily="34" charset="0"/>
                <a:cs typeface="Segoe UI Light" panose="020B0502040204020203" pitchFamily="34" charset="0"/>
              </a:rPr>
              <a:t>Fabric PoC Outline</a:t>
            </a:r>
          </a:p>
        </p:txBody>
      </p:sp>
      <p:sp>
        <p:nvSpPr>
          <p:cNvPr id="22" name="Content Placeholder 1">
            <a:extLst>
              <a:ext uri="{FF2B5EF4-FFF2-40B4-BE49-F238E27FC236}">
                <a16:creationId xmlns:a16="http://schemas.microsoft.com/office/drawing/2014/main" id="{C827DF1D-A93F-8E84-9C0C-D2DE0E70F7C3}"/>
              </a:ext>
            </a:extLst>
          </p:cNvPr>
          <p:cNvSpPr txBox="1">
            <a:spLocks/>
          </p:cNvSpPr>
          <p:nvPr/>
        </p:nvSpPr>
        <p:spPr>
          <a:xfrm>
            <a:off x="566012" y="930665"/>
            <a:ext cx="10800000" cy="5124164"/>
          </a:xfrm>
          <a:prstGeom prst="rect">
            <a:avLst/>
          </a:prstGeom>
        </p:spPr>
        <p:txBody>
          <a:bodyPr vert="horz" lIns="0" tIns="0" rIns="0" bIns="0" rtlCol="0" anchor="ctr" anchorCtr="0">
            <a:normAutofit fontScale="85000" lnSpcReduction="20000"/>
          </a:bodyPr>
          <a:lstStyle>
            <a:lvl1pPr marL="228594" indent="-228594" algn="l" defTabSz="914377" rtl="0" eaLnBrk="1" latinLnBrk="0" hangingPunct="1">
              <a:lnSpc>
                <a:spcPct val="90000"/>
              </a:lnSpc>
              <a:spcBef>
                <a:spcPts val="1800"/>
              </a:spcBef>
              <a:buFont typeface="Wingdings" panose="05000000000000000000" pitchFamily="2" charset="2"/>
              <a:buChar char="§"/>
              <a:defRPr sz="2600" kern="1200" spc="0" baseline="0">
                <a:solidFill>
                  <a:schemeClr val="tx1">
                    <a:lumMod val="75000"/>
                    <a:lumOff val="25000"/>
                  </a:schemeClr>
                </a:solidFill>
                <a:latin typeface="+mn-lt"/>
                <a:ea typeface="+mn-ea"/>
                <a:cs typeface="Segoe UI" panose="020B0502040204020203" pitchFamily="34" charset="0"/>
              </a:defRPr>
            </a:lvl1pPr>
            <a:lvl2pPr marL="450839" indent="-228594" algn="l" defTabSz="914377" rtl="0" eaLnBrk="1" latinLnBrk="0" hangingPunct="1">
              <a:lnSpc>
                <a:spcPct val="90000"/>
              </a:lnSpc>
              <a:spcBef>
                <a:spcPts val="600"/>
              </a:spcBef>
              <a:buFont typeface="Segoe UI" panose="020B0502040204020203" pitchFamily="34" charset="0"/>
              <a:buChar char="›"/>
              <a:defRPr sz="2200" kern="1200" spc="0">
                <a:solidFill>
                  <a:schemeClr val="tx1">
                    <a:lumMod val="75000"/>
                    <a:lumOff val="25000"/>
                  </a:schemeClr>
                </a:solidFill>
                <a:latin typeface="+mn-lt"/>
                <a:ea typeface="+mn-ea"/>
                <a:cs typeface="Segoe UI" panose="020B0502040204020203" pitchFamily="34" charset="0"/>
              </a:defRPr>
            </a:lvl2pPr>
            <a:lvl3pPr marL="714357" indent="-228594" algn="l" defTabSz="914377" rtl="0" eaLnBrk="1" latinLnBrk="0" hangingPunct="1">
              <a:lnSpc>
                <a:spcPct val="90000"/>
              </a:lnSpc>
              <a:spcBef>
                <a:spcPts val="300"/>
              </a:spcBef>
              <a:buFont typeface="Segoe UI" panose="020B0502040204020203" pitchFamily="34" charset="0"/>
              <a:buChar char="›"/>
              <a:defRPr sz="2000" kern="1200" spc="0">
                <a:solidFill>
                  <a:schemeClr val="tx1">
                    <a:lumMod val="75000"/>
                    <a:lumOff val="25000"/>
                  </a:schemeClr>
                </a:solidFill>
                <a:latin typeface="+mn-lt"/>
                <a:ea typeface="+mn-ea"/>
                <a:cs typeface="Segoe UI" panose="020B0502040204020203" pitchFamily="34" charset="0"/>
              </a:defRPr>
            </a:lvl3pPr>
            <a:lvl4pPr marL="985814" indent="-228594" algn="l" defTabSz="914377" rtl="0" eaLnBrk="1" latinLnBrk="0" hangingPunct="1">
              <a:lnSpc>
                <a:spcPct val="90000"/>
              </a:lnSpc>
              <a:spcBef>
                <a:spcPts val="0"/>
              </a:spcBef>
              <a:buFont typeface="Segoe UI" panose="020B0502040204020203" pitchFamily="34" charset="0"/>
              <a:buChar char="›"/>
              <a:defRPr sz="2000" kern="1200" spc="0">
                <a:solidFill>
                  <a:schemeClr val="tx1">
                    <a:lumMod val="75000"/>
                    <a:lumOff val="25000"/>
                  </a:schemeClr>
                </a:solidFill>
                <a:latin typeface="+mn-lt"/>
                <a:ea typeface="+mn-ea"/>
                <a:cs typeface="Segoe UI" panose="020B0502040204020203" pitchFamily="34" charset="0"/>
              </a:defRPr>
            </a:lvl4pPr>
            <a:lvl5pPr marL="1257269" indent="-228594" algn="l" defTabSz="914377" rtl="0" eaLnBrk="1" latinLnBrk="0" hangingPunct="1">
              <a:lnSpc>
                <a:spcPct val="90000"/>
              </a:lnSpc>
              <a:spcBef>
                <a:spcPts val="0"/>
              </a:spcBef>
              <a:buFont typeface="Segoe UI" panose="020B0502040204020203" pitchFamily="34" charset="0"/>
              <a:buChar char="›"/>
              <a:defRPr sz="2000" kern="1200" spc="0">
                <a:solidFill>
                  <a:schemeClr val="tx1">
                    <a:lumMod val="75000"/>
                    <a:lumOff val="25000"/>
                  </a:schemeClr>
                </a:solidFill>
                <a:latin typeface="+mn-lt"/>
                <a:ea typeface="+mn-ea"/>
                <a:cs typeface="Segoe UI" panose="020B0502040204020203"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Wingdings" panose="05000000000000000000" pitchFamily="2" charset="2"/>
              <a:buNone/>
            </a:pPr>
            <a:r>
              <a:rPr lang="en-CA" b="1"/>
              <a:t>Goal</a:t>
            </a:r>
          </a:p>
          <a:p>
            <a:pPr marL="0" indent="0">
              <a:buFont typeface="Wingdings" panose="05000000000000000000" pitchFamily="2" charset="2"/>
              <a:buNone/>
            </a:pPr>
            <a:r>
              <a:rPr lang="en-CA"/>
              <a:t>Assess how and to what extent Fabric could help Triton fully meet the requirements for end user experience</a:t>
            </a:r>
          </a:p>
          <a:p>
            <a:pPr marL="0" indent="0">
              <a:buFont typeface="Wingdings" panose="05000000000000000000" pitchFamily="2" charset="2"/>
              <a:buNone/>
            </a:pPr>
            <a:r>
              <a:rPr lang="en-CA" b="1"/>
              <a:t>How</a:t>
            </a:r>
            <a:endParaRPr lang="en-CA"/>
          </a:p>
          <a:p>
            <a:pPr marL="0" indent="0">
              <a:buNone/>
            </a:pPr>
            <a:r>
              <a:rPr lang="en-CA"/>
              <a:t>Implement a Triton environment in Fabric that enhances the Triton Power BI environment and supports user workflows</a:t>
            </a:r>
          </a:p>
          <a:p>
            <a:pPr marL="0" indent="0">
              <a:buNone/>
            </a:pPr>
            <a:r>
              <a:rPr lang="en-CA"/>
              <a:t>Build an entire user workflow using Fabric that is representative of FMD’s most sophisticated users/use case.</a:t>
            </a:r>
          </a:p>
          <a:p>
            <a:pPr marL="0" indent="0">
              <a:buNone/>
            </a:pPr>
            <a:r>
              <a:rPr lang="en-CA"/>
              <a:t>Leverage Microsoft recommended patterns and best practices</a:t>
            </a:r>
          </a:p>
          <a:p>
            <a:pPr marL="0" indent="0">
              <a:buNone/>
            </a:pPr>
            <a:r>
              <a:rPr lang="en-CA" b="1"/>
              <a:t>Success metrics</a:t>
            </a:r>
            <a:endParaRPr lang="en-CA"/>
          </a:p>
          <a:p>
            <a:pPr marL="0" indent="0">
              <a:buFont typeface="Wingdings" panose="05000000000000000000" pitchFamily="2" charset="2"/>
              <a:buNone/>
            </a:pPr>
            <a:r>
              <a:rPr lang="en-CA"/>
              <a:t>Business value </a:t>
            </a:r>
            <a:r>
              <a:rPr lang="en-CA" err="1"/>
              <a:t>w.r.t.</a:t>
            </a:r>
            <a:r>
              <a:rPr lang="en-CA"/>
              <a:t> the 8 user requirements</a:t>
            </a:r>
          </a:p>
          <a:p>
            <a:pPr marL="0" indent="0">
              <a:buFont typeface="Wingdings" panose="05000000000000000000" pitchFamily="2" charset="2"/>
              <a:buNone/>
            </a:pPr>
            <a:r>
              <a:rPr lang="en-CA"/>
              <a:t>Efficiency/resilience/scalability of Fabric components </a:t>
            </a:r>
          </a:p>
          <a:p>
            <a:pPr marL="0" indent="0">
              <a:buFont typeface="Wingdings" panose="05000000000000000000" pitchFamily="2" charset="2"/>
              <a:buNone/>
            </a:pPr>
            <a:r>
              <a:rPr lang="en-CA"/>
              <a:t>Ease of use by users and developers</a:t>
            </a:r>
          </a:p>
        </p:txBody>
      </p:sp>
    </p:spTree>
    <p:extLst>
      <p:ext uri="{BB962C8B-B14F-4D97-AF65-F5344CB8AC3E}">
        <p14:creationId xmlns:p14="http://schemas.microsoft.com/office/powerpoint/2010/main" val="14389859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377FC8CC-BF48-4372-ADBD-E108291B94CD}"/>
              </a:ext>
            </a:extLst>
          </p:cNvPr>
          <p:cNvSpPr txBox="1">
            <a:spLocks/>
          </p:cNvSpPr>
          <p:nvPr/>
        </p:nvSpPr>
        <p:spPr>
          <a:xfrm>
            <a:off x="696001" y="213396"/>
            <a:ext cx="10800000" cy="717269"/>
          </a:xfrm>
          <a:prstGeom prst="rect">
            <a:avLst/>
          </a:prstGeom>
        </p:spPr>
        <p:txBody>
          <a:bodyPr anchor="b">
            <a:normAutofit/>
          </a:bodyPr>
          <a:lstStyle>
            <a:lvl1pPr algn="l" defTabSz="914377" rtl="0" eaLnBrk="1" latinLnBrk="0" hangingPunct="1">
              <a:lnSpc>
                <a:spcPct val="90000"/>
              </a:lnSpc>
              <a:spcBef>
                <a:spcPct val="0"/>
              </a:spcBef>
              <a:buNone/>
              <a:defRPr sz="4000" u="none" kern="1200" spc="-100" baseline="0">
                <a:solidFill>
                  <a:schemeClr val="accent6"/>
                </a:solidFill>
                <a:uFill>
                  <a:solidFill>
                    <a:schemeClr val="tx2">
                      <a:lumMod val="60000"/>
                      <a:lumOff val="40000"/>
                    </a:schemeClr>
                  </a:solidFill>
                </a:uFill>
                <a:latin typeface="+mj-lt"/>
                <a:ea typeface="Segoe UI Black" panose="020B0A02040204020203" pitchFamily="34" charset="0"/>
                <a:cs typeface="Segoe UI Light" panose="020B0502040204020203" pitchFamily="34" charset="0"/>
              </a:defRPr>
            </a:lvl1pPr>
          </a:lstStyle>
          <a:p>
            <a:pPr marL="0" marR="0" lvl="0" indent="0" algn="ctr" defTabSz="914377" rtl="0" eaLnBrk="1" fontAlgn="auto" latinLnBrk="0" hangingPunct="1">
              <a:lnSpc>
                <a:spcPct val="90000"/>
              </a:lnSpc>
              <a:spcBef>
                <a:spcPct val="0"/>
              </a:spcBef>
              <a:spcAft>
                <a:spcPts val="0"/>
              </a:spcAft>
              <a:buClrTx/>
              <a:buSzTx/>
              <a:buFontTx/>
              <a:buNone/>
              <a:tabLst/>
              <a:defRPr/>
            </a:pPr>
            <a:r>
              <a:rPr kumimoji="0" lang="en-US" sz="4000" b="0" i="0" u="none" strike="noStrike" kern="1200" cap="none" spc="-100" normalizeH="0" baseline="0" noProof="0">
                <a:ln>
                  <a:noFill/>
                </a:ln>
                <a:solidFill>
                  <a:srgbClr val="31849B"/>
                </a:solidFill>
                <a:effectLst/>
                <a:uLnTx/>
                <a:uFill>
                  <a:solidFill>
                    <a:srgbClr val="1F497D">
                      <a:lumMod val="60000"/>
                      <a:lumOff val="40000"/>
                    </a:srgbClr>
                  </a:solidFill>
                </a:uFill>
                <a:latin typeface="Segoe UI Semibold"/>
                <a:ea typeface="Segoe UI Black" panose="020B0A02040204020203" pitchFamily="34" charset="0"/>
                <a:cs typeface="Segoe UI Light" panose="020B0502040204020203" pitchFamily="34" charset="0"/>
              </a:rPr>
              <a:t>Fabric PoC - Set-up and team</a:t>
            </a:r>
          </a:p>
        </p:txBody>
      </p:sp>
      <p:sp>
        <p:nvSpPr>
          <p:cNvPr id="22" name="Content Placeholder 1">
            <a:extLst>
              <a:ext uri="{FF2B5EF4-FFF2-40B4-BE49-F238E27FC236}">
                <a16:creationId xmlns:a16="http://schemas.microsoft.com/office/drawing/2014/main" id="{C827DF1D-A93F-8E84-9C0C-D2DE0E70F7C3}"/>
              </a:ext>
            </a:extLst>
          </p:cNvPr>
          <p:cNvSpPr txBox="1">
            <a:spLocks/>
          </p:cNvSpPr>
          <p:nvPr/>
        </p:nvSpPr>
        <p:spPr>
          <a:xfrm>
            <a:off x="509791" y="600024"/>
            <a:ext cx="10986208" cy="4123509"/>
          </a:xfrm>
          <a:prstGeom prst="rect">
            <a:avLst/>
          </a:prstGeom>
        </p:spPr>
        <p:txBody>
          <a:bodyPr vert="horz" lIns="0" tIns="0" rIns="0" bIns="0" rtlCol="0" anchor="ctr" anchorCtr="0">
            <a:normAutofit/>
          </a:bodyPr>
          <a:lstStyle>
            <a:lvl1pPr marL="228594" indent="-228594" algn="l" defTabSz="914377" rtl="0" eaLnBrk="1" latinLnBrk="0" hangingPunct="1">
              <a:lnSpc>
                <a:spcPct val="90000"/>
              </a:lnSpc>
              <a:spcBef>
                <a:spcPts val="1800"/>
              </a:spcBef>
              <a:buFont typeface="Wingdings" panose="05000000000000000000" pitchFamily="2" charset="2"/>
              <a:buChar char="§"/>
              <a:defRPr sz="2600" kern="1200" spc="0" baseline="0">
                <a:solidFill>
                  <a:schemeClr val="tx1">
                    <a:lumMod val="75000"/>
                    <a:lumOff val="25000"/>
                  </a:schemeClr>
                </a:solidFill>
                <a:latin typeface="+mn-lt"/>
                <a:ea typeface="+mn-ea"/>
                <a:cs typeface="Segoe UI" panose="020B0502040204020203" pitchFamily="34" charset="0"/>
              </a:defRPr>
            </a:lvl1pPr>
            <a:lvl2pPr marL="450839" indent="-228594" algn="l" defTabSz="914377" rtl="0" eaLnBrk="1" latinLnBrk="0" hangingPunct="1">
              <a:lnSpc>
                <a:spcPct val="90000"/>
              </a:lnSpc>
              <a:spcBef>
                <a:spcPts val="600"/>
              </a:spcBef>
              <a:buFont typeface="Segoe UI" panose="020B0502040204020203" pitchFamily="34" charset="0"/>
              <a:buChar char="›"/>
              <a:defRPr sz="2200" kern="1200" spc="0">
                <a:solidFill>
                  <a:schemeClr val="tx1">
                    <a:lumMod val="75000"/>
                    <a:lumOff val="25000"/>
                  </a:schemeClr>
                </a:solidFill>
                <a:latin typeface="+mn-lt"/>
                <a:ea typeface="+mn-ea"/>
                <a:cs typeface="Segoe UI" panose="020B0502040204020203" pitchFamily="34" charset="0"/>
              </a:defRPr>
            </a:lvl2pPr>
            <a:lvl3pPr marL="714357" indent="-228594" algn="l" defTabSz="914377" rtl="0" eaLnBrk="1" latinLnBrk="0" hangingPunct="1">
              <a:lnSpc>
                <a:spcPct val="90000"/>
              </a:lnSpc>
              <a:spcBef>
                <a:spcPts val="300"/>
              </a:spcBef>
              <a:buFont typeface="Segoe UI" panose="020B0502040204020203" pitchFamily="34" charset="0"/>
              <a:buChar char="›"/>
              <a:defRPr sz="2000" kern="1200" spc="0">
                <a:solidFill>
                  <a:schemeClr val="tx1">
                    <a:lumMod val="75000"/>
                    <a:lumOff val="25000"/>
                  </a:schemeClr>
                </a:solidFill>
                <a:latin typeface="+mn-lt"/>
                <a:ea typeface="+mn-ea"/>
                <a:cs typeface="Segoe UI" panose="020B0502040204020203" pitchFamily="34" charset="0"/>
              </a:defRPr>
            </a:lvl3pPr>
            <a:lvl4pPr marL="985814" indent="-228594" algn="l" defTabSz="914377" rtl="0" eaLnBrk="1" latinLnBrk="0" hangingPunct="1">
              <a:lnSpc>
                <a:spcPct val="90000"/>
              </a:lnSpc>
              <a:spcBef>
                <a:spcPts val="0"/>
              </a:spcBef>
              <a:buFont typeface="Segoe UI" panose="020B0502040204020203" pitchFamily="34" charset="0"/>
              <a:buChar char="›"/>
              <a:defRPr sz="2000" kern="1200" spc="0">
                <a:solidFill>
                  <a:schemeClr val="tx1">
                    <a:lumMod val="75000"/>
                    <a:lumOff val="25000"/>
                  </a:schemeClr>
                </a:solidFill>
                <a:latin typeface="+mn-lt"/>
                <a:ea typeface="+mn-ea"/>
                <a:cs typeface="Segoe UI" panose="020B0502040204020203" pitchFamily="34" charset="0"/>
              </a:defRPr>
            </a:lvl4pPr>
            <a:lvl5pPr marL="1257269" indent="-228594" algn="l" defTabSz="914377" rtl="0" eaLnBrk="1" latinLnBrk="0" hangingPunct="1">
              <a:lnSpc>
                <a:spcPct val="90000"/>
              </a:lnSpc>
              <a:spcBef>
                <a:spcPts val="0"/>
              </a:spcBef>
              <a:buFont typeface="Segoe UI" panose="020B0502040204020203" pitchFamily="34" charset="0"/>
              <a:buChar char="›"/>
              <a:defRPr sz="2000" kern="1200" spc="0">
                <a:solidFill>
                  <a:schemeClr val="tx1">
                    <a:lumMod val="75000"/>
                    <a:lumOff val="25000"/>
                  </a:schemeClr>
                </a:solidFill>
                <a:latin typeface="+mn-lt"/>
                <a:ea typeface="+mn-ea"/>
                <a:cs typeface="Segoe UI" panose="020B0502040204020203"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a:buFont typeface="+mj-lt"/>
              <a:buAutoNum type="arabicPeriod"/>
            </a:pPr>
            <a:r>
              <a:rPr lang="en-CA" sz="2000"/>
              <a:t>The user strictly works 100% in Fabric Workspace (i.e. not Databricks)</a:t>
            </a:r>
          </a:p>
          <a:p>
            <a:pPr marL="514350" indent="-514350">
              <a:buFont typeface="+mj-lt"/>
              <a:buAutoNum type="arabicPeriod"/>
            </a:pPr>
            <a:r>
              <a:rPr lang="en-CA" sz="2000"/>
              <a:t>The user can leverage all Fabric available tools to do its work</a:t>
            </a:r>
          </a:p>
          <a:p>
            <a:pPr lvl="2"/>
            <a:r>
              <a:rPr lang="en-CA" sz="1800"/>
              <a:t>Pipelines</a:t>
            </a:r>
          </a:p>
          <a:p>
            <a:pPr lvl="2"/>
            <a:r>
              <a:rPr lang="en-CA" sz="1800"/>
              <a:t>Notebooks</a:t>
            </a:r>
          </a:p>
          <a:p>
            <a:pPr lvl="2"/>
            <a:r>
              <a:rPr lang="en-CA" sz="1800" err="1"/>
              <a:t>Onelake</a:t>
            </a:r>
            <a:r>
              <a:rPr lang="en-CA" sz="1800"/>
              <a:t> file explorer</a:t>
            </a:r>
          </a:p>
          <a:p>
            <a:pPr lvl="2"/>
            <a:r>
              <a:rPr lang="en-CA" sz="1800"/>
              <a:t>Data activators</a:t>
            </a:r>
          </a:p>
          <a:p>
            <a:pPr lvl="2"/>
            <a:r>
              <a:rPr lang="en-CA" sz="1800"/>
              <a:t>Dev ops integration</a:t>
            </a:r>
          </a:p>
          <a:p>
            <a:pPr marL="514350" indent="-514350">
              <a:buFont typeface="+mj-lt"/>
              <a:buAutoNum type="arabicPeriod"/>
            </a:pPr>
            <a:r>
              <a:rPr lang="en-CA" sz="2000"/>
              <a:t>Triton managed datasets are served to users from a Fabric Lakehouse</a:t>
            </a:r>
          </a:p>
          <a:p>
            <a:pPr lvl="1"/>
            <a:endParaRPr lang="en-CA" sz="1600"/>
          </a:p>
        </p:txBody>
      </p:sp>
      <p:sp>
        <p:nvSpPr>
          <p:cNvPr id="5" name="Content Placeholder 1">
            <a:extLst>
              <a:ext uri="{FF2B5EF4-FFF2-40B4-BE49-F238E27FC236}">
                <a16:creationId xmlns:a16="http://schemas.microsoft.com/office/drawing/2014/main" id="{D53A1BE4-47D4-FD4B-8FB0-1F3B0EB7CDF4}"/>
              </a:ext>
            </a:extLst>
          </p:cNvPr>
          <p:cNvSpPr txBox="1">
            <a:spLocks/>
          </p:cNvSpPr>
          <p:nvPr/>
        </p:nvSpPr>
        <p:spPr>
          <a:xfrm>
            <a:off x="6376245" y="4131941"/>
            <a:ext cx="2300420" cy="1515760"/>
          </a:xfrm>
          <a:prstGeom prst="rect">
            <a:avLst/>
          </a:prstGeom>
        </p:spPr>
        <p:txBody>
          <a:bodyPr vert="horz" lIns="0" tIns="0" rIns="0" bIns="0" rtlCol="0" anchor="ctr" anchorCtr="0">
            <a:normAutofit/>
          </a:bodyPr>
          <a:lstStyle>
            <a:lvl1pPr marL="228594" indent="-228594" algn="l" defTabSz="914377" rtl="0" eaLnBrk="1" latinLnBrk="0" hangingPunct="1">
              <a:lnSpc>
                <a:spcPct val="90000"/>
              </a:lnSpc>
              <a:spcBef>
                <a:spcPts val="1800"/>
              </a:spcBef>
              <a:buFont typeface="Wingdings" panose="05000000000000000000" pitchFamily="2" charset="2"/>
              <a:buChar char="§"/>
              <a:defRPr sz="2600" kern="1200" spc="0" baseline="0">
                <a:solidFill>
                  <a:schemeClr val="tx1">
                    <a:lumMod val="75000"/>
                    <a:lumOff val="25000"/>
                  </a:schemeClr>
                </a:solidFill>
                <a:latin typeface="+mn-lt"/>
                <a:ea typeface="+mn-ea"/>
                <a:cs typeface="Segoe UI" panose="020B0502040204020203" pitchFamily="34" charset="0"/>
              </a:defRPr>
            </a:lvl1pPr>
            <a:lvl2pPr marL="450839" indent="-228594" algn="l" defTabSz="914377" rtl="0" eaLnBrk="1" latinLnBrk="0" hangingPunct="1">
              <a:lnSpc>
                <a:spcPct val="90000"/>
              </a:lnSpc>
              <a:spcBef>
                <a:spcPts val="600"/>
              </a:spcBef>
              <a:buFont typeface="Segoe UI" panose="020B0502040204020203" pitchFamily="34" charset="0"/>
              <a:buChar char="›"/>
              <a:defRPr sz="2200" kern="1200" spc="0">
                <a:solidFill>
                  <a:schemeClr val="tx1">
                    <a:lumMod val="75000"/>
                    <a:lumOff val="25000"/>
                  </a:schemeClr>
                </a:solidFill>
                <a:latin typeface="+mn-lt"/>
                <a:ea typeface="+mn-ea"/>
                <a:cs typeface="Segoe UI" panose="020B0502040204020203" pitchFamily="34" charset="0"/>
              </a:defRPr>
            </a:lvl2pPr>
            <a:lvl3pPr marL="714357" indent="-228594" algn="l" defTabSz="914377" rtl="0" eaLnBrk="1" latinLnBrk="0" hangingPunct="1">
              <a:lnSpc>
                <a:spcPct val="90000"/>
              </a:lnSpc>
              <a:spcBef>
                <a:spcPts val="300"/>
              </a:spcBef>
              <a:buFont typeface="Segoe UI" panose="020B0502040204020203" pitchFamily="34" charset="0"/>
              <a:buChar char="›"/>
              <a:defRPr sz="2000" kern="1200" spc="0">
                <a:solidFill>
                  <a:schemeClr val="tx1">
                    <a:lumMod val="75000"/>
                    <a:lumOff val="25000"/>
                  </a:schemeClr>
                </a:solidFill>
                <a:latin typeface="+mn-lt"/>
                <a:ea typeface="+mn-ea"/>
                <a:cs typeface="Segoe UI" panose="020B0502040204020203" pitchFamily="34" charset="0"/>
              </a:defRPr>
            </a:lvl3pPr>
            <a:lvl4pPr marL="985814" indent="-228594" algn="l" defTabSz="914377" rtl="0" eaLnBrk="1" latinLnBrk="0" hangingPunct="1">
              <a:lnSpc>
                <a:spcPct val="90000"/>
              </a:lnSpc>
              <a:spcBef>
                <a:spcPts val="0"/>
              </a:spcBef>
              <a:buFont typeface="Segoe UI" panose="020B0502040204020203" pitchFamily="34" charset="0"/>
              <a:buChar char="›"/>
              <a:defRPr sz="2000" kern="1200" spc="0">
                <a:solidFill>
                  <a:schemeClr val="tx1">
                    <a:lumMod val="75000"/>
                    <a:lumOff val="25000"/>
                  </a:schemeClr>
                </a:solidFill>
                <a:latin typeface="+mn-lt"/>
                <a:ea typeface="+mn-ea"/>
                <a:cs typeface="Segoe UI" panose="020B0502040204020203" pitchFamily="34" charset="0"/>
              </a:defRPr>
            </a:lvl4pPr>
            <a:lvl5pPr marL="1257269" indent="-228594" algn="l" defTabSz="914377" rtl="0" eaLnBrk="1" latinLnBrk="0" hangingPunct="1">
              <a:lnSpc>
                <a:spcPct val="90000"/>
              </a:lnSpc>
              <a:spcBef>
                <a:spcPts val="0"/>
              </a:spcBef>
              <a:buFont typeface="Segoe UI" panose="020B0502040204020203" pitchFamily="34" charset="0"/>
              <a:buChar char="›"/>
              <a:defRPr sz="2000" kern="1200" spc="0">
                <a:solidFill>
                  <a:schemeClr val="tx1">
                    <a:lumMod val="75000"/>
                    <a:lumOff val="25000"/>
                  </a:schemeClr>
                </a:solidFill>
                <a:latin typeface="+mn-lt"/>
                <a:ea typeface="+mn-ea"/>
                <a:cs typeface="Segoe UI" panose="020B0502040204020203"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2245" lvl="1" indent="0" algn="ctr">
              <a:buNone/>
            </a:pPr>
            <a:r>
              <a:rPr lang="en-CA" sz="1600" b="1"/>
              <a:t>External consultants</a:t>
            </a:r>
            <a:br>
              <a:rPr lang="en-CA" sz="1600"/>
            </a:br>
            <a:r>
              <a:rPr lang="en-CA" sz="1600"/>
              <a:t>Mohamed</a:t>
            </a:r>
          </a:p>
          <a:p>
            <a:pPr marL="222245" lvl="1" indent="0" algn="ctr">
              <a:buNone/>
            </a:pPr>
            <a:r>
              <a:rPr lang="en-CA" sz="1600"/>
              <a:t>Vibha</a:t>
            </a:r>
          </a:p>
        </p:txBody>
      </p:sp>
      <p:sp>
        <p:nvSpPr>
          <p:cNvPr id="6" name="Content Placeholder 1">
            <a:extLst>
              <a:ext uri="{FF2B5EF4-FFF2-40B4-BE49-F238E27FC236}">
                <a16:creationId xmlns:a16="http://schemas.microsoft.com/office/drawing/2014/main" id="{EAC6C7D8-CEA3-6B30-A10B-A644F68D8A21}"/>
              </a:ext>
            </a:extLst>
          </p:cNvPr>
          <p:cNvSpPr txBox="1">
            <a:spLocks/>
          </p:cNvSpPr>
          <p:nvPr/>
        </p:nvSpPr>
        <p:spPr>
          <a:xfrm>
            <a:off x="4146177" y="4451255"/>
            <a:ext cx="1949823" cy="1317812"/>
          </a:xfrm>
          <a:prstGeom prst="rect">
            <a:avLst/>
          </a:prstGeom>
        </p:spPr>
        <p:txBody>
          <a:bodyPr vert="horz" lIns="0" tIns="0" rIns="0" bIns="0" rtlCol="0" anchor="ctr" anchorCtr="0">
            <a:normAutofit/>
          </a:bodyPr>
          <a:lstStyle>
            <a:lvl1pPr marL="228594" indent="-228594" algn="l" defTabSz="914377" rtl="0" eaLnBrk="1" latinLnBrk="0" hangingPunct="1">
              <a:lnSpc>
                <a:spcPct val="90000"/>
              </a:lnSpc>
              <a:spcBef>
                <a:spcPts val="1800"/>
              </a:spcBef>
              <a:buFont typeface="Wingdings" panose="05000000000000000000" pitchFamily="2" charset="2"/>
              <a:buChar char="§"/>
              <a:defRPr sz="2600" kern="1200" spc="0" baseline="0">
                <a:solidFill>
                  <a:schemeClr val="tx1">
                    <a:lumMod val="75000"/>
                    <a:lumOff val="25000"/>
                  </a:schemeClr>
                </a:solidFill>
                <a:latin typeface="+mn-lt"/>
                <a:ea typeface="+mn-ea"/>
                <a:cs typeface="Segoe UI" panose="020B0502040204020203" pitchFamily="34" charset="0"/>
              </a:defRPr>
            </a:lvl1pPr>
            <a:lvl2pPr marL="450839" indent="-228594" algn="l" defTabSz="914377" rtl="0" eaLnBrk="1" latinLnBrk="0" hangingPunct="1">
              <a:lnSpc>
                <a:spcPct val="90000"/>
              </a:lnSpc>
              <a:spcBef>
                <a:spcPts val="600"/>
              </a:spcBef>
              <a:buFont typeface="Segoe UI" panose="020B0502040204020203" pitchFamily="34" charset="0"/>
              <a:buChar char="›"/>
              <a:defRPr sz="2200" kern="1200" spc="0">
                <a:solidFill>
                  <a:schemeClr val="tx1">
                    <a:lumMod val="75000"/>
                    <a:lumOff val="25000"/>
                  </a:schemeClr>
                </a:solidFill>
                <a:latin typeface="+mn-lt"/>
                <a:ea typeface="+mn-ea"/>
                <a:cs typeface="Segoe UI" panose="020B0502040204020203" pitchFamily="34" charset="0"/>
              </a:defRPr>
            </a:lvl2pPr>
            <a:lvl3pPr marL="714357" indent="-228594" algn="l" defTabSz="914377" rtl="0" eaLnBrk="1" latinLnBrk="0" hangingPunct="1">
              <a:lnSpc>
                <a:spcPct val="90000"/>
              </a:lnSpc>
              <a:spcBef>
                <a:spcPts val="300"/>
              </a:spcBef>
              <a:buFont typeface="Segoe UI" panose="020B0502040204020203" pitchFamily="34" charset="0"/>
              <a:buChar char="›"/>
              <a:defRPr sz="2000" kern="1200" spc="0">
                <a:solidFill>
                  <a:schemeClr val="tx1">
                    <a:lumMod val="75000"/>
                    <a:lumOff val="25000"/>
                  </a:schemeClr>
                </a:solidFill>
                <a:latin typeface="+mn-lt"/>
                <a:ea typeface="+mn-ea"/>
                <a:cs typeface="Segoe UI" panose="020B0502040204020203" pitchFamily="34" charset="0"/>
              </a:defRPr>
            </a:lvl3pPr>
            <a:lvl4pPr marL="985814" indent="-228594" algn="l" defTabSz="914377" rtl="0" eaLnBrk="1" latinLnBrk="0" hangingPunct="1">
              <a:lnSpc>
                <a:spcPct val="90000"/>
              </a:lnSpc>
              <a:spcBef>
                <a:spcPts val="0"/>
              </a:spcBef>
              <a:buFont typeface="Segoe UI" panose="020B0502040204020203" pitchFamily="34" charset="0"/>
              <a:buChar char="›"/>
              <a:defRPr sz="2000" kern="1200" spc="0">
                <a:solidFill>
                  <a:schemeClr val="tx1">
                    <a:lumMod val="75000"/>
                    <a:lumOff val="25000"/>
                  </a:schemeClr>
                </a:solidFill>
                <a:latin typeface="+mn-lt"/>
                <a:ea typeface="+mn-ea"/>
                <a:cs typeface="Segoe UI" panose="020B0502040204020203" pitchFamily="34" charset="0"/>
              </a:defRPr>
            </a:lvl4pPr>
            <a:lvl5pPr marL="1257269" indent="-228594" algn="l" defTabSz="914377" rtl="0" eaLnBrk="1" latinLnBrk="0" hangingPunct="1">
              <a:lnSpc>
                <a:spcPct val="90000"/>
              </a:lnSpc>
              <a:spcBef>
                <a:spcPts val="0"/>
              </a:spcBef>
              <a:buFont typeface="Segoe UI" panose="020B0502040204020203" pitchFamily="34" charset="0"/>
              <a:buChar char="›"/>
              <a:defRPr sz="2000" kern="1200" spc="0">
                <a:solidFill>
                  <a:schemeClr val="tx1">
                    <a:lumMod val="75000"/>
                    <a:lumOff val="25000"/>
                  </a:schemeClr>
                </a:solidFill>
                <a:latin typeface="+mn-lt"/>
                <a:ea typeface="+mn-ea"/>
                <a:cs typeface="Segoe UI" panose="020B0502040204020203"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2245" lvl="1" indent="0" algn="ctr">
              <a:buNone/>
            </a:pPr>
            <a:r>
              <a:rPr lang="en-CA" sz="1600" b="1"/>
              <a:t>ITS/IDAS</a:t>
            </a:r>
          </a:p>
          <a:p>
            <a:pPr marL="222245" lvl="1" indent="0" algn="ctr">
              <a:buNone/>
            </a:pPr>
            <a:r>
              <a:rPr lang="en-CA" sz="1600"/>
              <a:t>Pavel</a:t>
            </a:r>
          </a:p>
          <a:p>
            <a:pPr marL="222245" lvl="1" indent="0" algn="ctr">
              <a:buNone/>
            </a:pPr>
            <a:r>
              <a:rPr lang="en-CA" sz="1600"/>
              <a:t>Frank</a:t>
            </a:r>
          </a:p>
          <a:p>
            <a:pPr marL="222245" lvl="1" indent="0" algn="ctr">
              <a:buNone/>
            </a:pPr>
            <a:r>
              <a:rPr lang="en-CA" sz="1600"/>
              <a:t>Gabrielle</a:t>
            </a:r>
          </a:p>
        </p:txBody>
      </p:sp>
      <p:sp>
        <p:nvSpPr>
          <p:cNvPr id="7" name="Content Placeholder 1">
            <a:extLst>
              <a:ext uri="{FF2B5EF4-FFF2-40B4-BE49-F238E27FC236}">
                <a16:creationId xmlns:a16="http://schemas.microsoft.com/office/drawing/2014/main" id="{6CF4B947-D569-058F-00AE-1B6DB95FEFD3}"/>
              </a:ext>
            </a:extLst>
          </p:cNvPr>
          <p:cNvSpPr txBox="1">
            <a:spLocks/>
          </p:cNvSpPr>
          <p:nvPr/>
        </p:nvSpPr>
        <p:spPr>
          <a:xfrm>
            <a:off x="1718047" y="4988795"/>
            <a:ext cx="1949823" cy="1317812"/>
          </a:xfrm>
          <a:prstGeom prst="rect">
            <a:avLst/>
          </a:prstGeom>
        </p:spPr>
        <p:txBody>
          <a:bodyPr vert="horz" lIns="0" tIns="0" rIns="0" bIns="0" rtlCol="0" anchor="ctr" anchorCtr="0">
            <a:noAutofit/>
          </a:bodyPr>
          <a:lstStyle>
            <a:lvl1pPr marL="228594" indent="-228594" algn="l" defTabSz="914377" rtl="0" eaLnBrk="1" latinLnBrk="0" hangingPunct="1">
              <a:lnSpc>
                <a:spcPct val="90000"/>
              </a:lnSpc>
              <a:spcBef>
                <a:spcPts val="1800"/>
              </a:spcBef>
              <a:buFont typeface="Wingdings" panose="05000000000000000000" pitchFamily="2" charset="2"/>
              <a:buChar char="§"/>
              <a:defRPr sz="2600" kern="1200" spc="0" baseline="0">
                <a:solidFill>
                  <a:schemeClr val="tx1">
                    <a:lumMod val="75000"/>
                    <a:lumOff val="25000"/>
                  </a:schemeClr>
                </a:solidFill>
                <a:latin typeface="+mn-lt"/>
                <a:ea typeface="+mn-ea"/>
                <a:cs typeface="Segoe UI" panose="020B0502040204020203" pitchFamily="34" charset="0"/>
              </a:defRPr>
            </a:lvl1pPr>
            <a:lvl2pPr marL="450839" indent="-228594" algn="l" defTabSz="914377" rtl="0" eaLnBrk="1" latinLnBrk="0" hangingPunct="1">
              <a:lnSpc>
                <a:spcPct val="90000"/>
              </a:lnSpc>
              <a:spcBef>
                <a:spcPts val="600"/>
              </a:spcBef>
              <a:buFont typeface="Segoe UI" panose="020B0502040204020203" pitchFamily="34" charset="0"/>
              <a:buChar char="›"/>
              <a:defRPr sz="2200" kern="1200" spc="0">
                <a:solidFill>
                  <a:schemeClr val="tx1">
                    <a:lumMod val="75000"/>
                    <a:lumOff val="25000"/>
                  </a:schemeClr>
                </a:solidFill>
                <a:latin typeface="+mn-lt"/>
                <a:ea typeface="+mn-ea"/>
                <a:cs typeface="Segoe UI" panose="020B0502040204020203" pitchFamily="34" charset="0"/>
              </a:defRPr>
            </a:lvl2pPr>
            <a:lvl3pPr marL="714357" indent="-228594" algn="l" defTabSz="914377" rtl="0" eaLnBrk="1" latinLnBrk="0" hangingPunct="1">
              <a:lnSpc>
                <a:spcPct val="90000"/>
              </a:lnSpc>
              <a:spcBef>
                <a:spcPts val="300"/>
              </a:spcBef>
              <a:buFont typeface="Segoe UI" panose="020B0502040204020203" pitchFamily="34" charset="0"/>
              <a:buChar char="›"/>
              <a:defRPr sz="2000" kern="1200" spc="0">
                <a:solidFill>
                  <a:schemeClr val="tx1">
                    <a:lumMod val="75000"/>
                    <a:lumOff val="25000"/>
                  </a:schemeClr>
                </a:solidFill>
                <a:latin typeface="+mn-lt"/>
                <a:ea typeface="+mn-ea"/>
                <a:cs typeface="Segoe UI" panose="020B0502040204020203" pitchFamily="34" charset="0"/>
              </a:defRPr>
            </a:lvl3pPr>
            <a:lvl4pPr marL="985814" indent="-228594" algn="l" defTabSz="914377" rtl="0" eaLnBrk="1" latinLnBrk="0" hangingPunct="1">
              <a:lnSpc>
                <a:spcPct val="90000"/>
              </a:lnSpc>
              <a:spcBef>
                <a:spcPts val="0"/>
              </a:spcBef>
              <a:buFont typeface="Segoe UI" panose="020B0502040204020203" pitchFamily="34" charset="0"/>
              <a:buChar char="›"/>
              <a:defRPr sz="2000" kern="1200" spc="0">
                <a:solidFill>
                  <a:schemeClr val="tx1">
                    <a:lumMod val="75000"/>
                    <a:lumOff val="25000"/>
                  </a:schemeClr>
                </a:solidFill>
                <a:latin typeface="+mn-lt"/>
                <a:ea typeface="+mn-ea"/>
                <a:cs typeface="Segoe UI" panose="020B0502040204020203" pitchFamily="34" charset="0"/>
              </a:defRPr>
            </a:lvl4pPr>
            <a:lvl5pPr marL="1257269" indent="-228594" algn="l" defTabSz="914377" rtl="0" eaLnBrk="1" latinLnBrk="0" hangingPunct="1">
              <a:lnSpc>
                <a:spcPct val="90000"/>
              </a:lnSpc>
              <a:spcBef>
                <a:spcPts val="0"/>
              </a:spcBef>
              <a:buFont typeface="Segoe UI" panose="020B0502040204020203" pitchFamily="34" charset="0"/>
              <a:buChar char="›"/>
              <a:defRPr sz="2000" kern="1200" spc="0">
                <a:solidFill>
                  <a:schemeClr val="tx1">
                    <a:lumMod val="75000"/>
                    <a:lumOff val="25000"/>
                  </a:schemeClr>
                </a:solidFill>
                <a:latin typeface="+mn-lt"/>
                <a:ea typeface="+mn-ea"/>
                <a:cs typeface="Segoe UI" panose="020B0502040204020203"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2245" lvl="1" indent="0" algn="ctr">
              <a:buNone/>
            </a:pPr>
            <a:r>
              <a:rPr lang="en-CA" sz="1600" b="1"/>
              <a:t>FMDA</a:t>
            </a:r>
          </a:p>
          <a:p>
            <a:pPr marL="222245" lvl="1" indent="0" algn="ctr">
              <a:buNone/>
            </a:pPr>
            <a:r>
              <a:rPr lang="en-CA" sz="1600"/>
              <a:t>Max</a:t>
            </a:r>
          </a:p>
          <a:p>
            <a:pPr marL="222245" lvl="1" indent="0" algn="ctr">
              <a:buNone/>
            </a:pPr>
            <a:r>
              <a:rPr lang="en-CA" sz="1600"/>
              <a:t>Luke</a:t>
            </a:r>
          </a:p>
          <a:p>
            <a:pPr marL="222245" lvl="1" indent="0" algn="ctr">
              <a:buNone/>
            </a:pPr>
            <a:r>
              <a:rPr lang="en-CA" sz="1600" err="1"/>
              <a:t>Mohib</a:t>
            </a:r>
            <a:endParaRPr lang="en-CA" sz="1600"/>
          </a:p>
          <a:p>
            <a:pPr marL="222245" lvl="1" indent="0" algn="ctr">
              <a:buNone/>
            </a:pPr>
            <a:r>
              <a:rPr lang="en-CA" sz="1600"/>
              <a:t>Chris</a:t>
            </a:r>
            <a:br>
              <a:rPr lang="en-CA" sz="1600"/>
            </a:br>
            <a:br>
              <a:rPr lang="en-CA" sz="1600"/>
            </a:br>
            <a:endParaRPr lang="en-CA" sz="1600"/>
          </a:p>
          <a:p>
            <a:pPr marL="222245" lvl="1" indent="0" algn="ctr">
              <a:buNone/>
            </a:pPr>
            <a:endParaRPr lang="en-CA" sz="1600"/>
          </a:p>
        </p:txBody>
      </p:sp>
    </p:spTree>
    <p:extLst>
      <p:ext uri="{BB962C8B-B14F-4D97-AF65-F5344CB8AC3E}">
        <p14:creationId xmlns:p14="http://schemas.microsoft.com/office/powerpoint/2010/main" val="24539989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 name="Rectangle 258">
            <a:extLst>
              <a:ext uri="{FF2B5EF4-FFF2-40B4-BE49-F238E27FC236}">
                <a16:creationId xmlns:a16="http://schemas.microsoft.com/office/drawing/2014/main" id="{2330CF74-34F9-CE79-4CAC-53E5309FC913}"/>
              </a:ext>
            </a:extLst>
          </p:cNvPr>
          <p:cNvSpPr/>
          <p:nvPr/>
        </p:nvSpPr>
        <p:spPr>
          <a:xfrm>
            <a:off x="1938206" y="1407329"/>
            <a:ext cx="7436571" cy="2089967"/>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6772" tIns="63386" rIns="126772" bIns="63386" numCol="1" spcCol="0" rtlCol="0" fromWordArt="0" anchor="ctr" anchorCtr="0" forceAA="0" compatLnSpc="1">
            <a:prstTxWarp prst="textNoShape">
              <a:avLst/>
            </a:prstTxWarp>
            <a:no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3330" b="0" i="0" u="none" strike="noStrike" kern="1200" cap="none" spc="0" normalizeH="0" baseline="0" noProof="0">
              <a:ln>
                <a:noFill/>
              </a:ln>
              <a:solidFill>
                <a:prstClr val="white"/>
              </a:solidFill>
              <a:effectLst/>
              <a:uLnTx/>
              <a:uFillTx/>
              <a:latin typeface="Segoe UI"/>
              <a:ea typeface="+mn-ea"/>
              <a:cs typeface="+mn-cs"/>
            </a:endParaRPr>
          </a:p>
        </p:txBody>
      </p:sp>
      <p:sp>
        <p:nvSpPr>
          <p:cNvPr id="480" name="Rectangle 479">
            <a:extLst>
              <a:ext uri="{FF2B5EF4-FFF2-40B4-BE49-F238E27FC236}">
                <a16:creationId xmlns:a16="http://schemas.microsoft.com/office/drawing/2014/main" id="{72B2E651-E407-07E4-D7F8-F5A5680FE77E}"/>
              </a:ext>
            </a:extLst>
          </p:cNvPr>
          <p:cNvSpPr/>
          <p:nvPr/>
        </p:nvSpPr>
        <p:spPr>
          <a:xfrm>
            <a:off x="5974284" y="4826684"/>
            <a:ext cx="3489259" cy="1655800"/>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6772" tIns="63386" rIns="126772" bIns="63386" numCol="1" spcCol="0" rtlCol="0" fromWordArt="0" anchor="ctr" anchorCtr="0" forceAA="0" compatLnSpc="1">
            <a:prstTxWarp prst="textNoShape">
              <a:avLst/>
            </a:prstTxWarp>
            <a:no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3330" b="0" i="0" u="none" strike="noStrike" kern="1200" cap="none" spc="0" normalizeH="0" baseline="0" noProof="0">
              <a:ln>
                <a:noFill/>
              </a:ln>
              <a:solidFill>
                <a:prstClr val="white"/>
              </a:solidFill>
              <a:effectLst/>
              <a:uLnTx/>
              <a:uFillTx/>
              <a:latin typeface="Segoe UI"/>
              <a:ea typeface="+mn-ea"/>
              <a:cs typeface="+mn-cs"/>
            </a:endParaRPr>
          </a:p>
        </p:txBody>
      </p:sp>
      <p:sp>
        <p:nvSpPr>
          <p:cNvPr id="267" name="AutoShape 49">
            <a:extLst>
              <a:ext uri="{FF2B5EF4-FFF2-40B4-BE49-F238E27FC236}">
                <a16:creationId xmlns:a16="http://schemas.microsoft.com/office/drawing/2014/main" id="{518F50F5-CA37-996B-4C39-B8F4F8AB860C}"/>
              </a:ext>
            </a:extLst>
          </p:cNvPr>
          <p:cNvSpPr>
            <a:spLocks noChangeAspect="1" noChangeArrowheads="1" noTextEdit="1"/>
          </p:cNvSpPr>
          <p:nvPr/>
        </p:nvSpPr>
        <p:spPr bwMode="auto">
          <a:xfrm>
            <a:off x="9463543" y="789752"/>
            <a:ext cx="325437" cy="40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black"/>
              </a:solidFill>
              <a:effectLst/>
              <a:uLnTx/>
              <a:uFillTx/>
              <a:latin typeface="Segoe UI"/>
              <a:ea typeface="+mn-ea"/>
              <a:cs typeface="+mn-cs"/>
            </a:endParaRPr>
          </a:p>
        </p:txBody>
      </p:sp>
      <p:sp>
        <p:nvSpPr>
          <p:cNvPr id="425" name="AutoShape 49">
            <a:extLst>
              <a:ext uri="{FF2B5EF4-FFF2-40B4-BE49-F238E27FC236}">
                <a16:creationId xmlns:a16="http://schemas.microsoft.com/office/drawing/2014/main" id="{3D7D78BA-8043-30DF-7C86-86280525640E}"/>
              </a:ext>
            </a:extLst>
          </p:cNvPr>
          <p:cNvSpPr>
            <a:spLocks noChangeAspect="1" noChangeArrowheads="1" noTextEdit="1"/>
          </p:cNvSpPr>
          <p:nvPr/>
        </p:nvSpPr>
        <p:spPr bwMode="auto">
          <a:xfrm>
            <a:off x="11460156" y="802798"/>
            <a:ext cx="325437" cy="40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black"/>
              </a:solidFill>
              <a:effectLst/>
              <a:uLnTx/>
              <a:uFillTx/>
              <a:latin typeface="Segoe UI"/>
              <a:ea typeface="+mn-ea"/>
              <a:cs typeface="+mn-cs"/>
            </a:endParaRPr>
          </a:p>
        </p:txBody>
      </p:sp>
      <p:pic>
        <p:nvPicPr>
          <p:cNvPr id="304" name="Graphic 303" descr="Man with facial hair">
            <a:extLst>
              <a:ext uri="{FF2B5EF4-FFF2-40B4-BE49-F238E27FC236}">
                <a16:creationId xmlns:a16="http://schemas.microsoft.com/office/drawing/2014/main" id="{3EED1409-1F14-8F29-134D-7502BC4B4DAA}"/>
              </a:ext>
            </a:extLst>
          </p:cNvPr>
          <p:cNvPicPr>
            <a:picLocks noChangeAspect="1"/>
          </p:cNvPicPr>
          <p:nvPr/>
        </p:nvPicPr>
        <p:blipFill>
          <a:blip r:embed="rId3" cstate="screen">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83840" y="2334421"/>
            <a:ext cx="600281" cy="813424"/>
          </a:xfrm>
          <a:prstGeom prst="rect">
            <a:avLst/>
          </a:prstGeom>
        </p:spPr>
      </p:pic>
      <p:sp>
        <p:nvSpPr>
          <p:cNvPr id="307" name="Title 1">
            <a:extLst>
              <a:ext uri="{FF2B5EF4-FFF2-40B4-BE49-F238E27FC236}">
                <a16:creationId xmlns:a16="http://schemas.microsoft.com/office/drawing/2014/main" id="{E3D99521-CF72-9E50-9D16-F68C16516B27}"/>
              </a:ext>
            </a:extLst>
          </p:cNvPr>
          <p:cNvSpPr txBox="1">
            <a:spLocks/>
          </p:cNvSpPr>
          <p:nvPr/>
        </p:nvSpPr>
        <p:spPr>
          <a:xfrm>
            <a:off x="824038" y="71495"/>
            <a:ext cx="10800000" cy="717269"/>
          </a:xfrm>
          <a:prstGeom prst="rect">
            <a:avLst/>
          </a:prstGeom>
        </p:spPr>
        <p:txBody>
          <a:bodyPr lIns="91440" tIns="45720" rIns="91440" bIns="45720" anchor="b">
            <a:normAutofit/>
          </a:bodyPr>
          <a:lstStyle>
            <a:lvl1pPr algn="l" defTabSz="914377" rtl="0" eaLnBrk="1" latinLnBrk="0" hangingPunct="1">
              <a:lnSpc>
                <a:spcPct val="90000"/>
              </a:lnSpc>
              <a:spcBef>
                <a:spcPct val="0"/>
              </a:spcBef>
              <a:buNone/>
              <a:defRPr sz="4000" u="none" kern="1200" spc="-100" baseline="0">
                <a:solidFill>
                  <a:schemeClr val="accent6"/>
                </a:solidFill>
                <a:uFill>
                  <a:solidFill>
                    <a:schemeClr val="tx2">
                      <a:lumMod val="60000"/>
                      <a:lumOff val="40000"/>
                    </a:schemeClr>
                  </a:solidFill>
                </a:uFill>
                <a:latin typeface="+mj-lt"/>
                <a:ea typeface="Segoe UI Black" panose="020B0A02040204020203" pitchFamily="34" charset="0"/>
                <a:cs typeface="Segoe UI Light" panose="020B0502040204020203" pitchFamily="34" charset="0"/>
              </a:defRPr>
            </a:lvl1pPr>
          </a:lstStyle>
          <a:p>
            <a:pPr algn="ctr">
              <a:defRPr/>
            </a:pPr>
            <a:r>
              <a:rPr lang="en-US" sz="2800">
                <a:solidFill>
                  <a:srgbClr val="31849B"/>
                </a:solidFill>
                <a:uFill>
                  <a:solidFill>
                    <a:srgbClr val="1F497D">
                      <a:lumMod val="60000"/>
                      <a:lumOff val="40000"/>
                    </a:srgbClr>
                  </a:solidFill>
                </a:uFill>
                <a:latin typeface="Segoe UI Semibold"/>
                <a:ea typeface="Segoe UI Black"/>
                <a:cs typeface="Segoe UI Light"/>
              </a:rPr>
              <a:t>PoC of triton user workflow using Fabric</a:t>
            </a:r>
            <a:endParaRPr lang="en-CA" sz="2800">
              <a:solidFill>
                <a:srgbClr val="31849B"/>
              </a:solidFill>
              <a:uFill>
                <a:solidFill>
                  <a:srgbClr val="1F497D">
                    <a:lumMod val="60000"/>
                    <a:lumOff val="40000"/>
                  </a:srgbClr>
                </a:solidFill>
              </a:uFill>
              <a:latin typeface="Segoe UI Semibold"/>
              <a:ea typeface="Segoe UI Black"/>
              <a:cs typeface="Segoe UI Light"/>
            </a:endParaRPr>
          </a:p>
        </p:txBody>
      </p:sp>
      <p:sp>
        <p:nvSpPr>
          <p:cNvPr id="25" name="TextBox 24">
            <a:extLst>
              <a:ext uri="{FF2B5EF4-FFF2-40B4-BE49-F238E27FC236}">
                <a16:creationId xmlns:a16="http://schemas.microsoft.com/office/drawing/2014/main" id="{F5E75F20-ADD1-C822-352D-B66661E02307}"/>
              </a:ext>
            </a:extLst>
          </p:cNvPr>
          <p:cNvSpPr txBox="1"/>
          <p:nvPr/>
        </p:nvSpPr>
        <p:spPr>
          <a:xfrm>
            <a:off x="262875" y="5450048"/>
            <a:ext cx="1406482" cy="738664"/>
          </a:xfrm>
          <a:prstGeom prst="rect">
            <a:avLst/>
          </a:prstGeom>
          <a:noFill/>
        </p:spPr>
        <p:txBody>
          <a:bodyPr wrap="square"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CA" sz="1050" b="1">
                <a:solidFill>
                  <a:prstClr val="black"/>
                </a:solidFill>
                <a:latin typeface="Segoe UI"/>
              </a:rPr>
              <a:t>Triton PBI App</a:t>
            </a:r>
            <a:br>
              <a:rPr lang="en-CA" sz="1050">
                <a:solidFill>
                  <a:prstClr val="black"/>
                </a:solidFill>
                <a:latin typeface="Segoe UI"/>
              </a:rPr>
            </a:br>
            <a:r>
              <a:rPr lang="en-CA" sz="1000">
                <a:solidFill>
                  <a:prstClr val="black"/>
                </a:solidFill>
                <a:latin typeface="Segoe UI"/>
              </a:rPr>
              <a:t>Data search</a:t>
            </a:r>
          </a:p>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CA" sz="1000" b="0" i="0" u="none" strike="noStrike" kern="1200" cap="none" spc="0" normalizeH="0" baseline="0" noProof="0">
                <a:ln>
                  <a:noFill/>
                </a:ln>
                <a:solidFill>
                  <a:prstClr val="black"/>
                </a:solidFill>
                <a:effectLst/>
                <a:uLnTx/>
                <a:uFillTx/>
                <a:latin typeface="Segoe UI"/>
                <a:ea typeface="+mn-ea"/>
                <a:cs typeface="+mn-cs"/>
              </a:rPr>
              <a:t>Tutorial</a:t>
            </a:r>
          </a:p>
          <a:p>
            <a:pPr marL="0" marR="0" lvl="0" indent="0" algn="ctr" defTabSz="914377" rtl="0" eaLnBrk="1" fontAlgn="auto" latinLnBrk="0" hangingPunct="1">
              <a:lnSpc>
                <a:spcPct val="100000"/>
              </a:lnSpc>
              <a:spcBef>
                <a:spcPts val="0"/>
              </a:spcBef>
              <a:spcAft>
                <a:spcPts val="0"/>
              </a:spcAft>
              <a:buClrTx/>
              <a:buSzTx/>
              <a:buFontTx/>
              <a:buNone/>
              <a:tabLst/>
              <a:defRPr/>
            </a:pPr>
            <a:r>
              <a:rPr lang="en-CA" sz="1000">
                <a:solidFill>
                  <a:prstClr val="black"/>
                </a:solidFill>
                <a:latin typeface="Segoe UI"/>
              </a:rPr>
              <a:t>Chatbot</a:t>
            </a:r>
            <a:endParaRPr kumimoji="0" lang="en-CA" sz="1000" b="0" i="0" u="none" strike="noStrike" kern="1200" cap="none" spc="0" normalizeH="0" baseline="0" noProof="0">
              <a:ln>
                <a:noFill/>
              </a:ln>
              <a:solidFill>
                <a:prstClr val="black"/>
              </a:solidFill>
              <a:effectLst/>
              <a:uLnTx/>
              <a:uFillTx/>
              <a:latin typeface="Segoe UI"/>
              <a:ea typeface="+mn-ea"/>
              <a:cs typeface="+mn-cs"/>
            </a:endParaRPr>
          </a:p>
        </p:txBody>
      </p:sp>
      <p:pic>
        <p:nvPicPr>
          <p:cNvPr id="2054" name="Picture 6" descr="Course, courses, learning, online, teaching, tutorial, video icon">
            <a:extLst>
              <a:ext uri="{FF2B5EF4-FFF2-40B4-BE49-F238E27FC236}">
                <a16:creationId xmlns:a16="http://schemas.microsoft.com/office/drawing/2014/main" id="{C391E127-22EB-BDE0-05FC-09D39160B8DE}"/>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03025" y="4822324"/>
            <a:ext cx="467318" cy="467318"/>
          </a:xfrm>
          <a:prstGeom prst="rect">
            <a:avLst/>
          </a:prstGeom>
          <a:noFill/>
          <a:extLst>
            <a:ext uri="{909E8E84-426E-40DD-AFC4-6F175D3DCCD1}">
              <a14:hiddenFill xmlns:a14="http://schemas.microsoft.com/office/drawing/2010/main">
                <a:solidFill>
                  <a:srgbClr val="FFFFFF"/>
                </a:solidFill>
              </a14:hiddenFill>
            </a:ext>
          </a:extLst>
        </p:spPr>
      </p:pic>
      <p:sp>
        <p:nvSpPr>
          <p:cNvPr id="20" name="Rectangle 19">
            <a:extLst>
              <a:ext uri="{FF2B5EF4-FFF2-40B4-BE49-F238E27FC236}">
                <a16:creationId xmlns:a16="http://schemas.microsoft.com/office/drawing/2014/main" id="{313818DA-A52A-956B-72B8-7EBCA9C41937}"/>
              </a:ext>
            </a:extLst>
          </p:cNvPr>
          <p:cNvSpPr/>
          <p:nvPr/>
        </p:nvSpPr>
        <p:spPr>
          <a:xfrm>
            <a:off x="-9896" y="6655571"/>
            <a:ext cx="12201896" cy="20243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prstClr val="white"/>
              </a:solidFill>
              <a:effectLst/>
              <a:uLnTx/>
              <a:uFillTx/>
              <a:latin typeface="Poppins"/>
              <a:ea typeface="+mn-ea"/>
              <a:cs typeface="+mn-cs"/>
            </a:endParaRPr>
          </a:p>
        </p:txBody>
      </p:sp>
      <p:sp>
        <p:nvSpPr>
          <p:cNvPr id="510" name="TextBox 509">
            <a:extLst>
              <a:ext uri="{FF2B5EF4-FFF2-40B4-BE49-F238E27FC236}">
                <a16:creationId xmlns:a16="http://schemas.microsoft.com/office/drawing/2014/main" id="{3D25B3F0-E0F8-B147-5258-DC7C161DEA57}"/>
              </a:ext>
            </a:extLst>
          </p:cNvPr>
          <p:cNvSpPr txBox="1"/>
          <p:nvPr/>
        </p:nvSpPr>
        <p:spPr>
          <a:xfrm>
            <a:off x="10205420" y="2697083"/>
            <a:ext cx="1254736" cy="253916"/>
          </a:xfrm>
          <a:prstGeom prst="rect">
            <a:avLst/>
          </a:prstGeom>
          <a:noFill/>
        </p:spPr>
        <p:txBody>
          <a:bodyPr wrap="square" rtlCol="0">
            <a:sp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CA" sz="1050" b="1" i="0" u="none" strike="noStrike" kern="1200" cap="none" spc="0" normalizeH="0" baseline="0" noProof="0">
                <a:ln>
                  <a:noFill/>
                </a:ln>
                <a:solidFill>
                  <a:prstClr val="black"/>
                </a:solidFill>
                <a:effectLst/>
                <a:uLnTx/>
                <a:uFillTx/>
                <a:latin typeface="Segoe UI"/>
                <a:ea typeface="+mn-ea"/>
                <a:cs typeface="+mn-cs"/>
              </a:rPr>
              <a:t>Azure dev ops</a:t>
            </a:r>
          </a:p>
        </p:txBody>
      </p:sp>
      <p:sp>
        <p:nvSpPr>
          <p:cNvPr id="260" name="Rectangle 259">
            <a:extLst>
              <a:ext uri="{FF2B5EF4-FFF2-40B4-BE49-F238E27FC236}">
                <a16:creationId xmlns:a16="http://schemas.microsoft.com/office/drawing/2014/main" id="{9166E7FF-E75E-7604-B5D0-77737C8E8DA4}"/>
              </a:ext>
            </a:extLst>
          </p:cNvPr>
          <p:cNvSpPr/>
          <p:nvPr/>
        </p:nvSpPr>
        <p:spPr>
          <a:xfrm>
            <a:off x="1952400" y="882910"/>
            <a:ext cx="7422377" cy="502537"/>
          </a:xfrm>
          <a:prstGeom prst="rect">
            <a:avLst/>
          </a:prstGeom>
          <a:solidFill>
            <a:srgbClr val="FF993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6772" tIns="63386" rIns="126772" bIns="63386" numCol="1" spcCol="0" rtlCol="0" fromWordArt="0" anchor="ctr" anchorCtr="0" forceAA="0" compatLnSpc="1">
            <a:prstTxWarp prst="textNoShape">
              <a:avLst/>
            </a:prstTxWarp>
            <a:no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1600" b="1">
                <a:solidFill>
                  <a:prstClr val="white"/>
                </a:solidFill>
                <a:latin typeface="Segoe UI"/>
              </a:rPr>
              <a:t>User Environment</a:t>
            </a:r>
            <a:br>
              <a:rPr lang="en-US" sz="1400" b="1">
                <a:solidFill>
                  <a:prstClr val="white"/>
                </a:solidFill>
                <a:latin typeface="Segoe UI"/>
              </a:rPr>
            </a:br>
            <a:r>
              <a:rPr lang="en-US" sz="1400" b="1">
                <a:solidFill>
                  <a:prstClr val="white"/>
                </a:solidFill>
                <a:latin typeface="Segoe UI"/>
              </a:rPr>
              <a:t>Dedicated Fabric workspace for team</a:t>
            </a:r>
            <a:endParaRPr kumimoji="0" lang="en-US" sz="1400" b="1" i="0" u="none" strike="noStrike" kern="1200" cap="none" spc="0" normalizeH="0" baseline="0" noProof="0">
              <a:ln>
                <a:noFill/>
              </a:ln>
              <a:solidFill>
                <a:prstClr val="white"/>
              </a:solidFill>
              <a:effectLst/>
              <a:uLnTx/>
              <a:uFillTx/>
              <a:latin typeface="Segoe UI"/>
              <a:ea typeface="+mn-ea"/>
              <a:cs typeface="+mn-cs"/>
            </a:endParaRPr>
          </a:p>
        </p:txBody>
      </p:sp>
      <p:pic>
        <p:nvPicPr>
          <p:cNvPr id="279" name="Picture 26" descr="Seo report Special Flat icon">
            <a:extLst>
              <a:ext uri="{FF2B5EF4-FFF2-40B4-BE49-F238E27FC236}">
                <a16:creationId xmlns:a16="http://schemas.microsoft.com/office/drawing/2014/main" id="{881C0261-E464-FBF4-780A-30F40EE14162}"/>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804459" y="2201290"/>
            <a:ext cx="539911" cy="539911"/>
          </a:xfrm>
          <a:prstGeom prst="rect">
            <a:avLst/>
          </a:prstGeom>
          <a:noFill/>
          <a:extLst>
            <a:ext uri="{909E8E84-426E-40DD-AFC4-6F175D3DCCD1}">
              <a14:hiddenFill xmlns:a14="http://schemas.microsoft.com/office/drawing/2010/main">
                <a:solidFill>
                  <a:srgbClr val="FFFFFF"/>
                </a:solidFill>
              </a14:hiddenFill>
            </a:ext>
          </a:extLst>
        </p:spPr>
      </p:pic>
      <p:sp>
        <p:nvSpPr>
          <p:cNvPr id="63" name="Rectangle 62">
            <a:extLst>
              <a:ext uri="{FF2B5EF4-FFF2-40B4-BE49-F238E27FC236}">
                <a16:creationId xmlns:a16="http://schemas.microsoft.com/office/drawing/2014/main" id="{4CAB5515-1D82-7AA6-AE56-B61DF2136BFE}"/>
              </a:ext>
            </a:extLst>
          </p:cNvPr>
          <p:cNvSpPr/>
          <p:nvPr/>
        </p:nvSpPr>
        <p:spPr>
          <a:xfrm>
            <a:off x="1962670" y="4547792"/>
            <a:ext cx="3516932" cy="1393165"/>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6772" tIns="63386" rIns="126772" bIns="63386" numCol="1" spcCol="0" rtlCol="0" fromWordArt="0" anchor="ctr" anchorCtr="0" forceAA="0" compatLnSpc="1">
            <a:prstTxWarp prst="textNoShape">
              <a:avLst/>
            </a:prstTxWarp>
            <a:no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3330" b="0" i="0" u="none" strike="noStrike" kern="1200" cap="none" spc="0" normalizeH="0" baseline="0" noProof="0">
              <a:ln>
                <a:noFill/>
              </a:ln>
              <a:solidFill>
                <a:prstClr val="white"/>
              </a:solidFill>
              <a:effectLst/>
              <a:uLnTx/>
              <a:uFillTx/>
              <a:latin typeface="Segoe UI"/>
              <a:ea typeface="+mn-ea"/>
              <a:cs typeface="+mn-cs"/>
            </a:endParaRPr>
          </a:p>
        </p:txBody>
      </p:sp>
      <p:sp>
        <p:nvSpPr>
          <p:cNvPr id="450" name="Rectangle 449">
            <a:extLst>
              <a:ext uri="{FF2B5EF4-FFF2-40B4-BE49-F238E27FC236}">
                <a16:creationId xmlns:a16="http://schemas.microsoft.com/office/drawing/2014/main" id="{A3C43E95-6926-33BE-0647-1D043D94A997}"/>
              </a:ext>
            </a:extLst>
          </p:cNvPr>
          <p:cNvSpPr/>
          <p:nvPr/>
        </p:nvSpPr>
        <p:spPr>
          <a:xfrm>
            <a:off x="1946566" y="4260022"/>
            <a:ext cx="3516932" cy="537005"/>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6772" tIns="63386" rIns="126772" bIns="63386" numCol="1" spcCol="0" rtlCol="0" fromWordArt="0" anchor="ctr" anchorCtr="0" forceAA="0" compatLnSpc="1">
            <a:prstTxWarp prst="textNoShape">
              <a:avLst/>
            </a:prstTxWarp>
            <a:no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600" b="1" i="0" strike="noStrike" kern="1200" cap="none" spc="0" normalizeH="0" baseline="0" noProof="0">
                <a:ln>
                  <a:noFill/>
                </a:ln>
                <a:solidFill>
                  <a:prstClr val="white"/>
                </a:solidFill>
                <a:effectLst/>
                <a:uLnTx/>
                <a:uFillTx/>
                <a:latin typeface="Segoe UI"/>
                <a:ea typeface="+mn-ea"/>
                <a:cs typeface="+mn-cs"/>
              </a:rPr>
              <a:t>Triton </a:t>
            </a:r>
            <a:r>
              <a:rPr lang="en-US" sz="1600" b="1">
                <a:solidFill>
                  <a:prstClr val="white"/>
                </a:solidFill>
                <a:latin typeface="Segoe UI"/>
              </a:rPr>
              <a:t>Environment 1</a:t>
            </a:r>
            <a:br>
              <a:rPr lang="en-US" sz="1600" b="1">
                <a:solidFill>
                  <a:prstClr val="white"/>
                </a:solidFill>
                <a:latin typeface="Segoe UI"/>
              </a:rPr>
            </a:br>
            <a:r>
              <a:rPr lang="en-US" sz="1400" b="1">
                <a:solidFill>
                  <a:prstClr val="white"/>
                </a:solidFill>
                <a:latin typeface="Segoe UI"/>
              </a:rPr>
              <a:t> </a:t>
            </a:r>
            <a:r>
              <a:rPr kumimoji="0" lang="en-US" sz="1400" b="1" i="0" strike="noStrike" kern="1200" cap="none" spc="0" normalizeH="0" baseline="0" noProof="0">
                <a:ln>
                  <a:noFill/>
                </a:ln>
                <a:solidFill>
                  <a:prstClr val="white"/>
                </a:solidFill>
                <a:effectLst/>
                <a:uLnTx/>
                <a:uFillTx/>
                <a:latin typeface="Segoe UI"/>
                <a:ea typeface="+mn-ea"/>
                <a:cs typeface="+mn-cs"/>
              </a:rPr>
              <a:t>Databricks production</a:t>
            </a:r>
          </a:p>
        </p:txBody>
      </p:sp>
      <p:sp>
        <p:nvSpPr>
          <p:cNvPr id="452" name="TextBox 451">
            <a:extLst>
              <a:ext uri="{FF2B5EF4-FFF2-40B4-BE49-F238E27FC236}">
                <a16:creationId xmlns:a16="http://schemas.microsoft.com/office/drawing/2014/main" id="{28986EEF-9A38-7737-017B-EBD3D67792CC}"/>
              </a:ext>
            </a:extLst>
          </p:cNvPr>
          <p:cNvSpPr txBox="1"/>
          <p:nvPr/>
        </p:nvSpPr>
        <p:spPr>
          <a:xfrm>
            <a:off x="3043357" y="5423180"/>
            <a:ext cx="896799" cy="415498"/>
          </a:xfrm>
          <a:prstGeom prst="rect">
            <a:avLst/>
          </a:prstGeom>
          <a:noFill/>
        </p:spPr>
        <p:txBody>
          <a:bodyPr wrap="square"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CA" sz="1050">
                <a:solidFill>
                  <a:prstClr val="black"/>
                </a:solidFill>
                <a:latin typeface="Segoe UI"/>
              </a:rPr>
              <a:t>N</a:t>
            </a:r>
            <a:r>
              <a:rPr kumimoji="0" lang="en-CA" sz="1050" i="0" u="none" strike="noStrike" kern="1200" cap="none" spc="0" normalizeH="0" baseline="0" noProof="0" err="1">
                <a:ln>
                  <a:noFill/>
                </a:ln>
                <a:solidFill>
                  <a:prstClr val="black"/>
                </a:solidFill>
                <a:effectLst/>
                <a:uLnTx/>
                <a:uFillTx/>
                <a:latin typeface="Segoe UI"/>
                <a:ea typeface="+mn-ea"/>
                <a:cs typeface="+mn-cs"/>
              </a:rPr>
              <a:t>otebooks</a:t>
            </a:r>
            <a:endParaRPr kumimoji="0" lang="en-CA" sz="1050" i="0" u="none" strike="noStrike" kern="1200" cap="none" spc="0" normalizeH="0" baseline="0" noProof="0">
              <a:ln>
                <a:noFill/>
              </a:ln>
              <a:solidFill>
                <a:prstClr val="black"/>
              </a:solidFill>
              <a:effectLst/>
              <a:uLnTx/>
              <a:uFillTx/>
              <a:latin typeface="Segoe UI"/>
              <a:ea typeface="+mn-ea"/>
              <a:cs typeface="+mn-cs"/>
            </a:endParaRPr>
          </a:p>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CA" sz="1050" i="0" u="none" strike="noStrike" kern="1200" cap="none" spc="0" normalizeH="0" baseline="0" noProof="0">
              <a:ln>
                <a:noFill/>
              </a:ln>
              <a:solidFill>
                <a:prstClr val="black"/>
              </a:solidFill>
              <a:effectLst/>
              <a:uLnTx/>
              <a:uFillTx/>
              <a:latin typeface="Segoe UI"/>
              <a:ea typeface="+mn-ea"/>
              <a:cs typeface="+mn-cs"/>
            </a:endParaRPr>
          </a:p>
        </p:txBody>
      </p:sp>
      <p:pic>
        <p:nvPicPr>
          <p:cNvPr id="453" name="Picture 14" descr="Notebook Icon Png #113514 - Free Icons Library">
            <a:extLst>
              <a:ext uri="{FF2B5EF4-FFF2-40B4-BE49-F238E27FC236}">
                <a16:creationId xmlns:a16="http://schemas.microsoft.com/office/drawing/2014/main" id="{007BAE2F-A07A-4BFF-02C8-6038BEEF4708}"/>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228117" y="4863872"/>
            <a:ext cx="513040" cy="513040"/>
          </a:xfrm>
          <a:prstGeom prst="rect">
            <a:avLst/>
          </a:prstGeom>
          <a:noFill/>
          <a:extLst>
            <a:ext uri="{909E8E84-426E-40DD-AFC4-6F175D3DCCD1}">
              <a14:hiddenFill xmlns:a14="http://schemas.microsoft.com/office/drawing/2010/main">
                <a:solidFill>
                  <a:srgbClr val="FFFFFF"/>
                </a:solidFill>
              </a14:hiddenFill>
            </a:ext>
          </a:extLst>
        </p:spPr>
      </p:pic>
      <p:grpSp>
        <p:nvGrpSpPr>
          <p:cNvPr id="454" name="Group 62">
            <a:extLst>
              <a:ext uri="{FF2B5EF4-FFF2-40B4-BE49-F238E27FC236}">
                <a16:creationId xmlns:a16="http://schemas.microsoft.com/office/drawing/2014/main" id="{4EAD63DA-F922-EDBE-A542-460A3E834CCF}"/>
              </a:ext>
            </a:extLst>
          </p:cNvPr>
          <p:cNvGrpSpPr>
            <a:grpSpLocks noChangeAspect="1"/>
          </p:cNvGrpSpPr>
          <p:nvPr/>
        </p:nvGrpSpPr>
        <p:grpSpPr bwMode="auto">
          <a:xfrm>
            <a:off x="4335124" y="4856470"/>
            <a:ext cx="672764" cy="2798776"/>
            <a:chOff x="2976" y="1554"/>
            <a:chExt cx="462" cy="1932"/>
          </a:xfrm>
        </p:grpSpPr>
        <p:sp>
          <p:nvSpPr>
            <p:cNvPr id="455" name="AutoShape 61">
              <a:extLst>
                <a:ext uri="{FF2B5EF4-FFF2-40B4-BE49-F238E27FC236}">
                  <a16:creationId xmlns:a16="http://schemas.microsoft.com/office/drawing/2014/main" id="{57F3F422-E476-4C3C-7A0C-004CD75EF7FA}"/>
                </a:ext>
              </a:extLst>
            </p:cNvPr>
            <p:cNvSpPr>
              <a:spLocks noChangeAspect="1" noChangeArrowheads="1" noTextEdit="1"/>
            </p:cNvSpPr>
            <p:nvPr/>
          </p:nvSpPr>
          <p:spPr bwMode="auto">
            <a:xfrm>
              <a:off x="2996" y="3128"/>
              <a:ext cx="332" cy="3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black"/>
                </a:solidFill>
                <a:effectLst/>
                <a:uLnTx/>
                <a:uFillTx/>
                <a:latin typeface="Segoe UI"/>
                <a:ea typeface="+mn-ea"/>
                <a:cs typeface="+mn-cs"/>
              </a:endParaRPr>
            </a:p>
          </p:txBody>
        </p:sp>
        <p:sp>
          <p:nvSpPr>
            <p:cNvPr id="456" name="Freeform 63">
              <a:extLst>
                <a:ext uri="{FF2B5EF4-FFF2-40B4-BE49-F238E27FC236}">
                  <a16:creationId xmlns:a16="http://schemas.microsoft.com/office/drawing/2014/main" id="{2C88F385-C64E-0020-8AF2-FD78C159373F}"/>
                </a:ext>
              </a:extLst>
            </p:cNvPr>
            <p:cNvSpPr>
              <a:spLocks/>
            </p:cNvSpPr>
            <p:nvPr/>
          </p:nvSpPr>
          <p:spPr bwMode="auto">
            <a:xfrm>
              <a:off x="2976" y="1629"/>
              <a:ext cx="462" cy="282"/>
            </a:xfrm>
            <a:custGeom>
              <a:avLst/>
              <a:gdLst>
                <a:gd name="T0" fmla="*/ 251 w 331"/>
                <a:gd name="T1" fmla="*/ 24 h 279"/>
                <a:gd name="T2" fmla="*/ 251 w 331"/>
                <a:gd name="T3" fmla="*/ 24 h 279"/>
                <a:gd name="T4" fmla="*/ 207 w 331"/>
                <a:gd name="T5" fmla="*/ 29 h 279"/>
                <a:gd name="T6" fmla="*/ 165 w 331"/>
                <a:gd name="T7" fmla="*/ 31 h 279"/>
                <a:gd name="T8" fmla="*/ 124 w 331"/>
                <a:gd name="T9" fmla="*/ 29 h 279"/>
                <a:gd name="T10" fmla="*/ 79 w 331"/>
                <a:gd name="T11" fmla="*/ 24 h 279"/>
                <a:gd name="T12" fmla="*/ 37 w 331"/>
                <a:gd name="T13" fmla="*/ 15 h 279"/>
                <a:gd name="T14" fmla="*/ 0 w 331"/>
                <a:gd name="T15" fmla="*/ 0 h 279"/>
                <a:gd name="T16" fmla="*/ 0 w 331"/>
                <a:gd name="T17" fmla="*/ 233 h 279"/>
                <a:gd name="T18" fmla="*/ 4 w 331"/>
                <a:gd name="T19" fmla="*/ 242 h 279"/>
                <a:gd name="T20" fmla="*/ 16 w 331"/>
                <a:gd name="T21" fmla="*/ 251 h 279"/>
                <a:gd name="T22" fmla="*/ 30 w 331"/>
                <a:gd name="T23" fmla="*/ 257 h 279"/>
                <a:gd name="T24" fmla="*/ 42 w 331"/>
                <a:gd name="T25" fmla="*/ 262 h 279"/>
                <a:gd name="T26" fmla="*/ 71 w 331"/>
                <a:gd name="T27" fmla="*/ 270 h 279"/>
                <a:gd name="T28" fmla="*/ 102 w 331"/>
                <a:gd name="T29" fmla="*/ 275 h 279"/>
                <a:gd name="T30" fmla="*/ 135 w 331"/>
                <a:gd name="T31" fmla="*/ 278 h 279"/>
                <a:gd name="T32" fmla="*/ 165 w 331"/>
                <a:gd name="T33" fmla="*/ 279 h 279"/>
                <a:gd name="T34" fmla="*/ 196 w 331"/>
                <a:gd name="T35" fmla="*/ 278 h 279"/>
                <a:gd name="T36" fmla="*/ 228 w 331"/>
                <a:gd name="T37" fmla="*/ 275 h 279"/>
                <a:gd name="T38" fmla="*/ 260 w 331"/>
                <a:gd name="T39" fmla="*/ 270 h 279"/>
                <a:gd name="T40" fmla="*/ 289 w 331"/>
                <a:gd name="T41" fmla="*/ 262 h 279"/>
                <a:gd name="T42" fmla="*/ 300 w 331"/>
                <a:gd name="T43" fmla="*/ 257 h 279"/>
                <a:gd name="T44" fmla="*/ 314 w 331"/>
                <a:gd name="T45" fmla="*/ 251 h 279"/>
                <a:gd name="T46" fmla="*/ 326 w 331"/>
                <a:gd name="T47" fmla="*/ 242 h 279"/>
                <a:gd name="T48" fmla="*/ 331 w 331"/>
                <a:gd name="T49" fmla="*/ 233 h 279"/>
                <a:gd name="T50" fmla="*/ 331 w 331"/>
                <a:gd name="T51" fmla="*/ 0 h 279"/>
                <a:gd name="T52" fmla="*/ 294 w 331"/>
                <a:gd name="T53" fmla="*/ 15 h 279"/>
                <a:gd name="T54" fmla="*/ 251 w 331"/>
                <a:gd name="T55" fmla="*/ 24 h 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331" h="279">
                  <a:moveTo>
                    <a:pt x="251" y="24"/>
                  </a:moveTo>
                  <a:lnTo>
                    <a:pt x="251" y="24"/>
                  </a:lnTo>
                  <a:cubicBezTo>
                    <a:pt x="236" y="27"/>
                    <a:pt x="221" y="29"/>
                    <a:pt x="207" y="29"/>
                  </a:cubicBezTo>
                  <a:cubicBezTo>
                    <a:pt x="192" y="30"/>
                    <a:pt x="178" y="31"/>
                    <a:pt x="165" y="31"/>
                  </a:cubicBezTo>
                  <a:cubicBezTo>
                    <a:pt x="152" y="31"/>
                    <a:pt x="139" y="30"/>
                    <a:pt x="124" y="29"/>
                  </a:cubicBezTo>
                  <a:cubicBezTo>
                    <a:pt x="109" y="29"/>
                    <a:pt x="94" y="27"/>
                    <a:pt x="79" y="24"/>
                  </a:cubicBezTo>
                  <a:cubicBezTo>
                    <a:pt x="65" y="22"/>
                    <a:pt x="50" y="19"/>
                    <a:pt x="37" y="15"/>
                  </a:cubicBezTo>
                  <a:cubicBezTo>
                    <a:pt x="23" y="11"/>
                    <a:pt x="10" y="6"/>
                    <a:pt x="0" y="0"/>
                  </a:cubicBezTo>
                  <a:lnTo>
                    <a:pt x="0" y="233"/>
                  </a:lnTo>
                  <a:cubicBezTo>
                    <a:pt x="0" y="236"/>
                    <a:pt x="1" y="239"/>
                    <a:pt x="4" y="242"/>
                  </a:cubicBezTo>
                  <a:cubicBezTo>
                    <a:pt x="8" y="245"/>
                    <a:pt x="12" y="248"/>
                    <a:pt x="16" y="251"/>
                  </a:cubicBezTo>
                  <a:cubicBezTo>
                    <a:pt x="21" y="253"/>
                    <a:pt x="25" y="255"/>
                    <a:pt x="30" y="257"/>
                  </a:cubicBezTo>
                  <a:cubicBezTo>
                    <a:pt x="35" y="259"/>
                    <a:pt x="39" y="261"/>
                    <a:pt x="42" y="262"/>
                  </a:cubicBezTo>
                  <a:cubicBezTo>
                    <a:pt x="51" y="265"/>
                    <a:pt x="60" y="268"/>
                    <a:pt x="71" y="270"/>
                  </a:cubicBezTo>
                  <a:cubicBezTo>
                    <a:pt x="81" y="272"/>
                    <a:pt x="92" y="273"/>
                    <a:pt x="102" y="275"/>
                  </a:cubicBezTo>
                  <a:cubicBezTo>
                    <a:pt x="113" y="276"/>
                    <a:pt x="124" y="277"/>
                    <a:pt x="135" y="278"/>
                  </a:cubicBezTo>
                  <a:cubicBezTo>
                    <a:pt x="145" y="278"/>
                    <a:pt x="155" y="279"/>
                    <a:pt x="165" y="279"/>
                  </a:cubicBezTo>
                  <a:cubicBezTo>
                    <a:pt x="175" y="279"/>
                    <a:pt x="185" y="278"/>
                    <a:pt x="196" y="278"/>
                  </a:cubicBezTo>
                  <a:cubicBezTo>
                    <a:pt x="207" y="277"/>
                    <a:pt x="217" y="276"/>
                    <a:pt x="228" y="275"/>
                  </a:cubicBezTo>
                  <a:cubicBezTo>
                    <a:pt x="239" y="273"/>
                    <a:pt x="249" y="272"/>
                    <a:pt x="260" y="270"/>
                  </a:cubicBezTo>
                  <a:cubicBezTo>
                    <a:pt x="270" y="268"/>
                    <a:pt x="280" y="265"/>
                    <a:pt x="289" y="262"/>
                  </a:cubicBezTo>
                  <a:cubicBezTo>
                    <a:pt x="292" y="261"/>
                    <a:pt x="295" y="259"/>
                    <a:pt x="300" y="257"/>
                  </a:cubicBezTo>
                  <a:cubicBezTo>
                    <a:pt x="305" y="255"/>
                    <a:pt x="310" y="253"/>
                    <a:pt x="314" y="251"/>
                  </a:cubicBezTo>
                  <a:cubicBezTo>
                    <a:pt x="319" y="248"/>
                    <a:pt x="323" y="245"/>
                    <a:pt x="326" y="242"/>
                  </a:cubicBezTo>
                  <a:cubicBezTo>
                    <a:pt x="329" y="239"/>
                    <a:pt x="331" y="236"/>
                    <a:pt x="331" y="233"/>
                  </a:cubicBezTo>
                  <a:lnTo>
                    <a:pt x="331" y="0"/>
                  </a:lnTo>
                  <a:cubicBezTo>
                    <a:pt x="320" y="6"/>
                    <a:pt x="308" y="11"/>
                    <a:pt x="294" y="15"/>
                  </a:cubicBezTo>
                  <a:cubicBezTo>
                    <a:pt x="280" y="19"/>
                    <a:pt x="266" y="22"/>
                    <a:pt x="251" y="24"/>
                  </a:cubicBezTo>
                  <a:close/>
                </a:path>
              </a:pathLst>
            </a:custGeom>
            <a:solidFill>
              <a:schemeClr val="accent6">
                <a:lumMod val="50000"/>
              </a:schemeClr>
            </a:solidFill>
            <a:ln w="0">
              <a:noFill/>
              <a:prstDash val="solid"/>
              <a:round/>
              <a:headEnd/>
              <a:tailEnd/>
            </a:ln>
          </p:spPr>
          <p:txBody>
            <a:bodyPr vert="horz" wrap="square" lIns="0" tIns="0" rIns="0" bIns="0" numCol="1" anchor="ctr" anchorCtr="0" compatLnSpc="1">
              <a:prstTxWarp prst="textNoShape">
                <a:avLst/>
              </a:prstTxWarp>
            </a:bodyP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CA" sz="1000" b="1" i="0" u="none" strike="noStrike" kern="1200" cap="none" spc="0" normalizeH="0" baseline="0" noProof="0">
                <a:ln>
                  <a:noFill/>
                </a:ln>
                <a:solidFill>
                  <a:prstClr val="white"/>
                </a:solidFill>
                <a:effectLst/>
                <a:uLnTx/>
                <a:uFillTx/>
                <a:latin typeface="Segoe UI"/>
                <a:ea typeface="+mn-ea"/>
                <a:cs typeface="+mn-cs"/>
              </a:endParaRPr>
            </a:p>
          </p:txBody>
        </p:sp>
        <p:sp>
          <p:nvSpPr>
            <p:cNvPr id="461" name="Freeform 64">
              <a:extLst>
                <a:ext uri="{FF2B5EF4-FFF2-40B4-BE49-F238E27FC236}">
                  <a16:creationId xmlns:a16="http://schemas.microsoft.com/office/drawing/2014/main" id="{AC8FD79E-161B-19D3-B07E-B0DABC23563C}"/>
                </a:ext>
              </a:extLst>
            </p:cNvPr>
            <p:cNvSpPr>
              <a:spLocks/>
            </p:cNvSpPr>
            <p:nvPr/>
          </p:nvSpPr>
          <p:spPr bwMode="auto">
            <a:xfrm>
              <a:off x="2976" y="1554"/>
              <a:ext cx="448" cy="97"/>
            </a:xfrm>
            <a:custGeom>
              <a:avLst/>
              <a:gdLst>
                <a:gd name="T0" fmla="*/ 3 w 331"/>
                <a:gd name="T1" fmla="*/ 51 h 90"/>
                <a:gd name="T2" fmla="*/ 3 w 331"/>
                <a:gd name="T3" fmla="*/ 51 h 90"/>
                <a:gd name="T4" fmla="*/ 20 w 331"/>
                <a:gd name="T5" fmla="*/ 65 h 90"/>
                <a:gd name="T6" fmla="*/ 46 w 331"/>
                <a:gd name="T7" fmla="*/ 75 h 90"/>
                <a:gd name="T8" fmla="*/ 76 w 331"/>
                <a:gd name="T9" fmla="*/ 82 h 90"/>
                <a:gd name="T10" fmla="*/ 108 w 331"/>
                <a:gd name="T11" fmla="*/ 87 h 90"/>
                <a:gd name="T12" fmla="*/ 139 w 331"/>
                <a:gd name="T13" fmla="*/ 89 h 90"/>
                <a:gd name="T14" fmla="*/ 165 w 331"/>
                <a:gd name="T15" fmla="*/ 90 h 90"/>
                <a:gd name="T16" fmla="*/ 191 w 331"/>
                <a:gd name="T17" fmla="*/ 89 h 90"/>
                <a:gd name="T18" fmla="*/ 222 w 331"/>
                <a:gd name="T19" fmla="*/ 87 h 90"/>
                <a:gd name="T20" fmla="*/ 254 w 331"/>
                <a:gd name="T21" fmla="*/ 82 h 90"/>
                <a:gd name="T22" fmla="*/ 285 w 331"/>
                <a:gd name="T23" fmla="*/ 75 h 90"/>
                <a:gd name="T24" fmla="*/ 310 w 331"/>
                <a:gd name="T25" fmla="*/ 65 h 90"/>
                <a:gd name="T26" fmla="*/ 328 w 331"/>
                <a:gd name="T27" fmla="*/ 51 h 90"/>
                <a:gd name="T28" fmla="*/ 330 w 331"/>
                <a:gd name="T29" fmla="*/ 48 h 90"/>
                <a:gd name="T30" fmla="*/ 331 w 331"/>
                <a:gd name="T31" fmla="*/ 45 h 90"/>
                <a:gd name="T32" fmla="*/ 326 w 331"/>
                <a:gd name="T33" fmla="*/ 35 h 90"/>
                <a:gd name="T34" fmla="*/ 314 w 331"/>
                <a:gd name="T35" fmla="*/ 27 h 90"/>
                <a:gd name="T36" fmla="*/ 300 w 331"/>
                <a:gd name="T37" fmla="*/ 20 h 90"/>
                <a:gd name="T38" fmla="*/ 289 w 331"/>
                <a:gd name="T39" fmla="*/ 15 h 90"/>
                <a:gd name="T40" fmla="*/ 259 w 331"/>
                <a:gd name="T41" fmla="*/ 8 h 90"/>
                <a:gd name="T42" fmla="*/ 228 w 331"/>
                <a:gd name="T43" fmla="*/ 2 h 90"/>
                <a:gd name="T44" fmla="*/ 196 w 331"/>
                <a:gd name="T45" fmla="*/ 1 h 90"/>
                <a:gd name="T46" fmla="*/ 165 w 331"/>
                <a:gd name="T47" fmla="*/ 0 h 90"/>
                <a:gd name="T48" fmla="*/ 135 w 331"/>
                <a:gd name="T49" fmla="*/ 1 h 90"/>
                <a:gd name="T50" fmla="*/ 103 w 331"/>
                <a:gd name="T51" fmla="*/ 2 h 90"/>
                <a:gd name="T52" fmla="*/ 71 w 331"/>
                <a:gd name="T53" fmla="*/ 8 h 90"/>
                <a:gd name="T54" fmla="*/ 42 w 331"/>
                <a:gd name="T55" fmla="*/ 15 h 90"/>
                <a:gd name="T56" fmla="*/ 30 w 331"/>
                <a:gd name="T57" fmla="*/ 20 h 90"/>
                <a:gd name="T58" fmla="*/ 16 w 331"/>
                <a:gd name="T59" fmla="*/ 27 h 90"/>
                <a:gd name="T60" fmla="*/ 4 w 331"/>
                <a:gd name="T61" fmla="*/ 35 h 90"/>
                <a:gd name="T62" fmla="*/ 0 w 331"/>
                <a:gd name="T63" fmla="*/ 45 h 90"/>
                <a:gd name="T64" fmla="*/ 0 w 331"/>
                <a:gd name="T65" fmla="*/ 48 h 90"/>
                <a:gd name="T66" fmla="*/ 3 w 331"/>
                <a:gd name="T67" fmla="*/ 51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31" h="90">
                  <a:moveTo>
                    <a:pt x="3" y="51"/>
                  </a:moveTo>
                  <a:lnTo>
                    <a:pt x="3" y="51"/>
                  </a:lnTo>
                  <a:cubicBezTo>
                    <a:pt x="7" y="56"/>
                    <a:pt x="13" y="61"/>
                    <a:pt x="20" y="65"/>
                  </a:cubicBezTo>
                  <a:cubicBezTo>
                    <a:pt x="28" y="69"/>
                    <a:pt x="36" y="72"/>
                    <a:pt x="46" y="75"/>
                  </a:cubicBezTo>
                  <a:cubicBezTo>
                    <a:pt x="55" y="78"/>
                    <a:pt x="65" y="80"/>
                    <a:pt x="76" y="82"/>
                  </a:cubicBezTo>
                  <a:cubicBezTo>
                    <a:pt x="87" y="84"/>
                    <a:pt x="98" y="86"/>
                    <a:pt x="108" y="87"/>
                  </a:cubicBezTo>
                  <a:cubicBezTo>
                    <a:pt x="119" y="88"/>
                    <a:pt x="129" y="89"/>
                    <a:pt x="139" y="89"/>
                  </a:cubicBezTo>
                  <a:cubicBezTo>
                    <a:pt x="149" y="90"/>
                    <a:pt x="158" y="90"/>
                    <a:pt x="165" y="90"/>
                  </a:cubicBezTo>
                  <a:cubicBezTo>
                    <a:pt x="173" y="90"/>
                    <a:pt x="182" y="90"/>
                    <a:pt x="191" y="89"/>
                  </a:cubicBezTo>
                  <a:cubicBezTo>
                    <a:pt x="201" y="89"/>
                    <a:pt x="211" y="88"/>
                    <a:pt x="222" y="87"/>
                  </a:cubicBezTo>
                  <a:cubicBezTo>
                    <a:pt x="233" y="86"/>
                    <a:pt x="244" y="84"/>
                    <a:pt x="254" y="82"/>
                  </a:cubicBezTo>
                  <a:cubicBezTo>
                    <a:pt x="265" y="80"/>
                    <a:pt x="275" y="78"/>
                    <a:pt x="285" y="75"/>
                  </a:cubicBezTo>
                  <a:cubicBezTo>
                    <a:pt x="294" y="72"/>
                    <a:pt x="303" y="69"/>
                    <a:pt x="310" y="65"/>
                  </a:cubicBezTo>
                  <a:cubicBezTo>
                    <a:pt x="318" y="61"/>
                    <a:pt x="324" y="56"/>
                    <a:pt x="328" y="51"/>
                  </a:cubicBezTo>
                  <a:cubicBezTo>
                    <a:pt x="329" y="50"/>
                    <a:pt x="329" y="49"/>
                    <a:pt x="330" y="48"/>
                  </a:cubicBezTo>
                  <a:cubicBezTo>
                    <a:pt x="331" y="47"/>
                    <a:pt x="331" y="46"/>
                    <a:pt x="331" y="45"/>
                  </a:cubicBezTo>
                  <a:cubicBezTo>
                    <a:pt x="331" y="41"/>
                    <a:pt x="329" y="38"/>
                    <a:pt x="326" y="35"/>
                  </a:cubicBezTo>
                  <a:cubicBezTo>
                    <a:pt x="323" y="32"/>
                    <a:pt x="319" y="29"/>
                    <a:pt x="314" y="27"/>
                  </a:cubicBezTo>
                  <a:cubicBezTo>
                    <a:pt x="310" y="24"/>
                    <a:pt x="305" y="22"/>
                    <a:pt x="300" y="20"/>
                  </a:cubicBezTo>
                  <a:cubicBezTo>
                    <a:pt x="295" y="18"/>
                    <a:pt x="292" y="16"/>
                    <a:pt x="289" y="15"/>
                  </a:cubicBezTo>
                  <a:cubicBezTo>
                    <a:pt x="279" y="12"/>
                    <a:pt x="270" y="10"/>
                    <a:pt x="259" y="8"/>
                  </a:cubicBezTo>
                  <a:cubicBezTo>
                    <a:pt x="249" y="6"/>
                    <a:pt x="238" y="4"/>
                    <a:pt x="228" y="2"/>
                  </a:cubicBezTo>
                  <a:cubicBezTo>
                    <a:pt x="217" y="1"/>
                    <a:pt x="207" y="1"/>
                    <a:pt x="196" y="1"/>
                  </a:cubicBezTo>
                  <a:cubicBezTo>
                    <a:pt x="185" y="0"/>
                    <a:pt x="175" y="0"/>
                    <a:pt x="165" y="0"/>
                  </a:cubicBezTo>
                  <a:cubicBezTo>
                    <a:pt x="155" y="0"/>
                    <a:pt x="145" y="0"/>
                    <a:pt x="135" y="1"/>
                  </a:cubicBezTo>
                  <a:cubicBezTo>
                    <a:pt x="124" y="1"/>
                    <a:pt x="113" y="1"/>
                    <a:pt x="103" y="2"/>
                  </a:cubicBezTo>
                  <a:cubicBezTo>
                    <a:pt x="92" y="4"/>
                    <a:pt x="81" y="6"/>
                    <a:pt x="71" y="8"/>
                  </a:cubicBezTo>
                  <a:cubicBezTo>
                    <a:pt x="61" y="10"/>
                    <a:pt x="51" y="12"/>
                    <a:pt x="42" y="15"/>
                  </a:cubicBezTo>
                  <a:cubicBezTo>
                    <a:pt x="39" y="16"/>
                    <a:pt x="35" y="18"/>
                    <a:pt x="30" y="20"/>
                  </a:cubicBezTo>
                  <a:cubicBezTo>
                    <a:pt x="25" y="22"/>
                    <a:pt x="21" y="24"/>
                    <a:pt x="16" y="27"/>
                  </a:cubicBezTo>
                  <a:cubicBezTo>
                    <a:pt x="12" y="29"/>
                    <a:pt x="8" y="32"/>
                    <a:pt x="4" y="35"/>
                  </a:cubicBezTo>
                  <a:cubicBezTo>
                    <a:pt x="1" y="38"/>
                    <a:pt x="0" y="41"/>
                    <a:pt x="0" y="45"/>
                  </a:cubicBezTo>
                  <a:cubicBezTo>
                    <a:pt x="0" y="46"/>
                    <a:pt x="0" y="47"/>
                    <a:pt x="0" y="48"/>
                  </a:cubicBezTo>
                  <a:cubicBezTo>
                    <a:pt x="1" y="49"/>
                    <a:pt x="2" y="50"/>
                    <a:pt x="3" y="51"/>
                  </a:cubicBezTo>
                  <a:close/>
                </a:path>
              </a:pathLst>
            </a:custGeom>
            <a:solidFill>
              <a:schemeClr val="accent6">
                <a:lumMod val="50000"/>
              </a:schemeClr>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black"/>
                </a:solidFill>
                <a:effectLst/>
                <a:uLnTx/>
                <a:uFillTx/>
                <a:latin typeface="Segoe UI"/>
                <a:ea typeface="+mn-ea"/>
                <a:cs typeface="+mn-cs"/>
              </a:endParaRPr>
            </a:p>
          </p:txBody>
        </p:sp>
      </p:grpSp>
      <p:sp>
        <p:nvSpPr>
          <p:cNvPr id="462" name="TextBox 461">
            <a:extLst>
              <a:ext uri="{FF2B5EF4-FFF2-40B4-BE49-F238E27FC236}">
                <a16:creationId xmlns:a16="http://schemas.microsoft.com/office/drawing/2014/main" id="{51F71688-A6A1-1127-66BF-23FC2134DA4D}"/>
              </a:ext>
            </a:extLst>
          </p:cNvPr>
          <p:cNvSpPr txBox="1"/>
          <p:nvPr/>
        </p:nvSpPr>
        <p:spPr>
          <a:xfrm>
            <a:off x="3944631" y="5436703"/>
            <a:ext cx="1583916" cy="253916"/>
          </a:xfrm>
          <a:prstGeom prst="rect">
            <a:avLst/>
          </a:prstGeom>
          <a:noFill/>
        </p:spPr>
        <p:txBody>
          <a:bodyPr wrap="square"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CA" sz="1050">
                <a:solidFill>
                  <a:prstClr val="black"/>
                </a:solidFill>
                <a:latin typeface="Segoe UI"/>
              </a:rPr>
              <a:t>Curated tables</a:t>
            </a:r>
            <a:endParaRPr kumimoji="0" lang="en-CA" sz="1050" i="0" u="none" strike="noStrike" kern="1200" cap="none" spc="0" normalizeH="0" baseline="0" noProof="0">
              <a:ln>
                <a:noFill/>
              </a:ln>
              <a:solidFill>
                <a:prstClr val="black"/>
              </a:solidFill>
              <a:effectLst/>
              <a:uLnTx/>
              <a:uFillTx/>
              <a:latin typeface="Segoe UI"/>
              <a:ea typeface="+mn-ea"/>
              <a:cs typeface="+mn-cs"/>
            </a:endParaRPr>
          </a:p>
        </p:txBody>
      </p:sp>
      <p:cxnSp>
        <p:nvCxnSpPr>
          <p:cNvPr id="465" name="Straight Arrow Connector 464">
            <a:extLst>
              <a:ext uri="{FF2B5EF4-FFF2-40B4-BE49-F238E27FC236}">
                <a16:creationId xmlns:a16="http://schemas.microsoft.com/office/drawing/2014/main" id="{6C8872C9-67A5-A0E3-285F-3E42EE44A9DB}"/>
              </a:ext>
            </a:extLst>
          </p:cNvPr>
          <p:cNvCxnSpPr>
            <a:cxnSpLocks/>
          </p:cNvCxnSpPr>
          <p:nvPr/>
        </p:nvCxnSpPr>
        <p:spPr>
          <a:xfrm>
            <a:off x="3751484" y="5106195"/>
            <a:ext cx="298634" cy="0"/>
          </a:xfrm>
          <a:prstGeom prst="straightConnector1">
            <a:avLst/>
          </a:prstGeom>
          <a:ln w="3175">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68" name="TextBox 467">
            <a:extLst>
              <a:ext uri="{FF2B5EF4-FFF2-40B4-BE49-F238E27FC236}">
                <a16:creationId xmlns:a16="http://schemas.microsoft.com/office/drawing/2014/main" id="{FDC2FFA6-4D0D-8D31-09CD-6E230691532A}"/>
              </a:ext>
            </a:extLst>
          </p:cNvPr>
          <p:cNvSpPr txBox="1"/>
          <p:nvPr/>
        </p:nvSpPr>
        <p:spPr>
          <a:xfrm>
            <a:off x="1602946" y="5395522"/>
            <a:ext cx="1636702" cy="415498"/>
          </a:xfrm>
          <a:prstGeom prst="rect">
            <a:avLst/>
          </a:prstGeom>
          <a:noFill/>
        </p:spPr>
        <p:txBody>
          <a:bodyPr wrap="square"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CA" sz="1050" i="0" strike="noStrike" kern="1200" cap="none" spc="0" normalizeH="0" baseline="0" noProof="0">
                <a:ln>
                  <a:noFill/>
                </a:ln>
                <a:solidFill>
                  <a:prstClr val="black"/>
                </a:solidFill>
                <a:effectLst/>
                <a:uLnTx/>
                <a:uFillTx/>
                <a:latin typeface="Segoe UI"/>
                <a:ea typeface="+mn-ea"/>
                <a:cs typeface="+mn-cs"/>
              </a:rPr>
              <a:t>Pipeline</a:t>
            </a:r>
          </a:p>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CA" sz="1050" i="0" u="none" strike="noStrike" kern="1200" cap="none" spc="0" normalizeH="0" baseline="0" noProof="0">
              <a:ln>
                <a:noFill/>
              </a:ln>
              <a:solidFill>
                <a:prstClr val="black"/>
              </a:solidFill>
              <a:effectLst/>
              <a:uLnTx/>
              <a:uFillTx/>
              <a:latin typeface="Segoe UI"/>
              <a:ea typeface="+mn-ea"/>
              <a:cs typeface="+mn-cs"/>
            </a:endParaRPr>
          </a:p>
        </p:txBody>
      </p:sp>
      <p:cxnSp>
        <p:nvCxnSpPr>
          <p:cNvPr id="472" name="Straight Arrow Connector 471">
            <a:extLst>
              <a:ext uri="{FF2B5EF4-FFF2-40B4-BE49-F238E27FC236}">
                <a16:creationId xmlns:a16="http://schemas.microsoft.com/office/drawing/2014/main" id="{E5A6891B-94DB-E464-687A-2E0B20216694}"/>
              </a:ext>
            </a:extLst>
          </p:cNvPr>
          <p:cNvCxnSpPr>
            <a:cxnSpLocks/>
          </p:cNvCxnSpPr>
          <p:nvPr/>
        </p:nvCxnSpPr>
        <p:spPr>
          <a:xfrm>
            <a:off x="2744723" y="5127008"/>
            <a:ext cx="298634" cy="0"/>
          </a:xfrm>
          <a:prstGeom prst="straightConnector1">
            <a:avLst/>
          </a:prstGeom>
          <a:ln w="3175">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75" name="TextBox 474">
            <a:extLst>
              <a:ext uri="{FF2B5EF4-FFF2-40B4-BE49-F238E27FC236}">
                <a16:creationId xmlns:a16="http://schemas.microsoft.com/office/drawing/2014/main" id="{05DFDD00-1D24-F6D9-3D53-BD242FD24FDF}"/>
              </a:ext>
            </a:extLst>
          </p:cNvPr>
          <p:cNvSpPr txBox="1"/>
          <p:nvPr/>
        </p:nvSpPr>
        <p:spPr>
          <a:xfrm>
            <a:off x="6507217" y="2844049"/>
            <a:ext cx="1186739" cy="577081"/>
          </a:xfrm>
          <a:prstGeom prst="rect">
            <a:avLst/>
          </a:prstGeom>
          <a:noFill/>
        </p:spPr>
        <p:txBody>
          <a:bodyPr wrap="square"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CA" sz="1050">
                <a:solidFill>
                  <a:prstClr val="black"/>
                </a:solidFill>
                <a:latin typeface="Segoe UI"/>
              </a:rPr>
              <a:t>PBI report via Direct Lake</a:t>
            </a:r>
            <a:endParaRPr kumimoji="0" lang="en-CA" sz="1050" i="0" u="none" strike="noStrike" kern="1200" cap="none" spc="0" normalizeH="0" baseline="0" noProof="0">
              <a:ln>
                <a:noFill/>
              </a:ln>
              <a:solidFill>
                <a:prstClr val="black"/>
              </a:solidFill>
              <a:effectLst/>
              <a:uLnTx/>
              <a:uFillTx/>
              <a:latin typeface="Segoe UI"/>
              <a:ea typeface="+mn-ea"/>
              <a:cs typeface="+mn-cs"/>
            </a:endParaRPr>
          </a:p>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CA" sz="1050" i="0" u="none" strike="noStrike" kern="1200" cap="none" spc="0" normalizeH="0" baseline="0" noProof="0">
              <a:ln>
                <a:noFill/>
              </a:ln>
              <a:solidFill>
                <a:prstClr val="black"/>
              </a:solidFill>
              <a:effectLst/>
              <a:uLnTx/>
              <a:uFillTx/>
              <a:latin typeface="Segoe UI"/>
              <a:ea typeface="+mn-ea"/>
              <a:cs typeface="+mn-cs"/>
            </a:endParaRPr>
          </a:p>
        </p:txBody>
      </p:sp>
      <p:pic>
        <p:nvPicPr>
          <p:cNvPr id="477" name="Picture 6" descr="Course, courses, learning, online, teaching, tutorial, video icon">
            <a:extLst>
              <a:ext uri="{FF2B5EF4-FFF2-40B4-BE49-F238E27FC236}">
                <a16:creationId xmlns:a16="http://schemas.microsoft.com/office/drawing/2014/main" id="{396D9D18-BF6A-3F27-1F1E-EB7F2ECE4DA1}"/>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295900" y="2201148"/>
            <a:ext cx="617925" cy="617925"/>
          </a:xfrm>
          <a:prstGeom prst="rect">
            <a:avLst/>
          </a:prstGeom>
          <a:noFill/>
          <a:extLst>
            <a:ext uri="{909E8E84-426E-40DD-AFC4-6F175D3DCCD1}">
              <a14:hiddenFill xmlns:a14="http://schemas.microsoft.com/office/drawing/2010/main">
                <a:solidFill>
                  <a:srgbClr val="FFFFFF"/>
                </a:solidFill>
              </a14:hiddenFill>
            </a:ext>
          </a:extLst>
        </p:spPr>
      </p:pic>
      <p:sp>
        <p:nvSpPr>
          <p:cNvPr id="478" name="TextBox 477">
            <a:extLst>
              <a:ext uri="{FF2B5EF4-FFF2-40B4-BE49-F238E27FC236}">
                <a16:creationId xmlns:a16="http://schemas.microsoft.com/office/drawing/2014/main" id="{F3A0795E-CBD6-A311-8EFF-6A2C2C3B832E}"/>
              </a:ext>
            </a:extLst>
          </p:cNvPr>
          <p:cNvSpPr txBox="1"/>
          <p:nvPr/>
        </p:nvSpPr>
        <p:spPr>
          <a:xfrm>
            <a:off x="8011494" y="2889252"/>
            <a:ext cx="1186739" cy="253916"/>
          </a:xfrm>
          <a:prstGeom prst="rect">
            <a:avLst/>
          </a:prstGeom>
          <a:noFill/>
        </p:spPr>
        <p:txBody>
          <a:bodyPr wrap="square"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CA" sz="1050">
                <a:solidFill>
                  <a:prstClr val="black"/>
                </a:solidFill>
                <a:latin typeface="Segoe UI"/>
              </a:rPr>
              <a:t>Team App</a:t>
            </a:r>
            <a:endParaRPr kumimoji="0" lang="en-CA" sz="1050" i="0" u="none" strike="noStrike" kern="1200" cap="none" spc="0" normalizeH="0" baseline="0" noProof="0">
              <a:ln>
                <a:noFill/>
              </a:ln>
              <a:solidFill>
                <a:prstClr val="black"/>
              </a:solidFill>
              <a:effectLst/>
              <a:uLnTx/>
              <a:uFillTx/>
              <a:latin typeface="Segoe UI"/>
              <a:ea typeface="+mn-ea"/>
              <a:cs typeface="+mn-cs"/>
            </a:endParaRPr>
          </a:p>
        </p:txBody>
      </p:sp>
      <p:sp>
        <p:nvSpPr>
          <p:cNvPr id="481" name="Rectangle 480">
            <a:extLst>
              <a:ext uri="{FF2B5EF4-FFF2-40B4-BE49-F238E27FC236}">
                <a16:creationId xmlns:a16="http://schemas.microsoft.com/office/drawing/2014/main" id="{25B97BD2-DA9A-8C2B-52EA-F9B4BA5CB3D3}"/>
              </a:ext>
            </a:extLst>
          </p:cNvPr>
          <p:cNvSpPr/>
          <p:nvPr/>
        </p:nvSpPr>
        <p:spPr>
          <a:xfrm>
            <a:off x="5951080" y="4275693"/>
            <a:ext cx="3516938" cy="546632"/>
          </a:xfrm>
          <a:prstGeom prst="rect">
            <a:avLst/>
          </a:prstGeom>
          <a:solidFill>
            <a:srgbClr val="FF993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6772" tIns="63386" rIns="126772" bIns="63386" numCol="1" spcCol="0" rtlCol="0" fromWordArt="0" anchor="ctr" anchorCtr="0" forceAA="0" compatLnSpc="1">
            <a:prstTxWarp prst="textNoShape">
              <a:avLst/>
            </a:prstTxWarp>
            <a:no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1600" b="1">
                <a:solidFill>
                  <a:prstClr val="white"/>
                </a:solidFill>
                <a:latin typeface="Segoe UI"/>
              </a:rPr>
              <a:t>Triton Environment 2</a:t>
            </a:r>
            <a:br>
              <a:rPr lang="en-US" sz="1600" b="1">
                <a:solidFill>
                  <a:prstClr val="white"/>
                </a:solidFill>
                <a:latin typeface="Segoe UI"/>
              </a:rPr>
            </a:br>
            <a:r>
              <a:rPr lang="en-US" sz="1400" b="1">
                <a:solidFill>
                  <a:prstClr val="white"/>
                </a:solidFill>
                <a:latin typeface="Segoe UI"/>
              </a:rPr>
              <a:t>Triton dedicated Fabric workspaces</a:t>
            </a:r>
            <a:endParaRPr kumimoji="0" lang="en-US" sz="1400" b="1" i="0" u="none" strike="noStrike" kern="1200" cap="none" spc="0" normalizeH="0" baseline="0" noProof="0">
              <a:ln>
                <a:noFill/>
              </a:ln>
              <a:solidFill>
                <a:prstClr val="white"/>
              </a:solidFill>
              <a:effectLst/>
              <a:uLnTx/>
              <a:uFillTx/>
              <a:latin typeface="Segoe UI"/>
              <a:ea typeface="+mn-ea"/>
              <a:cs typeface="+mn-cs"/>
            </a:endParaRPr>
          </a:p>
        </p:txBody>
      </p:sp>
      <p:sp>
        <p:nvSpPr>
          <p:cNvPr id="487" name="TextBox 486">
            <a:extLst>
              <a:ext uri="{FF2B5EF4-FFF2-40B4-BE49-F238E27FC236}">
                <a16:creationId xmlns:a16="http://schemas.microsoft.com/office/drawing/2014/main" id="{291101BC-4356-2C4A-F2AD-2235CA66E4C8}"/>
              </a:ext>
            </a:extLst>
          </p:cNvPr>
          <p:cNvSpPr txBox="1"/>
          <p:nvPr/>
        </p:nvSpPr>
        <p:spPr>
          <a:xfrm>
            <a:off x="5993961" y="5613872"/>
            <a:ext cx="1080454" cy="692497"/>
          </a:xfrm>
          <a:prstGeom prst="rect">
            <a:avLst/>
          </a:prstGeom>
          <a:noFill/>
        </p:spPr>
        <p:txBody>
          <a:bodyPr wrap="square"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CA" sz="1050">
                <a:solidFill>
                  <a:prstClr val="black"/>
                </a:solidFill>
                <a:latin typeface="Segoe UI"/>
              </a:rPr>
              <a:t>Pipeline </a:t>
            </a:r>
          </a:p>
          <a:p>
            <a:pPr marL="0" marR="0" lvl="0" indent="0" algn="ctr" defTabSz="914377" rtl="0" eaLnBrk="1" fontAlgn="auto" latinLnBrk="0" hangingPunct="1">
              <a:lnSpc>
                <a:spcPct val="100000"/>
              </a:lnSpc>
              <a:spcBef>
                <a:spcPts val="0"/>
              </a:spcBef>
              <a:spcAft>
                <a:spcPts val="0"/>
              </a:spcAft>
              <a:buClrTx/>
              <a:buSzTx/>
              <a:buFontTx/>
              <a:buNone/>
              <a:tabLst/>
              <a:defRPr/>
            </a:pPr>
            <a:r>
              <a:rPr lang="en-CA" sz="900">
                <a:solidFill>
                  <a:prstClr val="black"/>
                </a:solidFill>
                <a:latin typeface="Segoe UI"/>
              </a:rPr>
              <a:t>(dataflow, copy data, notebook)</a:t>
            </a:r>
            <a:endParaRPr kumimoji="0" lang="en-CA" sz="900" i="0" u="none" strike="noStrike" kern="1200" cap="none" spc="0" normalizeH="0" baseline="0" noProof="0">
              <a:ln>
                <a:noFill/>
              </a:ln>
              <a:solidFill>
                <a:prstClr val="black"/>
              </a:solidFill>
              <a:effectLst/>
              <a:uLnTx/>
              <a:uFillTx/>
              <a:latin typeface="Segoe UI"/>
              <a:ea typeface="+mn-ea"/>
              <a:cs typeface="+mn-cs"/>
            </a:endParaRPr>
          </a:p>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CA" sz="1050" i="0" u="none" strike="noStrike" kern="1200" cap="none" spc="0" normalizeH="0" baseline="0" noProof="0">
              <a:ln>
                <a:noFill/>
              </a:ln>
              <a:solidFill>
                <a:prstClr val="black"/>
              </a:solidFill>
              <a:effectLst/>
              <a:uLnTx/>
              <a:uFillTx/>
              <a:latin typeface="Segoe UI"/>
              <a:ea typeface="+mn-ea"/>
              <a:cs typeface="+mn-cs"/>
            </a:endParaRPr>
          </a:p>
        </p:txBody>
      </p:sp>
      <p:cxnSp>
        <p:nvCxnSpPr>
          <p:cNvPr id="502" name="Straight Arrow Connector 501">
            <a:extLst>
              <a:ext uri="{FF2B5EF4-FFF2-40B4-BE49-F238E27FC236}">
                <a16:creationId xmlns:a16="http://schemas.microsoft.com/office/drawing/2014/main" id="{26B1182C-9D1A-38BE-F309-9498009EBD4D}"/>
              </a:ext>
            </a:extLst>
          </p:cNvPr>
          <p:cNvCxnSpPr>
            <a:cxnSpLocks/>
          </p:cNvCxnSpPr>
          <p:nvPr/>
        </p:nvCxnSpPr>
        <p:spPr>
          <a:xfrm flipV="1">
            <a:off x="5482130" y="5358455"/>
            <a:ext cx="468833" cy="2804"/>
          </a:xfrm>
          <a:prstGeom prst="straightConnector1">
            <a:avLst/>
          </a:prstGeom>
          <a:ln w="3175">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76" name="TextBox 275">
            <a:extLst>
              <a:ext uri="{FF2B5EF4-FFF2-40B4-BE49-F238E27FC236}">
                <a16:creationId xmlns:a16="http://schemas.microsoft.com/office/drawing/2014/main" id="{6980C6C3-A6BC-1EF5-5315-A663A39674E9}"/>
              </a:ext>
            </a:extLst>
          </p:cNvPr>
          <p:cNvSpPr txBox="1"/>
          <p:nvPr/>
        </p:nvSpPr>
        <p:spPr>
          <a:xfrm>
            <a:off x="1635630" y="3849624"/>
            <a:ext cx="2766526" cy="253916"/>
          </a:xfrm>
          <a:prstGeom prst="rect">
            <a:avLst/>
          </a:prstGeom>
          <a:noFill/>
        </p:spPr>
        <p:txBody>
          <a:bodyPr wrap="square"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CA" sz="1050" i="0" u="none" strike="noStrike" kern="1200" cap="none" spc="0" normalizeH="0" baseline="0" noProof="0">
                <a:ln>
                  <a:noFill/>
                </a:ln>
                <a:solidFill>
                  <a:prstClr val="black"/>
                </a:solidFill>
                <a:effectLst/>
                <a:uLnTx/>
                <a:uFillTx/>
                <a:latin typeface="Segoe UI"/>
                <a:ea typeface="+mn-ea"/>
                <a:cs typeface="+mn-cs"/>
              </a:rPr>
              <a:t>Third </a:t>
            </a:r>
            <a:r>
              <a:rPr lang="en-CA" sz="1050">
                <a:solidFill>
                  <a:prstClr val="black"/>
                </a:solidFill>
                <a:latin typeface="Segoe UI"/>
              </a:rPr>
              <a:t>Party </a:t>
            </a:r>
            <a:r>
              <a:rPr kumimoji="0" lang="en-CA" sz="1050" i="0" u="none" strike="noStrike" kern="1200" cap="none" spc="0" normalizeH="0" baseline="0" noProof="0">
                <a:ln>
                  <a:noFill/>
                </a:ln>
                <a:solidFill>
                  <a:prstClr val="black"/>
                </a:solidFill>
                <a:effectLst/>
                <a:uLnTx/>
                <a:uFillTx/>
                <a:latin typeface="Segoe UI"/>
                <a:ea typeface="+mn-ea"/>
                <a:cs typeface="+mn-cs"/>
              </a:rPr>
              <a:t>User data (non-managed)</a:t>
            </a:r>
          </a:p>
        </p:txBody>
      </p:sp>
      <p:cxnSp>
        <p:nvCxnSpPr>
          <p:cNvPr id="290" name="Straight Arrow Connector 289">
            <a:extLst>
              <a:ext uri="{FF2B5EF4-FFF2-40B4-BE49-F238E27FC236}">
                <a16:creationId xmlns:a16="http://schemas.microsoft.com/office/drawing/2014/main" id="{2BAF7AB1-CBF5-36F5-CD3D-80C7CA6766C5}"/>
              </a:ext>
            </a:extLst>
          </p:cNvPr>
          <p:cNvCxnSpPr>
            <a:cxnSpLocks/>
          </p:cNvCxnSpPr>
          <p:nvPr/>
        </p:nvCxnSpPr>
        <p:spPr>
          <a:xfrm>
            <a:off x="7698103" y="2497146"/>
            <a:ext cx="298634" cy="0"/>
          </a:xfrm>
          <a:prstGeom prst="straightConnector1">
            <a:avLst/>
          </a:prstGeom>
          <a:ln w="3175">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292" name="Picture 291">
            <a:extLst>
              <a:ext uri="{FF2B5EF4-FFF2-40B4-BE49-F238E27FC236}">
                <a16:creationId xmlns:a16="http://schemas.microsoft.com/office/drawing/2014/main" id="{268C3AD7-15DB-C299-3BE0-23BA9FFB3AF2}"/>
              </a:ext>
            </a:extLst>
          </p:cNvPr>
          <p:cNvPicPr>
            <a:picLocks noChangeAspect="1"/>
          </p:cNvPicPr>
          <p:nvPr/>
        </p:nvPicPr>
        <p:blipFill>
          <a:blip r:embed="rId8"/>
          <a:stretch>
            <a:fillRect/>
          </a:stretch>
        </p:blipFill>
        <p:spPr>
          <a:xfrm>
            <a:off x="2643353" y="3544331"/>
            <a:ext cx="356765" cy="341665"/>
          </a:xfrm>
          <a:prstGeom prst="rect">
            <a:avLst/>
          </a:prstGeom>
        </p:spPr>
      </p:pic>
      <p:sp>
        <p:nvSpPr>
          <p:cNvPr id="299" name="TextBox 298">
            <a:extLst>
              <a:ext uri="{FF2B5EF4-FFF2-40B4-BE49-F238E27FC236}">
                <a16:creationId xmlns:a16="http://schemas.microsoft.com/office/drawing/2014/main" id="{CD3F4772-9241-C877-1F84-26F885F6EEF3}"/>
              </a:ext>
            </a:extLst>
          </p:cNvPr>
          <p:cNvSpPr txBox="1"/>
          <p:nvPr/>
        </p:nvSpPr>
        <p:spPr>
          <a:xfrm>
            <a:off x="2180386" y="2757653"/>
            <a:ext cx="1337877" cy="415498"/>
          </a:xfrm>
          <a:prstGeom prst="rect">
            <a:avLst/>
          </a:prstGeom>
          <a:noFill/>
        </p:spPr>
        <p:txBody>
          <a:bodyPr wrap="square"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CA" sz="1050" err="1">
                <a:solidFill>
                  <a:prstClr val="black"/>
                </a:solidFill>
                <a:latin typeface="Segoe UI"/>
              </a:rPr>
              <a:t>OneLake</a:t>
            </a:r>
            <a:r>
              <a:rPr lang="en-CA" sz="1050">
                <a:solidFill>
                  <a:prstClr val="black"/>
                </a:solidFill>
                <a:latin typeface="Segoe UI"/>
              </a:rPr>
              <a:t> file explorer</a:t>
            </a:r>
            <a:endParaRPr kumimoji="0" lang="en-CA" sz="1050" i="0" u="none" strike="noStrike" kern="1200" cap="none" spc="0" normalizeH="0" baseline="0" noProof="0">
              <a:ln>
                <a:noFill/>
              </a:ln>
              <a:solidFill>
                <a:prstClr val="black"/>
              </a:solidFill>
              <a:effectLst/>
              <a:uLnTx/>
              <a:uFillTx/>
              <a:latin typeface="Segoe UI"/>
              <a:ea typeface="+mn-ea"/>
              <a:cs typeface="+mn-cs"/>
            </a:endParaRPr>
          </a:p>
        </p:txBody>
      </p:sp>
      <p:cxnSp>
        <p:nvCxnSpPr>
          <p:cNvPr id="2049" name="Straight Arrow Connector 2048">
            <a:extLst>
              <a:ext uri="{FF2B5EF4-FFF2-40B4-BE49-F238E27FC236}">
                <a16:creationId xmlns:a16="http://schemas.microsoft.com/office/drawing/2014/main" id="{CAA501B5-A80A-420E-FF3E-AC77D3F95B07}"/>
              </a:ext>
            </a:extLst>
          </p:cNvPr>
          <p:cNvCxnSpPr>
            <a:cxnSpLocks/>
          </p:cNvCxnSpPr>
          <p:nvPr/>
        </p:nvCxnSpPr>
        <p:spPr>
          <a:xfrm flipV="1">
            <a:off x="1036684" y="3299101"/>
            <a:ext cx="147296" cy="1410276"/>
          </a:xfrm>
          <a:prstGeom prst="straightConnector1">
            <a:avLst/>
          </a:prstGeom>
          <a:ln w="3175">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055" name="Straight Connector 2054">
            <a:extLst>
              <a:ext uri="{FF2B5EF4-FFF2-40B4-BE49-F238E27FC236}">
                <a16:creationId xmlns:a16="http://schemas.microsoft.com/office/drawing/2014/main" id="{BC5893A2-AB11-ADE6-EEE5-1DF8DBF3C8BE}"/>
              </a:ext>
            </a:extLst>
          </p:cNvPr>
          <p:cNvCxnSpPr/>
          <p:nvPr/>
        </p:nvCxnSpPr>
        <p:spPr>
          <a:xfrm>
            <a:off x="113211" y="4182814"/>
            <a:ext cx="11965577" cy="0"/>
          </a:xfrm>
          <a:prstGeom prst="line">
            <a:avLst/>
          </a:prstGeom>
          <a:ln w="19050">
            <a:solidFill>
              <a:schemeClr val="bg1">
                <a:lumMod val="50000"/>
              </a:schemeClr>
            </a:solidFill>
            <a:prstDash val="lgDashDot"/>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37EF31BF-3EC6-AF83-7684-CBAE9833D178}"/>
              </a:ext>
            </a:extLst>
          </p:cNvPr>
          <p:cNvSpPr txBox="1"/>
          <p:nvPr/>
        </p:nvSpPr>
        <p:spPr>
          <a:xfrm>
            <a:off x="7078890" y="5557189"/>
            <a:ext cx="1080454" cy="415498"/>
          </a:xfrm>
          <a:prstGeom prst="rect">
            <a:avLst/>
          </a:prstGeom>
          <a:noFill/>
        </p:spPr>
        <p:txBody>
          <a:bodyPr wrap="square"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CA" sz="1050">
                <a:solidFill>
                  <a:prstClr val="black"/>
                </a:solidFill>
                <a:latin typeface="Segoe UI"/>
              </a:rPr>
              <a:t>Lakehouse</a:t>
            </a:r>
            <a:endParaRPr kumimoji="0" lang="en-CA" sz="1050" i="0" u="none" strike="noStrike" kern="1200" cap="none" spc="0" normalizeH="0" baseline="0" noProof="0">
              <a:ln>
                <a:noFill/>
              </a:ln>
              <a:solidFill>
                <a:prstClr val="black"/>
              </a:solidFill>
              <a:effectLst/>
              <a:uLnTx/>
              <a:uFillTx/>
              <a:latin typeface="Segoe UI"/>
              <a:ea typeface="+mn-ea"/>
              <a:cs typeface="+mn-cs"/>
            </a:endParaRPr>
          </a:p>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CA" sz="1050" i="0" u="none" strike="noStrike" kern="1200" cap="none" spc="0" normalizeH="0" baseline="0" noProof="0">
              <a:ln>
                <a:noFill/>
              </a:ln>
              <a:solidFill>
                <a:prstClr val="black"/>
              </a:solidFill>
              <a:effectLst/>
              <a:uLnTx/>
              <a:uFillTx/>
              <a:latin typeface="Segoe UI"/>
              <a:ea typeface="+mn-ea"/>
              <a:cs typeface="+mn-cs"/>
            </a:endParaRPr>
          </a:p>
        </p:txBody>
      </p:sp>
      <p:cxnSp>
        <p:nvCxnSpPr>
          <p:cNvPr id="13" name="Straight Arrow Connector 12">
            <a:extLst>
              <a:ext uri="{FF2B5EF4-FFF2-40B4-BE49-F238E27FC236}">
                <a16:creationId xmlns:a16="http://schemas.microsoft.com/office/drawing/2014/main" id="{382232B3-AE27-00E8-0AF7-2B632B5866C2}"/>
              </a:ext>
            </a:extLst>
          </p:cNvPr>
          <p:cNvCxnSpPr>
            <a:cxnSpLocks/>
          </p:cNvCxnSpPr>
          <p:nvPr/>
        </p:nvCxnSpPr>
        <p:spPr>
          <a:xfrm>
            <a:off x="6929573" y="5300218"/>
            <a:ext cx="298634" cy="0"/>
          </a:xfrm>
          <a:prstGeom prst="straightConnector1">
            <a:avLst/>
          </a:prstGeom>
          <a:ln w="3175">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24" name="Picture 14" descr="Notebook Icon Png #113514 - Free Icons Library">
            <a:extLst>
              <a:ext uri="{FF2B5EF4-FFF2-40B4-BE49-F238E27FC236}">
                <a16:creationId xmlns:a16="http://schemas.microsoft.com/office/drawing/2014/main" id="{A8EA6115-51E4-B092-DB9A-EBD920EDC1BC}"/>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507897" y="5127008"/>
            <a:ext cx="375119" cy="292761"/>
          </a:xfrm>
          <a:prstGeom prst="rect">
            <a:avLst/>
          </a:prstGeom>
          <a:noFill/>
          <a:extLst>
            <a:ext uri="{909E8E84-426E-40DD-AFC4-6F175D3DCCD1}">
              <a14:hiddenFill xmlns:a14="http://schemas.microsoft.com/office/drawing/2010/main">
                <a:solidFill>
                  <a:srgbClr val="FFFFFF"/>
                </a:solidFill>
              </a14:hiddenFill>
            </a:ext>
          </a:extLst>
        </p:spPr>
      </p:pic>
      <p:pic>
        <p:nvPicPr>
          <p:cNvPr id="29" name="Graphic 28">
            <a:extLst>
              <a:ext uri="{FF2B5EF4-FFF2-40B4-BE49-F238E27FC236}">
                <a16:creationId xmlns:a16="http://schemas.microsoft.com/office/drawing/2014/main" id="{606474B1-A151-F53A-C242-DFAEC0B87922}"/>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7412167" y="4993771"/>
            <a:ext cx="463282" cy="477760"/>
          </a:xfrm>
          <a:prstGeom prst="rect">
            <a:avLst/>
          </a:prstGeom>
        </p:spPr>
      </p:pic>
      <p:sp>
        <p:nvSpPr>
          <p:cNvPr id="33" name="TextBox 32">
            <a:extLst>
              <a:ext uri="{FF2B5EF4-FFF2-40B4-BE49-F238E27FC236}">
                <a16:creationId xmlns:a16="http://schemas.microsoft.com/office/drawing/2014/main" id="{E0F17668-5AF9-B0E4-82E6-91392DA66134}"/>
              </a:ext>
            </a:extLst>
          </p:cNvPr>
          <p:cNvSpPr txBox="1"/>
          <p:nvPr/>
        </p:nvSpPr>
        <p:spPr>
          <a:xfrm>
            <a:off x="3706859" y="3119222"/>
            <a:ext cx="846539" cy="253916"/>
          </a:xfrm>
          <a:prstGeom prst="rect">
            <a:avLst/>
          </a:prstGeom>
          <a:noFill/>
        </p:spPr>
        <p:txBody>
          <a:bodyPr wrap="square"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CA" sz="1050" i="0" strike="noStrike" kern="1200" cap="none" spc="0" normalizeH="0" baseline="0" noProof="0">
                <a:ln>
                  <a:noFill/>
                </a:ln>
                <a:solidFill>
                  <a:prstClr val="black"/>
                </a:solidFill>
                <a:effectLst/>
                <a:uLnTx/>
                <a:uFillTx/>
                <a:latin typeface="Segoe UI"/>
                <a:ea typeface="+mn-ea"/>
                <a:cs typeface="+mn-cs"/>
              </a:rPr>
              <a:t>Pipeline</a:t>
            </a:r>
          </a:p>
        </p:txBody>
      </p:sp>
      <p:pic>
        <p:nvPicPr>
          <p:cNvPr id="34" name="Picture 2" descr="OneLake">
            <a:extLst>
              <a:ext uri="{FF2B5EF4-FFF2-40B4-BE49-F238E27FC236}">
                <a16:creationId xmlns:a16="http://schemas.microsoft.com/office/drawing/2014/main" id="{8F3A01E9-C5E7-446F-30C7-61274A072BD4}"/>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648221" y="2391775"/>
            <a:ext cx="370672" cy="390122"/>
          </a:xfrm>
          <a:prstGeom prst="rect">
            <a:avLst/>
          </a:prstGeom>
          <a:noFill/>
          <a:extLst>
            <a:ext uri="{909E8E84-426E-40DD-AFC4-6F175D3DCCD1}">
              <a14:hiddenFill xmlns:a14="http://schemas.microsoft.com/office/drawing/2010/main">
                <a:solidFill>
                  <a:srgbClr val="FFFFFF"/>
                </a:solidFill>
              </a14:hiddenFill>
            </a:ext>
          </a:extLst>
        </p:spPr>
      </p:pic>
      <p:pic>
        <p:nvPicPr>
          <p:cNvPr id="11" name="Graphic 10">
            <a:extLst>
              <a:ext uri="{FF2B5EF4-FFF2-40B4-BE49-F238E27FC236}">
                <a16:creationId xmlns:a16="http://schemas.microsoft.com/office/drawing/2014/main" id="{343302B4-16A0-E44D-D35F-EDE92B1EDB2B}"/>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941661" y="2503260"/>
            <a:ext cx="564257" cy="581891"/>
          </a:xfrm>
          <a:prstGeom prst="rect">
            <a:avLst/>
          </a:prstGeom>
        </p:spPr>
      </p:pic>
      <p:pic>
        <p:nvPicPr>
          <p:cNvPr id="42" name="Picture 14" descr="Notebook Icon Png #113514 - Free Icons Library">
            <a:extLst>
              <a:ext uri="{FF2B5EF4-FFF2-40B4-BE49-F238E27FC236}">
                <a16:creationId xmlns:a16="http://schemas.microsoft.com/office/drawing/2014/main" id="{400D58DD-845C-9526-BC9A-B1A284204155}"/>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909393" y="1495415"/>
            <a:ext cx="520605" cy="469585"/>
          </a:xfrm>
          <a:prstGeom prst="rect">
            <a:avLst/>
          </a:prstGeom>
          <a:noFill/>
          <a:extLst>
            <a:ext uri="{909E8E84-426E-40DD-AFC4-6F175D3DCCD1}">
              <a14:hiddenFill xmlns:a14="http://schemas.microsoft.com/office/drawing/2010/main">
                <a:solidFill>
                  <a:srgbClr val="FFFFFF"/>
                </a:solidFill>
              </a14:hiddenFill>
            </a:ext>
          </a:extLst>
        </p:spPr>
      </p:pic>
      <p:cxnSp>
        <p:nvCxnSpPr>
          <p:cNvPr id="46" name="Straight Arrow Connector 45">
            <a:extLst>
              <a:ext uri="{FF2B5EF4-FFF2-40B4-BE49-F238E27FC236}">
                <a16:creationId xmlns:a16="http://schemas.microsoft.com/office/drawing/2014/main" id="{D729AD93-F428-9085-92C7-F8656F9FE728}"/>
              </a:ext>
            </a:extLst>
          </p:cNvPr>
          <p:cNvCxnSpPr>
            <a:cxnSpLocks/>
          </p:cNvCxnSpPr>
          <p:nvPr/>
        </p:nvCxnSpPr>
        <p:spPr>
          <a:xfrm flipV="1">
            <a:off x="4407816" y="2861187"/>
            <a:ext cx="449360" cy="141525"/>
          </a:xfrm>
          <a:prstGeom prst="straightConnector1">
            <a:avLst/>
          </a:prstGeom>
          <a:ln w="3175">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48" name="Picture 47">
            <a:extLst>
              <a:ext uri="{FF2B5EF4-FFF2-40B4-BE49-F238E27FC236}">
                <a16:creationId xmlns:a16="http://schemas.microsoft.com/office/drawing/2014/main" id="{8EECBF04-22A3-A7E9-8130-A66191C21220}"/>
              </a:ext>
            </a:extLst>
          </p:cNvPr>
          <p:cNvPicPr>
            <a:picLocks noChangeAspect="1"/>
          </p:cNvPicPr>
          <p:nvPr/>
        </p:nvPicPr>
        <p:blipFill>
          <a:blip r:embed="rId12"/>
          <a:stretch>
            <a:fillRect/>
          </a:stretch>
        </p:blipFill>
        <p:spPr>
          <a:xfrm>
            <a:off x="10392131" y="2112276"/>
            <a:ext cx="653904" cy="554480"/>
          </a:xfrm>
          <a:prstGeom prst="rect">
            <a:avLst/>
          </a:prstGeom>
        </p:spPr>
      </p:pic>
      <p:cxnSp>
        <p:nvCxnSpPr>
          <p:cNvPr id="55" name="Straight Arrow Connector 54">
            <a:extLst>
              <a:ext uri="{FF2B5EF4-FFF2-40B4-BE49-F238E27FC236}">
                <a16:creationId xmlns:a16="http://schemas.microsoft.com/office/drawing/2014/main" id="{E00F4AF4-F2B4-6567-268B-FB531EFBB407}"/>
              </a:ext>
            </a:extLst>
          </p:cNvPr>
          <p:cNvCxnSpPr>
            <a:cxnSpLocks/>
          </p:cNvCxnSpPr>
          <p:nvPr/>
        </p:nvCxnSpPr>
        <p:spPr>
          <a:xfrm>
            <a:off x="5887768" y="2497146"/>
            <a:ext cx="476364" cy="0"/>
          </a:xfrm>
          <a:prstGeom prst="straightConnector1">
            <a:avLst/>
          </a:prstGeom>
          <a:ln w="3175">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90" name="Right Brace 489">
            <a:extLst>
              <a:ext uri="{FF2B5EF4-FFF2-40B4-BE49-F238E27FC236}">
                <a16:creationId xmlns:a16="http://schemas.microsoft.com/office/drawing/2014/main" id="{A6A51F7A-11EC-B480-6370-FE7DBC05A006}"/>
              </a:ext>
            </a:extLst>
          </p:cNvPr>
          <p:cNvSpPr/>
          <p:nvPr/>
        </p:nvSpPr>
        <p:spPr>
          <a:xfrm>
            <a:off x="9626261" y="1471352"/>
            <a:ext cx="385353" cy="1980034"/>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A"/>
          </a:p>
        </p:txBody>
      </p:sp>
      <p:pic>
        <p:nvPicPr>
          <p:cNvPr id="500" name="Picture 499">
            <a:extLst>
              <a:ext uri="{FF2B5EF4-FFF2-40B4-BE49-F238E27FC236}">
                <a16:creationId xmlns:a16="http://schemas.microsoft.com/office/drawing/2014/main" id="{95085946-197B-7FF7-DBA7-430B4C6A1116}"/>
              </a:ext>
            </a:extLst>
          </p:cNvPr>
          <p:cNvPicPr>
            <a:picLocks noChangeAspect="1"/>
          </p:cNvPicPr>
          <p:nvPr/>
        </p:nvPicPr>
        <p:blipFill>
          <a:blip r:embed="rId13"/>
          <a:stretch>
            <a:fillRect/>
          </a:stretch>
        </p:blipFill>
        <p:spPr>
          <a:xfrm>
            <a:off x="3122954" y="3525373"/>
            <a:ext cx="300602" cy="362602"/>
          </a:xfrm>
          <a:prstGeom prst="rect">
            <a:avLst/>
          </a:prstGeom>
        </p:spPr>
      </p:pic>
      <p:pic>
        <p:nvPicPr>
          <p:cNvPr id="504" name="Picture 503">
            <a:extLst>
              <a:ext uri="{FF2B5EF4-FFF2-40B4-BE49-F238E27FC236}">
                <a16:creationId xmlns:a16="http://schemas.microsoft.com/office/drawing/2014/main" id="{BA61D91B-03AC-D120-51C1-5DB4FAB05BA3}"/>
              </a:ext>
            </a:extLst>
          </p:cNvPr>
          <p:cNvPicPr>
            <a:picLocks noChangeAspect="1"/>
          </p:cNvPicPr>
          <p:nvPr/>
        </p:nvPicPr>
        <p:blipFill>
          <a:blip r:embed="rId14"/>
          <a:stretch>
            <a:fillRect/>
          </a:stretch>
        </p:blipFill>
        <p:spPr>
          <a:xfrm>
            <a:off x="2176228" y="3540523"/>
            <a:ext cx="293221" cy="264753"/>
          </a:xfrm>
          <a:prstGeom prst="rect">
            <a:avLst/>
          </a:prstGeom>
        </p:spPr>
      </p:pic>
      <p:pic>
        <p:nvPicPr>
          <p:cNvPr id="256" name="Picture 26" descr="Seo report Special Flat icon">
            <a:extLst>
              <a:ext uri="{FF2B5EF4-FFF2-40B4-BE49-F238E27FC236}">
                <a16:creationId xmlns:a16="http://schemas.microsoft.com/office/drawing/2014/main" id="{7E20B318-075D-3CFE-DD08-9088B41853BB}"/>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8858424" y="5135283"/>
            <a:ext cx="290218" cy="290218"/>
          </a:xfrm>
          <a:prstGeom prst="rect">
            <a:avLst/>
          </a:prstGeom>
          <a:noFill/>
          <a:extLst>
            <a:ext uri="{909E8E84-426E-40DD-AFC4-6F175D3DCCD1}">
              <a14:hiddenFill xmlns:a14="http://schemas.microsoft.com/office/drawing/2010/main">
                <a:solidFill>
                  <a:srgbClr val="FFFFFF"/>
                </a:solidFill>
              </a14:hiddenFill>
            </a:ext>
          </a:extLst>
        </p:spPr>
      </p:pic>
      <p:cxnSp>
        <p:nvCxnSpPr>
          <p:cNvPr id="257" name="Straight Arrow Connector 256">
            <a:extLst>
              <a:ext uri="{FF2B5EF4-FFF2-40B4-BE49-F238E27FC236}">
                <a16:creationId xmlns:a16="http://schemas.microsoft.com/office/drawing/2014/main" id="{0A308E8E-759C-C68F-ADDE-23DB5DECC2A5}"/>
              </a:ext>
            </a:extLst>
          </p:cNvPr>
          <p:cNvCxnSpPr>
            <a:cxnSpLocks/>
            <a:endCxn id="270" idx="3"/>
          </p:cNvCxnSpPr>
          <p:nvPr/>
        </p:nvCxnSpPr>
        <p:spPr>
          <a:xfrm flipH="1" flipV="1">
            <a:off x="5858245" y="3250303"/>
            <a:ext cx="1553922" cy="1736262"/>
          </a:xfrm>
          <a:prstGeom prst="straightConnector1">
            <a:avLst/>
          </a:prstGeom>
          <a:ln w="3175">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65" name="TextBox 264">
            <a:extLst>
              <a:ext uri="{FF2B5EF4-FFF2-40B4-BE49-F238E27FC236}">
                <a16:creationId xmlns:a16="http://schemas.microsoft.com/office/drawing/2014/main" id="{6BE6F984-C51A-42DD-4AE8-9C8595775EFF}"/>
              </a:ext>
            </a:extLst>
          </p:cNvPr>
          <p:cNvSpPr txBox="1"/>
          <p:nvPr/>
        </p:nvSpPr>
        <p:spPr>
          <a:xfrm>
            <a:off x="8150298" y="5512759"/>
            <a:ext cx="1080454" cy="415498"/>
          </a:xfrm>
          <a:prstGeom prst="rect">
            <a:avLst/>
          </a:prstGeom>
          <a:noFill/>
        </p:spPr>
        <p:txBody>
          <a:bodyPr wrap="square"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CA" sz="1050">
                <a:solidFill>
                  <a:prstClr val="black"/>
                </a:solidFill>
                <a:latin typeface="Segoe UI"/>
              </a:rPr>
              <a:t>Templates</a:t>
            </a:r>
            <a:endParaRPr kumimoji="0" lang="en-CA" sz="1050" i="0" u="none" strike="noStrike" kern="1200" cap="none" spc="0" normalizeH="0" baseline="0" noProof="0">
              <a:ln>
                <a:noFill/>
              </a:ln>
              <a:solidFill>
                <a:prstClr val="black"/>
              </a:solidFill>
              <a:effectLst/>
              <a:uLnTx/>
              <a:uFillTx/>
              <a:latin typeface="Segoe UI"/>
              <a:ea typeface="+mn-ea"/>
              <a:cs typeface="+mn-cs"/>
            </a:endParaRPr>
          </a:p>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CA" sz="1050" i="0" u="none" strike="noStrike" kern="1200" cap="none" spc="0" normalizeH="0" baseline="0" noProof="0">
              <a:ln>
                <a:noFill/>
              </a:ln>
              <a:solidFill>
                <a:prstClr val="black"/>
              </a:solidFill>
              <a:effectLst/>
              <a:uLnTx/>
              <a:uFillTx/>
              <a:latin typeface="Segoe UI"/>
              <a:ea typeface="+mn-ea"/>
              <a:cs typeface="+mn-cs"/>
            </a:endParaRPr>
          </a:p>
        </p:txBody>
      </p:sp>
      <p:sp>
        <p:nvSpPr>
          <p:cNvPr id="270" name="TextBox 269">
            <a:extLst>
              <a:ext uri="{FF2B5EF4-FFF2-40B4-BE49-F238E27FC236}">
                <a16:creationId xmlns:a16="http://schemas.microsoft.com/office/drawing/2014/main" id="{4A047B71-D9D9-67CC-919D-BC09774B9CCB}"/>
              </a:ext>
            </a:extLst>
          </p:cNvPr>
          <p:cNvSpPr txBox="1"/>
          <p:nvPr/>
        </p:nvSpPr>
        <p:spPr>
          <a:xfrm>
            <a:off x="4671506" y="3123345"/>
            <a:ext cx="1186739" cy="253916"/>
          </a:xfrm>
          <a:prstGeom prst="rect">
            <a:avLst/>
          </a:prstGeom>
          <a:noFill/>
        </p:spPr>
        <p:txBody>
          <a:bodyPr wrap="square"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CA" sz="1050">
                <a:solidFill>
                  <a:prstClr val="black"/>
                </a:solidFill>
                <a:latin typeface="Segoe UI"/>
              </a:rPr>
              <a:t>User Lakehouse</a:t>
            </a:r>
            <a:endParaRPr kumimoji="0" lang="en-CA" sz="1050" i="0" u="none" strike="noStrike" kern="1200" cap="none" spc="0" normalizeH="0" baseline="0" noProof="0">
              <a:ln>
                <a:noFill/>
              </a:ln>
              <a:solidFill>
                <a:prstClr val="black"/>
              </a:solidFill>
              <a:effectLst/>
              <a:uLnTx/>
              <a:uFillTx/>
              <a:latin typeface="Segoe UI"/>
              <a:ea typeface="+mn-ea"/>
              <a:cs typeface="+mn-cs"/>
            </a:endParaRPr>
          </a:p>
        </p:txBody>
      </p:sp>
      <p:cxnSp>
        <p:nvCxnSpPr>
          <p:cNvPr id="277" name="Straight Arrow Connector 276">
            <a:extLst>
              <a:ext uri="{FF2B5EF4-FFF2-40B4-BE49-F238E27FC236}">
                <a16:creationId xmlns:a16="http://schemas.microsoft.com/office/drawing/2014/main" id="{2789FB00-7709-19BD-46F0-515550B90720}"/>
              </a:ext>
            </a:extLst>
          </p:cNvPr>
          <p:cNvCxnSpPr>
            <a:cxnSpLocks/>
            <a:stCxn id="280" idx="2"/>
          </p:cNvCxnSpPr>
          <p:nvPr/>
        </p:nvCxnSpPr>
        <p:spPr>
          <a:xfrm>
            <a:off x="5189147" y="2199833"/>
            <a:ext cx="0" cy="303427"/>
          </a:xfrm>
          <a:prstGeom prst="straightConnector1">
            <a:avLst/>
          </a:prstGeom>
          <a:ln w="3175">
            <a:solidFill>
              <a:schemeClr val="tx1">
                <a:lumMod val="65000"/>
                <a:lumOff val="3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80" name="TextBox 279">
            <a:extLst>
              <a:ext uri="{FF2B5EF4-FFF2-40B4-BE49-F238E27FC236}">
                <a16:creationId xmlns:a16="http://schemas.microsoft.com/office/drawing/2014/main" id="{797B05B4-46E1-2CFF-0B30-7B5474BB5A18}"/>
              </a:ext>
            </a:extLst>
          </p:cNvPr>
          <p:cNvSpPr txBox="1"/>
          <p:nvPr/>
        </p:nvSpPr>
        <p:spPr>
          <a:xfrm>
            <a:off x="4370796" y="1945917"/>
            <a:ext cx="1636702" cy="253916"/>
          </a:xfrm>
          <a:prstGeom prst="rect">
            <a:avLst/>
          </a:prstGeom>
          <a:noFill/>
        </p:spPr>
        <p:txBody>
          <a:bodyPr wrap="square"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CA" sz="1050" i="0" strike="noStrike" kern="1200" cap="none" spc="0" normalizeH="0" baseline="0" noProof="0">
                <a:ln>
                  <a:noFill/>
                </a:ln>
                <a:solidFill>
                  <a:prstClr val="black"/>
                </a:solidFill>
                <a:effectLst/>
                <a:uLnTx/>
                <a:uFillTx/>
                <a:latin typeface="Segoe UI"/>
                <a:ea typeface="+mn-ea"/>
                <a:cs typeface="+mn-cs"/>
              </a:rPr>
              <a:t>Notebook</a:t>
            </a:r>
          </a:p>
        </p:txBody>
      </p:sp>
      <p:cxnSp>
        <p:nvCxnSpPr>
          <p:cNvPr id="284" name="Straight Arrow Connector 283">
            <a:extLst>
              <a:ext uri="{FF2B5EF4-FFF2-40B4-BE49-F238E27FC236}">
                <a16:creationId xmlns:a16="http://schemas.microsoft.com/office/drawing/2014/main" id="{7C73EA55-93CC-83FB-24AE-018AE71027CD}"/>
              </a:ext>
            </a:extLst>
          </p:cNvPr>
          <p:cNvCxnSpPr>
            <a:cxnSpLocks/>
          </p:cNvCxnSpPr>
          <p:nvPr/>
        </p:nvCxnSpPr>
        <p:spPr>
          <a:xfrm>
            <a:off x="3304958" y="2890303"/>
            <a:ext cx="446526" cy="0"/>
          </a:xfrm>
          <a:prstGeom prst="straightConnector1">
            <a:avLst/>
          </a:prstGeom>
          <a:ln w="3175">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87" name="Straight Arrow Connector 286">
            <a:extLst>
              <a:ext uri="{FF2B5EF4-FFF2-40B4-BE49-F238E27FC236}">
                <a16:creationId xmlns:a16="http://schemas.microsoft.com/office/drawing/2014/main" id="{B2977CF2-8ABB-B57C-54E0-B0D188A0546B}"/>
              </a:ext>
            </a:extLst>
          </p:cNvPr>
          <p:cNvCxnSpPr>
            <a:cxnSpLocks/>
          </p:cNvCxnSpPr>
          <p:nvPr/>
        </p:nvCxnSpPr>
        <p:spPr>
          <a:xfrm flipV="1">
            <a:off x="2840235" y="3162614"/>
            <a:ext cx="0" cy="272973"/>
          </a:xfrm>
          <a:prstGeom prst="straightConnector1">
            <a:avLst/>
          </a:prstGeom>
          <a:ln w="3175">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309" name="Picture 308">
            <a:extLst>
              <a:ext uri="{FF2B5EF4-FFF2-40B4-BE49-F238E27FC236}">
                <a16:creationId xmlns:a16="http://schemas.microsoft.com/office/drawing/2014/main" id="{FEF9D700-1FBF-4A6A-BDE6-687B644A641A}"/>
              </a:ext>
            </a:extLst>
          </p:cNvPr>
          <p:cNvPicPr>
            <a:picLocks noChangeAspect="1"/>
          </p:cNvPicPr>
          <p:nvPr/>
        </p:nvPicPr>
        <p:blipFill>
          <a:blip r:embed="rId15"/>
          <a:stretch>
            <a:fillRect/>
          </a:stretch>
        </p:blipFill>
        <p:spPr>
          <a:xfrm>
            <a:off x="6593206" y="3797049"/>
            <a:ext cx="277366" cy="180070"/>
          </a:xfrm>
          <a:prstGeom prst="rect">
            <a:avLst/>
          </a:prstGeom>
        </p:spPr>
      </p:pic>
      <p:sp>
        <p:nvSpPr>
          <p:cNvPr id="310" name="TextBox 309">
            <a:extLst>
              <a:ext uri="{FF2B5EF4-FFF2-40B4-BE49-F238E27FC236}">
                <a16:creationId xmlns:a16="http://schemas.microsoft.com/office/drawing/2014/main" id="{C0B1FFB9-C864-08F5-7D4B-25E484CFF447}"/>
              </a:ext>
            </a:extLst>
          </p:cNvPr>
          <p:cNvSpPr txBox="1"/>
          <p:nvPr/>
        </p:nvSpPr>
        <p:spPr>
          <a:xfrm>
            <a:off x="6194143" y="3561621"/>
            <a:ext cx="949571" cy="253916"/>
          </a:xfrm>
          <a:prstGeom prst="rect">
            <a:avLst/>
          </a:prstGeom>
          <a:noFill/>
        </p:spPr>
        <p:txBody>
          <a:bodyPr wrap="square"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CA" sz="1050">
                <a:solidFill>
                  <a:prstClr val="black"/>
                </a:solidFill>
                <a:latin typeface="Segoe UI"/>
              </a:rPr>
              <a:t>Shortcut</a:t>
            </a:r>
            <a:endParaRPr kumimoji="0" lang="en-CA" sz="1050" i="0" u="none" strike="noStrike" kern="1200" cap="none" spc="0" normalizeH="0" baseline="0" noProof="0">
              <a:ln>
                <a:noFill/>
              </a:ln>
              <a:solidFill>
                <a:prstClr val="black"/>
              </a:solidFill>
              <a:effectLst/>
              <a:uLnTx/>
              <a:uFillTx/>
              <a:latin typeface="Segoe UI"/>
              <a:ea typeface="+mn-ea"/>
              <a:cs typeface="+mn-cs"/>
            </a:endParaRPr>
          </a:p>
        </p:txBody>
      </p:sp>
      <p:sp>
        <p:nvSpPr>
          <p:cNvPr id="314" name="Right Brace 313">
            <a:extLst>
              <a:ext uri="{FF2B5EF4-FFF2-40B4-BE49-F238E27FC236}">
                <a16:creationId xmlns:a16="http://schemas.microsoft.com/office/drawing/2014/main" id="{5F1055A3-C257-907B-3A69-CA31AC6373FC}"/>
              </a:ext>
            </a:extLst>
          </p:cNvPr>
          <p:cNvSpPr/>
          <p:nvPr/>
        </p:nvSpPr>
        <p:spPr>
          <a:xfrm flipH="1">
            <a:off x="1507196" y="1457246"/>
            <a:ext cx="356765" cy="2648186"/>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A"/>
          </a:p>
        </p:txBody>
      </p:sp>
      <p:cxnSp>
        <p:nvCxnSpPr>
          <p:cNvPr id="317" name="Straight Arrow Connector 316">
            <a:extLst>
              <a:ext uri="{FF2B5EF4-FFF2-40B4-BE49-F238E27FC236}">
                <a16:creationId xmlns:a16="http://schemas.microsoft.com/office/drawing/2014/main" id="{58F9D675-44D5-FF52-380D-71B36CBBA262}"/>
              </a:ext>
            </a:extLst>
          </p:cNvPr>
          <p:cNvCxnSpPr>
            <a:cxnSpLocks/>
          </p:cNvCxnSpPr>
          <p:nvPr/>
        </p:nvCxnSpPr>
        <p:spPr>
          <a:xfrm flipV="1">
            <a:off x="8731505" y="3002712"/>
            <a:ext cx="1902265" cy="2060739"/>
          </a:xfrm>
          <a:prstGeom prst="straightConnector1">
            <a:avLst/>
          </a:prstGeom>
          <a:ln w="3175">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 name="Rectangle 1">
            <a:extLst>
              <a:ext uri="{FF2B5EF4-FFF2-40B4-BE49-F238E27FC236}">
                <a16:creationId xmlns:a16="http://schemas.microsoft.com/office/drawing/2014/main" id="{E6FD08ED-B534-B7AF-D0B6-60550CA4C9B1}"/>
              </a:ext>
            </a:extLst>
          </p:cNvPr>
          <p:cNvSpPr/>
          <p:nvPr/>
        </p:nvSpPr>
        <p:spPr>
          <a:xfrm>
            <a:off x="1962670" y="5945479"/>
            <a:ext cx="3516932" cy="537005"/>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6772" tIns="63386" rIns="126772" bIns="63386" numCol="1" spcCol="0" rtlCol="0" fromWordArt="0" anchor="ctr" anchorCtr="0" forceAA="0" compatLnSpc="1">
            <a:prstTxWarp prst="textNoShape">
              <a:avLst/>
            </a:prstTxWarp>
            <a:no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400" b="1" i="0" strike="noStrike" kern="1200" cap="none" spc="0" normalizeH="0" baseline="0" noProof="0">
              <a:ln>
                <a:noFill/>
              </a:ln>
              <a:solidFill>
                <a:prstClr val="white"/>
              </a:solidFill>
              <a:effectLst/>
              <a:uLnTx/>
              <a:uFillTx/>
              <a:latin typeface="Segoe UI"/>
              <a:ea typeface="+mn-ea"/>
              <a:cs typeface="+mn-cs"/>
            </a:endParaRPr>
          </a:p>
        </p:txBody>
      </p:sp>
      <p:pic>
        <p:nvPicPr>
          <p:cNvPr id="3" name="Graphic 2">
            <a:extLst>
              <a:ext uri="{FF2B5EF4-FFF2-40B4-BE49-F238E27FC236}">
                <a16:creationId xmlns:a16="http://schemas.microsoft.com/office/drawing/2014/main" id="{4D2D1509-A199-CE88-0DDE-7EEF3387A48A}"/>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3908150" y="2789136"/>
            <a:ext cx="412901" cy="425804"/>
          </a:xfrm>
          <a:prstGeom prst="rect">
            <a:avLst/>
          </a:prstGeom>
        </p:spPr>
      </p:pic>
      <p:pic>
        <p:nvPicPr>
          <p:cNvPr id="4" name="Graphic 3">
            <a:extLst>
              <a:ext uri="{FF2B5EF4-FFF2-40B4-BE49-F238E27FC236}">
                <a16:creationId xmlns:a16="http://schemas.microsoft.com/office/drawing/2014/main" id="{44733E34-6609-B559-EE19-396A34B3A469}"/>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2144549" y="4845849"/>
            <a:ext cx="460656" cy="475052"/>
          </a:xfrm>
          <a:prstGeom prst="rect">
            <a:avLst/>
          </a:prstGeom>
        </p:spPr>
      </p:pic>
      <p:pic>
        <p:nvPicPr>
          <p:cNvPr id="5" name="Graphic 4">
            <a:extLst>
              <a:ext uri="{FF2B5EF4-FFF2-40B4-BE49-F238E27FC236}">
                <a16:creationId xmlns:a16="http://schemas.microsoft.com/office/drawing/2014/main" id="{0305F6F2-0A80-AE65-A6E4-0C31B3D494D0}"/>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6288277" y="5031121"/>
            <a:ext cx="500484" cy="516124"/>
          </a:xfrm>
          <a:prstGeom prst="rect">
            <a:avLst/>
          </a:prstGeom>
        </p:spPr>
      </p:pic>
      <p:pic>
        <p:nvPicPr>
          <p:cNvPr id="6" name="Graphic 5">
            <a:extLst>
              <a:ext uri="{FF2B5EF4-FFF2-40B4-BE49-F238E27FC236}">
                <a16:creationId xmlns:a16="http://schemas.microsoft.com/office/drawing/2014/main" id="{A9962418-A034-BCCA-67CA-A6C317830611}"/>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8181344" y="5135283"/>
            <a:ext cx="304800" cy="314325"/>
          </a:xfrm>
          <a:prstGeom prst="rect">
            <a:avLst/>
          </a:prstGeom>
        </p:spPr>
      </p:pic>
      <p:cxnSp>
        <p:nvCxnSpPr>
          <p:cNvPr id="9" name="Connector: Elbow 8">
            <a:extLst>
              <a:ext uri="{FF2B5EF4-FFF2-40B4-BE49-F238E27FC236}">
                <a16:creationId xmlns:a16="http://schemas.microsoft.com/office/drawing/2014/main" id="{C025E986-074F-40E8-F9AA-0C7F7DF92980}"/>
              </a:ext>
            </a:extLst>
          </p:cNvPr>
          <p:cNvCxnSpPr>
            <a:cxnSpLocks/>
          </p:cNvCxnSpPr>
          <p:nvPr/>
        </p:nvCxnSpPr>
        <p:spPr>
          <a:xfrm rot="5400000" flipH="1" flipV="1">
            <a:off x="3303885" y="3003785"/>
            <a:ext cx="448674" cy="446528"/>
          </a:xfrm>
          <a:prstGeom prst="bentConnector3">
            <a:avLst>
              <a:gd name="adj1" fmla="val 97196"/>
            </a:avLst>
          </a:prstGeom>
          <a:ln w="3175">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F67814C1-CA9B-7736-D37B-D230CFA863A9}"/>
              </a:ext>
            </a:extLst>
          </p:cNvPr>
          <p:cNvCxnSpPr>
            <a:cxnSpLocks/>
          </p:cNvCxnSpPr>
          <p:nvPr/>
        </p:nvCxnSpPr>
        <p:spPr>
          <a:xfrm flipV="1">
            <a:off x="2428443" y="3162614"/>
            <a:ext cx="240867" cy="272973"/>
          </a:xfrm>
          <a:prstGeom prst="straightConnector1">
            <a:avLst/>
          </a:prstGeom>
          <a:ln w="3175">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561542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 name="Rectangle 258">
            <a:extLst>
              <a:ext uri="{FF2B5EF4-FFF2-40B4-BE49-F238E27FC236}">
                <a16:creationId xmlns:a16="http://schemas.microsoft.com/office/drawing/2014/main" id="{2330CF74-34F9-CE79-4CAC-53E5309FC913}"/>
              </a:ext>
            </a:extLst>
          </p:cNvPr>
          <p:cNvSpPr/>
          <p:nvPr/>
        </p:nvSpPr>
        <p:spPr>
          <a:xfrm>
            <a:off x="2887599" y="1966537"/>
            <a:ext cx="9130161" cy="2832815"/>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6772" tIns="63386" rIns="126772" bIns="63386" numCol="1" spcCol="0" rtlCol="0" fromWordArt="0" anchor="ctr" anchorCtr="0" forceAA="0" compatLnSpc="1">
            <a:prstTxWarp prst="textNoShape">
              <a:avLst/>
            </a:prstTxWarp>
            <a:no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3330" i="0" u="none" strike="noStrike" kern="1200" cap="none" spc="0" normalizeH="0" baseline="0" noProof="0">
              <a:ln>
                <a:noFill/>
              </a:ln>
              <a:solidFill>
                <a:prstClr val="white"/>
              </a:solidFill>
              <a:effectLst/>
              <a:uLnTx/>
              <a:uFillTx/>
              <a:latin typeface="Segoe UI"/>
              <a:ea typeface="+mn-ea"/>
              <a:cs typeface="+mn-cs"/>
            </a:endParaRPr>
          </a:p>
        </p:txBody>
      </p:sp>
      <p:sp>
        <p:nvSpPr>
          <p:cNvPr id="267" name="AutoShape 49">
            <a:extLst>
              <a:ext uri="{FF2B5EF4-FFF2-40B4-BE49-F238E27FC236}">
                <a16:creationId xmlns:a16="http://schemas.microsoft.com/office/drawing/2014/main" id="{518F50F5-CA37-996B-4C39-B8F4F8AB860C}"/>
              </a:ext>
            </a:extLst>
          </p:cNvPr>
          <p:cNvSpPr>
            <a:spLocks noChangeAspect="1" noChangeArrowheads="1" noTextEdit="1"/>
          </p:cNvSpPr>
          <p:nvPr/>
        </p:nvSpPr>
        <p:spPr bwMode="auto">
          <a:xfrm>
            <a:off x="11924355" y="2658894"/>
            <a:ext cx="325437" cy="40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black"/>
              </a:solidFill>
              <a:effectLst/>
              <a:uLnTx/>
              <a:uFillTx/>
              <a:latin typeface="Segoe UI"/>
              <a:ea typeface="+mn-ea"/>
              <a:cs typeface="+mn-cs"/>
            </a:endParaRPr>
          </a:p>
        </p:txBody>
      </p:sp>
      <p:sp>
        <p:nvSpPr>
          <p:cNvPr id="425" name="AutoShape 49">
            <a:extLst>
              <a:ext uri="{FF2B5EF4-FFF2-40B4-BE49-F238E27FC236}">
                <a16:creationId xmlns:a16="http://schemas.microsoft.com/office/drawing/2014/main" id="{3D7D78BA-8043-30DF-7C86-86280525640E}"/>
              </a:ext>
            </a:extLst>
          </p:cNvPr>
          <p:cNvSpPr>
            <a:spLocks noChangeAspect="1" noChangeArrowheads="1" noTextEdit="1"/>
          </p:cNvSpPr>
          <p:nvPr/>
        </p:nvSpPr>
        <p:spPr bwMode="auto">
          <a:xfrm>
            <a:off x="13920968" y="2671940"/>
            <a:ext cx="325437" cy="40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black"/>
              </a:solidFill>
              <a:effectLst/>
              <a:uLnTx/>
              <a:uFillTx/>
              <a:latin typeface="Segoe UI"/>
              <a:ea typeface="+mn-ea"/>
              <a:cs typeface="+mn-cs"/>
            </a:endParaRPr>
          </a:p>
        </p:txBody>
      </p:sp>
      <p:sp>
        <p:nvSpPr>
          <p:cNvPr id="260" name="Rectangle 259">
            <a:extLst>
              <a:ext uri="{FF2B5EF4-FFF2-40B4-BE49-F238E27FC236}">
                <a16:creationId xmlns:a16="http://schemas.microsoft.com/office/drawing/2014/main" id="{9166E7FF-E75E-7604-B5D0-77737C8E8DA4}"/>
              </a:ext>
            </a:extLst>
          </p:cNvPr>
          <p:cNvSpPr/>
          <p:nvPr/>
        </p:nvSpPr>
        <p:spPr>
          <a:xfrm>
            <a:off x="2860051" y="1464000"/>
            <a:ext cx="9187430" cy="502537"/>
          </a:xfrm>
          <a:prstGeom prst="rect">
            <a:avLst/>
          </a:prstGeom>
          <a:solidFill>
            <a:srgbClr val="FF993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6772" tIns="63386" rIns="126772" bIns="63386" numCol="1" spcCol="0" rtlCol="0" fromWordArt="0" anchor="ctr" anchorCtr="0" forceAA="0" compatLnSpc="1">
            <a:prstTxWarp prst="textNoShape">
              <a:avLst/>
            </a:prstTxWarp>
            <a:no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1600" b="1">
                <a:solidFill>
                  <a:prstClr val="white"/>
                </a:solidFill>
                <a:latin typeface="Segoe UI"/>
              </a:rPr>
              <a:t>Triton Environment</a:t>
            </a:r>
            <a:br>
              <a:rPr lang="en-US" sz="1400" b="1">
                <a:solidFill>
                  <a:prstClr val="white"/>
                </a:solidFill>
                <a:latin typeface="Segoe UI"/>
              </a:rPr>
            </a:br>
            <a:r>
              <a:rPr lang="en-US" sz="1400" b="1">
                <a:solidFill>
                  <a:prstClr val="white"/>
                </a:solidFill>
                <a:latin typeface="Segoe UI"/>
              </a:rPr>
              <a:t>Dedicated Fabric workspace for Triton developers</a:t>
            </a:r>
            <a:endParaRPr kumimoji="0" lang="en-US" sz="1400" b="1" i="0" u="none" strike="noStrike" kern="1200" cap="none" spc="0" normalizeH="0" baseline="0" noProof="0">
              <a:ln>
                <a:noFill/>
              </a:ln>
              <a:solidFill>
                <a:prstClr val="white"/>
              </a:solidFill>
              <a:effectLst/>
              <a:uLnTx/>
              <a:uFillTx/>
              <a:latin typeface="Segoe UI"/>
              <a:ea typeface="+mn-ea"/>
              <a:cs typeface="+mn-cs"/>
            </a:endParaRPr>
          </a:p>
        </p:txBody>
      </p:sp>
      <p:sp>
        <p:nvSpPr>
          <p:cNvPr id="270" name="TextBox 269">
            <a:extLst>
              <a:ext uri="{FF2B5EF4-FFF2-40B4-BE49-F238E27FC236}">
                <a16:creationId xmlns:a16="http://schemas.microsoft.com/office/drawing/2014/main" id="{4A047B71-D9D9-67CC-919D-BC09774B9CCB}"/>
              </a:ext>
            </a:extLst>
          </p:cNvPr>
          <p:cNvSpPr txBox="1"/>
          <p:nvPr/>
        </p:nvSpPr>
        <p:spPr>
          <a:xfrm>
            <a:off x="4473776" y="2733301"/>
            <a:ext cx="1357748" cy="415498"/>
          </a:xfrm>
          <a:prstGeom prst="rect">
            <a:avLst/>
          </a:prstGeom>
          <a:noFill/>
        </p:spPr>
        <p:txBody>
          <a:bodyPr wrap="square"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CA" sz="1050">
                <a:solidFill>
                  <a:prstClr val="black"/>
                </a:solidFill>
                <a:latin typeface="Segoe UI"/>
              </a:rPr>
              <a:t>Staging Lakehouse</a:t>
            </a:r>
            <a:endParaRPr kumimoji="0" lang="en-CA" sz="1050" i="0" u="none" strike="noStrike" kern="1200" cap="none" spc="0" normalizeH="0" baseline="0" noProof="0">
              <a:ln>
                <a:noFill/>
              </a:ln>
              <a:solidFill>
                <a:prstClr val="black"/>
              </a:solidFill>
              <a:effectLst/>
              <a:uLnTx/>
              <a:uFillTx/>
              <a:latin typeface="Segoe UI"/>
              <a:ea typeface="+mn-ea"/>
              <a:cs typeface="+mn-cs"/>
            </a:endParaRPr>
          </a:p>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CA" sz="1050" i="0" u="none" strike="noStrike" kern="1200" cap="none" spc="0" normalizeH="0" baseline="0" noProof="0">
              <a:ln>
                <a:noFill/>
              </a:ln>
              <a:solidFill>
                <a:prstClr val="black"/>
              </a:solidFill>
              <a:effectLst/>
              <a:uLnTx/>
              <a:uFillTx/>
              <a:latin typeface="Segoe UI"/>
              <a:ea typeface="+mn-ea"/>
              <a:cs typeface="+mn-cs"/>
            </a:endParaRPr>
          </a:p>
        </p:txBody>
      </p:sp>
      <p:cxnSp>
        <p:nvCxnSpPr>
          <p:cNvPr id="284" name="Straight Arrow Connector 283">
            <a:extLst>
              <a:ext uri="{FF2B5EF4-FFF2-40B4-BE49-F238E27FC236}">
                <a16:creationId xmlns:a16="http://schemas.microsoft.com/office/drawing/2014/main" id="{7C73EA55-93CC-83FB-24AE-018AE71027CD}"/>
              </a:ext>
            </a:extLst>
          </p:cNvPr>
          <p:cNvCxnSpPr>
            <a:cxnSpLocks/>
          </p:cNvCxnSpPr>
          <p:nvPr/>
        </p:nvCxnSpPr>
        <p:spPr>
          <a:xfrm>
            <a:off x="1937820" y="4321152"/>
            <a:ext cx="612191" cy="0"/>
          </a:xfrm>
          <a:prstGeom prst="straightConnector1">
            <a:avLst/>
          </a:prstGeom>
          <a:ln w="3175">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 name="Title 1">
            <a:extLst>
              <a:ext uri="{FF2B5EF4-FFF2-40B4-BE49-F238E27FC236}">
                <a16:creationId xmlns:a16="http://schemas.microsoft.com/office/drawing/2014/main" id="{DE51F0A3-5422-3B0D-1894-CCDF99D6D5AA}"/>
              </a:ext>
            </a:extLst>
          </p:cNvPr>
          <p:cNvSpPr txBox="1">
            <a:spLocks/>
          </p:cNvSpPr>
          <p:nvPr/>
        </p:nvSpPr>
        <p:spPr>
          <a:xfrm>
            <a:off x="672456" y="536244"/>
            <a:ext cx="10800000" cy="717269"/>
          </a:xfrm>
          <a:prstGeom prst="rect">
            <a:avLst/>
          </a:prstGeom>
        </p:spPr>
        <p:txBody>
          <a:bodyPr anchor="b">
            <a:normAutofit/>
          </a:bodyPr>
          <a:lstStyle>
            <a:lvl1pPr algn="l" defTabSz="914377" rtl="0" eaLnBrk="1" latinLnBrk="0" hangingPunct="1">
              <a:lnSpc>
                <a:spcPct val="90000"/>
              </a:lnSpc>
              <a:spcBef>
                <a:spcPct val="0"/>
              </a:spcBef>
              <a:buNone/>
              <a:defRPr sz="4000" u="none" kern="1200" spc="-100" baseline="0">
                <a:solidFill>
                  <a:schemeClr val="accent6"/>
                </a:solidFill>
                <a:uFill>
                  <a:solidFill>
                    <a:schemeClr val="tx2">
                      <a:lumMod val="60000"/>
                      <a:lumOff val="40000"/>
                    </a:schemeClr>
                  </a:solidFill>
                </a:uFill>
                <a:latin typeface="+mj-lt"/>
                <a:ea typeface="Segoe UI Black" panose="020B0A02040204020203" pitchFamily="34" charset="0"/>
                <a:cs typeface="Segoe UI Light" panose="020B0502040204020203" pitchFamily="34" charset="0"/>
              </a:defRPr>
            </a:lvl1pPr>
          </a:lstStyle>
          <a:p>
            <a:pPr marL="0" marR="0" lvl="0" indent="0" algn="ctr" defTabSz="914377" rtl="0" eaLnBrk="1" fontAlgn="auto" latinLnBrk="0" hangingPunct="1">
              <a:lnSpc>
                <a:spcPct val="90000"/>
              </a:lnSpc>
              <a:spcBef>
                <a:spcPct val="0"/>
              </a:spcBef>
              <a:spcAft>
                <a:spcPts val="0"/>
              </a:spcAft>
              <a:buClrTx/>
              <a:buSzTx/>
              <a:buFontTx/>
              <a:buNone/>
              <a:tabLst/>
              <a:defRPr/>
            </a:pPr>
            <a:r>
              <a:rPr kumimoji="0" lang="en-US" sz="4000" b="0" i="0" u="none" strike="noStrike" kern="1200" cap="none" spc="-100" normalizeH="0" baseline="0" noProof="0">
                <a:ln>
                  <a:noFill/>
                </a:ln>
                <a:solidFill>
                  <a:srgbClr val="31849B"/>
                </a:solidFill>
                <a:effectLst/>
                <a:uLnTx/>
                <a:uFill>
                  <a:solidFill>
                    <a:srgbClr val="1F497D">
                      <a:lumMod val="60000"/>
                      <a:lumOff val="40000"/>
                    </a:srgbClr>
                  </a:solidFill>
                </a:uFill>
                <a:latin typeface="Segoe UI Semibold"/>
                <a:ea typeface="Segoe UI Black" panose="020B0A02040204020203" pitchFamily="34" charset="0"/>
                <a:cs typeface="Segoe UI Light" panose="020B0502040204020203" pitchFamily="34" charset="0"/>
              </a:rPr>
              <a:t>Setting up the Fabric Triton environment</a:t>
            </a:r>
          </a:p>
        </p:txBody>
      </p:sp>
      <p:sp>
        <p:nvSpPr>
          <p:cNvPr id="17" name="Rectangle 16">
            <a:extLst>
              <a:ext uri="{FF2B5EF4-FFF2-40B4-BE49-F238E27FC236}">
                <a16:creationId xmlns:a16="http://schemas.microsoft.com/office/drawing/2014/main" id="{370DD4F2-478A-2B3C-5146-36C74AF25F3C}"/>
              </a:ext>
            </a:extLst>
          </p:cNvPr>
          <p:cNvSpPr/>
          <p:nvPr/>
        </p:nvSpPr>
        <p:spPr>
          <a:xfrm>
            <a:off x="28607" y="1483310"/>
            <a:ext cx="2719931" cy="502537"/>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6772" tIns="63386" rIns="126772" bIns="63386" numCol="1" spcCol="0" rtlCol="0" fromWordArt="0" anchor="ctr" anchorCtr="0" forceAA="0" compatLnSpc="1">
            <a:prstTxWarp prst="textNoShape">
              <a:avLst/>
            </a:prstTxWarp>
            <a:no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1600" b="1">
                <a:solidFill>
                  <a:prstClr val="white"/>
                </a:solidFill>
                <a:latin typeface="Segoe UI"/>
              </a:rPr>
              <a:t>Triton Managed </a:t>
            </a:r>
          </a:p>
          <a:p>
            <a:pPr marL="0" marR="0" lvl="0" indent="0" algn="ctr" defTabSz="914377" rtl="0" eaLnBrk="1" fontAlgn="auto" latinLnBrk="0" hangingPunct="1">
              <a:lnSpc>
                <a:spcPct val="100000"/>
              </a:lnSpc>
              <a:spcBef>
                <a:spcPts val="0"/>
              </a:spcBef>
              <a:spcAft>
                <a:spcPts val="0"/>
              </a:spcAft>
              <a:buClrTx/>
              <a:buSzTx/>
              <a:buFontTx/>
              <a:buNone/>
              <a:tabLst/>
              <a:defRPr/>
            </a:pPr>
            <a:r>
              <a:rPr lang="en-US" sz="1400" b="1">
                <a:solidFill>
                  <a:prstClr val="white"/>
                </a:solidFill>
                <a:latin typeface="Segoe UI"/>
              </a:rPr>
              <a:t>Data Sources</a:t>
            </a:r>
            <a:endParaRPr kumimoji="0" lang="en-US" sz="1400" b="1" i="0" strike="noStrike" kern="1200" cap="none" spc="0" normalizeH="0" baseline="0" noProof="0">
              <a:ln>
                <a:noFill/>
              </a:ln>
              <a:solidFill>
                <a:prstClr val="white"/>
              </a:solidFill>
              <a:effectLst/>
              <a:uLnTx/>
              <a:uFillTx/>
              <a:latin typeface="Segoe UI"/>
              <a:ea typeface="+mn-ea"/>
              <a:cs typeface="+mn-cs"/>
            </a:endParaRPr>
          </a:p>
        </p:txBody>
      </p:sp>
      <p:sp>
        <p:nvSpPr>
          <p:cNvPr id="26" name="TextBox 25">
            <a:extLst>
              <a:ext uri="{FF2B5EF4-FFF2-40B4-BE49-F238E27FC236}">
                <a16:creationId xmlns:a16="http://schemas.microsoft.com/office/drawing/2014/main" id="{0D874D13-AA6D-8A8A-A682-DD4270C2D48B}"/>
              </a:ext>
            </a:extLst>
          </p:cNvPr>
          <p:cNvSpPr txBox="1"/>
          <p:nvPr/>
        </p:nvSpPr>
        <p:spPr>
          <a:xfrm>
            <a:off x="3011765" y="2833885"/>
            <a:ext cx="1061382" cy="253916"/>
          </a:xfrm>
          <a:prstGeom prst="rect">
            <a:avLst/>
          </a:prstGeom>
          <a:noFill/>
        </p:spPr>
        <p:txBody>
          <a:bodyPr wrap="square"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CA" sz="1050" i="0" strike="noStrike" kern="1200" cap="none" spc="0" normalizeH="0" baseline="0" noProof="0">
                <a:ln>
                  <a:noFill/>
                </a:ln>
                <a:solidFill>
                  <a:prstClr val="black"/>
                </a:solidFill>
                <a:effectLst/>
                <a:uLnTx/>
                <a:uFillTx/>
                <a:latin typeface="Segoe UI"/>
                <a:ea typeface="+mn-ea"/>
                <a:cs typeface="+mn-cs"/>
              </a:rPr>
              <a:t>Dataflow Gen2</a:t>
            </a:r>
          </a:p>
        </p:txBody>
      </p:sp>
      <p:sp>
        <p:nvSpPr>
          <p:cNvPr id="35" name="TextBox 34">
            <a:extLst>
              <a:ext uri="{FF2B5EF4-FFF2-40B4-BE49-F238E27FC236}">
                <a16:creationId xmlns:a16="http://schemas.microsoft.com/office/drawing/2014/main" id="{D81DAD4A-37E2-CEB9-A7A5-7246F3811CEF}"/>
              </a:ext>
            </a:extLst>
          </p:cNvPr>
          <p:cNvSpPr txBox="1"/>
          <p:nvPr/>
        </p:nvSpPr>
        <p:spPr>
          <a:xfrm>
            <a:off x="3126140" y="4429671"/>
            <a:ext cx="965534" cy="253916"/>
          </a:xfrm>
          <a:prstGeom prst="rect">
            <a:avLst/>
          </a:prstGeom>
          <a:noFill/>
        </p:spPr>
        <p:txBody>
          <a:bodyPr wrap="square"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CA" sz="1050">
                <a:solidFill>
                  <a:prstClr val="black"/>
                </a:solidFill>
                <a:latin typeface="Segoe UI"/>
              </a:rPr>
              <a:t>Pipeline</a:t>
            </a:r>
            <a:endParaRPr kumimoji="0" lang="en-CA" sz="1050" i="0" strike="noStrike" kern="1200" cap="none" spc="0" normalizeH="0" baseline="0" noProof="0">
              <a:ln>
                <a:noFill/>
              </a:ln>
              <a:solidFill>
                <a:prstClr val="black"/>
              </a:solidFill>
              <a:effectLst/>
              <a:uLnTx/>
              <a:uFillTx/>
              <a:latin typeface="Segoe UI"/>
              <a:ea typeface="+mn-ea"/>
              <a:cs typeface="+mn-cs"/>
            </a:endParaRPr>
          </a:p>
        </p:txBody>
      </p:sp>
      <p:pic>
        <p:nvPicPr>
          <p:cNvPr id="11" name="Graphic 10">
            <a:extLst>
              <a:ext uri="{FF2B5EF4-FFF2-40B4-BE49-F238E27FC236}">
                <a16:creationId xmlns:a16="http://schemas.microsoft.com/office/drawing/2014/main" id="{343302B4-16A0-E44D-D35F-EDE92B1EDB2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408462" y="3156883"/>
            <a:ext cx="572263" cy="590147"/>
          </a:xfrm>
          <a:prstGeom prst="rect">
            <a:avLst/>
          </a:prstGeom>
        </p:spPr>
      </p:pic>
      <p:pic>
        <p:nvPicPr>
          <p:cNvPr id="4" name="Picture 3">
            <a:extLst>
              <a:ext uri="{FF2B5EF4-FFF2-40B4-BE49-F238E27FC236}">
                <a16:creationId xmlns:a16="http://schemas.microsoft.com/office/drawing/2014/main" id="{D8A43EEC-7607-E443-02FB-760E5165EB77}"/>
              </a:ext>
            </a:extLst>
          </p:cNvPr>
          <p:cNvPicPr>
            <a:picLocks noChangeAspect="1"/>
          </p:cNvPicPr>
          <p:nvPr/>
        </p:nvPicPr>
        <p:blipFill>
          <a:blip r:embed="rId5"/>
          <a:stretch>
            <a:fillRect/>
          </a:stretch>
        </p:blipFill>
        <p:spPr>
          <a:xfrm>
            <a:off x="965320" y="2169838"/>
            <a:ext cx="678368" cy="659654"/>
          </a:xfrm>
          <a:prstGeom prst="rect">
            <a:avLst/>
          </a:prstGeom>
        </p:spPr>
      </p:pic>
      <p:sp>
        <p:nvSpPr>
          <p:cNvPr id="10" name="TextBox 9">
            <a:extLst>
              <a:ext uri="{FF2B5EF4-FFF2-40B4-BE49-F238E27FC236}">
                <a16:creationId xmlns:a16="http://schemas.microsoft.com/office/drawing/2014/main" id="{FA84CB91-E3F1-1D11-F9BB-0917B7E4756C}"/>
              </a:ext>
            </a:extLst>
          </p:cNvPr>
          <p:cNvSpPr txBox="1"/>
          <p:nvPr/>
        </p:nvSpPr>
        <p:spPr>
          <a:xfrm>
            <a:off x="487383" y="2835539"/>
            <a:ext cx="1636702" cy="461665"/>
          </a:xfrm>
          <a:prstGeom prst="rect">
            <a:avLst/>
          </a:prstGeom>
          <a:noFill/>
        </p:spPr>
        <p:txBody>
          <a:bodyPr wrap="square"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CA" sz="1200" i="0" strike="noStrike" kern="1200" cap="none" spc="0" normalizeH="0" baseline="0" noProof="0">
                <a:ln>
                  <a:noFill/>
                </a:ln>
                <a:solidFill>
                  <a:prstClr val="black"/>
                </a:solidFill>
                <a:effectLst/>
                <a:uLnTx/>
                <a:uFillTx/>
                <a:latin typeface="Segoe UI"/>
                <a:ea typeface="+mn-ea"/>
                <a:cs typeface="+mn-cs"/>
              </a:rPr>
              <a:t>30 user-facing tables in Databricks</a:t>
            </a:r>
          </a:p>
        </p:txBody>
      </p:sp>
      <p:pic>
        <p:nvPicPr>
          <p:cNvPr id="12" name="Picture 11">
            <a:extLst>
              <a:ext uri="{FF2B5EF4-FFF2-40B4-BE49-F238E27FC236}">
                <a16:creationId xmlns:a16="http://schemas.microsoft.com/office/drawing/2014/main" id="{DE6B1F86-609D-209A-970F-D267111082C8}"/>
              </a:ext>
            </a:extLst>
          </p:cNvPr>
          <p:cNvPicPr>
            <a:picLocks noChangeAspect="1"/>
          </p:cNvPicPr>
          <p:nvPr/>
        </p:nvPicPr>
        <p:blipFill>
          <a:blip r:embed="rId6"/>
          <a:stretch>
            <a:fillRect/>
          </a:stretch>
        </p:blipFill>
        <p:spPr>
          <a:xfrm>
            <a:off x="988228" y="3629338"/>
            <a:ext cx="531684" cy="641345"/>
          </a:xfrm>
          <a:prstGeom prst="rect">
            <a:avLst/>
          </a:prstGeom>
        </p:spPr>
      </p:pic>
      <p:sp>
        <p:nvSpPr>
          <p:cNvPr id="13" name="TextBox 12">
            <a:extLst>
              <a:ext uri="{FF2B5EF4-FFF2-40B4-BE49-F238E27FC236}">
                <a16:creationId xmlns:a16="http://schemas.microsoft.com/office/drawing/2014/main" id="{8FB8A583-994C-CEA5-984F-F8204A193C21}"/>
              </a:ext>
            </a:extLst>
          </p:cNvPr>
          <p:cNvSpPr txBox="1"/>
          <p:nvPr/>
        </p:nvSpPr>
        <p:spPr>
          <a:xfrm>
            <a:off x="340575" y="4337687"/>
            <a:ext cx="1826989" cy="461665"/>
          </a:xfrm>
          <a:prstGeom prst="rect">
            <a:avLst/>
          </a:prstGeom>
          <a:noFill/>
        </p:spPr>
        <p:txBody>
          <a:bodyPr wrap="square"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CA" sz="1200">
                <a:solidFill>
                  <a:prstClr val="black"/>
                </a:solidFill>
                <a:latin typeface="Segoe UI"/>
              </a:rPr>
              <a:t>On-prem SQL database (</a:t>
            </a:r>
            <a:r>
              <a:rPr lang="en-CA" sz="1200" err="1">
                <a:solidFill>
                  <a:prstClr val="black"/>
                </a:solidFill>
                <a:latin typeface="Segoe UI"/>
              </a:rPr>
              <a:t>QaD</a:t>
            </a:r>
            <a:r>
              <a:rPr lang="en-CA" sz="1200">
                <a:solidFill>
                  <a:prstClr val="black"/>
                </a:solidFill>
                <a:latin typeface="Segoe UI"/>
              </a:rPr>
              <a:t>)</a:t>
            </a:r>
            <a:endParaRPr kumimoji="0" lang="en-CA" sz="1200" i="0" strike="noStrike" kern="1200" cap="none" spc="0" normalizeH="0" baseline="0" noProof="0">
              <a:ln>
                <a:noFill/>
              </a:ln>
              <a:solidFill>
                <a:prstClr val="black"/>
              </a:solidFill>
              <a:effectLst/>
              <a:uLnTx/>
              <a:uFillTx/>
              <a:latin typeface="Segoe UI"/>
              <a:ea typeface="+mn-ea"/>
              <a:cs typeface="+mn-cs"/>
            </a:endParaRPr>
          </a:p>
        </p:txBody>
      </p:sp>
      <p:cxnSp>
        <p:nvCxnSpPr>
          <p:cNvPr id="15" name="Straight Arrow Connector 14">
            <a:extLst>
              <a:ext uri="{FF2B5EF4-FFF2-40B4-BE49-F238E27FC236}">
                <a16:creationId xmlns:a16="http://schemas.microsoft.com/office/drawing/2014/main" id="{6966BF65-275C-6343-580D-5C5E95A1FD75}"/>
              </a:ext>
            </a:extLst>
          </p:cNvPr>
          <p:cNvCxnSpPr>
            <a:cxnSpLocks/>
          </p:cNvCxnSpPr>
          <p:nvPr/>
        </p:nvCxnSpPr>
        <p:spPr>
          <a:xfrm>
            <a:off x="1899233" y="2686370"/>
            <a:ext cx="694939" cy="5489"/>
          </a:xfrm>
          <a:prstGeom prst="straightConnector1">
            <a:avLst/>
          </a:prstGeom>
          <a:ln w="3175">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419D9432-54D1-28A5-7C6F-64CDD3D309F1}"/>
              </a:ext>
            </a:extLst>
          </p:cNvPr>
          <p:cNvSpPr txBox="1"/>
          <p:nvPr/>
        </p:nvSpPr>
        <p:spPr>
          <a:xfrm>
            <a:off x="3040521" y="3684628"/>
            <a:ext cx="1105881" cy="253916"/>
          </a:xfrm>
          <a:prstGeom prst="rect">
            <a:avLst/>
          </a:prstGeom>
          <a:noFill/>
        </p:spPr>
        <p:txBody>
          <a:bodyPr wrap="square"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CA" sz="1050" i="0" strike="noStrike" kern="1200" cap="none" spc="0" normalizeH="0" baseline="0" noProof="0">
                <a:ln>
                  <a:noFill/>
                </a:ln>
                <a:solidFill>
                  <a:prstClr val="black"/>
                </a:solidFill>
                <a:effectLst/>
                <a:uLnTx/>
                <a:uFillTx/>
                <a:latin typeface="Segoe UI"/>
                <a:ea typeface="+mn-ea"/>
                <a:cs typeface="+mn-cs"/>
              </a:rPr>
              <a:t>Notebook</a:t>
            </a:r>
          </a:p>
        </p:txBody>
      </p:sp>
      <p:sp>
        <p:nvSpPr>
          <p:cNvPr id="41" name="TextBox 40">
            <a:extLst>
              <a:ext uri="{FF2B5EF4-FFF2-40B4-BE49-F238E27FC236}">
                <a16:creationId xmlns:a16="http://schemas.microsoft.com/office/drawing/2014/main" id="{2C339C33-3E4A-4AF7-3D62-E2B1C9FE02B9}"/>
              </a:ext>
            </a:extLst>
          </p:cNvPr>
          <p:cNvSpPr txBox="1"/>
          <p:nvPr/>
        </p:nvSpPr>
        <p:spPr>
          <a:xfrm>
            <a:off x="8121551" y="2967562"/>
            <a:ext cx="625508" cy="253916"/>
          </a:xfrm>
          <a:prstGeom prst="rect">
            <a:avLst/>
          </a:prstGeom>
          <a:noFill/>
        </p:spPr>
        <p:txBody>
          <a:bodyPr wrap="square"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1050">
                <a:solidFill>
                  <a:prstClr val="black"/>
                </a:solidFill>
                <a:latin typeface="Segoe UI"/>
              </a:rPr>
              <a:t>F</a:t>
            </a:r>
            <a:r>
              <a:rPr lang="en-CA" sz="1050">
                <a:solidFill>
                  <a:prstClr val="black"/>
                </a:solidFill>
                <a:latin typeface="Segoe UI"/>
              </a:rPr>
              <a:t>MD</a:t>
            </a:r>
            <a:endParaRPr kumimoji="0" lang="en-CA" sz="1050" i="0" u="none" strike="noStrike" kern="1200" cap="none" spc="0" normalizeH="0" baseline="0" noProof="0">
              <a:ln>
                <a:noFill/>
              </a:ln>
              <a:solidFill>
                <a:prstClr val="black"/>
              </a:solidFill>
              <a:effectLst/>
              <a:uLnTx/>
              <a:uFillTx/>
              <a:latin typeface="Segoe UI"/>
              <a:ea typeface="+mn-ea"/>
              <a:cs typeface="+mn-cs"/>
            </a:endParaRPr>
          </a:p>
        </p:txBody>
      </p:sp>
      <p:sp>
        <p:nvSpPr>
          <p:cNvPr id="45" name="TextBox 44">
            <a:extLst>
              <a:ext uri="{FF2B5EF4-FFF2-40B4-BE49-F238E27FC236}">
                <a16:creationId xmlns:a16="http://schemas.microsoft.com/office/drawing/2014/main" id="{5514E01D-45AC-08B5-5BB4-2EF2BBFFB781}"/>
              </a:ext>
            </a:extLst>
          </p:cNvPr>
          <p:cNvSpPr txBox="1"/>
          <p:nvPr/>
        </p:nvSpPr>
        <p:spPr>
          <a:xfrm>
            <a:off x="6270759" y="2745865"/>
            <a:ext cx="779737" cy="253916"/>
          </a:xfrm>
          <a:prstGeom prst="rect">
            <a:avLst/>
          </a:prstGeom>
          <a:noFill/>
        </p:spPr>
        <p:txBody>
          <a:bodyPr wrap="square"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CA" sz="1050" i="0" strike="noStrike" kern="1200" cap="none" spc="0" normalizeH="0" baseline="0" noProof="0">
                <a:ln>
                  <a:noFill/>
                </a:ln>
                <a:solidFill>
                  <a:prstClr val="black"/>
                </a:solidFill>
                <a:effectLst/>
                <a:uLnTx/>
                <a:uFillTx/>
                <a:latin typeface="Segoe UI"/>
                <a:ea typeface="+mn-ea"/>
                <a:cs typeface="+mn-cs"/>
              </a:rPr>
              <a:t>Notebook</a:t>
            </a:r>
          </a:p>
        </p:txBody>
      </p:sp>
      <p:cxnSp>
        <p:nvCxnSpPr>
          <p:cNvPr id="48" name="Straight Arrow Connector 47">
            <a:extLst>
              <a:ext uri="{FF2B5EF4-FFF2-40B4-BE49-F238E27FC236}">
                <a16:creationId xmlns:a16="http://schemas.microsoft.com/office/drawing/2014/main" id="{F8493781-BAD3-E86D-353F-58AB9A2A4D12}"/>
              </a:ext>
            </a:extLst>
          </p:cNvPr>
          <p:cNvCxnSpPr>
            <a:cxnSpLocks/>
          </p:cNvCxnSpPr>
          <p:nvPr/>
        </p:nvCxnSpPr>
        <p:spPr>
          <a:xfrm>
            <a:off x="5730527" y="3409080"/>
            <a:ext cx="377546" cy="0"/>
          </a:xfrm>
          <a:prstGeom prst="straightConnector1">
            <a:avLst/>
          </a:prstGeom>
          <a:ln w="3175">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6" name="Rectangle 55">
            <a:extLst>
              <a:ext uri="{FF2B5EF4-FFF2-40B4-BE49-F238E27FC236}">
                <a16:creationId xmlns:a16="http://schemas.microsoft.com/office/drawing/2014/main" id="{22B2D640-7DB0-C740-2D24-C278B2230F16}"/>
              </a:ext>
            </a:extLst>
          </p:cNvPr>
          <p:cNvSpPr/>
          <p:nvPr/>
        </p:nvSpPr>
        <p:spPr>
          <a:xfrm>
            <a:off x="4730492" y="4995319"/>
            <a:ext cx="1790955" cy="502537"/>
          </a:xfrm>
          <a:prstGeom prst="rect">
            <a:avLst/>
          </a:prstGeom>
          <a:solidFill>
            <a:srgbClr val="FF993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6772" tIns="63386" rIns="126772" bIns="63386" numCol="1" spcCol="0" rtlCol="0" fromWordArt="0" anchor="ctr" anchorCtr="0" forceAA="0" compatLnSpc="1">
            <a:prstTxWarp prst="textNoShape">
              <a:avLst/>
            </a:prstTxWarp>
            <a:no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1200" b="1">
                <a:solidFill>
                  <a:prstClr val="white"/>
                </a:solidFill>
                <a:latin typeface="Segoe UI"/>
              </a:rPr>
              <a:t>Team 1 Workspace </a:t>
            </a:r>
            <a:endParaRPr kumimoji="0" lang="en-US" sz="1200" b="1" i="0" strike="noStrike" kern="1200" cap="none" spc="0" normalizeH="0" baseline="0" noProof="0">
              <a:ln>
                <a:noFill/>
              </a:ln>
              <a:solidFill>
                <a:prstClr val="white"/>
              </a:solidFill>
              <a:effectLst/>
              <a:uLnTx/>
              <a:uFillTx/>
              <a:latin typeface="Segoe UI"/>
              <a:ea typeface="+mn-ea"/>
              <a:cs typeface="+mn-cs"/>
            </a:endParaRPr>
          </a:p>
        </p:txBody>
      </p:sp>
      <p:sp>
        <p:nvSpPr>
          <p:cNvPr id="59" name="Rectangle 58">
            <a:extLst>
              <a:ext uri="{FF2B5EF4-FFF2-40B4-BE49-F238E27FC236}">
                <a16:creationId xmlns:a16="http://schemas.microsoft.com/office/drawing/2014/main" id="{EE7659D3-E296-CFF0-B2A8-8D18C8063CC7}"/>
              </a:ext>
            </a:extLst>
          </p:cNvPr>
          <p:cNvSpPr/>
          <p:nvPr/>
        </p:nvSpPr>
        <p:spPr>
          <a:xfrm>
            <a:off x="6565485" y="4984957"/>
            <a:ext cx="1790955" cy="502537"/>
          </a:xfrm>
          <a:prstGeom prst="rect">
            <a:avLst/>
          </a:prstGeom>
          <a:solidFill>
            <a:srgbClr val="FF993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6772" tIns="63386" rIns="126772" bIns="63386" numCol="1" spcCol="0" rtlCol="0" fromWordArt="0" anchor="ctr" anchorCtr="0" forceAA="0" compatLnSpc="1">
            <a:prstTxWarp prst="textNoShape">
              <a:avLst/>
            </a:prstTxWarp>
            <a:no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1200" b="1">
                <a:solidFill>
                  <a:prstClr val="white"/>
                </a:solidFill>
                <a:latin typeface="Segoe UI"/>
              </a:rPr>
              <a:t>Team 2 Workspace </a:t>
            </a:r>
            <a:endParaRPr kumimoji="0" lang="en-US" sz="1200" b="1" i="0" strike="noStrike" kern="1200" cap="none" spc="0" normalizeH="0" baseline="0" noProof="0">
              <a:ln>
                <a:noFill/>
              </a:ln>
              <a:solidFill>
                <a:prstClr val="white"/>
              </a:solidFill>
              <a:effectLst/>
              <a:uLnTx/>
              <a:uFillTx/>
              <a:latin typeface="Segoe UI"/>
              <a:ea typeface="+mn-ea"/>
              <a:cs typeface="+mn-cs"/>
            </a:endParaRPr>
          </a:p>
        </p:txBody>
      </p:sp>
      <p:sp>
        <p:nvSpPr>
          <p:cNvPr id="62" name="Rectangle 61">
            <a:extLst>
              <a:ext uri="{FF2B5EF4-FFF2-40B4-BE49-F238E27FC236}">
                <a16:creationId xmlns:a16="http://schemas.microsoft.com/office/drawing/2014/main" id="{4751DB89-44E2-C075-9FA3-3B521D87012E}"/>
              </a:ext>
            </a:extLst>
          </p:cNvPr>
          <p:cNvSpPr/>
          <p:nvPr/>
        </p:nvSpPr>
        <p:spPr>
          <a:xfrm>
            <a:off x="8415162" y="4984957"/>
            <a:ext cx="1790955" cy="502537"/>
          </a:xfrm>
          <a:prstGeom prst="rect">
            <a:avLst/>
          </a:prstGeom>
          <a:solidFill>
            <a:srgbClr val="FF993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6772" tIns="63386" rIns="126772" bIns="63386" numCol="1" spcCol="0" rtlCol="0" fromWordArt="0" anchor="ctr" anchorCtr="0" forceAA="0" compatLnSpc="1">
            <a:prstTxWarp prst="textNoShape">
              <a:avLst/>
            </a:prstTxWarp>
            <a:no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1200" b="1">
                <a:solidFill>
                  <a:prstClr val="white"/>
                </a:solidFill>
                <a:latin typeface="Segoe UI"/>
              </a:rPr>
              <a:t>Team 3 Workspace</a:t>
            </a:r>
          </a:p>
        </p:txBody>
      </p:sp>
      <p:sp>
        <p:nvSpPr>
          <p:cNvPr id="448" name="Rectangle 447">
            <a:extLst>
              <a:ext uri="{FF2B5EF4-FFF2-40B4-BE49-F238E27FC236}">
                <a16:creationId xmlns:a16="http://schemas.microsoft.com/office/drawing/2014/main" id="{0A321C60-B8B5-B7FA-30D9-D6A9A98FBF04}"/>
              </a:ext>
            </a:extLst>
          </p:cNvPr>
          <p:cNvSpPr/>
          <p:nvPr/>
        </p:nvSpPr>
        <p:spPr>
          <a:xfrm>
            <a:off x="10247642" y="4981758"/>
            <a:ext cx="1790955" cy="502537"/>
          </a:xfrm>
          <a:prstGeom prst="rect">
            <a:avLst/>
          </a:prstGeom>
          <a:solidFill>
            <a:srgbClr val="FF993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6772" tIns="63386" rIns="126772" bIns="63386" numCol="1" spcCol="0" rtlCol="0" fromWordArt="0" anchor="ctr" anchorCtr="0" forceAA="0" compatLnSpc="1">
            <a:prstTxWarp prst="textNoShape">
              <a:avLst/>
            </a:prstTxWarp>
            <a:no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1200" b="1">
                <a:solidFill>
                  <a:prstClr val="white"/>
                </a:solidFill>
                <a:latin typeface="Segoe UI"/>
              </a:rPr>
              <a:t>Team ‘N’ Workspace </a:t>
            </a:r>
            <a:endParaRPr kumimoji="0" lang="en-US" sz="1200" b="1" i="0" strike="noStrike" kern="1200" cap="none" spc="0" normalizeH="0" baseline="0" noProof="0">
              <a:ln>
                <a:noFill/>
              </a:ln>
              <a:solidFill>
                <a:prstClr val="white"/>
              </a:solidFill>
              <a:effectLst/>
              <a:uLnTx/>
              <a:uFillTx/>
              <a:latin typeface="Segoe UI"/>
              <a:ea typeface="+mn-ea"/>
              <a:cs typeface="+mn-cs"/>
            </a:endParaRPr>
          </a:p>
        </p:txBody>
      </p:sp>
      <p:sp>
        <p:nvSpPr>
          <p:cNvPr id="451" name="Rectangle 450">
            <a:extLst>
              <a:ext uri="{FF2B5EF4-FFF2-40B4-BE49-F238E27FC236}">
                <a16:creationId xmlns:a16="http://schemas.microsoft.com/office/drawing/2014/main" id="{4674A38B-746B-0251-AE94-C48E34555E71}"/>
              </a:ext>
            </a:extLst>
          </p:cNvPr>
          <p:cNvSpPr/>
          <p:nvPr/>
        </p:nvSpPr>
        <p:spPr>
          <a:xfrm>
            <a:off x="4751327" y="5495873"/>
            <a:ext cx="1749283" cy="1067264"/>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6772" tIns="63386" rIns="126772" bIns="63386" numCol="1" spcCol="0" rtlCol="0" fromWordArt="0" anchor="ctr" anchorCtr="0" forceAA="0" compatLnSpc="1">
            <a:prstTxWarp prst="textNoShape">
              <a:avLst/>
            </a:prstTxWarp>
            <a:no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3330" b="0" i="0" u="none" strike="noStrike" kern="1200" cap="none" spc="0" normalizeH="0" baseline="0" noProof="0">
              <a:ln>
                <a:noFill/>
              </a:ln>
              <a:solidFill>
                <a:prstClr val="white"/>
              </a:solidFill>
              <a:effectLst/>
              <a:uLnTx/>
              <a:uFillTx/>
              <a:latin typeface="Segoe UI"/>
              <a:ea typeface="+mn-ea"/>
              <a:cs typeface="+mn-cs"/>
            </a:endParaRPr>
          </a:p>
        </p:txBody>
      </p:sp>
      <p:sp>
        <p:nvSpPr>
          <p:cNvPr id="453" name="Rectangle 452">
            <a:extLst>
              <a:ext uri="{FF2B5EF4-FFF2-40B4-BE49-F238E27FC236}">
                <a16:creationId xmlns:a16="http://schemas.microsoft.com/office/drawing/2014/main" id="{05417FC7-E219-09DB-1C3D-C19C89720FCE}"/>
              </a:ext>
            </a:extLst>
          </p:cNvPr>
          <p:cNvSpPr/>
          <p:nvPr/>
        </p:nvSpPr>
        <p:spPr>
          <a:xfrm>
            <a:off x="6624354" y="5487494"/>
            <a:ext cx="1749283" cy="1067264"/>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6772" tIns="63386" rIns="126772" bIns="63386" numCol="1" spcCol="0" rtlCol="0" fromWordArt="0" anchor="ctr" anchorCtr="0" forceAA="0" compatLnSpc="1">
            <a:prstTxWarp prst="textNoShape">
              <a:avLst/>
            </a:prstTxWarp>
            <a:no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3330" b="0" i="0" u="none" strike="noStrike" kern="1200" cap="none" spc="0" normalizeH="0" baseline="0" noProof="0">
              <a:ln>
                <a:noFill/>
              </a:ln>
              <a:solidFill>
                <a:prstClr val="white"/>
              </a:solidFill>
              <a:effectLst/>
              <a:uLnTx/>
              <a:uFillTx/>
              <a:latin typeface="Segoe UI"/>
              <a:ea typeface="+mn-ea"/>
              <a:cs typeface="+mn-cs"/>
            </a:endParaRPr>
          </a:p>
        </p:txBody>
      </p:sp>
      <p:sp>
        <p:nvSpPr>
          <p:cNvPr id="454" name="Rectangle 453">
            <a:extLst>
              <a:ext uri="{FF2B5EF4-FFF2-40B4-BE49-F238E27FC236}">
                <a16:creationId xmlns:a16="http://schemas.microsoft.com/office/drawing/2014/main" id="{5C80B62E-18BE-3727-DF23-91B1F11E872B}"/>
              </a:ext>
            </a:extLst>
          </p:cNvPr>
          <p:cNvSpPr/>
          <p:nvPr/>
        </p:nvSpPr>
        <p:spPr>
          <a:xfrm>
            <a:off x="8429061" y="5489945"/>
            <a:ext cx="1749283" cy="1067264"/>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6772" tIns="63386" rIns="126772" bIns="63386" numCol="1" spcCol="0" rtlCol="0" fromWordArt="0" anchor="ctr" anchorCtr="0" forceAA="0" compatLnSpc="1">
            <a:prstTxWarp prst="textNoShape">
              <a:avLst/>
            </a:prstTxWarp>
            <a:no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3330" b="0" i="0" u="none" strike="noStrike" kern="1200" cap="none" spc="0" normalizeH="0" baseline="0" noProof="0">
              <a:ln>
                <a:noFill/>
              </a:ln>
              <a:solidFill>
                <a:prstClr val="white"/>
              </a:solidFill>
              <a:effectLst/>
              <a:uLnTx/>
              <a:uFillTx/>
              <a:latin typeface="Segoe UI"/>
              <a:ea typeface="+mn-ea"/>
              <a:cs typeface="+mn-cs"/>
            </a:endParaRPr>
          </a:p>
        </p:txBody>
      </p:sp>
      <p:sp>
        <p:nvSpPr>
          <p:cNvPr id="456" name="Rectangle 455">
            <a:extLst>
              <a:ext uri="{FF2B5EF4-FFF2-40B4-BE49-F238E27FC236}">
                <a16:creationId xmlns:a16="http://schemas.microsoft.com/office/drawing/2014/main" id="{C550215B-DDC7-BA59-A032-5247C249BF38}"/>
              </a:ext>
            </a:extLst>
          </p:cNvPr>
          <p:cNvSpPr/>
          <p:nvPr/>
        </p:nvSpPr>
        <p:spPr>
          <a:xfrm>
            <a:off x="10268477" y="5504423"/>
            <a:ext cx="1749283" cy="1067264"/>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6772" tIns="63386" rIns="126772" bIns="63386" numCol="1" spcCol="0" rtlCol="0" fromWordArt="0" anchor="ctr" anchorCtr="0" forceAA="0" compatLnSpc="1">
            <a:prstTxWarp prst="textNoShape">
              <a:avLst/>
            </a:prstTxWarp>
            <a:no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3330" b="0" i="0" u="none" strike="noStrike" kern="1200" cap="none" spc="0" normalizeH="0" baseline="0" noProof="0">
              <a:ln>
                <a:noFill/>
              </a:ln>
              <a:solidFill>
                <a:prstClr val="white"/>
              </a:solidFill>
              <a:effectLst/>
              <a:uLnTx/>
              <a:uFillTx/>
              <a:latin typeface="Segoe UI"/>
              <a:ea typeface="+mn-ea"/>
              <a:cs typeface="+mn-cs"/>
            </a:endParaRPr>
          </a:p>
        </p:txBody>
      </p:sp>
      <p:pic>
        <p:nvPicPr>
          <p:cNvPr id="457" name="Graphic 456">
            <a:extLst>
              <a:ext uri="{FF2B5EF4-FFF2-40B4-BE49-F238E27FC236}">
                <a16:creationId xmlns:a16="http://schemas.microsoft.com/office/drawing/2014/main" id="{14B3A4C9-23DE-E690-C958-9FF47D6FBF9F}"/>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352081" y="5505180"/>
            <a:ext cx="547776" cy="564895"/>
          </a:xfrm>
          <a:prstGeom prst="rect">
            <a:avLst/>
          </a:prstGeom>
        </p:spPr>
      </p:pic>
      <p:sp>
        <p:nvSpPr>
          <p:cNvPr id="458" name="TextBox 457">
            <a:extLst>
              <a:ext uri="{FF2B5EF4-FFF2-40B4-BE49-F238E27FC236}">
                <a16:creationId xmlns:a16="http://schemas.microsoft.com/office/drawing/2014/main" id="{B3BFA9E4-9A43-AED4-38C0-2A0635F0BB32}"/>
              </a:ext>
            </a:extLst>
          </p:cNvPr>
          <p:cNvSpPr txBox="1"/>
          <p:nvPr/>
        </p:nvSpPr>
        <p:spPr>
          <a:xfrm>
            <a:off x="4955058" y="6109848"/>
            <a:ext cx="1409959" cy="415498"/>
          </a:xfrm>
          <a:prstGeom prst="rect">
            <a:avLst/>
          </a:prstGeom>
          <a:noFill/>
        </p:spPr>
        <p:txBody>
          <a:bodyPr wrap="square"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CA" sz="1050">
                <a:solidFill>
                  <a:prstClr val="black"/>
                </a:solidFill>
                <a:latin typeface="Segoe UI"/>
              </a:rPr>
              <a:t>User Lakehouse 1</a:t>
            </a:r>
          </a:p>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CA" sz="1050" i="0" u="none" strike="noStrike" kern="1200" cap="none" spc="0" normalizeH="0" baseline="0" noProof="0">
                <a:ln>
                  <a:noFill/>
                </a:ln>
                <a:solidFill>
                  <a:prstClr val="black"/>
                </a:solidFill>
                <a:effectLst/>
                <a:uLnTx/>
                <a:uFillTx/>
                <a:latin typeface="Segoe UI"/>
                <a:ea typeface="+mn-ea"/>
                <a:cs typeface="+mn-cs"/>
              </a:rPr>
              <a:t>+ BYOD</a:t>
            </a:r>
          </a:p>
        </p:txBody>
      </p:sp>
      <p:pic>
        <p:nvPicPr>
          <p:cNvPr id="459" name="Graphic 458">
            <a:extLst>
              <a:ext uri="{FF2B5EF4-FFF2-40B4-BE49-F238E27FC236}">
                <a16:creationId xmlns:a16="http://schemas.microsoft.com/office/drawing/2014/main" id="{4F68EDCD-3AE3-B1B3-6264-9B7936D745F3}"/>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817533" y="5541886"/>
            <a:ext cx="547776" cy="564895"/>
          </a:xfrm>
          <a:prstGeom prst="rect">
            <a:avLst/>
          </a:prstGeom>
        </p:spPr>
      </p:pic>
      <p:sp>
        <p:nvSpPr>
          <p:cNvPr id="460" name="TextBox 459">
            <a:extLst>
              <a:ext uri="{FF2B5EF4-FFF2-40B4-BE49-F238E27FC236}">
                <a16:creationId xmlns:a16="http://schemas.microsoft.com/office/drawing/2014/main" id="{EE38FFD5-C75E-7159-E7EA-5075DE1B6427}"/>
              </a:ext>
            </a:extLst>
          </p:cNvPr>
          <p:cNvSpPr txBox="1"/>
          <p:nvPr/>
        </p:nvSpPr>
        <p:spPr>
          <a:xfrm>
            <a:off x="6793111" y="6115102"/>
            <a:ext cx="1409959" cy="415498"/>
          </a:xfrm>
          <a:prstGeom prst="rect">
            <a:avLst/>
          </a:prstGeom>
          <a:noFill/>
        </p:spPr>
        <p:txBody>
          <a:bodyPr wrap="square"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CA" sz="1050">
                <a:solidFill>
                  <a:prstClr val="black"/>
                </a:solidFill>
                <a:latin typeface="Segoe UI"/>
              </a:rPr>
              <a:t>User Lakehouse 2</a:t>
            </a:r>
          </a:p>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CA" sz="1050" i="0" u="none" strike="noStrike" kern="1200" cap="none" spc="0" normalizeH="0" baseline="0" noProof="0">
                <a:ln>
                  <a:noFill/>
                </a:ln>
                <a:solidFill>
                  <a:prstClr val="black"/>
                </a:solidFill>
                <a:effectLst/>
                <a:uLnTx/>
                <a:uFillTx/>
                <a:latin typeface="Segoe UI"/>
                <a:ea typeface="+mn-ea"/>
                <a:cs typeface="+mn-cs"/>
              </a:rPr>
              <a:t>+ BYOD</a:t>
            </a:r>
          </a:p>
        </p:txBody>
      </p:sp>
      <p:pic>
        <p:nvPicPr>
          <p:cNvPr id="463" name="Graphic 462">
            <a:extLst>
              <a:ext uri="{FF2B5EF4-FFF2-40B4-BE49-F238E27FC236}">
                <a16:creationId xmlns:a16="http://schemas.microsoft.com/office/drawing/2014/main" id="{1836405F-0E07-0C4C-B3C1-B244838F4F42}"/>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952589" y="5537043"/>
            <a:ext cx="547776" cy="564895"/>
          </a:xfrm>
          <a:prstGeom prst="rect">
            <a:avLst/>
          </a:prstGeom>
        </p:spPr>
      </p:pic>
      <p:sp>
        <p:nvSpPr>
          <p:cNvPr id="464" name="TextBox 463">
            <a:extLst>
              <a:ext uri="{FF2B5EF4-FFF2-40B4-BE49-F238E27FC236}">
                <a16:creationId xmlns:a16="http://schemas.microsoft.com/office/drawing/2014/main" id="{73A415DE-50E6-4C48-2E84-5F8B81675BE9}"/>
              </a:ext>
            </a:extLst>
          </p:cNvPr>
          <p:cNvSpPr txBox="1"/>
          <p:nvPr/>
        </p:nvSpPr>
        <p:spPr>
          <a:xfrm>
            <a:off x="8555566" y="6141711"/>
            <a:ext cx="1409959" cy="415498"/>
          </a:xfrm>
          <a:prstGeom prst="rect">
            <a:avLst/>
          </a:prstGeom>
          <a:noFill/>
        </p:spPr>
        <p:txBody>
          <a:bodyPr wrap="square"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CA" sz="1050">
                <a:solidFill>
                  <a:prstClr val="black"/>
                </a:solidFill>
                <a:latin typeface="Segoe UI"/>
              </a:rPr>
              <a:t>User Lakehouse 3 </a:t>
            </a:r>
          </a:p>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CA" sz="1050" i="0" u="none" strike="noStrike" kern="1200" cap="none" spc="0" normalizeH="0" baseline="0" noProof="0">
                <a:ln>
                  <a:noFill/>
                </a:ln>
                <a:solidFill>
                  <a:prstClr val="black"/>
                </a:solidFill>
                <a:effectLst/>
                <a:uLnTx/>
                <a:uFillTx/>
                <a:latin typeface="Segoe UI"/>
                <a:ea typeface="+mn-ea"/>
                <a:cs typeface="+mn-cs"/>
              </a:rPr>
              <a:t>+ BYOD</a:t>
            </a:r>
          </a:p>
        </p:txBody>
      </p:sp>
      <p:sp>
        <p:nvSpPr>
          <p:cNvPr id="468" name="TextBox 467">
            <a:extLst>
              <a:ext uri="{FF2B5EF4-FFF2-40B4-BE49-F238E27FC236}">
                <a16:creationId xmlns:a16="http://schemas.microsoft.com/office/drawing/2014/main" id="{2D187EEE-D72A-8F49-9AE4-A11F08FFD227}"/>
              </a:ext>
            </a:extLst>
          </p:cNvPr>
          <p:cNvSpPr txBox="1"/>
          <p:nvPr/>
        </p:nvSpPr>
        <p:spPr>
          <a:xfrm>
            <a:off x="10386442" y="6132050"/>
            <a:ext cx="1409959" cy="415498"/>
          </a:xfrm>
          <a:prstGeom prst="rect">
            <a:avLst/>
          </a:prstGeom>
          <a:noFill/>
        </p:spPr>
        <p:txBody>
          <a:bodyPr wrap="square"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CA" sz="1050">
                <a:solidFill>
                  <a:prstClr val="black"/>
                </a:solidFill>
                <a:latin typeface="Segoe UI"/>
              </a:rPr>
              <a:t>User Lakehouse N</a:t>
            </a:r>
          </a:p>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CA" sz="1050" i="0" u="none" strike="noStrike" kern="1200" cap="none" spc="0" normalizeH="0" baseline="0" noProof="0">
                <a:ln>
                  <a:noFill/>
                </a:ln>
                <a:solidFill>
                  <a:prstClr val="black"/>
                </a:solidFill>
                <a:effectLst/>
                <a:uLnTx/>
                <a:uFillTx/>
                <a:latin typeface="Segoe UI"/>
                <a:ea typeface="+mn-ea"/>
                <a:cs typeface="+mn-cs"/>
              </a:rPr>
              <a:t>+ BYOD</a:t>
            </a:r>
          </a:p>
        </p:txBody>
      </p:sp>
      <p:pic>
        <p:nvPicPr>
          <p:cNvPr id="471" name="Graphic 470">
            <a:extLst>
              <a:ext uri="{FF2B5EF4-FFF2-40B4-BE49-F238E27FC236}">
                <a16:creationId xmlns:a16="http://schemas.microsoft.com/office/drawing/2014/main" id="{BE36B199-61F8-24DB-FDB5-3E82ED65E47A}"/>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191228" y="5582726"/>
            <a:ext cx="547776" cy="564895"/>
          </a:xfrm>
          <a:prstGeom prst="rect">
            <a:avLst/>
          </a:prstGeom>
        </p:spPr>
      </p:pic>
      <p:cxnSp>
        <p:nvCxnSpPr>
          <p:cNvPr id="476" name="Straight Arrow Connector 475">
            <a:extLst>
              <a:ext uri="{FF2B5EF4-FFF2-40B4-BE49-F238E27FC236}">
                <a16:creationId xmlns:a16="http://schemas.microsoft.com/office/drawing/2014/main" id="{C59EFD98-A51B-9174-340B-2C458DD4A7A9}"/>
              </a:ext>
            </a:extLst>
          </p:cNvPr>
          <p:cNvCxnSpPr>
            <a:cxnSpLocks/>
          </p:cNvCxnSpPr>
          <p:nvPr/>
        </p:nvCxnSpPr>
        <p:spPr>
          <a:xfrm flipH="1">
            <a:off x="5758051" y="3544836"/>
            <a:ext cx="2412172" cy="1422157"/>
          </a:xfrm>
          <a:prstGeom prst="straightConnector1">
            <a:avLst/>
          </a:prstGeom>
          <a:ln w="3175">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78" name="Straight Arrow Connector 477">
            <a:extLst>
              <a:ext uri="{FF2B5EF4-FFF2-40B4-BE49-F238E27FC236}">
                <a16:creationId xmlns:a16="http://schemas.microsoft.com/office/drawing/2014/main" id="{473C3AC4-6FB2-BED6-ADDF-AC6073374309}"/>
              </a:ext>
            </a:extLst>
          </p:cNvPr>
          <p:cNvCxnSpPr>
            <a:cxnSpLocks/>
            <a:endCxn id="59" idx="0"/>
          </p:cNvCxnSpPr>
          <p:nvPr/>
        </p:nvCxnSpPr>
        <p:spPr>
          <a:xfrm flipH="1">
            <a:off x="7460963" y="3684627"/>
            <a:ext cx="816071" cy="1300330"/>
          </a:xfrm>
          <a:prstGeom prst="straightConnector1">
            <a:avLst/>
          </a:prstGeom>
          <a:ln w="3175">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80" name="Straight Arrow Connector 479">
            <a:extLst>
              <a:ext uri="{FF2B5EF4-FFF2-40B4-BE49-F238E27FC236}">
                <a16:creationId xmlns:a16="http://schemas.microsoft.com/office/drawing/2014/main" id="{8E8A4496-E6D4-BCA8-7672-F7F30BD519F0}"/>
              </a:ext>
            </a:extLst>
          </p:cNvPr>
          <p:cNvCxnSpPr>
            <a:cxnSpLocks/>
          </p:cNvCxnSpPr>
          <p:nvPr/>
        </p:nvCxnSpPr>
        <p:spPr>
          <a:xfrm>
            <a:off x="8447300" y="3693292"/>
            <a:ext cx="556965" cy="1273701"/>
          </a:xfrm>
          <a:prstGeom prst="straightConnector1">
            <a:avLst/>
          </a:prstGeom>
          <a:ln w="3175">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82" name="Straight Arrow Connector 481">
            <a:extLst>
              <a:ext uri="{FF2B5EF4-FFF2-40B4-BE49-F238E27FC236}">
                <a16:creationId xmlns:a16="http://schemas.microsoft.com/office/drawing/2014/main" id="{F3299F61-4ECE-6947-ED59-511CEDC5509D}"/>
              </a:ext>
            </a:extLst>
          </p:cNvPr>
          <p:cNvCxnSpPr>
            <a:cxnSpLocks/>
            <a:endCxn id="448" idx="0"/>
          </p:cNvCxnSpPr>
          <p:nvPr/>
        </p:nvCxnSpPr>
        <p:spPr>
          <a:xfrm>
            <a:off x="8595104" y="3604214"/>
            <a:ext cx="2548016" cy="1377544"/>
          </a:xfrm>
          <a:prstGeom prst="straightConnector1">
            <a:avLst/>
          </a:prstGeom>
          <a:ln w="3175">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27" name="Picture 26">
            <a:extLst>
              <a:ext uri="{FF2B5EF4-FFF2-40B4-BE49-F238E27FC236}">
                <a16:creationId xmlns:a16="http://schemas.microsoft.com/office/drawing/2014/main" id="{C4432675-2C22-2BAC-153E-8434FDB88700}"/>
              </a:ext>
            </a:extLst>
          </p:cNvPr>
          <p:cNvPicPr>
            <a:picLocks noChangeAspect="1"/>
          </p:cNvPicPr>
          <p:nvPr/>
        </p:nvPicPr>
        <p:blipFill>
          <a:blip r:embed="rId9"/>
          <a:stretch>
            <a:fillRect/>
          </a:stretch>
        </p:blipFill>
        <p:spPr>
          <a:xfrm flipH="1">
            <a:off x="8229092" y="4026886"/>
            <a:ext cx="211883" cy="137557"/>
          </a:xfrm>
          <a:prstGeom prst="rect">
            <a:avLst/>
          </a:prstGeom>
        </p:spPr>
      </p:pic>
      <p:pic>
        <p:nvPicPr>
          <p:cNvPr id="450" name="Graphic 449">
            <a:extLst>
              <a:ext uri="{FF2B5EF4-FFF2-40B4-BE49-F238E27FC236}">
                <a16:creationId xmlns:a16="http://schemas.microsoft.com/office/drawing/2014/main" id="{F0D7AF60-86E8-D2E6-08DB-A2A5E8EF5524}"/>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402465" y="2422312"/>
            <a:ext cx="414981" cy="427949"/>
          </a:xfrm>
          <a:prstGeom prst="rect">
            <a:avLst/>
          </a:prstGeom>
        </p:spPr>
      </p:pic>
      <p:cxnSp>
        <p:nvCxnSpPr>
          <p:cNvPr id="7" name="Straight Connector 6">
            <a:extLst>
              <a:ext uri="{FF2B5EF4-FFF2-40B4-BE49-F238E27FC236}">
                <a16:creationId xmlns:a16="http://schemas.microsoft.com/office/drawing/2014/main" id="{00C611A8-29C6-4B19-71EC-B2DB533946CE}"/>
              </a:ext>
            </a:extLst>
          </p:cNvPr>
          <p:cNvCxnSpPr>
            <a:cxnSpLocks/>
          </p:cNvCxnSpPr>
          <p:nvPr/>
        </p:nvCxnSpPr>
        <p:spPr>
          <a:xfrm>
            <a:off x="4271643" y="2323442"/>
            <a:ext cx="32179" cy="2519429"/>
          </a:xfrm>
          <a:prstGeom prst="line">
            <a:avLst/>
          </a:prstGeom>
          <a:ln>
            <a:prstDash val="lgDash"/>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A74B5123-6A71-9C9B-565F-FDC4CCF596B0}"/>
              </a:ext>
            </a:extLst>
          </p:cNvPr>
          <p:cNvSpPr txBox="1"/>
          <p:nvPr/>
        </p:nvSpPr>
        <p:spPr>
          <a:xfrm>
            <a:off x="3117736" y="2046443"/>
            <a:ext cx="965534" cy="276999"/>
          </a:xfrm>
          <a:prstGeom prst="rect">
            <a:avLst/>
          </a:prstGeom>
          <a:solidFill>
            <a:schemeClr val="bg1">
              <a:lumMod val="50000"/>
            </a:schemeClr>
          </a:solidFill>
        </p:spPr>
        <p:txBody>
          <a:bodyPr wrap="square"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CA" sz="1200" b="1">
                <a:solidFill>
                  <a:schemeClr val="bg1"/>
                </a:solidFill>
                <a:latin typeface="Segoe UI"/>
              </a:rPr>
              <a:t>Ingest</a:t>
            </a:r>
            <a:endParaRPr kumimoji="0" lang="en-CA" sz="1200" b="1" i="0" strike="noStrike" kern="1200" cap="none" spc="0" normalizeH="0" baseline="0" noProof="0">
              <a:ln>
                <a:noFill/>
              </a:ln>
              <a:solidFill>
                <a:schemeClr val="bg1"/>
              </a:solidFill>
              <a:effectLst/>
              <a:uLnTx/>
              <a:uFillTx/>
              <a:latin typeface="Segoe UI"/>
              <a:ea typeface="+mn-ea"/>
              <a:cs typeface="+mn-cs"/>
            </a:endParaRPr>
          </a:p>
        </p:txBody>
      </p:sp>
      <p:sp>
        <p:nvSpPr>
          <p:cNvPr id="9" name="TextBox 8">
            <a:extLst>
              <a:ext uri="{FF2B5EF4-FFF2-40B4-BE49-F238E27FC236}">
                <a16:creationId xmlns:a16="http://schemas.microsoft.com/office/drawing/2014/main" id="{34713DE8-E1B5-6C00-41B5-C7D2471B3EBD}"/>
              </a:ext>
            </a:extLst>
          </p:cNvPr>
          <p:cNvSpPr txBox="1"/>
          <p:nvPr/>
        </p:nvSpPr>
        <p:spPr>
          <a:xfrm>
            <a:off x="4627336" y="2036282"/>
            <a:ext cx="965534" cy="276999"/>
          </a:xfrm>
          <a:prstGeom prst="rect">
            <a:avLst/>
          </a:prstGeom>
          <a:solidFill>
            <a:schemeClr val="bg1">
              <a:lumMod val="50000"/>
            </a:schemeClr>
          </a:solidFill>
        </p:spPr>
        <p:txBody>
          <a:bodyPr wrap="square"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CA" sz="1200" b="1">
                <a:solidFill>
                  <a:schemeClr val="bg1"/>
                </a:solidFill>
                <a:latin typeface="Segoe UI"/>
              </a:rPr>
              <a:t>Store</a:t>
            </a:r>
            <a:endParaRPr kumimoji="0" lang="en-CA" sz="1200" b="1" i="0" strike="noStrike" kern="1200" cap="none" spc="0" normalizeH="0" baseline="0" noProof="0">
              <a:ln>
                <a:noFill/>
              </a:ln>
              <a:solidFill>
                <a:schemeClr val="bg1"/>
              </a:solidFill>
              <a:effectLst/>
              <a:uLnTx/>
              <a:uFillTx/>
              <a:latin typeface="Segoe UI"/>
              <a:ea typeface="+mn-ea"/>
              <a:cs typeface="+mn-cs"/>
            </a:endParaRPr>
          </a:p>
        </p:txBody>
      </p:sp>
      <p:cxnSp>
        <p:nvCxnSpPr>
          <p:cNvPr id="18" name="Straight Connector 17">
            <a:extLst>
              <a:ext uri="{FF2B5EF4-FFF2-40B4-BE49-F238E27FC236}">
                <a16:creationId xmlns:a16="http://schemas.microsoft.com/office/drawing/2014/main" id="{0771B527-794A-A774-00C8-D5273C584911}"/>
              </a:ext>
            </a:extLst>
          </p:cNvPr>
          <p:cNvCxnSpPr>
            <a:cxnSpLocks/>
          </p:cNvCxnSpPr>
          <p:nvPr/>
        </p:nvCxnSpPr>
        <p:spPr>
          <a:xfrm>
            <a:off x="5899857" y="2323442"/>
            <a:ext cx="19443" cy="2495134"/>
          </a:xfrm>
          <a:prstGeom prst="line">
            <a:avLst/>
          </a:prstGeom>
          <a:ln>
            <a:prstDash val="lgDash"/>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171CA68C-9465-BBAA-E229-9F6BA723B91F}"/>
              </a:ext>
            </a:extLst>
          </p:cNvPr>
          <p:cNvSpPr txBox="1"/>
          <p:nvPr/>
        </p:nvSpPr>
        <p:spPr>
          <a:xfrm>
            <a:off x="6124149" y="2039008"/>
            <a:ext cx="965534" cy="276999"/>
          </a:xfrm>
          <a:prstGeom prst="rect">
            <a:avLst/>
          </a:prstGeom>
          <a:solidFill>
            <a:schemeClr val="bg1">
              <a:lumMod val="50000"/>
            </a:schemeClr>
          </a:solidFill>
        </p:spPr>
        <p:txBody>
          <a:bodyPr wrap="square"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CA" sz="1200" b="1">
                <a:solidFill>
                  <a:schemeClr val="bg1"/>
                </a:solidFill>
                <a:latin typeface="Segoe UI"/>
              </a:rPr>
              <a:t>Curate</a:t>
            </a:r>
            <a:endParaRPr kumimoji="0" lang="en-CA" sz="1200" b="1" i="0" strike="noStrike" kern="1200" cap="none" spc="0" normalizeH="0" baseline="0" noProof="0">
              <a:ln>
                <a:noFill/>
              </a:ln>
              <a:solidFill>
                <a:schemeClr val="bg1"/>
              </a:solidFill>
              <a:effectLst/>
              <a:uLnTx/>
              <a:uFillTx/>
              <a:latin typeface="Segoe UI"/>
              <a:ea typeface="+mn-ea"/>
              <a:cs typeface="+mn-cs"/>
            </a:endParaRPr>
          </a:p>
        </p:txBody>
      </p:sp>
      <p:cxnSp>
        <p:nvCxnSpPr>
          <p:cNvPr id="29" name="Straight Connector 28">
            <a:extLst>
              <a:ext uri="{FF2B5EF4-FFF2-40B4-BE49-F238E27FC236}">
                <a16:creationId xmlns:a16="http://schemas.microsoft.com/office/drawing/2014/main" id="{1DDD9140-00BD-8090-4592-7F119732CA6F}"/>
              </a:ext>
            </a:extLst>
          </p:cNvPr>
          <p:cNvCxnSpPr>
            <a:cxnSpLocks/>
          </p:cNvCxnSpPr>
          <p:nvPr/>
        </p:nvCxnSpPr>
        <p:spPr>
          <a:xfrm>
            <a:off x="7230533" y="2313281"/>
            <a:ext cx="34208" cy="2489585"/>
          </a:xfrm>
          <a:prstGeom prst="line">
            <a:avLst/>
          </a:prstGeom>
          <a:ln>
            <a:prstDash val="lgDash"/>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DAD5D944-3E79-98E0-EE5A-EF177A79D0F8}"/>
              </a:ext>
            </a:extLst>
          </p:cNvPr>
          <p:cNvSpPr txBox="1"/>
          <p:nvPr/>
        </p:nvSpPr>
        <p:spPr>
          <a:xfrm>
            <a:off x="8647985" y="2038120"/>
            <a:ext cx="965534" cy="276999"/>
          </a:xfrm>
          <a:prstGeom prst="rect">
            <a:avLst/>
          </a:prstGeom>
          <a:solidFill>
            <a:schemeClr val="bg1">
              <a:lumMod val="50000"/>
            </a:schemeClr>
          </a:solidFill>
        </p:spPr>
        <p:txBody>
          <a:bodyPr wrap="square"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CA" sz="1200" b="1">
                <a:solidFill>
                  <a:schemeClr val="bg1"/>
                </a:solidFill>
                <a:latin typeface="Segoe UI"/>
              </a:rPr>
              <a:t>Serve</a:t>
            </a:r>
            <a:endParaRPr kumimoji="0" lang="en-CA" sz="1200" b="1" i="0" strike="noStrike" kern="1200" cap="none" spc="0" normalizeH="0" baseline="0" noProof="0">
              <a:ln>
                <a:noFill/>
              </a:ln>
              <a:solidFill>
                <a:schemeClr val="bg1"/>
              </a:solidFill>
              <a:effectLst/>
              <a:uLnTx/>
              <a:uFillTx/>
              <a:latin typeface="Segoe UI"/>
              <a:ea typeface="+mn-ea"/>
              <a:cs typeface="+mn-cs"/>
            </a:endParaRPr>
          </a:p>
        </p:txBody>
      </p:sp>
      <p:pic>
        <p:nvPicPr>
          <p:cNvPr id="42" name="Graphic 41">
            <a:extLst>
              <a:ext uri="{FF2B5EF4-FFF2-40B4-BE49-F238E27FC236}">
                <a16:creationId xmlns:a16="http://schemas.microsoft.com/office/drawing/2014/main" id="{483C5412-5C6D-62F1-8DD3-B59BF5C2DAC9}"/>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3436821" y="4145179"/>
            <a:ext cx="304800" cy="314325"/>
          </a:xfrm>
          <a:prstGeom prst="rect">
            <a:avLst/>
          </a:prstGeom>
        </p:spPr>
      </p:pic>
      <p:pic>
        <p:nvPicPr>
          <p:cNvPr id="43" name="Graphic 42">
            <a:extLst>
              <a:ext uri="{FF2B5EF4-FFF2-40B4-BE49-F238E27FC236}">
                <a16:creationId xmlns:a16="http://schemas.microsoft.com/office/drawing/2014/main" id="{4F64840F-6C79-A405-177E-77EF849E3766}"/>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866518" y="2989510"/>
            <a:ext cx="572263" cy="590147"/>
          </a:xfrm>
          <a:prstGeom prst="rect">
            <a:avLst/>
          </a:prstGeom>
        </p:spPr>
      </p:pic>
      <p:cxnSp>
        <p:nvCxnSpPr>
          <p:cNvPr id="50" name="Straight Arrow Connector 49">
            <a:extLst>
              <a:ext uri="{FF2B5EF4-FFF2-40B4-BE49-F238E27FC236}">
                <a16:creationId xmlns:a16="http://schemas.microsoft.com/office/drawing/2014/main" id="{F3EC89AE-B014-066F-DADE-1C644DDB65AE}"/>
              </a:ext>
            </a:extLst>
          </p:cNvPr>
          <p:cNvCxnSpPr>
            <a:cxnSpLocks/>
          </p:cNvCxnSpPr>
          <p:nvPr/>
        </p:nvCxnSpPr>
        <p:spPr>
          <a:xfrm>
            <a:off x="4124066" y="3405524"/>
            <a:ext cx="377546" cy="0"/>
          </a:xfrm>
          <a:prstGeom prst="straightConnector1">
            <a:avLst/>
          </a:prstGeom>
          <a:ln w="3175">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7C7A8762-4B6E-B80B-6425-6A33093C5DA9}"/>
              </a:ext>
            </a:extLst>
          </p:cNvPr>
          <p:cNvCxnSpPr>
            <a:cxnSpLocks/>
          </p:cNvCxnSpPr>
          <p:nvPr/>
        </p:nvCxnSpPr>
        <p:spPr>
          <a:xfrm>
            <a:off x="7076220" y="3396465"/>
            <a:ext cx="377546" cy="0"/>
          </a:xfrm>
          <a:prstGeom prst="straightConnector1">
            <a:avLst/>
          </a:prstGeom>
          <a:ln w="3175">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5" name="TextBox 54">
            <a:extLst>
              <a:ext uri="{FF2B5EF4-FFF2-40B4-BE49-F238E27FC236}">
                <a16:creationId xmlns:a16="http://schemas.microsoft.com/office/drawing/2014/main" id="{06F219A0-9E42-C248-91AA-8E042EB544AA}"/>
              </a:ext>
            </a:extLst>
          </p:cNvPr>
          <p:cNvSpPr txBox="1"/>
          <p:nvPr/>
        </p:nvSpPr>
        <p:spPr>
          <a:xfrm>
            <a:off x="7943523" y="4153026"/>
            <a:ext cx="813474" cy="253916"/>
          </a:xfrm>
          <a:prstGeom prst="rect">
            <a:avLst/>
          </a:prstGeom>
          <a:noFill/>
        </p:spPr>
        <p:txBody>
          <a:bodyPr wrap="square"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CA" sz="1050">
                <a:solidFill>
                  <a:prstClr val="black"/>
                </a:solidFill>
                <a:latin typeface="Segoe UI"/>
              </a:rPr>
              <a:t>Shortcuts</a:t>
            </a:r>
            <a:endParaRPr kumimoji="0" lang="en-CA" sz="1050" i="0" u="none" strike="noStrike" kern="1200" cap="none" spc="0" normalizeH="0" baseline="0" noProof="0">
              <a:ln>
                <a:noFill/>
              </a:ln>
              <a:solidFill>
                <a:prstClr val="black"/>
              </a:solidFill>
              <a:effectLst/>
              <a:uLnTx/>
              <a:uFillTx/>
              <a:latin typeface="Segoe UI"/>
              <a:ea typeface="+mn-ea"/>
              <a:cs typeface="+mn-cs"/>
            </a:endParaRPr>
          </a:p>
        </p:txBody>
      </p:sp>
      <p:pic>
        <p:nvPicPr>
          <p:cNvPr id="61" name="Graphic 60">
            <a:extLst>
              <a:ext uri="{FF2B5EF4-FFF2-40B4-BE49-F238E27FC236}">
                <a16:creationId xmlns:a16="http://schemas.microsoft.com/office/drawing/2014/main" id="{C38AFC60-6E9A-1E46-A427-4C713FCF7B94}"/>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3402465" y="3276174"/>
            <a:ext cx="396077" cy="408454"/>
          </a:xfrm>
          <a:prstGeom prst="rect">
            <a:avLst/>
          </a:prstGeom>
        </p:spPr>
      </p:pic>
      <p:pic>
        <p:nvPicPr>
          <p:cNvPr id="449" name="Graphic 448">
            <a:extLst>
              <a:ext uri="{FF2B5EF4-FFF2-40B4-BE49-F238E27FC236}">
                <a16:creationId xmlns:a16="http://schemas.microsoft.com/office/drawing/2014/main" id="{9BD4FAFB-04B5-F729-3919-33F93F6C288E}"/>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6401500" y="3175874"/>
            <a:ext cx="396077" cy="408454"/>
          </a:xfrm>
          <a:prstGeom prst="rect">
            <a:avLst/>
          </a:prstGeom>
        </p:spPr>
      </p:pic>
      <p:pic>
        <p:nvPicPr>
          <p:cNvPr id="2" name="Graphic 1">
            <a:extLst>
              <a:ext uri="{FF2B5EF4-FFF2-40B4-BE49-F238E27FC236}">
                <a16:creationId xmlns:a16="http://schemas.microsoft.com/office/drawing/2014/main" id="{AB6086CA-5FF8-5581-5478-DD26A1B41AD1}"/>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199944" y="3141618"/>
            <a:ext cx="572263" cy="590147"/>
          </a:xfrm>
          <a:prstGeom prst="rect">
            <a:avLst/>
          </a:prstGeom>
        </p:spPr>
      </p:pic>
      <p:sp>
        <p:nvSpPr>
          <p:cNvPr id="5" name="TextBox 4">
            <a:extLst>
              <a:ext uri="{FF2B5EF4-FFF2-40B4-BE49-F238E27FC236}">
                <a16:creationId xmlns:a16="http://schemas.microsoft.com/office/drawing/2014/main" id="{710E290B-5421-D0D0-E920-DB7093FD87E0}"/>
              </a:ext>
            </a:extLst>
          </p:cNvPr>
          <p:cNvSpPr txBox="1"/>
          <p:nvPr/>
        </p:nvSpPr>
        <p:spPr>
          <a:xfrm>
            <a:off x="8890176" y="2975726"/>
            <a:ext cx="1793341" cy="253916"/>
          </a:xfrm>
          <a:prstGeom prst="rect">
            <a:avLst/>
          </a:prstGeom>
          <a:noFill/>
        </p:spPr>
        <p:txBody>
          <a:bodyPr wrap="square"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CA" sz="1050" i="0" u="none" strike="noStrike" kern="1200" cap="none" spc="0" normalizeH="0" baseline="0" noProof="0">
                <a:ln>
                  <a:noFill/>
                </a:ln>
                <a:solidFill>
                  <a:prstClr val="black"/>
                </a:solidFill>
                <a:effectLst/>
                <a:uLnTx/>
                <a:uFillTx/>
                <a:latin typeface="Segoe UI"/>
                <a:ea typeface="+mn-ea"/>
                <a:cs typeface="+mn-cs"/>
              </a:rPr>
              <a:t>MTRS – Restricted Users</a:t>
            </a:r>
          </a:p>
        </p:txBody>
      </p:sp>
      <p:cxnSp>
        <p:nvCxnSpPr>
          <p:cNvPr id="6" name="Straight Arrow Connector 5">
            <a:extLst>
              <a:ext uri="{FF2B5EF4-FFF2-40B4-BE49-F238E27FC236}">
                <a16:creationId xmlns:a16="http://schemas.microsoft.com/office/drawing/2014/main" id="{094652DA-7234-D531-ED50-A3A8193F4DF4}"/>
              </a:ext>
            </a:extLst>
          </p:cNvPr>
          <p:cNvCxnSpPr>
            <a:cxnSpLocks/>
            <a:endCxn id="62" idx="0"/>
          </p:cNvCxnSpPr>
          <p:nvPr/>
        </p:nvCxnSpPr>
        <p:spPr>
          <a:xfrm flipH="1">
            <a:off x="9310640" y="3765678"/>
            <a:ext cx="376013" cy="1219279"/>
          </a:xfrm>
          <a:prstGeom prst="straightConnector1">
            <a:avLst/>
          </a:prstGeom>
          <a:ln w="3175">
            <a:solidFill>
              <a:srgbClr val="FF9933"/>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F85A0687-1A36-1797-7B57-0DCEAE2D7A00}"/>
              </a:ext>
            </a:extLst>
          </p:cNvPr>
          <p:cNvCxnSpPr>
            <a:cxnSpLocks/>
          </p:cNvCxnSpPr>
          <p:nvPr/>
        </p:nvCxnSpPr>
        <p:spPr>
          <a:xfrm flipH="1">
            <a:off x="7832680" y="3778863"/>
            <a:ext cx="1828759" cy="1160412"/>
          </a:xfrm>
          <a:prstGeom prst="straightConnector1">
            <a:avLst/>
          </a:prstGeom>
          <a:ln w="3175">
            <a:solidFill>
              <a:srgbClr val="FF9933"/>
            </a:solidFill>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114A36D9-198F-F76D-2E9A-10353B8F7B80}"/>
              </a:ext>
            </a:extLst>
          </p:cNvPr>
          <p:cNvSpPr txBox="1"/>
          <p:nvPr/>
        </p:nvSpPr>
        <p:spPr>
          <a:xfrm>
            <a:off x="8214626" y="2703514"/>
            <a:ext cx="1651356" cy="2441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6772" tIns="63386" rIns="126772" bIns="63386" numCol="1" spcCol="0" rtlCol="0" fromWordArt="0" anchor="ctr" anchorCtr="0" forceAA="0" compatLnSpc="1">
            <a:prstTxWarp prst="textNoShape">
              <a:avLst/>
            </a:prstTxWarp>
            <a:noAutofit/>
          </a:bodyPr>
          <a:lstStyle>
            <a:defPPr>
              <a:defRPr lang="en-US"/>
            </a:defPPr>
            <a:lvl1pPr marR="0" lvl="0" indent="0" algn="ctr" defTabSz="914377" fontAlgn="auto">
              <a:lnSpc>
                <a:spcPct val="100000"/>
              </a:lnSpc>
              <a:spcBef>
                <a:spcPts val="0"/>
              </a:spcBef>
              <a:spcAft>
                <a:spcPts val="0"/>
              </a:spcAft>
              <a:buClrTx/>
              <a:buSzTx/>
              <a:buFontTx/>
              <a:buNone/>
              <a:tabLst/>
              <a:defRPr sz="1600" b="1">
                <a:solidFill>
                  <a:prstClr val="white"/>
                </a:solidFill>
                <a:latin typeface="Segoe UI"/>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CA" sz="1050">
                <a:solidFill>
                  <a:schemeClr val="tx1"/>
                </a:solidFill>
              </a:rPr>
              <a:t>Gold Lakehouse(s)</a:t>
            </a:r>
          </a:p>
        </p:txBody>
      </p:sp>
      <p:sp>
        <p:nvSpPr>
          <p:cNvPr id="14" name="TextBox 13">
            <a:extLst>
              <a:ext uri="{FF2B5EF4-FFF2-40B4-BE49-F238E27FC236}">
                <a16:creationId xmlns:a16="http://schemas.microsoft.com/office/drawing/2014/main" id="{C90AB229-8CFD-772B-CCC1-D84CCF71566E}"/>
              </a:ext>
            </a:extLst>
          </p:cNvPr>
          <p:cNvSpPr txBox="1"/>
          <p:nvPr/>
        </p:nvSpPr>
        <p:spPr>
          <a:xfrm>
            <a:off x="10938684" y="2025358"/>
            <a:ext cx="965534" cy="276999"/>
          </a:xfrm>
          <a:prstGeom prst="rect">
            <a:avLst/>
          </a:prstGeom>
          <a:solidFill>
            <a:schemeClr val="bg1">
              <a:lumMod val="50000"/>
            </a:schemeClr>
          </a:solidFill>
        </p:spPr>
        <p:txBody>
          <a:bodyPr wrap="square"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CA" sz="1200" b="1">
                <a:solidFill>
                  <a:schemeClr val="bg1"/>
                </a:solidFill>
                <a:latin typeface="Segoe UI"/>
              </a:rPr>
              <a:t>Monitor</a:t>
            </a:r>
            <a:endParaRPr kumimoji="0" lang="en-CA" sz="1200" b="1" i="0" strike="noStrike" kern="1200" cap="none" spc="0" normalizeH="0" baseline="0" noProof="0">
              <a:ln>
                <a:noFill/>
              </a:ln>
              <a:solidFill>
                <a:schemeClr val="bg1"/>
              </a:solidFill>
              <a:effectLst/>
              <a:uLnTx/>
              <a:uFillTx/>
              <a:latin typeface="Segoe UI"/>
              <a:ea typeface="+mn-ea"/>
              <a:cs typeface="+mn-cs"/>
            </a:endParaRPr>
          </a:p>
        </p:txBody>
      </p:sp>
      <p:pic>
        <p:nvPicPr>
          <p:cNvPr id="16" name="Graphic 15">
            <a:extLst>
              <a:ext uri="{FF2B5EF4-FFF2-40B4-BE49-F238E27FC236}">
                <a16:creationId xmlns:a16="http://schemas.microsoft.com/office/drawing/2014/main" id="{38430947-7347-39A0-EB68-A9135D7BCD51}"/>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1300978" y="3087374"/>
            <a:ext cx="572263" cy="590147"/>
          </a:xfrm>
          <a:prstGeom prst="rect">
            <a:avLst/>
          </a:prstGeom>
        </p:spPr>
      </p:pic>
      <p:sp>
        <p:nvSpPr>
          <p:cNvPr id="21" name="TextBox 20">
            <a:extLst>
              <a:ext uri="{FF2B5EF4-FFF2-40B4-BE49-F238E27FC236}">
                <a16:creationId xmlns:a16="http://schemas.microsoft.com/office/drawing/2014/main" id="{3EB2044F-8227-C5A7-182D-1E93CC4DACB8}"/>
              </a:ext>
            </a:extLst>
          </p:cNvPr>
          <p:cNvSpPr txBox="1"/>
          <p:nvPr/>
        </p:nvSpPr>
        <p:spPr>
          <a:xfrm>
            <a:off x="11018977" y="2673576"/>
            <a:ext cx="965533" cy="415498"/>
          </a:xfrm>
          <a:prstGeom prst="rect">
            <a:avLst/>
          </a:prstGeom>
          <a:noFill/>
        </p:spPr>
        <p:txBody>
          <a:bodyPr wrap="square"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1050" b="1">
                <a:solidFill>
                  <a:prstClr val="black"/>
                </a:solidFill>
                <a:latin typeface="Segoe UI"/>
              </a:rPr>
              <a:t>Monitoring Lakehouse</a:t>
            </a:r>
            <a:endParaRPr kumimoji="0" lang="en-CA" sz="1050" b="1" i="0" u="none" strike="noStrike" kern="1200" cap="none" spc="0" normalizeH="0" baseline="0" noProof="0">
              <a:ln>
                <a:noFill/>
              </a:ln>
              <a:solidFill>
                <a:prstClr val="black"/>
              </a:solidFill>
              <a:effectLst/>
              <a:uLnTx/>
              <a:uFillTx/>
              <a:latin typeface="Segoe UI"/>
              <a:ea typeface="+mn-ea"/>
              <a:cs typeface="+mn-cs"/>
            </a:endParaRPr>
          </a:p>
        </p:txBody>
      </p:sp>
      <p:pic>
        <p:nvPicPr>
          <p:cNvPr id="24" name="Graphic 23">
            <a:extLst>
              <a:ext uri="{FF2B5EF4-FFF2-40B4-BE49-F238E27FC236}">
                <a16:creationId xmlns:a16="http://schemas.microsoft.com/office/drawing/2014/main" id="{939535B6-7A88-2FC3-7E42-B8062722FCF9}"/>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672387" y="3236770"/>
            <a:ext cx="396077" cy="408454"/>
          </a:xfrm>
          <a:prstGeom prst="rect">
            <a:avLst/>
          </a:prstGeom>
        </p:spPr>
      </p:pic>
      <p:cxnSp>
        <p:nvCxnSpPr>
          <p:cNvPr id="25" name="Straight Arrow Connector 24">
            <a:extLst>
              <a:ext uri="{FF2B5EF4-FFF2-40B4-BE49-F238E27FC236}">
                <a16:creationId xmlns:a16="http://schemas.microsoft.com/office/drawing/2014/main" id="{5AFD3DF4-2768-6CFD-D7F0-766C8041057A}"/>
              </a:ext>
            </a:extLst>
          </p:cNvPr>
          <p:cNvCxnSpPr>
            <a:cxnSpLocks/>
          </p:cNvCxnSpPr>
          <p:nvPr/>
        </p:nvCxnSpPr>
        <p:spPr>
          <a:xfrm>
            <a:off x="10268477" y="3380101"/>
            <a:ext cx="377546" cy="0"/>
          </a:xfrm>
          <a:prstGeom prst="straightConnector1">
            <a:avLst/>
          </a:prstGeom>
          <a:ln w="3175">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96FF0D6F-AB89-EDDE-1F73-47E6CA8745FA}"/>
              </a:ext>
            </a:extLst>
          </p:cNvPr>
          <p:cNvCxnSpPr>
            <a:cxnSpLocks/>
          </p:cNvCxnSpPr>
          <p:nvPr/>
        </p:nvCxnSpPr>
        <p:spPr>
          <a:xfrm>
            <a:off x="10923432" y="3436691"/>
            <a:ext cx="377546" cy="0"/>
          </a:xfrm>
          <a:prstGeom prst="straightConnector1">
            <a:avLst/>
          </a:prstGeom>
          <a:ln w="3175">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661DFB33-B327-2A84-B4E7-E62943C01AD5}"/>
              </a:ext>
            </a:extLst>
          </p:cNvPr>
          <p:cNvCxnSpPr>
            <a:cxnSpLocks/>
          </p:cNvCxnSpPr>
          <p:nvPr/>
        </p:nvCxnSpPr>
        <p:spPr>
          <a:xfrm>
            <a:off x="10531532" y="2302357"/>
            <a:ext cx="34208" cy="2489585"/>
          </a:xfrm>
          <a:prstGeom prst="line">
            <a:avLst/>
          </a:prstGeom>
          <a:ln>
            <a:prstDash val="lg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050678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5" name="AutoShape 49">
            <a:extLst>
              <a:ext uri="{FF2B5EF4-FFF2-40B4-BE49-F238E27FC236}">
                <a16:creationId xmlns:a16="http://schemas.microsoft.com/office/drawing/2014/main" id="{3D7D78BA-8043-30DF-7C86-86280525640E}"/>
              </a:ext>
            </a:extLst>
          </p:cNvPr>
          <p:cNvSpPr>
            <a:spLocks noChangeAspect="1" noChangeArrowheads="1" noTextEdit="1"/>
          </p:cNvSpPr>
          <p:nvPr/>
        </p:nvSpPr>
        <p:spPr bwMode="auto">
          <a:xfrm>
            <a:off x="13920968" y="2671940"/>
            <a:ext cx="325437" cy="40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black"/>
              </a:solidFill>
              <a:effectLst/>
              <a:uLnTx/>
              <a:uFillTx/>
              <a:latin typeface="Segoe UI"/>
              <a:ea typeface="+mn-ea"/>
              <a:cs typeface="+mn-cs"/>
            </a:endParaRPr>
          </a:p>
        </p:txBody>
      </p:sp>
      <p:sp>
        <p:nvSpPr>
          <p:cNvPr id="3" name="Title 1">
            <a:extLst>
              <a:ext uri="{FF2B5EF4-FFF2-40B4-BE49-F238E27FC236}">
                <a16:creationId xmlns:a16="http://schemas.microsoft.com/office/drawing/2014/main" id="{DE51F0A3-5422-3B0D-1894-CCDF99D6D5AA}"/>
              </a:ext>
            </a:extLst>
          </p:cNvPr>
          <p:cNvSpPr txBox="1">
            <a:spLocks/>
          </p:cNvSpPr>
          <p:nvPr/>
        </p:nvSpPr>
        <p:spPr>
          <a:xfrm>
            <a:off x="612373" y="275222"/>
            <a:ext cx="10800000" cy="717269"/>
          </a:xfrm>
          <a:prstGeom prst="rect">
            <a:avLst/>
          </a:prstGeom>
        </p:spPr>
        <p:txBody>
          <a:bodyPr lIns="91440" tIns="45720" rIns="91440" bIns="45720" anchor="b">
            <a:normAutofit/>
          </a:bodyPr>
          <a:lstStyle>
            <a:lvl1pPr algn="l" defTabSz="914377" rtl="0" eaLnBrk="1" latinLnBrk="0" hangingPunct="1">
              <a:lnSpc>
                <a:spcPct val="90000"/>
              </a:lnSpc>
              <a:spcBef>
                <a:spcPct val="0"/>
              </a:spcBef>
              <a:buNone/>
              <a:defRPr sz="4000" u="none" kern="1200" spc="-100" baseline="0">
                <a:solidFill>
                  <a:schemeClr val="accent6"/>
                </a:solidFill>
                <a:uFill>
                  <a:solidFill>
                    <a:schemeClr val="tx2">
                      <a:lumMod val="60000"/>
                      <a:lumOff val="40000"/>
                    </a:schemeClr>
                  </a:solidFill>
                </a:uFill>
                <a:latin typeface="+mj-lt"/>
                <a:ea typeface="Segoe UI Black" panose="020B0A02040204020203" pitchFamily="34" charset="0"/>
                <a:cs typeface="Segoe UI Light" panose="020B0502040204020203" pitchFamily="34" charset="0"/>
              </a:defRPr>
            </a:lvl1pPr>
          </a:lstStyle>
          <a:p>
            <a:pPr marL="0" marR="0" lvl="0" indent="0" algn="ctr" defTabSz="914377" rtl="0" eaLnBrk="1" fontAlgn="auto" latinLnBrk="0" hangingPunct="1">
              <a:lnSpc>
                <a:spcPct val="90000"/>
              </a:lnSpc>
              <a:spcBef>
                <a:spcPct val="0"/>
              </a:spcBef>
              <a:spcAft>
                <a:spcPts val="0"/>
              </a:spcAft>
              <a:buClrTx/>
              <a:buSzTx/>
              <a:buFontTx/>
              <a:buNone/>
              <a:tabLst/>
              <a:defRPr/>
            </a:pPr>
            <a:r>
              <a:rPr kumimoji="0" lang="en-US" sz="4000" b="0" i="0" u="none" strike="noStrike" kern="1200" cap="none" spc="-100" normalizeH="0" baseline="0" noProof="0">
                <a:ln>
                  <a:noFill/>
                </a:ln>
                <a:solidFill>
                  <a:srgbClr val="31849B"/>
                </a:solidFill>
                <a:effectLst/>
                <a:uLnTx/>
                <a:uFill>
                  <a:solidFill>
                    <a:srgbClr val="1F497D">
                      <a:lumMod val="60000"/>
                      <a:lumOff val="40000"/>
                    </a:srgbClr>
                  </a:solidFill>
                </a:uFill>
                <a:latin typeface="Segoe UI Semibold"/>
                <a:ea typeface="Segoe UI Black"/>
                <a:cs typeface="Segoe UI Light"/>
              </a:rPr>
              <a:t>Governance : Same data, controlled </a:t>
            </a:r>
            <a:r>
              <a:rPr lang="en-US">
                <a:solidFill>
                  <a:srgbClr val="31849B"/>
                </a:solidFill>
                <a:uFill>
                  <a:solidFill>
                    <a:srgbClr val="1F497D">
                      <a:lumMod val="60000"/>
                      <a:lumOff val="40000"/>
                    </a:srgbClr>
                  </a:solidFill>
                </a:uFill>
                <a:latin typeface="Segoe UI Semibold"/>
                <a:ea typeface="Segoe UI Black"/>
                <a:cs typeface="Segoe UI Light"/>
              </a:rPr>
              <a:t>access</a:t>
            </a:r>
            <a:endParaRPr kumimoji="0" lang="en-US" sz="4000" b="0" i="0" u="none" strike="noStrike" kern="1200" cap="none" spc="-100" normalizeH="0" baseline="0" noProof="0">
              <a:ln>
                <a:noFill/>
              </a:ln>
              <a:solidFill>
                <a:srgbClr val="31849B"/>
              </a:solidFill>
              <a:effectLst/>
              <a:uLnTx/>
              <a:uFill>
                <a:solidFill>
                  <a:srgbClr val="1F497D">
                    <a:lumMod val="60000"/>
                    <a:lumOff val="40000"/>
                  </a:srgbClr>
                </a:solidFill>
              </a:uFill>
              <a:latin typeface="Segoe UI Semibold"/>
              <a:ea typeface="Segoe UI Black" panose="020B0A02040204020203" pitchFamily="34" charset="0"/>
              <a:cs typeface="Segoe UI Light" panose="020B0502040204020203" pitchFamily="34" charset="0"/>
            </a:endParaRPr>
          </a:p>
        </p:txBody>
      </p:sp>
      <p:grpSp>
        <p:nvGrpSpPr>
          <p:cNvPr id="21" name="Group 20">
            <a:extLst>
              <a:ext uri="{FF2B5EF4-FFF2-40B4-BE49-F238E27FC236}">
                <a16:creationId xmlns:a16="http://schemas.microsoft.com/office/drawing/2014/main" id="{1769B44F-17F1-D5E2-A2DA-ED895B185927}"/>
              </a:ext>
            </a:extLst>
          </p:cNvPr>
          <p:cNvGrpSpPr/>
          <p:nvPr/>
        </p:nvGrpSpPr>
        <p:grpSpPr>
          <a:xfrm>
            <a:off x="569055" y="4679931"/>
            <a:ext cx="2056382" cy="1771899"/>
            <a:chOff x="7650439" y="4983862"/>
            <a:chExt cx="1790955" cy="1569801"/>
          </a:xfrm>
        </p:grpSpPr>
        <p:sp>
          <p:nvSpPr>
            <p:cNvPr id="59" name="Rectangle 58">
              <a:extLst>
                <a:ext uri="{FF2B5EF4-FFF2-40B4-BE49-F238E27FC236}">
                  <a16:creationId xmlns:a16="http://schemas.microsoft.com/office/drawing/2014/main" id="{EE7659D3-E296-CFF0-B2A8-8D18C8063CC7}"/>
                </a:ext>
              </a:extLst>
            </p:cNvPr>
            <p:cNvSpPr/>
            <p:nvPr/>
          </p:nvSpPr>
          <p:spPr>
            <a:xfrm>
              <a:off x="7650439" y="4983862"/>
              <a:ext cx="1790955" cy="502537"/>
            </a:xfrm>
            <a:prstGeom prst="rect">
              <a:avLst/>
            </a:prstGeom>
            <a:solidFill>
              <a:srgbClr val="FF993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6772" tIns="63386" rIns="126772" bIns="63386" numCol="1" spcCol="0" rtlCol="0" fromWordArt="0" anchor="ctr" anchorCtr="0" forceAA="0" compatLnSpc="1">
              <a:prstTxWarp prst="textNoShape">
                <a:avLst/>
              </a:prstTxWarp>
              <a:no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1200" b="1">
                  <a:solidFill>
                    <a:prstClr val="white"/>
                  </a:solidFill>
                  <a:latin typeface="Segoe UI"/>
                </a:rPr>
                <a:t>Team Workspace </a:t>
              </a:r>
              <a:endParaRPr kumimoji="0" lang="en-US" sz="1200" b="1" i="0" strike="noStrike" kern="1200" cap="none" spc="0" normalizeH="0" baseline="0" noProof="0">
                <a:ln>
                  <a:noFill/>
                </a:ln>
                <a:solidFill>
                  <a:prstClr val="white"/>
                </a:solidFill>
                <a:effectLst/>
                <a:uLnTx/>
                <a:uFillTx/>
                <a:latin typeface="Segoe UI"/>
                <a:ea typeface="+mn-ea"/>
                <a:cs typeface="+mn-cs"/>
              </a:endParaRPr>
            </a:p>
          </p:txBody>
        </p:sp>
        <p:sp>
          <p:nvSpPr>
            <p:cNvPr id="453" name="Rectangle 452">
              <a:extLst>
                <a:ext uri="{FF2B5EF4-FFF2-40B4-BE49-F238E27FC236}">
                  <a16:creationId xmlns:a16="http://schemas.microsoft.com/office/drawing/2014/main" id="{05417FC7-E219-09DB-1C3D-C19C89720FCE}"/>
                </a:ext>
              </a:extLst>
            </p:cNvPr>
            <p:cNvSpPr/>
            <p:nvPr/>
          </p:nvSpPr>
          <p:spPr>
            <a:xfrm>
              <a:off x="7659179" y="5486399"/>
              <a:ext cx="1749283" cy="1067264"/>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6772" tIns="63386" rIns="126772" bIns="63386" numCol="1" spcCol="0" rtlCol="0" fromWordArt="0" anchor="ctr" anchorCtr="0" forceAA="0" compatLnSpc="1">
              <a:prstTxWarp prst="textNoShape">
                <a:avLst/>
              </a:prstTxWarp>
              <a:no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3330" b="0" i="0" u="none" strike="noStrike" kern="1200" cap="none" spc="0" normalizeH="0" baseline="0" noProof="0">
                <a:ln>
                  <a:noFill/>
                </a:ln>
                <a:solidFill>
                  <a:prstClr val="white"/>
                </a:solidFill>
                <a:effectLst/>
                <a:uLnTx/>
                <a:uFillTx/>
                <a:latin typeface="Segoe UI"/>
                <a:ea typeface="+mn-ea"/>
                <a:cs typeface="+mn-cs"/>
              </a:endParaRPr>
            </a:p>
          </p:txBody>
        </p:sp>
        <p:sp>
          <p:nvSpPr>
            <p:cNvPr id="460" name="TextBox 459">
              <a:extLst>
                <a:ext uri="{FF2B5EF4-FFF2-40B4-BE49-F238E27FC236}">
                  <a16:creationId xmlns:a16="http://schemas.microsoft.com/office/drawing/2014/main" id="{EE38FFD5-C75E-7159-E7EA-5075DE1B6427}"/>
                </a:ext>
              </a:extLst>
            </p:cNvPr>
            <p:cNvSpPr txBox="1"/>
            <p:nvPr/>
          </p:nvSpPr>
          <p:spPr>
            <a:xfrm>
              <a:off x="7878065" y="6114007"/>
              <a:ext cx="1409959" cy="368107"/>
            </a:xfrm>
            <a:prstGeom prst="rect">
              <a:avLst/>
            </a:prstGeom>
            <a:noFill/>
          </p:spPr>
          <p:txBody>
            <a:bodyPr wrap="square"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CA" sz="1050">
                  <a:solidFill>
                    <a:prstClr val="black"/>
                  </a:solidFill>
                  <a:latin typeface="Segoe UI"/>
                </a:rPr>
                <a:t>User Lakehouse</a:t>
              </a:r>
            </a:p>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CA" sz="1050" i="0" u="none" strike="noStrike" kern="1200" cap="none" spc="0" normalizeH="0" baseline="0" noProof="0">
                  <a:ln>
                    <a:noFill/>
                  </a:ln>
                  <a:solidFill>
                    <a:prstClr val="black"/>
                  </a:solidFill>
                  <a:effectLst/>
                  <a:uLnTx/>
                  <a:uFillTx/>
                  <a:latin typeface="Segoe UI"/>
                  <a:ea typeface="+mn-ea"/>
                  <a:cs typeface="+mn-cs"/>
                </a:rPr>
                <a:t>+ BYOD</a:t>
              </a:r>
            </a:p>
          </p:txBody>
        </p:sp>
        <p:pic>
          <p:nvPicPr>
            <p:cNvPr id="471" name="Graphic 470">
              <a:extLst>
                <a:ext uri="{FF2B5EF4-FFF2-40B4-BE49-F238E27FC236}">
                  <a16:creationId xmlns:a16="http://schemas.microsoft.com/office/drawing/2014/main" id="{BE36B199-61F8-24DB-FDB5-3E82ED65E47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342400" y="5515532"/>
              <a:ext cx="547776" cy="564895"/>
            </a:xfrm>
            <a:prstGeom prst="rect">
              <a:avLst/>
            </a:prstGeom>
          </p:spPr>
        </p:pic>
      </p:grpSp>
      <p:sp>
        <p:nvSpPr>
          <p:cNvPr id="267" name="AutoShape 49">
            <a:extLst>
              <a:ext uri="{FF2B5EF4-FFF2-40B4-BE49-F238E27FC236}">
                <a16:creationId xmlns:a16="http://schemas.microsoft.com/office/drawing/2014/main" id="{518F50F5-CA37-996B-4C39-B8F4F8AB860C}"/>
              </a:ext>
            </a:extLst>
          </p:cNvPr>
          <p:cNvSpPr>
            <a:spLocks noChangeAspect="1" noChangeArrowheads="1" noTextEdit="1"/>
          </p:cNvSpPr>
          <p:nvPr/>
        </p:nvSpPr>
        <p:spPr bwMode="auto">
          <a:xfrm>
            <a:off x="11924355" y="2658894"/>
            <a:ext cx="325437" cy="40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black"/>
              </a:solidFill>
              <a:effectLst/>
              <a:uLnTx/>
              <a:uFillTx/>
              <a:latin typeface="Segoe UI"/>
              <a:ea typeface="+mn-ea"/>
              <a:cs typeface="+mn-cs"/>
            </a:endParaRPr>
          </a:p>
        </p:txBody>
      </p:sp>
      <p:grpSp>
        <p:nvGrpSpPr>
          <p:cNvPr id="47" name="Group 46">
            <a:extLst>
              <a:ext uri="{FF2B5EF4-FFF2-40B4-BE49-F238E27FC236}">
                <a16:creationId xmlns:a16="http://schemas.microsoft.com/office/drawing/2014/main" id="{81375156-9189-2352-3A3D-FD315A6879C8}"/>
              </a:ext>
            </a:extLst>
          </p:cNvPr>
          <p:cNvGrpSpPr/>
          <p:nvPr/>
        </p:nvGrpSpPr>
        <p:grpSpPr>
          <a:xfrm>
            <a:off x="367956" y="1338774"/>
            <a:ext cx="3119145" cy="2824361"/>
            <a:chOff x="7669511" y="1224872"/>
            <a:chExt cx="3119145" cy="2824361"/>
          </a:xfrm>
        </p:grpSpPr>
        <p:sp>
          <p:nvSpPr>
            <p:cNvPr id="259" name="Rectangle 258">
              <a:extLst>
                <a:ext uri="{FF2B5EF4-FFF2-40B4-BE49-F238E27FC236}">
                  <a16:creationId xmlns:a16="http://schemas.microsoft.com/office/drawing/2014/main" id="{2330CF74-34F9-CE79-4CAC-53E5309FC913}"/>
                </a:ext>
              </a:extLst>
            </p:cNvPr>
            <p:cNvSpPr/>
            <p:nvPr/>
          </p:nvSpPr>
          <p:spPr>
            <a:xfrm>
              <a:off x="7688764" y="1966537"/>
              <a:ext cx="2994754" cy="1764877"/>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6772" tIns="63386" rIns="126772" bIns="63386" numCol="1" spcCol="0" rtlCol="0" fromWordArt="0" anchor="ctr" anchorCtr="0" forceAA="0" compatLnSpc="1">
              <a:prstTxWarp prst="textNoShape">
                <a:avLst/>
              </a:prstTxWarp>
              <a:no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3330" i="0" u="none" strike="noStrike" kern="1200" cap="none" spc="0" normalizeH="0" baseline="0" noProof="0">
                <a:ln>
                  <a:noFill/>
                </a:ln>
                <a:solidFill>
                  <a:prstClr val="white"/>
                </a:solidFill>
                <a:effectLst/>
                <a:uLnTx/>
                <a:uFillTx/>
                <a:latin typeface="Segoe UI"/>
                <a:ea typeface="+mn-ea"/>
                <a:cs typeface="+mn-cs"/>
              </a:endParaRPr>
            </a:p>
          </p:txBody>
        </p:sp>
        <p:sp>
          <p:nvSpPr>
            <p:cNvPr id="260" name="Rectangle 259">
              <a:extLst>
                <a:ext uri="{FF2B5EF4-FFF2-40B4-BE49-F238E27FC236}">
                  <a16:creationId xmlns:a16="http://schemas.microsoft.com/office/drawing/2014/main" id="{9166E7FF-E75E-7604-B5D0-77737C8E8DA4}"/>
                </a:ext>
              </a:extLst>
            </p:cNvPr>
            <p:cNvSpPr/>
            <p:nvPr/>
          </p:nvSpPr>
          <p:spPr>
            <a:xfrm>
              <a:off x="7669511" y="1224872"/>
              <a:ext cx="2994755" cy="741665"/>
            </a:xfrm>
            <a:prstGeom prst="rect">
              <a:avLst/>
            </a:prstGeom>
            <a:solidFill>
              <a:srgbClr val="FF993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6772" tIns="63386" rIns="126772" bIns="63386" numCol="1" spcCol="0" rtlCol="0" fromWordArt="0" anchor="ctr" anchorCtr="0" forceAA="0" compatLnSpc="1">
              <a:prstTxWarp prst="textNoShape">
                <a:avLst/>
              </a:prstTxWarp>
              <a:no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1600" b="1">
                  <a:solidFill>
                    <a:prstClr val="white"/>
                  </a:solidFill>
                  <a:latin typeface="Segoe UI"/>
                </a:rPr>
                <a:t>Triton Environment</a:t>
              </a:r>
              <a:br>
                <a:rPr lang="en-US" sz="1400" b="1">
                  <a:solidFill>
                    <a:prstClr val="white"/>
                  </a:solidFill>
                  <a:latin typeface="Segoe UI"/>
                </a:rPr>
              </a:br>
              <a:r>
                <a:rPr lang="en-US" sz="1400" b="1">
                  <a:solidFill>
                    <a:prstClr val="white"/>
                  </a:solidFill>
                  <a:latin typeface="Segoe UI"/>
                </a:rPr>
                <a:t>Dedicated Fabric workspace for Triton developers</a:t>
              </a:r>
              <a:endParaRPr kumimoji="0" lang="en-US" sz="1400" b="1" i="0" u="none" strike="noStrike" kern="1200" cap="none" spc="0" normalizeH="0" baseline="0" noProof="0">
                <a:ln>
                  <a:noFill/>
                </a:ln>
                <a:solidFill>
                  <a:prstClr val="white"/>
                </a:solidFill>
                <a:effectLst/>
                <a:uLnTx/>
                <a:uFillTx/>
                <a:latin typeface="Segoe UI"/>
                <a:ea typeface="+mn-ea"/>
                <a:cs typeface="+mn-cs"/>
              </a:endParaRPr>
            </a:p>
          </p:txBody>
        </p:sp>
        <p:pic>
          <p:nvPicPr>
            <p:cNvPr id="11" name="Graphic 10">
              <a:extLst>
                <a:ext uri="{FF2B5EF4-FFF2-40B4-BE49-F238E27FC236}">
                  <a16:creationId xmlns:a16="http://schemas.microsoft.com/office/drawing/2014/main" id="{343302B4-16A0-E44D-D35F-EDE92B1EDB2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548440" y="2695183"/>
              <a:ext cx="572263" cy="590147"/>
            </a:xfrm>
            <a:prstGeom prst="rect">
              <a:avLst/>
            </a:prstGeom>
          </p:spPr>
        </p:pic>
        <p:sp>
          <p:nvSpPr>
            <p:cNvPr id="41" name="TextBox 40">
              <a:extLst>
                <a:ext uri="{FF2B5EF4-FFF2-40B4-BE49-F238E27FC236}">
                  <a16:creationId xmlns:a16="http://schemas.microsoft.com/office/drawing/2014/main" id="{2C339C33-3E4A-4AF7-3D62-E2B1C9FE02B9}"/>
                </a:ext>
              </a:extLst>
            </p:cNvPr>
            <p:cNvSpPr txBox="1"/>
            <p:nvPr/>
          </p:nvSpPr>
          <p:spPr>
            <a:xfrm>
              <a:off x="7835535" y="2520043"/>
              <a:ext cx="625508" cy="253916"/>
            </a:xfrm>
            <a:prstGeom prst="rect">
              <a:avLst/>
            </a:prstGeom>
            <a:noFill/>
          </p:spPr>
          <p:txBody>
            <a:bodyPr wrap="square"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1050">
                  <a:solidFill>
                    <a:prstClr val="black"/>
                  </a:solidFill>
                  <a:latin typeface="Segoe UI"/>
                </a:rPr>
                <a:t>F</a:t>
              </a:r>
              <a:r>
                <a:rPr lang="en-CA" sz="1050">
                  <a:solidFill>
                    <a:prstClr val="black"/>
                  </a:solidFill>
                  <a:latin typeface="Segoe UI"/>
                </a:rPr>
                <a:t>MD</a:t>
              </a:r>
              <a:endParaRPr kumimoji="0" lang="en-CA" sz="1050" i="0" u="none" strike="noStrike" kern="1200" cap="none" spc="0" normalizeH="0" baseline="0" noProof="0">
                <a:ln>
                  <a:noFill/>
                </a:ln>
                <a:solidFill>
                  <a:prstClr val="black"/>
                </a:solidFill>
                <a:effectLst/>
                <a:uLnTx/>
                <a:uFillTx/>
                <a:latin typeface="Segoe UI"/>
                <a:ea typeface="+mn-ea"/>
                <a:cs typeface="+mn-cs"/>
              </a:endParaRPr>
            </a:p>
          </p:txBody>
        </p:sp>
        <p:pic>
          <p:nvPicPr>
            <p:cNvPr id="27" name="Picture 26">
              <a:extLst>
                <a:ext uri="{FF2B5EF4-FFF2-40B4-BE49-F238E27FC236}">
                  <a16:creationId xmlns:a16="http://schemas.microsoft.com/office/drawing/2014/main" id="{C4432675-2C22-2BAC-153E-8434FDB88700}"/>
                </a:ext>
              </a:extLst>
            </p:cNvPr>
            <p:cNvPicPr>
              <a:picLocks noChangeAspect="1"/>
            </p:cNvPicPr>
            <p:nvPr/>
          </p:nvPicPr>
          <p:blipFill>
            <a:blip r:embed="rId7"/>
            <a:stretch>
              <a:fillRect/>
            </a:stretch>
          </p:blipFill>
          <p:spPr>
            <a:xfrm flipH="1">
              <a:off x="8614480" y="3911676"/>
              <a:ext cx="211883" cy="137557"/>
            </a:xfrm>
            <a:prstGeom prst="rect">
              <a:avLst/>
            </a:prstGeom>
          </p:spPr>
        </p:pic>
        <p:pic>
          <p:nvPicPr>
            <p:cNvPr id="2" name="Graphic 1">
              <a:extLst>
                <a:ext uri="{FF2B5EF4-FFF2-40B4-BE49-F238E27FC236}">
                  <a16:creationId xmlns:a16="http://schemas.microsoft.com/office/drawing/2014/main" id="{AB6086CA-5FF8-5581-5478-DD26A1B41AD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913928" y="2694099"/>
              <a:ext cx="572263" cy="590147"/>
            </a:xfrm>
            <a:prstGeom prst="rect">
              <a:avLst/>
            </a:prstGeom>
          </p:spPr>
        </p:pic>
        <p:sp>
          <p:nvSpPr>
            <p:cNvPr id="5" name="TextBox 4">
              <a:extLst>
                <a:ext uri="{FF2B5EF4-FFF2-40B4-BE49-F238E27FC236}">
                  <a16:creationId xmlns:a16="http://schemas.microsoft.com/office/drawing/2014/main" id="{710E290B-5421-D0D0-E920-DB7093FD87E0}"/>
                </a:ext>
              </a:extLst>
            </p:cNvPr>
            <p:cNvSpPr txBox="1"/>
            <p:nvPr/>
          </p:nvSpPr>
          <p:spPr>
            <a:xfrm>
              <a:off x="8995315" y="2520043"/>
              <a:ext cx="1793341" cy="253916"/>
            </a:xfrm>
            <a:prstGeom prst="rect">
              <a:avLst/>
            </a:prstGeom>
            <a:noFill/>
          </p:spPr>
          <p:txBody>
            <a:bodyPr wrap="square"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CA" sz="1050" i="0" u="none" strike="noStrike" kern="1200" cap="none" spc="0" normalizeH="0" baseline="0" noProof="0">
                  <a:ln>
                    <a:noFill/>
                  </a:ln>
                  <a:effectLst/>
                  <a:uLnTx/>
                  <a:uFillTx/>
                  <a:latin typeface="Segoe UI"/>
                  <a:ea typeface="+mn-ea"/>
                  <a:cs typeface="+mn-cs"/>
                </a:rPr>
                <a:t>MTRS – Selected Users</a:t>
              </a:r>
            </a:p>
          </p:txBody>
        </p:sp>
        <p:pic>
          <p:nvPicPr>
            <p:cNvPr id="19" name="Picture 18">
              <a:extLst>
                <a:ext uri="{FF2B5EF4-FFF2-40B4-BE49-F238E27FC236}">
                  <a16:creationId xmlns:a16="http://schemas.microsoft.com/office/drawing/2014/main" id="{99321279-A7D2-8E81-BB3D-6AAA28DB8C9B}"/>
                </a:ext>
              </a:extLst>
            </p:cNvPr>
            <p:cNvPicPr>
              <a:picLocks noChangeAspect="1"/>
            </p:cNvPicPr>
            <p:nvPr/>
          </p:nvPicPr>
          <p:blipFill>
            <a:blip r:embed="rId7"/>
            <a:stretch>
              <a:fillRect/>
            </a:stretch>
          </p:blipFill>
          <p:spPr>
            <a:xfrm flipH="1">
              <a:off x="9484824" y="3911676"/>
              <a:ext cx="211883" cy="137557"/>
            </a:xfrm>
            <a:prstGeom prst="rect">
              <a:avLst/>
            </a:prstGeom>
          </p:spPr>
        </p:pic>
        <p:sp>
          <p:nvSpPr>
            <p:cNvPr id="28" name="TextBox 27">
              <a:extLst>
                <a:ext uri="{FF2B5EF4-FFF2-40B4-BE49-F238E27FC236}">
                  <a16:creationId xmlns:a16="http://schemas.microsoft.com/office/drawing/2014/main" id="{114A36D9-198F-F76D-2E9A-10353B8F7B80}"/>
                </a:ext>
              </a:extLst>
            </p:cNvPr>
            <p:cNvSpPr txBox="1"/>
            <p:nvPr/>
          </p:nvSpPr>
          <p:spPr>
            <a:xfrm>
              <a:off x="8251373" y="2092745"/>
              <a:ext cx="1651356" cy="2441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6772" tIns="63386" rIns="126772" bIns="63386" numCol="1" spcCol="0" rtlCol="0" fromWordArt="0" anchor="ctr" anchorCtr="0" forceAA="0" compatLnSpc="1">
              <a:prstTxWarp prst="textNoShape">
                <a:avLst/>
              </a:prstTxWarp>
              <a:noAutofit/>
            </a:bodyPr>
            <a:lstStyle>
              <a:defPPr>
                <a:defRPr lang="en-US"/>
              </a:defPPr>
              <a:lvl1pPr marR="0" lvl="0" indent="0" algn="ctr" defTabSz="914377" fontAlgn="auto">
                <a:lnSpc>
                  <a:spcPct val="100000"/>
                </a:lnSpc>
                <a:spcBef>
                  <a:spcPts val="0"/>
                </a:spcBef>
                <a:spcAft>
                  <a:spcPts val="0"/>
                </a:spcAft>
                <a:buClrTx/>
                <a:buSzTx/>
                <a:buFontTx/>
                <a:buNone/>
                <a:tabLst/>
                <a:defRPr sz="1600" b="1">
                  <a:solidFill>
                    <a:prstClr val="white"/>
                  </a:solidFill>
                  <a:latin typeface="Segoe UI"/>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CA" sz="1200" b="0">
                  <a:solidFill>
                    <a:schemeClr val="tx1"/>
                  </a:solidFill>
                </a:rPr>
                <a:t>Gold Lakehouse(s)</a:t>
              </a:r>
            </a:p>
          </p:txBody>
        </p:sp>
      </p:grpSp>
      <p:pic>
        <p:nvPicPr>
          <p:cNvPr id="34" name="Graphic 33" descr="User outline">
            <a:extLst>
              <a:ext uri="{FF2B5EF4-FFF2-40B4-BE49-F238E27FC236}">
                <a16:creationId xmlns:a16="http://schemas.microsoft.com/office/drawing/2014/main" id="{4134E61C-6FEC-760F-D0C8-AB55EED1CBE2}"/>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227424" y="4657967"/>
            <a:ext cx="627608" cy="627608"/>
          </a:xfrm>
          <a:prstGeom prst="rect">
            <a:avLst/>
          </a:prstGeom>
        </p:spPr>
      </p:pic>
      <p:pic>
        <p:nvPicPr>
          <p:cNvPr id="37" name="Graphic 36" descr="Office worker male outline">
            <a:extLst>
              <a:ext uri="{FF2B5EF4-FFF2-40B4-BE49-F238E27FC236}">
                <a16:creationId xmlns:a16="http://schemas.microsoft.com/office/drawing/2014/main" id="{EEF01206-2110-69CB-6976-5CE7CB977E1D}"/>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185670" y="5750209"/>
            <a:ext cx="711116" cy="711116"/>
          </a:xfrm>
          <a:prstGeom prst="rect">
            <a:avLst/>
          </a:prstGeom>
        </p:spPr>
      </p:pic>
      <p:pic>
        <p:nvPicPr>
          <p:cNvPr id="39" name="Picture 38">
            <a:extLst>
              <a:ext uri="{FF2B5EF4-FFF2-40B4-BE49-F238E27FC236}">
                <a16:creationId xmlns:a16="http://schemas.microsoft.com/office/drawing/2014/main" id="{B66CA607-E544-04C9-DD1E-25E5ABF81907}"/>
              </a:ext>
            </a:extLst>
          </p:cNvPr>
          <p:cNvPicPr>
            <a:picLocks noChangeAspect="1"/>
          </p:cNvPicPr>
          <p:nvPr/>
        </p:nvPicPr>
        <p:blipFill>
          <a:blip r:embed="rId12"/>
          <a:stretch>
            <a:fillRect/>
          </a:stretch>
        </p:blipFill>
        <p:spPr>
          <a:xfrm>
            <a:off x="5873576" y="1044105"/>
            <a:ext cx="2662252" cy="4070851"/>
          </a:xfrm>
          <a:prstGeom prst="rect">
            <a:avLst/>
          </a:prstGeom>
        </p:spPr>
      </p:pic>
      <p:cxnSp>
        <p:nvCxnSpPr>
          <p:cNvPr id="60" name="Straight Arrow Connector 59">
            <a:extLst>
              <a:ext uri="{FF2B5EF4-FFF2-40B4-BE49-F238E27FC236}">
                <a16:creationId xmlns:a16="http://schemas.microsoft.com/office/drawing/2014/main" id="{473C3AC4-6FB2-BED6-ADDF-AC6073374309}"/>
              </a:ext>
            </a:extLst>
          </p:cNvPr>
          <p:cNvCxnSpPr>
            <a:cxnSpLocks/>
          </p:cNvCxnSpPr>
          <p:nvPr/>
        </p:nvCxnSpPr>
        <p:spPr>
          <a:xfrm>
            <a:off x="893383" y="3345050"/>
            <a:ext cx="525484" cy="1208673"/>
          </a:xfrm>
          <a:prstGeom prst="straightConnector1">
            <a:avLst/>
          </a:prstGeom>
          <a:ln w="3175">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69" name="Straight Arrow Connector 468">
            <a:extLst>
              <a:ext uri="{FF2B5EF4-FFF2-40B4-BE49-F238E27FC236}">
                <a16:creationId xmlns:a16="http://schemas.microsoft.com/office/drawing/2014/main" id="{F85A0687-1A36-1797-7B57-0DCEAE2D7A00}"/>
              </a:ext>
            </a:extLst>
          </p:cNvPr>
          <p:cNvCxnSpPr>
            <a:cxnSpLocks/>
          </p:cNvCxnSpPr>
          <p:nvPr/>
        </p:nvCxnSpPr>
        <p:spPr>
          <a:xfrm flipH="1">
            <a:off x="1761283" y="3399232"/>
            <a:ext cx="771734" cy="1154491"/>
          </a:xfrm>
          <a:prstGeom prst="straightConnector1">
            <a:avLst/>
          </a:prstGeom>
          <a:ln w="3175">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75" name="Straight Arrow Connector 474">
            <a:extLst>
              <a:ext uri="{FF2B5EF4-FFF2-40B4-BE49-F238E27FC236}">
                <a16:creationId xmlns:a16="http://schemas.microsoft.com/office/drawing/2014/main" id="{73D79341-511A-6DD0-5FCB-77A72E1D1655}"/>
              </a:ext>
            </a:extLst>
          </p:cNvPr>
          <p:cNvCxnSpPr>
            <a:cxnSpLocks/>
          </p:cNvCxnSpPr>
          <p:nvPr/>
        </p:nvCxnSpPr>
        <p:spPr>
          <a:xfrm flipV="1">
            <a:off x="3876416" y="4025578"/>
            <a:ext cx="1997160" cy="866874"/>
          </a:xfrm>
          <a:prstGeom prst="straightConnector1">
            <a:avLst/>
          </a:prstGeom>
          <a:ln w="3175">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486" name="Picture 485">
            <a:extLst>
              <a:ext uri="{FF2B5EF4-FFF2-40B4-BE49-F238E27FC236}">
                <a16:creationId xmlns:a16="http://schemas.microsoft.com/office/drawing/2014/main" id="{4C65B2FD-A7B7-69AF-66FD-EDC83C8AEA10}"/>
              </a:ext>
            </a:extLst>
          </p:cNvPr>
          <p:cNvPicPr>
            <a:picLocks noChangeAspect="1"/>
          </p:cNvPicPr>
          <p:nvPr/>
        </p:nvPicPr>
        <p:blipFill>
          <a:blip r:embed="rId13"/>
          <a:stretch>
            <a:fillRect/>
          </a:stretch>
        </p:blipFill>
        <p:spPr>
          <a:xfrm>
            <a:off x="9397492" y="2385104"/>
            <a:ext cx="2600969" cy="4197674"/>
          </a:xfrm>
          <a:prstGeom prst="rect">
            <a:avLst/>
          </a:prstGeom>
        </p:spPr>
      </p:pic>
      <p:cxnSp>
        <p:nvCxnSpPr>
          <p:cNvPr id="487" name="Straight Arrow Connector 486">
            <a:extLst>
              <a:ext uri="{FF2B5EF4-FFF2-40B4-BE49-F238E27FC236}">
                <a16:creationId xmlns:a16="http://schemas.microsoft.com/office/drawing/2014/main" id="{11B22C45-AA6C-5C98-F290-F48B8F94B692}"/>
              </a:ext>
            </a:extLst>
          </p:cNvPr>
          <p:cNvCxnSpPr>
            <a:cxnSpLocks/>
          </p:cNvCxnSpPr>
          <p:nvPr/>
        </p:nvCxnSpPr>
        <p:spPr>
          <a:xfrm flipV="1">
            <a:off x="3866234" y="6105767"/>
            <a:ext cx="5488128" cy="156"/>
          </a:xfrm>
          <a:prstGeom prst="straightConnector1">
            <a:avLst/>
          </a:prstGeom>
          <a:ln w="3175">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93" name="TextBox 492">
            <a:extLst>
              <a:ext uri="{FF2B5EF4-FFF2-40B4-BE49-F238E27FC236}">
                <a16:creationId xmlns:a16="http://schemas.microsoft.com/office/drawing/2014/main" id="{3575AAED-C131-AB2A-E086-5FFBCEC73B9E}"/>
              </a:ext>
            </a:extLst>
          </p:cNvPr>
          <p:cNvSpPr txBox="1"/>
          <p:nvPr/>
        </p:nvSpPr>
        <p:spPr>
          <a:xfrm>
            <a:off x="5749348" y="5813895"/>
            <a:ext cx="2028632" cy="276999"/>
          </a:xfrm>
          <a:prstGeom prst="rect">
            <a:avLst/>
          </a:prstGeom>
          <a:noFill/>
        </p:spPr>
        <p:txBody>
          <a:bodyPr wrap="square"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CA" sz="1200">
                <a:solidFill>
                  <a:prstClr val="black"/>
                </a:solidFill>
                <a:latin typeface="Segoe UI"/>
              </a:rPr>
              <a:t>Full Access – FMD + MTRS</a:t>
            </a:r>
            <a:endParaRPr kumimoji="0" lang="en-CA" sz="1200" i="0" u="none" strike="noStrike" kern="1200" cap="none" spc="0" normalizeH="0" baseline="0" noProof="0">
              <a:ln>
                <a:noFill/>
              </a:ln>
              <a:solidFill>
                <a:prstClr val="black"/>
              </a:solidFill>
              <a:effectLst/>
              <a:uLnTx/>
              <a:uFillTx/>
              <a:latin typeface="Segoe UI"/>
              <a:ea typeface="+mn-ea"/>
              <a:cs typeface="+mn-cs"/>
            </a:endParaRPr>
          </a:p>
        </p:txBody>
      </p:sp>
      <p:sp>
        <p:nvSpPr>
          <p:cNvPr id="494" name="TextBox 493">
            <a:extLst>
              <a:ext uri="{FF2B5EF4-FFF2-40B4-BE49-F238E27FC236}">
                <a16:creationId xmlns:a16="http://schemas.microsoft.com/office/drawing/2014/main" id="{B705CB10-FED1-E5F8-DBB2-C470D17D1CE4}"/>
              </a:ext>
            </a:extLst>
          </p:cNvPr>
          <p:cNvSpPr txBox="1"/>
          <p:nvPr/>
        </p:nvSpPr>
        <p:spPr>
          <a:xfrm>
            <a:off x="4015951" y="3873186"/>
            <a:ext cx="1342199" cy="461665"/>
          </a:xfrm>
          <a:prstGeom prst="rect">
            <a:avLst/>
          </a:prstGeom>
          <a:noFill/>
        </p:spPr>
        <p:txBody>
          <a:bodyPr wrap="square"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CA" sz="1200">
                <a:solidFill>
                  <a:prstClr val="black"/>
                </a:solidFill>
                <a:latin typeface="Segoe UI"/>
              </a:rPr>
              <a:t>Restricted Access - FMD only</a:t>
            </a:r>
            <a:endParaRPr kumimoji="0" lang="en-CA" sz="1200" i="0" u="none" strike="noStrike" kern="1200" cap="none" spc="0" normalizeH="0" baseline="0" noProof="0">
              <a:ln>
                <a:noFill/>
              </a:ln>
              <a:solidFill>
                <a:prstClr val="black"/>
              </a:solidFill>
              <a:effectLst/>
              <a:uLnTx/>
              <a:uFillTx/>
              <a:latin typeface="Segoe UI"/>
              <a:ea typeface="+mn-ea"/>
              <a:cs typeface="+mn-cs"/>
            </a:endParaRPr>
          </a:p>
        </p:txBody>
      </p:sp>
      <p:cxnSp>
        <p:nvCxnSpPr>
          <p:cNvPr id="504" name="Straight Arrow Connector 503">
            <a:extLst>
              <a:ext uri="{FF2B5EF4-FFF2-40B4-BE49-F238E27FC236}">
                <a16:creationId xmlns:a16="http://schemas.microsoft.com/office/drawing/2014/main" id="{19187852-0371-094E-5C50-85F5CBE05682}"/>
              </a:ext>
            </a:extLst>
          </p:cNvPr>
          <p:cNvCxnSpPr>
            <a:cxnSpLocks/>
          </p:cNvCxnSpPr>
          <p:nvPr/>
        </p:nvCxnSpPr>
        <p:spPr>
          <a:xfrm>
            <a:off x="2718777" y="5598859"/>
            <a:ext cx="245804" cy="0"/>
          </a:xfrm>
          <a:prstGeom prst="straightConnector1">
            <a:avLst/>
          </a:prstGeom>
          <a:ln w="3175">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384433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16FA21-6289-BCC0-0391-E9CBDC471A69}"/>
              </a:ext>
            </a:extLst>
          </p:cNvPr>
          <p:cNvSpPr txBox="1">
            <a:spLocks/>
          </p:cNvSpPr>
          <p:nvPr/>
        </p:nvSpPr>
        <p:spPr>
          <a:xfrm>
            <a:off x="696000" y="35441"/>
            <a:ext cx="10800000" cy="717269"/>
          </a:xfrm>
          <a:prstGeom prst="rect">
            <a:avLst/>
          </a:prstGeom>
        </p:spPr>
        <p:txBody>
          <a:bodyPr lIns="91440" tIns="45720" rIns="91440" bIns="45720" anchor="b">
            <a:normAutofit/>
          </a:bodyPr>
          <a:lstStyle>
            <a:lvl1pPr algn="l" defTabSz="914377" rtl="0" eaLnBrk="1" latinLnBrk="0" hangingPunct="1">
              <a:lnSpc>
                <a:spcPct val="90000"/>
              </a:lnSpc>
              <a:spcBef>
                <a:spcPct val="0"/>
              </a:spcBef>
              <a:buNone/>
              <a:defRPr sz="4000" u="none" kern="1200" spc="-100" baseline="0">
                <a:solidFill>
                  <a:schemeClr val="accent6"/>
                </a:solidFill>
                <a:uFill>
                  <a:solidFill>
                    <a:schemeClr val="tx2">
                      <a:lumMod val="60000"/>
                      <a:lumOff val="40000"/>
                    </a:schemeClr>
                  </a:solidFill>
                </a:uFill>
                <a:latin typeface="+mj-lt"/>
                <a:ea typeface="Segoe UI Black" panose="020B0A02040204020203" pitchFamily="34" charset="0"/>
                <a:cs typeface="Segoe UI Light" panose="020B0502040204020203" pitchFamily="34" charset="0"/>
              </a:defRPr>
            </a:lvl1pPr>
          </a:lstStyle>
          <a:p>
            <a:pPr algn="ctr">
              <a:defRPr/>
            </a:pPr>
            <a:r>
              <a:rPr kumimoji="0" lang="en-US" sz="4000" b="0" i="0" u="none" strike="noStrike" kern="1200" cap="none" spc="-100" normalizeH="0" baseline="0" noProof="0" dirty="0">
                <a:ln>
                  <a:noFill/>
                </a:ln>
                <a:solidFill>
                  <a:srgbClr val="31849B"/>
                </a:solidFill>
                <a:effectLst/>
                <a:uLnTx/>
                <a:uFill>
                  <a:solidFill>
                    <a:srgbClr val="1F497D">
                      <a:lumMod val="60000"/>
                      <a:lumOff val="40000"/>
                    </a:srgbClr>
                  </a:solidFill>
                </a:uFill>
                <a:latin typeface="Segoe UI Semibold"/>
                <a:ea typeface="Segoe UI Black"/>
                <a:cs typeface="Segoe UI Light"/>
              </a:rPr>
              <a:t>Data Ingestion : </a:t>
            </a:r>
            <a:r>
              <a:rPr lang="en-US" dirty="0">
                <a:solidFill>
                  <a:srgbClr val="31849B"/>
                </a:solidFill>
                <a:uFill>
                  <a:solidFill>
                    <a:srgbClr val="1F497D">
                      <a:lumMod val="60000"/>
                      <a:lumOff val="40000"/>
                    </a:srgbClr>
                  </a:solidFill>
                </a:uFill>
                <a:latin typeface="Segoe UI Semibold"/>
                <a:ea typeface="Segoe UI Black"/>
                <a:cs typeface="Segoe UI Light"/>
              </a:rPr>
              <a:t>Reusable Pipeline Templates</a:t>
            </a:r>
            <a:endParaRPr kumimoji="0" lang="en-US" sz="4000" b="0" i="0" u="none" strike="noStrike" kern="1200" cap="none" spc="-100" normalizeH="0" baseline="0" noProof="0" dirty="0">
              <a:ln>
                <a:noFill/>
              </a:ln>
              <a:solidFill>
                <a:srgbClr val="31849B"/>
              </a:solidFill>
              <a:effectLst/>
              <a:uLnTx/>
              <a:uFill>
                <a:solidFill>
                  <a:srgbClr val="1F497D">
                    <a:lumMod val="60000"/>
                    <a:lumOff val="40000"/>
                  </a:srgbClr>
                </a:solidFill>
              </a:uFill>
              <a:latin typeface="Segoe UI Semibold"/>
              <a:ea typeface="Segoe UI Black"/>
              <a:cs typeface="Segoe UI Light"/>
            </a:endParaRPr>
          </a:p>
        </p:txBody>
      </p:sp>
      <p:pic>
        <p:nvPicPr>
          <p:cNvPr id="6" name="Picture 5">
            <a:extLst>
              <a:ext uri="{FF2B5EF4-FFF2-40B4-BE49-F238E27FC236}">
                <a16:creationId xmlns:a16="http://schemas.microsoft.com/office/drawing/2014/main" id="{935B7AC9-4085-9D79-FF9D-B95502A65F62}"/>
              </a:ext>
            </a:extLst>
          </p:cNvPr>
          <p:cNvPicPr>
            <a:picLocks noChangeAspect="1"/>
          </p:cNvPicPr>
          <p:nvPr/>
        </p:nvPicPr>
        <p:blipFill>
          <a:blip r:embed="rId2"/>
          <a:stretch>
            <a:fillRect/>
          </a:stretch>
        </p:blipFill>
        <p:spPr>
          <a:xfrm>
            <a:off x="2729630" y="3136221"/>
            <a:ext cx="8920966" cy="1877770"/>
          </a:xfrm>
          <a:prstGeom prst="rect">
            <a:avLst/>
          </a:prstGeom>
        </p:spPr>
      </p:pic>
      <p:pic>
        <p:nvPicPr>
          <p:cNvPr id="7" name="Graphic 6">
            <a:extLst>
              <a:ext uri="{FF2B5EF4-FFF2-40B4-BE49-F238E27FC236}">
                <a16:creationId xmlns:a16="http://schemas.microsoft.com/office/drawing/2014/main" id="{6C8D5140-243E-1DF4-5987-43517479234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092835" y="5693984"/>
            <a:ext cx="628959" cy="637620"/>
          </a:xfrm>
          <a:prstGeom prst="rect">
            <a:avLst/>
          </a:prstGeom>
        </p:spPr>
      </p:pic>
      <p:cxnSp>
        <p:nvCxnSpPr>
          <p:cNvPr id="15" name="Connector: Elbow 14">
            <a:extLst>
              <a:ext uri="{FF2B5EF4-FFF2-40B4-BE49-F238E27FC236}">
                <a16:creationId xmlns:a16="http://schemas.microsoft.com/office/drawing/2014/main" id="{FC047672-BA2E-D662-54C4-E1ADA84A1C14}"/>
              </a:ext>
            </a:extLst>
          </p:cNvPr>
          <p:cNvCxnSpPr>
            <a:cxnSpLocks/>
            <a:endCxn id="6" idx="1"/>
          </p:cNvCxnSpPr>
          <p:nvPr/>
        </p:nvCxnSpPr>
        <p:spPr>
          <a:xfrm>
            <a:off x="1250731" y="3073108"/>
            <a:ext cx="1478899" cy="1001998"/>
          </a:xfrm>
          <a:prstGeom prst="bentConnector3">
            <a:avLst>
              <a:gd name="adj1" fmla="val -1416"/>
            </a:avLst>
          </a:prstGeom>
          <a:ln>
            <a:solidFill>
              <a:srgbClr val="FF9933"/>
            </a:solidFill>
            <a:tailEnd type="triangle"/>
          </a:ln>
        </p:spPr>
        <p:style>
          <a:lnRef idx="1">
            <a:schemeClr val="accent2"/>
          </a:lnRef>
          <a:fillRef idx="0">
            <a:schemeClr val="accent2"/>
          </a:fillRef>
          <a:effectRef idx="0">
            <a:schemeClr val="accent2"/>
          </a:effectRef>
          <a:fontRef idx="minor">
            <a:schemeClr val="tx1"/>
          </a:fontRef>
        </p:style>
      </p:cxnSp>
      <p:cxnSp>
        <p:nvCxnSpPr>
          <p:cNvPr id="17" name="Connector: Elbow 16">
            <a:extLst>
              <a:ext uri="{FF2B5EF4-FFF2-40B4-BE49-F238E27FC236}">
                <a16:creationId xmlns:a16="http://schemas.microsoft.com/office/drawing/2014/main" id="{EED69284-C576-8708-6053-D27F7E03A7BF}"/>
              </a:ext>
            </a:extLst>
          </p:cNvPr>
          <p:cNvCxnSpPr>
            <a:cxnSpLocks/>
          </p:cNvCxnSpPr>
          <p:nvPr/>
        </p:nvCxnSpPr>
        <p:spPr>
          <a:xfrm rot="16200000" flipH="1">
            <a:off x="2739440" y="4925037"/>
            <a:ext cx="1787733" cy="535118"/>
          </a:xfrm>
          <a:prstGeom prst="bentConnector3">
            <a:avLst>
              <a:gd name="adj1" fmla="val 99973"/>
            </a:avLst>
          </a:prstGeom>
          <a:ln>
            <a:solidFill>
              <a:srgbClr val="FF9933"/>
            </a:solidFill>
            <a:tailEnd type="triangle"/>
          </a:ln>
        </p:spPr>
        <p:style>
          <a:lnRef idx="1">
            <a:schemeClr val="accent2"/>
          </a:lnRef>
          <a:fillRef idx="0">
            <a:schemeClr val="accent2"/>
          </a:fillRef>
          <a:effectRef idx="0">
            <a:schemeClr val="accent2"/>
          </a:effectRef>
          <a:fontRef idx="minor">
            <a:schemeClr val="tx1"/>
          </a:fontRef>
        </p:style>
      </p:cxnSp>
      <p:sp>
        <p:nvSpPr>
          <p:cNvPr id="20" name="TextBox 19">
            <a:extLst>
              <a:ext uri="{FF2B5EF4-FFF2-40B4-BE49-F238E27FC236}">
                <a16:creationId xmlns:a16="http://schemas.microsoft.com/office/drawing/2014/main" id="{27D9DBB0-A5FC-4625-70AC-5F8FCB9EB43D}"/>
              </a:ext>
            </a:extLst>
          </p:cNvPr>
          <p:cNvSpPr txBox="1"/>
          <p:nvPr/>
        </p:nvSpPr>
        <p:spPr>
          <a:xfrm>
            <a:off x="696000" y="738441"/>
            <a:ext cx="2378753" cy="584775"/>
          </a:xfrm>
          <a:prstGeom prst="rect">
            <a:avLst/>
          </a:prstGeom>
          <a:noFill/>
        </p:spPr>
        <p:txBody>
          <a:bodyPr wrap="square" rtlCol="0">
            <a:spAutoFit/>
          </a:bodyPr>
          <a:lstStyle/>
          <a:p>
            <a:pPr marL="0" marR="0" lvl="0" indent="0" defTabSz="914377" rtl="0" eaLnBrk="1" fontAlgn="auto" latinLnBrk="0" hangingPunct="1">
              <a:lnSpc>
                <a:spcPct val="100000"/>
              </a:lnSpc>
              <a:spcBef>
                <a:spcPts val="0"/>
              </a:spcBef>
              <a:spcAft>
                <a:spcPts val="0"/>
              </a:spcAft>
              <a:buClrTx/>
              <a:buSzTx/>
              <a:buFontTx/>
              <a:buNone/>
              <a:tabLst/>
              <a:defRPr/>
            </a:pPr>
            <a:r>
              <a:rPr lang="en-US" sz="1600">
                <a:solidFill>
                  <a:srgbClr val="FF9933"/>
                </a:solidFill>
                <a:latin typeface="Segoe UI"/>
              </a:rPr>
              <a:t>Get configurations for data movement</a:t>
            </a:r>
            <a:endParaRPr kumimoji="0" lang="en-CA" sz="1600" i="0" u="none" strike="noStrike" kern="1200" cap="none" spc="0" normalizeH="0" baseline="0" noProof="0">
              <a:ln>
                <a:noFill/>
              </a:ln>
              <a:solidFill>
                <a:srgbClr val="FF9933"/>
              </a:solidFill>
              <a:effectLst/>
              <a:uLnTx/>
              <a:uFillTx/>
              <a:latin typeface="Segoe UI"/>
              <a:ea typeface="+mn-ea"/>
              <a:cs typeface="+mn-cs"/>
            </a:endParaRPr>
          </a:p>
        </p:txBody>
      </p:sp>
      <p:sp>
        <p:nvSpPr>
          <p:cNvPr id="22" name="Oval 21">
            <a:extLst>
              <a:ext uri="{FF2B5EF4-FFF2-40B4-BE49-F238E27FC236}">
                <a16:creationId xmlns:a16="http://schemas.microsoft.com/office/drawing/2014/main" id="{E9EB65A5-8C01-F840-195E-F982BB9ACB90}"/>
              </a:ext>
            </a:extLst>
          </p:cNvPr>
          <p:cNvSpPr/>
          <p:nvPr/>
        </p:nvSpPr>
        <p:spPr>
          <a:xfrm>
            <a:off x="246577" y="744333"/>
            <a:ext cx="449423" cy="463330"/>
          </a:xfrm>
          <a:prstGeom prst="ellipse">
            <a:avLst/>
          </a:prstGeom>
          <a:solidFill>
            <a:srgbClr val="FF993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6772" tIns="63386" rIns="126772" bIns="63386" numCol="1" spcCol="0" rtlCol="0" fromWordArt="0" anchor="ctr" anchorCtr="0" forceAA="0" compatLnSpc="1">
            <a:prstTxWarp prst="textNoShape">
              <a:avLst/>
            </a:prstTxWarp>
            <a:noAutofit/>
          </a:bodyPr>
          <a:lstStyle/>
          <a:p>
            <a:pPr marL="0" marR="0" indent="0" algn="ctr" defTabSz="914377" rtl="0" eaLnBrk="1" fontAlgn="auto" latinLnBrk="0" hangingPunct="1">
              <a:lnSpc>
                <a:spcPct val="100000"/>
              </a:lnSpc>
              <a:spcBef>
                <a:spcPts val="0"/>
              </a:spcBef>
              <a:spcAft>
                <a:spcPts val="0"/>
              </a:spcAft>
              <a:buClrTx/>
              <a:buSzTx/>
              <a:buFontTx/>
              <a:buNone/>
              <a:tabLst/>
            </a:pPr>
            <a:r>
              <a:rPr lang="en-US" sz="1600" b="1">
                <a:solidFill>
                  <a:prstClr val="white"/>
                </a:solidFill>
                <a:latin typeface="Segoe UI"/>
              </a:rPr>
              <a:t>1</a:t>
            </a:r>
            <a:endParaRPr lang="en-CA" sz="1600" b="1">
              <a:solidFill>
                <a:prstClr val="white"/>
              </a:solidFill>
              <a:latin typeface="Segoe UI"/>
            </a:endParaRPr>
          </a:p>
        </p:txBody>
      </p:sp>
      <p:sp>
        <p:nvSpPr>
          <p:cNvPr id="23" name="TextBox 22">
            <a:extLst>
              <a:ext uri="{FF2B5EF4-FFF2-40B4-BE49-F238E27FC236}">
                <a16:creationId xmlns:a16="http://schemas.microsoft.com/office/drawing/2014/main" id="{FCAFE2C6-8EBD-BA83-2A28-C1F3788AFC7A}"/>
              </a:ext>
            </a:extLst>
          </p:cNvPr>
          <p:cNvSpPr txBox="1"/>
          <p:nvPr/>
        </p:nvSpPr>
        <p:spPr>
          <a:xfrm>
            <a:off x="10042723" y="2608944"/>
            <a:ext cx="1270074" cy="338554"/>
          </a:xfrm>
          <a:prstGeom prst="rect">
            <a:avLst/>
          </a:prstGeom>
          <a:noFill/>
        </p:spPr>
        <p:txBody>
          <a:bodyPr wrap="square" rtlCol="0">
            <a:spAutoFit/>
          </a:bodyPr>
          <a:lstStyle/>
          <a:p>
            <a:pPr marL="0" marR="0" lvl="0" indent="0" defTabSz="914377" rtl="0" eaLnBrk="1" fontAlgn="auto" latinLnBrk="0" hangingPunct="1">
              <a:lnSpc>
                <a:spcPct val="100000"/>
              </a:lnSpc>
              <a:spcBef>
                <a:spcPts val="0"/>
              </a:spcBef>
              <a:spcAft>
                <a:spcPts val="0"/>
              </a:spcAft>
              <a:buClrTx/>
              <a:buSzTx/>
              <a:buFontTx/>
              <a:buNone/>
              <a:tabLst/>
              <a:defRPr/>
            </a:pPr>
            <a:r>
              <a:rPr lang="en-CA" sz="1600">
                <a:solidFill>
                  <a:srgbClr val="FF9933"/>
                </a:solidFill>
                <a:latin typeface="Segoe UI"/>
              </a:rPr>
              <a:t>Move Data</a:t>
            </a:r>
            <a:endParaRPr kumimoji="0" lang="en-CA" sz="1600" i="0" u="none" strike="noStrike" kern="1200" cap="none" spc="0" normalizeH="0" baseline="0" noProof="0">
              <a:ln>
                <a:noFill/>
              </a:ln>
              <a:solidFill>
                <a:srgbClr val="FF9933"/>
              </a:solidFill>
              <a:effectLst/>
              <a:uLnTx/>
              <a:uFillTx/>
              <a:latin typeface="Segoe UI"/>
              <a:ea typeface="+mn-ea"/>
              <a:cs typeface="+mn-cs"/>
            </a:endParaRPr>
          </a:p>
        </p:txBody>
      </p:sp>
      <p:sp>
        <p:nvSpPr>
          <p:cNvPr id="24" name="Oval 23">
            <a:extLst>
              <a:ext uri="{FF2B5EF4-FFF2-40B4-BE49-F238E27FC236}">
                <a16:creationId xmlns:a16="http://schemas.microsoft.com/office/drawing/2014/main" id="{2FE1004C-33BC-F74D-CC07-300A4A3D70DD}"/>
              </a:ext>
            </a:extLst>
          </p:cNvPr>
          <p:cNvSpPr/>
          <p:nvPr/>
        </p:nvSpPr>
        <p:spPr>
          <a:xfrm>
            <a:off x="11201173" y="2572088"/>
            <a:ext cx="449423" cy="463330"/>
          </a:xfrm>
          <a:prstGeom prst="ellipse">
            <a:avLst/>
          </a:prstGeom>
          <a:solidFill>
            <a:srgbClr val="FF993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6772" tIns="63386" rIns="126772" bIns="63386" numCol="1" spcCol="0" rtlCol="0" fromWordArt="0" anchor="ctr" anchorCtr="0" forceAA="0" compatLnSpc="1">
            <a:prstTxWarp prst="textNoShape">
              <a:avLst/>
            </a:prstTxWarp>
            <a:noAutofit/>
          </a:bodyPr>
          <a:lstStyle/>
          <a:p>
            <a:pPr marL="0" marR="0" indent="0" algn="ctr" defTabSz="914377" rtl="0" eaLnBrk="1" fontAlgn="auto" latinLnBrk="0" hangingPunct="1">
              <a:lnSpc>
                <a:spcPct val="100000"/>
              </a:lnSpc>
              <a:spcBef>
                <a:spcPts val="0"/>
              </a:spcBef>
              <a:spcAft>
                <a:spcPts val="0"/>
              </a:spcAft>
              <a:buClrTx/>
              <a:buSzTx/>
              <a:buFontTx/>
              <a:buNone/>
              <a:tabLst/>
            </a:pPr>
            <a:r>
              <a:rPr lang="en-US" sz="1600" b="1">
                <a:solidFill>
                  <a:prstClr val="white"/>
                </a:solidFill>
                <a:latin typeface="Segoe UI"/>
              </a:rPr>
              <a:t>2</a:t>
            </a:r>
            <a:endParaRPr lang="en-CA" sz="1600" b="1">
              <a:solidFill>
                <a:prstClr val="white"/>
              </a:solidFill>
              <a:latin typeface="Segoe UI"/>
            </a:endParaRPr>
          </a:p>
        </p:txBody>
      </p:sp>
      <p:sp>
        <p:nvSpPr>
          <p:cNvPr id="25" name="TextBox 24">
            <a:extLst>
              <a:ext uri="{FF2B5EF4-FFF2-40B4-BE49-F238E27FC236}">
                <a16:creationId xmlns:a16="http://schemas.microsoft.com/office/drawing/2014/main" id="{1E3572F3-0464-908E-8E8E-8EA4A6F3D733}"/>
              </a:ext>
            </a:extLst>
          </p:cNvPr>
          <p:cNvSpPr txBox="1"/>
          <p:nvPr/>
        </p:nvSpPr>
        <p:spPr>
          <a:xfrm>
            <a:off x="1487508" y="5005597"/>
            <a:ext cx="1878239" cy="830997"/>
          </a:xfrm>
          <a:prstGeom prst="rect">
            <a:avLst/>
          </a:prstGeom>
          <a:noFill/>
        </p:spPr>
        <p:txBody>
          <a:bodyPr wrap="square" rtlCol="0">
            <a:spAutoFit/>
          </a:bodyPr>
          <a:lstStyle/>
          <a:p>
            <a:pPr marL="0" marR="0" lvl="0" indent="0" defTabSz="914377" rtl="0" eaLnBrk="1" fontAlgn="auto" latinLnBrk="0" hangingPunct="1">
              <a:lnSpc>
                <a:spcPct val="100000"/>
              </a:lnSpc>
              <a:spcBef>
                <a:spcPts val="0"/>
              </a:spcBef>
              <a:spcAft>
                <a:spcPts val="0"/>
              </a:spcAft>
              <a:buClrTx/>
              <a:buSzTx/>
              <a:buFontTx/>
              <a:buNone/>
              <a:tabLst/>
              <a:defRPr/>
            </a:pPr>
            <a:r>
              <a:rPr lang="en-CA" sz="1600">
                <a:solidFill>
                  <a:srgbClr val="FF9933"/>
                </a:solidFill>
                <a:latin typeface="Segoe UI"/>
              </a:rPr>
              <a:t>Save status and other run time stats</a:t>
            </a:r>
            <a:endParaRPr kumimoji="0" lang="en-CA" sz="1600" i="0" u="none" strike="noStrike" kern="1200" cap="none" spc="0" normalizeH="0" baseline="0" noProof="0">
              <a:ln>
                <a:noFill/>
              </a:ln>
              <a:solidFill>
                <a:srgbClr val="FF9933"/>
              </a:solidFill>
              <a:effectLst/>
              <a:uLnTx/>
              <a:uFillTx/>
              <a:latin typeface="Segoe UI"/>
              <a:ea typeface="+mn-ea"/>
              <a:cs typeface="+mn-cs"/>
            </a:endParaRPr>
          </a:p>
        </p:txBody>
      </p:sp>
      <p:sp>
        <p:nvSpPr>
          <p:cNvPr id="26" name="Oval 25">
            <a:extLst>
              <a:ext uri="{FF2B5EF4-FFF2-40B4-BE49-F238E27FC236}">
                <a16:creationId xmlns:a16="http://schemas.microsoft.com/office/drawing/2014/main" id="{2F11F48D-0DA8-C8B8-90F3-52ED8C3F0ED1}"/>
              </a:ext>
            </a:extLst>
          </p:cNvPr>
          <p:cNvSpPr/>
          <p:nvPr/>
        </p:nvSpPr>
        <p:spPr>
          <a:xfrm>
            <a:off x="1054833" y="5039897"/>
            <a:ext cx="449423" cy="463330"/>
          </a:xfrm>
          <a:prstGeom prst="ellipse">
            <a:avLst/>
          </a:prstGeom>
          <a:solidFill>
            <a:srgbClr val="FF993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6772" tIns="63386" rIns="126772" bIns="63386" numCol="1" spcCol="0" rtlCol="0" fromWordArt="0" anchor="ctr" anchorCtr="0" forceAA="0" compatLnSpc="1">
            <a:prstTxWarp prst="textNoShape">
              <a:avLst/>
            </a:prstTxWarp>
            <a:noAutofit/>
          </a:bodyPr>
          <a:lstStyle/>
          <a:p>
            <a:pPr marL="0" marR="0" indent="0" algn="ctr" defTabSz="914377" rtl="0" eaLnBrk="1" fontAlgn="auto" latinLnBrk="0" hangingPunct="1">
              <a:lnSpc>
                <a:spcPct val="100000"/>
              </a:lnSpc>
              <a:spcBef>
                <a:spcPts val="0"/>
              </a:spcBef>
              <a:spcAft>
                <a:spcPts val="0"/>
              </a:spcAft>
              <a:buClrTx/>
              <a:buSzTx/>
              <a:buFontTx/>
              <a:buNone/>
              <a:tabLst/>
            </a:pPr>
            <a:r>
              <a:rPr lang="en-US" sz="1600" b="1">
                <a:solidFill>
                  <a:prstClr val="white"/>
                </a:solidFill>
                <a:latin typeface="Segoe UI"/>
                <a:cs typeface="Segoe UI"/>
              </a:rPr>
              <a:t>3</a:t>
            </a:r>
          </a:p>
        </p:txBody>
      </p:sp>
      <p:sp>
        <p:nvSpPr>
          <p:cNvPr id="29" name="TextBox 28">
            <a:extLst>
              <a:ext uri="{FF2B5EF4-FFF2-40B4-BE49-F238E27FC236}">
                <a16:creationId xmlns:a16="http://schemas.microsoft.com/office/drawing/2014/main" id="{5D65D802-8E5D-884A-74A6-DF274D5455CD}"/>
              </a:ext>
            </a:extLst>
          </p:cNvPr>
          <p:cNvSpPr txBox="1"/>
          <p:nvPr/>
        </p:nvSpPr>
        <p:spPr>
          <a:xfrm>
            <a:off x="8041506" y="5917186"/>
            <a:ext cx="2181191" cy="338554"/>
          </a:xfrm>
          <a:prstGeom prst="rect">
            <a:avLst/>
          </a:prstGeom>
          <a:noFill/>
        </p:spPr>
        <p:txBody>
          <a:bodyPr wrap="square" rtlCol="0">
            <a:spAutoFit/>
          </a:bodyPr>
          <a:lstStyle/>
          <a:p>
            <a:pPr marL="0" marR="0" lvl="0" indent="0" defTabSz="914377" rtl="0" eaLnBrk="1" fontAlgn="auto" latinLnBrk="0" hangingPunct="1">
              <a:lnSpc>
                <a:spcPct val="100000"/>
              </a:lnSpc>
              <a:spcBef>
                <a:spcPts val="0"/>
              </a:spcBef>
              <a:spcAft>
                <a:spcPts val="0"/>
              </a:spcAft>
              <a:buClrTx/>
              <a:buSzTx/>
              <a:buFontTx/>
              <a:buNone/>
              <a:tabLst/>
              <a:defRPr/>
            </a:pPr>
            <a:r>
              <a:rPr lang="en-CA" sz="1600">
                <a:solidFill>
                  <a:srgbClr val="FF9933"/>
                </a:solidFill>
                <a:latin typeface="Segoe UI"/>
              </a:rPr>
              <a:t>Monitor and Report</a:t>
            </a:r>
            <a:endParaRPr kumimoji="0" lang="en-CA" sz="1600" i="0" u="none" strike="noStrike" kern="1200" cap="none" spc="0" normalizeH="0" baseline="0" noProof="0">
              <a:ln>
                <a:noFill/>
              </a:ln>
              <a:solidFill>
                <a:srgbClr val="FF9933"/>
              </a:solidFill>
              <a:effectLst/>
              <a:uLnTx/>
              <a:uFillTx/>
              <a:latin typeface="Segoe UI"/>
              <a:ea typeface="+mn-ea"/>
              <a:cs typeface="+mn-cs"/>
            </a:endParaRPr>
          </a:p>
        </p:txBody>
      </p:sp>
      <p:sp>
        <p:nvSpPr>
          <p:cNvPr id="30" name="Oval 29">
            <a:extLst>
              <a:ext uri="{FF2B5EF4-FFF2-40B4-BE49-F238E27FC236}">
                <a16:creationId xmlns:a16="http://schemas.microsoft.com/office/drawing/2014/main" id="{ADAACE7A-7FA3-5468-3D5E-F3457AD57107}"/>
              </a:ext>
            </a:extLst>
          </p:cNvPr>
          <p:cNvSpPr/>
          <p:nvPr/>
        </p:nvSpPr>
        <p:spPr>
          <a:xfrm>
            <a:off x="7592083" y="5854798"/>
            <a:ext cx="449423" cy="463330"/>
          </a:xfrm>
          <a:prstGeom prst="ellipse">
            <a:avLst/>
          </a:prstGeom>
          <a:solidFill>
            <a:srgbClr val="FF993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6772" tIns="63386" rIns="126772" bIns="63386" numCol="1" spcCol="0" rtlCol="0" fromWordArt="0" anchor="ctr" anchorCtr="0" forceAA="0" compatLnSpc="1">
            <a:prstTxWarp prst="textNoShape">
              <a:avLst/>
            </a:prstTxWarp>
            <a:noAutofit/>
          </a:bodyPr>
          <a:lstStyle/>
          <a:p>
            <a:pPr marL="0" marR="0" indent="0" algn="ctr" defTabSz="914377" rtl="0" eaLnBrk="1" fontAlgn="auto" latinLnBrk="0" hangingPunct="1">
              <a:lnSpc>
                <a:spcPct val="100000"/>
              </a:lnSpc>
              <a:spcBef>
                <a:spcPts val="0"/>
              </a:spcBef>
              <a:spcAft>
                <a:spcPts val="0"/>
              </a:spcAft>
              <a:buClrTx/>
              <a:buSzTx/>
              <a:buFontTx/>
              <a:buNone/>
              <a:tabLst/>
            </a:pPr>
            <a:r>
              <a:rPr lang="en-US" sz="1600" b="1">
                <a:solidFill>
                  <a:prstClr val="white"/>
                </a:solidFill>
                <a:latin typeface="Segoe UI"/>
              </a:rPr>
              <a:t>4</a:t>
            </a:r>
            <a:endParaRPr lang="en-CA" sz="1600" b="1">
              <a:solidFill>
                <a:prstClr val="white"/>
              </a:solidFill>
              <a:latin typeface="Segoe UI"/>
            </a:endParaRPr>
          </a:p>
        </p:txBody>
      </p:sp>
      <p:cxnSp>
        <p:nvCxnSpPr>
          <p:cNvPr id="37" name="Straight Arrow Connector 36">
            <a:extLst>
              <a:ext uri="{FF2B5EF4-FFF2-40B4-BE49-F238E27FC236}">
                <a16:creationId xmlns:a16="http://schemas.microsoft.com/office/drawing/2014/main" id="{7A5608E8-5226-EB87-3ECE-B5C849D06CA8}"/>
              </a:ext>
            </a:extLst>
          </p:cNvPr>
          <p:cNvCxnSpPr>
            <a:cxnSpLocks/>
          </p:cNvCxnSpPr>
          <p:nvPr/>
        </p:nvCxnSpPr>
        <p:spPr>
          <a:xfrm>
            <a:off x="4947736" y="6064651"/>
            <a:ext cx="577165" cy="0"/>
          </a:xfrm>
          <a:prstGeom prst="straightConnector1">
            <a:avLst/>
          </a:prstGeom>
          <a:ln>
            <a:solidFill>
              <a:srgbClr val="FF9933"/>
            </a:solidFill>
            <a:tailEnd type="triangle"/>
          </a:ln>
        </p:spPr>
        <p:style>
          <a:lnRef idx="1">
            <a:schemeClr val="accent2"/>
          </a:lnRef>
          <a:fillRef idx="0">
            <a:schemeClr val="accent2"/>
          </a:fillRef>
          <a:effectRef idx="0">
            <a:schemeClr val="accent2"/>
          </a:effectRef>
          <a:fontRef idx="minor">
            <a:schemeClr val="tx1"/>
          </a:fontRef>
        </p:style>
      </p:cxnSp>
      <p:pic>
        <p:nvPicPr>
          <p:cNvPr id="41" name="Graphic 40" descr="Bar chart outline">
            <a:extLst>
              <a:ext uri="{FF2B5EF4-FFF2-40B4-BE49-F238E27FC236}">
                <a16:creationId xmlns:a16="http://schemas.microsoft.com/office/drawing/2014/main" id="{A0289A1F-1341-C419-E318-15CEB7764071}"/>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984001" y="6064651"/>
            <a:ext cx="546594" cy="546594"/>
          </a:xfrm>
          <a:prstGeom prst="rect">
            <a:avLst/>
          </a:prstGeom>
        </p:spPr>
      </p:pic>
      <p:pic>
        <p:nvPicPr>
          <p:cNvPr id="43" name="Graphic 42" descr="Warning with solid fill">
            <a:extLst>
              <a:ext uri="{FF2B5EF4-FFF2-40B4-BE49-F238E27FC236}">
                <a16:creationId xmlns:a16="http://schemas.microsoft.com/office/drawing/2014/main" id="{036B796F-361F-4493-BBAC-8D3182CE4DAD}"/>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755306" y="5602607"/>
            <a:ext cx="410187" cy="410187"/>
          </a:xfrm>
          <a:prstGeom prst="rect">
            <a:avLst/>
          </a:prstGeom>
        </p:spPr>
      </p:pic>
      <p:pic>
        <p:nvPicPr>
          <p:cNvPr id="46" name="Graphic 45" descr="Scatterplot outline">
            <a:extLst>
              <a:ext uri="{FF2B5EF4-FFF2-40B4-BE49-F238E27FC236}">
                <a16:creationId xmlns:a16="http://schemas.microsoft.com/office/drawing/2014/main" id="{3762A0C5-2318-2F2F-C772-A817B478A1F3}"/>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5978349" y="5501476"/>
            <a:ext cx="584987" cy="584987"/>
          </a:xfrm>
          <a:prstGeom prst="rect">
            <a:avLst/>
          </a:prstGeom>
        </p:spPr>
      </p:pic>
      <p:pic>
        <p:nvPicPr>
          <p:cNvPr id="47" name="Graphic 46" descr="Megaphone1 outline">
            <a:extLst>
              <a:ext uri="{FF2B5EF4-FFF2-40B4-BE49-F238E27FC236}">
                <a16:creationId xmlns:a16="http://schemas.microsoft.com/office/drawing/2014/main" id="{1C79B647-7E4E-B056-6B2C-D8048024F753}"/>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643518" y="6039581"/>
            <a:ext cx="546595" cy="546595"/>
          </a:xfrm>
          <a:prstGeom prst="rect">
            <a:avLst/>
          </a:prstGeom>
        </p:spPr>
      </p:pic>
      <p:pic>
        <p:nvPicPr>
          <p:cNvPr id="5" name="Picture 4">
            <a:extLst>
              <a:ext uri="{FF2B5EF4-FFF2-40B4-BE49-F238E27FC236}">
                <a16:creationId xmlns:a16="http://schemas.microsoft.com/office/drawing/2014/main" id="{5DF095D1-659C-F5B7-6829-366025AE7842}"/>
              </a:ext>
            </a:extLst>
          </p:cNvPr>
          <p:cNvPicPr>
            <a:picLocks noChangeAspect="1"/>
          </p:cNvPicPr>
          <p:nvPr/>
        </p:nvPicPr>
        <p:blipFill>
          <a:blip r:embed="rId13"/>
          <a:stretch>
            <a:fillRect/>
          </a:stretch>
        </p:blipFill>
        <p:spPr>
          <a:xfrm>
            <a:off x="493146" y="1354773"/>
            <a:ext cx="6386386" cy="1718335"/>
          </a:xfrm>
          <a:prstGeom prst="rect">
            <a:avLst/>
          </a:prstGeom>
        </p:spPr>
      </p:pic>
    </p:spTree>
    <p:extLst>
      <p:ext uri="{BB962C8B-B14F-4D97-AF65-F5344CB8AC3E}">
        <p14:creationId xmlns:p14="http://schemas.microsoft.com/office/powerpoint/2010/main" val="512116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377FC8CC-BF48-4372-ADBD-E108291B94CD}"/>
              </a:ext>
            </a:extLst>
          </p:cNvPr>
          <p:cNvSpPr txBox="1">
            <a:spLocks/>
          </p:cNvSpPr>
          <p:nvPr/>
        </p:nvSpPr>
        <p:spPr>
          <a:xfrm>
            <a:off x="696001" y="213396"/>
            <a:ext cx="10800000" cy="717269"/>
          </a:xfrm>
          <a:prstGeom prst="rect">
            <a:avLst/>
          </a:prstGeom>
        </p:spPr>
        <p:txBody>
          <a:bodyPr anchor="b">
            <a:normAutofit/>
          </a:bodyPr>
          <a:lstStyle>
            <a:lvl1pPr algn="l" defTabSz="914377" rtl="0" eaLnBrk="1" latinLnBrk="0" hangingPunct="1">
              <a:lnSpc>
                <a:spcPct val="90000"/>
              </a:lnSpc>
              <a:spcBef>
                <a:spcPct val="0"/>
              </a:spcBef>
              <a:buNone/>
              <a:defRPr sz="4000" u="none" kern="1200" spc="-100" baseline="0">
                <a:solidFill>
                  <a:schemeClr val="accent6"/>
                </a:solidFill>
                <a:uFill>
                  <a:solidFill>
                    <a:schemeClr val="tx2">
                      <a:lumMod val="60000"/>
                      <a:lumOff val="40000"/>
                    </a:schemeClr>
                  </a:solidFill>
                </a:uFill>
                <a:latin typeface="+mj-lt"/>
                <a:ea typeface="Segoe UI Black" panose="020B0A02040204020203" pitchFamily="34" charset="0"/>
                <a:cs typeface="Segoe UI Light" panose="020B0502040204020203" pitchFamily="34" charset="0"/>
              </a:defRPr>
            </a:lvl1pPr>
          </a:lstStyle>
          <a:p>
            <a:pPr marL="0" marR="0" lvl="0" indent="0" algn="ctr" defTabSz="914377" rtl="0" eaLnBrk="1" fontAlgn="auto" latinLnBrk="0" hangingPunct="1">
              <a:lnSpc>
                <a:spcPct val="90000"/>
              </a:lnSpc>
              <a:spcBef>
                <a:spcPct val="0"/>
              </a:spcBef>
              <a:spcAft>
                <a:spcPts val="0"/>
              </a:spcAft>
              <a:buClrTx/>
              <a:buSzTx/>
              <a:buFontTx/>
              <a:buNone/>
              <a:tabLst/>
              <a:defRPr/>
            </a:pPr>
            <a:r>
              <a:rPr kumimoji="0" lang="en-US" sz="4000" b="0" i="0" u="none" strike="noStrike" kern="1200" cap="none" spc="-100" normalizeH="0" baseline="0" noProof="0">
                <a:ln>
                  <a:noFill/>
                </a:ln>
                <a:solidFill>
                  <a:srgbClr val="31849B"/>
                </a:solidFill>
                <a:effectLst/>
                <a:uLnTx/>
                <a:uFill>
                  <a:solidFill>
                    <a:srgbClr val="1F497D">
                      <a:lumMod val="60000"/>
                      <a:lumOff val="40000"/>
                    </a:srgbClr>
                  </a:solidFill>
                </a:uFill>
                <a:latin typeface="Segoe UI Semibold"/>
                <a:ea typeface="Segoe UI Black" panose="020B0A02040204020203" pitchFamily="34" charset="0"/>
                <a:cs typeface="Segoe UI Light" panose="020B0502040204020203" pitchFamily="34" charset="0"/>
              </a:rPr>
              <a:t>Fabric Triton environment - Findings</a:t>
            </a:r>
          </a:p>
        </p:txBody>
      </p:sp>
      <p:sp>
        <p:nvSpPr>
          <p:cNvPr id="2" name="TextBox 1">
            <a:extLst>
              <a:ext uri="{FF2B5EF4-FFF2-40B4-BE49-F238E27FC236}">
                <a16:creationId xmlns:a16="http://schemas.microsoft.com/office/drawing/2014/main" id="{E692C870-23E2-5421-D832-B7F1FA99BCAF}"/>
              </a:ext>
            </a:extLst>
          </p:cNvPr>
          <p:cNvSpPr txBox="1"/>
          <p:nvPr/>
        </p:nvSpPr>
        <p:spPr>
          <a:xfrm>
            <a:off x="895330" y="930665"/>
            <a:ext cx="2531041" cy="432541"/>
          </a:xfrm>
          <a:prstGeom prst="rect">
            <a:avLst/>
          </a:prstGeom>
          <a:solidFill>
            <a:srgbClr val="0070C0"/>
          </a:solidFill>
        </p:spPr>
        <p:txBody>
          <a:bodyPr wrap="square" tIns="0" bIns="108000" anchor="ctr">
            <a:spAutoFit/>
          </a:bodyPr>
          <a:lstStyle/>
          <a:p>
            <a:pPr algn="ctr">
              <a:lnSpc>
                <a:spcPct val="150000"/>
              </a:lnSpc>
            </a:pPr>
            <a:r>
              <a:rPr lang="en-US" sz="1600" b="1">
                <a:solidFill>
                  <a:schemeClr val="bg1"/>
                </a:solidFill>
              </a:rPr>
              <a:t>Efficiency</a:t>
            </a:r>
            <a:endParaRPr lang="en-CA" sz="1600" b="1">
              <a:solidFill>
                <a:schemeClr val="bg1"/>
              </a:solidFill>
            </a:endParaRPr>
          </a:p>
        </p:txBody>
      </p:sp>
      <p:cxnSp>
        <p:nvCxnSpPr>
          <p:cNvPr id="5" name="Straight Connector 4">
            <a:extLst>
              <a:ext uri="{FF2B5EF4-FFF2-40B4-BE49-F238E27FC236}">
                <a16:creationId xmlns:a16="http://schemas.microsoft.com/office/drawing/2014/main" id="{C3D92416-BFC3-A981-F01C-74E993F74662}"/>
              </a:ext>
            </a:extLst>
          </p:cNvPr>
          <p:cNvCxnSpPr>
            <a:cxnSpLocks/>
          </p:cNvCxnSpPr>
          <p:nvPr/>
        </p:nvCxnSpPr>
        <p:spPr>
          <a:xfrm>
            <a:off x="4278855" y="1022131"/>
            <a:ext cx="0" cy="5582803"/>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F9F06B8A-92F8-77E4-65C9-25D5BFC0A836}"/>
              </a:ext>
            </a:extLst>
          </p:cNvPr>
          <p:cNvSpPr txBox="1"/>
          <p:nvPr/>
        </p:nvSpPr>
        <p:spPr>
          <a:xfrm>
            <a:off x="5420031" y="929995"/>
            <a:ext cx="2005525" cy="432541"/>
          </a:xfrm>
          <a:prstGeom prst="rect">
            <a:avLst/>
          </a:prstGeom>
          <a:solidFill>
            <a:srgbClr val="0070C0"/>
          </a:solidFill>
        </p:spPr>
        <p:txBody>
          <a:bodyPr wrap="square" tIns="0" bIns="108000" anchor="ctr">
            <a:spAutoFit/>
          </a:bodyPr>
          <a:lstStyle/>
          <a:p>
            <a:pPr algn="ctr">
              <a:lnSpc>
                <a:spcPct val="150000"/>
              </a:lnSpc>
            </a:pPr>
            <a:r>
              <a:rPr lang="en-US" sz="1600" b="1">
                <a:solidFill>
                  <a:schemeClr val="bg1"/>
                </a:solidFill>
              </a:rPr>
              <a:t>Ease of Use</a:t>
            </a:r>
            <a:endParaRPr lang="en-CA" sz="1600" b="1">
              <a:solidFill>
                <a:schemeClr val="bg1"/>
              </a:solidFill>
            </a:endParaRPr>
          </a:p>
        </p:txBody>
      </p:sp>
      <p:cxnSp>
        <p:nvCxnSpPr>
          <p:cNvPr id="7" name="Straight Connector 6">
            <a:extLst>
              <a:ext uri="{FF2B5EF4-FFF2-40B4-BE49-F238E27FC236}">
                <a16:creationId xmlns:a16="http://schemas.microsoft.com/office/drawing/2014/main" id="{861DB7E3-3592-BC9C-A521-57A900D0DC89}"/>
              </a:ext>
            </a:extLst>
          </p:cNvPr>
          <p:cNvCxnSpPr>
            <a:cxnSpLocks/>
          </p:cNvCxnSpPr>
          <p:nvPr/>
        </p:nvCxnSpPr>
        <p:spPr>
          <a:xfrm flipH="1">
            <a:off x="8497613" y="1022131"/>
            <a:ext cx="2" cy="5582803"/>
          </a:xfrm>
          <a:prstGeom prst="line">
            <a:avLst/>
          </a:prstGeom>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76F520C5-CA0D-7181-43B9-7E8D343C0D48}"/>
              </a:ext>
            </a:extLst>
          </p:cNvPr>
          <p:cNvSpPr txBox="1"/>
          <p:nvPr/>
        </p:nvSpPr>
        <p:spPr>
          <a:xfrm>
            <a:off x="8954450" y="942606"/>
            <a:ext cx="2667674" cy="432541"/>
          </a:xfrm>
          <a:prstGeom prst="rect">
            <a:avLst/>
          </a:prstGeom>
          <a:solidFill>
            <a:srgbClr val="0070C0"/>
          </a:solidFill>
        </p:spPr>
        <p:txBody>
          <a:bodyPr wrap="square" tIns="0" bIns="108000" anchor="ctr">
            <a:spAutoFit/>
          </a:bodyPr>
          <a:lstStyle/>
          <a:p>
            <a:pPr algn="ctr">
              <a:lnSpc>
                <a:spcPct val="150000"/>
              </a:lnSpc>
            </a:pPr>
            <a:r>
              <a:rPr lang="en-US" sz="1600" b="1">
                <a:solidFill>
                  <a:schemeClr val="bg1"/>
                </a:solidFill>
              </a:rPr>
              <a:t>Ease of Development</a:t>
            </a:r>
            <a:endParaRPr lang="en-CA" sz="1600" b="1">
              <a:solidFill>
                <a:schemeClr val="bg1"/>
              </a:solidFill>
            </a:endParaRPr>
          </a:p>
        </p:txBody>
      </p:sp>
      <p:sp>
        <p:nvSpPr>
          <p:cNvPr id="10" name="TextBox 9">
            <a:extLst>
              <a:ext uri="{FF2B5EF4-FFF2-40B4-BE49-F238E27FC236}">
                <a16:creationId xmlns:a16="http://schemas.microsoft.com/office/drawing/2014/main" id="{05D9BD2F-62BF-2C15-124F-0AE59D8A4463}"/>
              </a:ext>
            </a:extLst>
          </p:cNvPr>
          <p:cNvSpPr txBox="1"/>
          <p:nvPr/>
        </p:nvSpPr>
        <p:spPr>
          <a:xfrm>
            <a:off x="-28126" y="1653475"/>
            <a:ext cx="4246548" cy="4253344"/>
          </a:xfrm>
          <a:prstGeom prst="rect">
            <a:avLst/>
          </a:prstGeom>
          <a:noFill/>
        </p:spPr>
        <p:txBody>
          <a:bodyPr wrap="square" lIns="0" rIns="108000">
            <a:spAutoFit/>
          </a:bodyPr>
          <a:lstStyle/>
          <a:p>
            <a:pPr lvl="1">
              <a:lnSpc>
                <a:spcPct val="150000"/>
              </a:lnSpc>
            </a:pPr>
            <a:r>
              <a:rPr lang="en-CA" sz="1400" b="1">
                <a:solidFill>
                  <a:srgbClr val="0070C0"/>
                </a:solidFill>
              </a:rPr>
              <a:t>Faster data movement </a:t>
            </a:r>
          </a:p>
          <a:p>
            <a:pPr lvl="1">
              <a:lnSpc>
                <a:spcPct val="150000"/>
              </a:lnSpc>
            </a:pPr>
            <a:r>
              <a:rPr lang="en-CA" sz="1400"/>
              <a:t>-Dataflow Gen2 more performant than Gen1</a:t>
            </a:r>
          </a:p>
          <a:p>
            <a:pPr lvl="1">
              <a:lnSpc>
                <a:spcPct val="150000"/>
              </a:lnSpc>
            </a:pPr>
            <a:r>
              <a:rPr lang="en-CA" sz="1400"/>
              <a:t>-Notebooks are more performant and scalable than Gen2 dataflows</a:t>
            </a:r>
          </a:p>
          <a:p>
            <a:pPr lvl="1">
              <a:lnSpc>
                <a:spcPct val="150000"/>
              </a:lnSpc>
            </a:pPr>
            <a:endParaRPr lang="en-CA" sz="1400" b="1">
              <a:solidFill>
                <a:srgbClr val="0070C0"/>
              </a:solidFill>
            </a:endParaRPr>
          </a:p>
          <a:p>
            <a:pPr lvl="1">
              <a:lnSpc>
                <a:spcPct val="150000"/>
              </a:lnSpc>
            </a:pPr>
            <a:r>
              <a:rPr lang="en-CA" sz="1400" b="1" err="1">
                <a:solidFill>
                  <a:srgbClr val="0070C0"/>
                </a:solidFill>
              </a:rPr>
              <a:t>OneLake</a:t>
            </a:r>
            <a:r>
              <a:rPr lang="en-CA" sz="1400" b="1">
                <a:solidFill>
                  <a:srgbClr val="0070C0"/>
                </a:solidFill>
              </a:rPr>
              <a:t>: </a:t>
            </a:r>
            <a:r>
              <a:rPr lang="en-CA" sz="1400"/>
              <a:t>Supports multiple data formats and sources when ingesting data. </a:t>
            </a:r>
          </a:p>
          <a:p>
            <a:pPr lvl="1">
              <a:lnSpc>
                <a:spcPct val="150000"/>
              </a:lnSpc>
            </a:pPr>
            <a:endParaRPr lang="en-CA" sz="1400"/>
          </a:p>
          <a:p>
            <a:pPr lvl="1">
              <a:lnSpc>
                <a:spcPct val="150000"/>
              </a:lnSpc>
            </a:pPr>
            <a:r>
              <a:rPr lang="en-CA" sz="1400" b="1">
                <a:solidFill>
                  <a:srgbClr val="0070C0"/>
                </a:solidFill>
              </a:rPr>
              <a:t>One Copy : </a:t>
            </a:r>
            <a:r>
              <a:rPr lang="en-CA" sz="1400"/>
              <a:t>Shortcuts avoids copying data across workspaces</a:t>
            </a:r>
          </a:p>
          <a:p>
            <a:pPr lvl="1">
              <a:lnSpc>
                <a:spcPct val="150000"/>
              </a:lnSpc>
            </a:pPr>
            <a:endParaRPr lang="en-CA" sz="1400"/>
          </a:p>
          <a:p>
            <a:pPr lvl="1">
              <a:lnSpc>
                <a:spcPct val="150000"/>
              </a:lnSpc>
            </a:pPr>
            <a:r>
              <a:rPr lang="en-CA" sz="1400" b="1">
                <a:solidFill>
                  <a:srgbClr val="0070C0"/>
                </a:solidFill>
              </a:rPr>
              <a:t>Governance</a:t>
            </a:r>
            <a:r>
              <a:rPr lang="en-CA" sz="1400"/>
              <a:t>: Lakehouse and shortcuts simplifies the management of permissions</a:t>
            </a:r>
          </a:p>
        </p:txBody>
      </p:sp>
      <p:sp>
        <p:nvSpPr>
          <p:cNvPr id="12" name="TextBox 11">
            <a:extLst>
              <a:ext uri="{FF2B5EF4-FFF2-40B4-BE49-F238E27FC236}">
                <a16:creationId xmlns:a16="http://schemas.microsoft.com/office/drawing/2014/main" id="{FDE16D5A-124F-9A43-BD8A-62AFCD81BBF1}"/>
              </a:ext>
            </a:extLst>
          </p:cNvPr>
          <p:cNvSpPr txBox="1"/>
          <p:nvPr/>
        </p:nvSpPr>
        <p:spPr>
          <a:xfrm>
            <a:off x="4551553" y="1657763"/>
            <a:ext cx="3673363" cy="4576509"/>
          </a:xfrm>
          <a:prstGeom prst="rect">
            <a:avLst/>
          </a:prstGeom>
          <a:noFill/>
        </p:spPr>
        <p:txBody>
          <a:bodyPr wrap="square" lIns="0" rIns="108000">
            <a:spAutoFit/>
          </a:bodyPr>
          <a:lstStyle>
            <a:defPPr>
              <a:defRPr lang="en-US"/>
            </a:defPPr>
            <a:lvl2pPr marL="742950" lvl="1" indent="-285750">
              <a:lnSpc>
                <a:spcPct val="150000"/>
              </a:lnSpc>
              <a:buFont typeface="Arial" panose="020B0604020202020204" pitchFamily="34" charset="0"/>
              <a:buChar char="•"/>
              <a:defRPr sz="1400" b="1">
                <a:solidFill>
                  <a:srgbClr val="0070C0"/>
                </a:solidFill>
              </a:defRPr>
            </a:lvl2pPr>
          </a:lstStyle>
          <a:p>
            <a:pPr>
              <a:lnSpc>
                <a:spcPct val="150000"/>
              </a:lnSpc>
            </a:pPr>
            <a:r>
              <a:rPr lang="en-CA" sz="1400" b="1">
                <a:solidFill>
                  <a:srgbClr val="0070C0"/>
                </a:solidFill>
              </a:rPr>
              <a:t>Unified Interface </a:t>
            </a:r>
            <a:r>
              <a:rPr lang="en-CA" sz="1400"/>
              <a:t>for </a:t>
            </a:r>
            <a:r>
              <a:rPr lang="en-US" sz="1400"/>
              <a:t>data engineering, data integration, and data science capabilities in a single workspace</a:t>
            </a:r>
            <a:r>
              <a:rPr lang="en-CA" sz="1400"/>
              <a:t>.</a:t>
            </a:r>
          </a:p>
          <a:p>
            <a:pPr>
              <a:lnSpc>
                <a:spcPct val="150000"/>
              </a:lnSpc>
            </a:pPr>
            <a:endParaRPr lang="en-CA" sz="1400" b="1">
              <a:solidFill>
                <a:srgbClr val="0070C0"/>
              </a:solidFill>
            </a:endParaRPr>
          </a:p>
          <a:p>
            <a:pPr>
              <a:lnSpc>
                <a:spcPct val="150000"/>
              </a:lnSpc>
            </a:pPr>
            <a:r>
              <a:rPr lang="en-CA" sz="1400" b="1">
                <a:solidFill>
                  <a:srgbClr val="0070C0"/>
                </a:solidFill>
              </a:rPr>
              <a:t>Scheduling and monitoring</a:t>
            </a:r>
            <a:r>
              <a:rPr lang="en-CA" sz="1400"/>
              <a:t> of processes is easy to set-up and flexible</a:t>
            </a:r>
          </a:p>
          <a:p>
            <a:pPr marL="742950" lvl="1" indent="-285750">
              <a:lnSpc>
                <a:spcPct val="150000"/>
              </a:lnSpc>
              <a:buFont typeface="Arial" panose="020B0604020202020204" pitchFamily="34" charset="0"/>
              <a:buChar char="•"/>
            </a:pPr>
            <a:r>
              <a:rPr lang="en-CA" b="0">
                <a:solidFill>
                  <a:schemeClr val="tx1"/>
                </a:solidFill>
              </a:rPr>
              <a:t>Allows for time schedule and event base triggers</a:t>
            </a:r>
          </a:p>
          <a:p>
            <a:pPr marL="742950" lvl="1" indent="-285750">
              <a:lnSpc>
                <a:spcPct val="150000"/>
              </a:lnSpc>
              <a:buFont typeface="Arial" panose="020B0604020202020204" pitchFamily="34" charset="0"/>
              <a:buChar char="•"/>
            </a:pPr>
            <a:r>
              <a:rPr lang="en-CA" b="0">
                <a:solidFill>
                  <a:schemeClr val="tx1"/>
                </a:solidFill>
              </a:rPr>
              <a:t>High frequency updates is possible</a:t>
            </a:r>
          </a:p>
          <a:p>
            <a:pPr marL="742950" lvl="1" indent="-285750">
              <a:lnSpc>
                <a:spcPct val="150000"/>
              </a:lnSpc>
              <a:buFont typeface="Arial" panose="020B0604020202020204" pitchFamily="34" charset="0"/>
              <a:buChar char="•"/>
            </a:pPr>
            <a:endParaRPr lang="en-CA" b="0">
              <a:solidFill>
                <a:schemeClr val="tx1"/>
              </a:solidFill>
            </a:endParaRPr>
          </a:p>
          <a:p>
            <a:pPr marL="0" lvl="1" indent="0">
              <a:buNone/>
            </a:pPr>
            <a:r>
              <a:rPr lang="en-US"/>
              <a:t>Low-Code &amp; Familiarity: </a:t>
            </a:r>
            <a:r>
              <a:rPr lang="en-US" b="0">
                <a:solidFill>
                  <a:schemeClr val="tx1"/>
                </a:solidFill>
              </a:rPr>
              <a:t>Fabric integrates with Power BI, offers drag-and-drop options, and supports SQL/</a:t>
            </a:r>
            <a:r>
              <a:rPr lang="en-US" b="0" err="1">
                <a:solidFill>
                  <a:schemeClr val="tx1"/>
                </a:solidFill>
              </a:rPr>
              <a:t>PySpark</a:t>
            </a:r>
            <a:r>
              <a:rPr lang="en-US" b="0">
                <a:solidFill>
                  <a:schemeClr val="tx1"/>
                </a:solidFill>
              </a:rPr>
              <a:t>, making it easy to onboard and use alongside existing skill sets.</a:t>
            </a:r>
            <a:endParaRPr lang="en-CA" b="0">
              <a:solidFill>
                <a:schemeClr val="tx1"/>
              </a:solidFill>
            </a:endParaRPr>
          </a:p>
        </p:txBody>
      </p:sp>
      <p:sp>
        <p:nvSpPr>
          <p:cNvPr id="13" name="TextBox 12">
            <a:extLst>
              <a:ext uri="{FF2B5EF4-FFF2-40B4-BE49-F238E27FC236}">
                <a16:creationId xmlns:a16="http://schemas.microsoft.com/office/drawing/2014/main" id="{572CF0E9-0B4D-1E29-C861-0EF24333EE99}"/>
              </a:ext>
            </a:extLst>
          </p:cNvPr>
          <p:cNvSpPr txBox="1"/>
          <p:nvPr/>
        </p:nvSpPr>
        <p:spPr>
          <a:xfrm>
            <a:off x="8497613" y="1651405"/>
            <a:ext cx="3428086" cy="3607013"/>
          </a:xfrm>
          <a:prstGeom prst="rect">
            <a:avLst/>
          </a:prstGeom>
          <a:noFill/>
        </p:spPr>
        <p:txBody>
          <a:bodyPr wrap="square" lIns="0" rIns="108000">
            <a:spAutoFit/>
          </a:bodyPr>
          <a:lstStyle>
            <a:defPPr>
              <a:defRPr lang="en-US"/>
            </a:defPPr>
            <a:lvl2pPr marL="742950" lvl="1" indent="-285750">
              <a:lnSpc>
                <a:spcPct val="150000"/>
              </a:lnSpc>
              <a:buFont typeface="Arial" panose="020B0604020202020204" pitchFamily="34" charset="0"/>
              <a:buChar char="•"/>
              <a:defRPr sz="1400" b="1">
                <a:solidFill>
                  <a:srgbClr val="0070C0"/>
                </a:solidFill>
              </a:defRPr>
            </a:lvl2pPr>
          </a:lstStyle>
          <a:p>
            <a:pPr marL="457200" lvl="1" indent="0">
              <a:buNone/>
            </a:pPr>
            <a:r>
              <a:rPr lang="en-CA"/>
              <a:t>Parameterization</a:t>
            </a:r>
            <a:r>
              <a:rPr lang="en-CA" b="0">
                <a:solidFill>
                  <a:schemeClr val="tx1"/>
                </a:solidFill>
              </a:rPr>
              <a:t>: Pipelines can be parameterized (for scalability and incremental loads) and scheduled easily </a:t>
            </a:r>
          </a:p>
          <a:p>
            <a:pPr marL="457200" lvl="1" indent="0">
              <a:buNone/>
            </a:pPr>
            <a:endParaRPr lang="en-CA" b="0">
              <a:solidFill>
                <a:schemeClr val="tx1"/>
              </a:solidFill>
            </a:endParaRPr>
          </a:p>
          <a:p>
            <a:pPr marL="457200" lvl="1" indent="0">
              <a:buNone/>
            </a:pPr>
            <a:r>
              <a:rPr lang="en-CA"/>
              <a:t>Templates </a:t>
            </a:r>
            <a:r>
              <a:rPr lang="en-CA" b="0">
                <a:solidFill>
                  <a:schemeClr val="tx1"/>
                </a:solidFill>
              </a:rPr>
              <a:t>are easy to build, copy and share. Notebooks, semantic models, pipelines</a:t>
            </a:r>
          </a:p>
          <a:p>
            <a:pPr lvl="1">
              <a:lnSpc>
                <a:spcPct val="150000"/>
              </a:lnSpc>
            </a:pPr>
            <a:endParaRPr lang="en-CA" sz="1400"/>
          </a:p>
          <a:p>
            <a:pPr marL="457200" lvl="1" indent="0">
              <a:lnSpc>
                <a:spcPct val="150000"/>
              </a:lnSpc>
              <a:buNone/>
            </a:pPr>
            <a:r>
              <a:rPr lang="en-CA" sz="1400" b="1">
                <a:solidFill>
                  <a:srgbClr val="0070C0"/>
                </a:solidFill>
              </a:rPr>
              <a:t>ETL Options</a:t>
            </a:r>
            <a:r>
              <a:rPr lang="en-CA" sz="1400" b="1"/>
              <a:t>: </a:t>
            </a:r>
          </a:p>
          <a:p>
            <a:pPr marL="457200" lvl="1" indent="0">
              <a:lnSpc>
                <a:spcPct val="150000"/>
              </a:lnSpc>
              <a:buNone/>
            </a:pPr>
            <a:r>
              <a:rPr lang="en-CA" sz="1400" b="0">
                <a:solidFill>
                  <a:schemeClr val="tx1"/>
                </a:solidFill>
              </a:rPr>
              <a:t>Pipelines | </a:t>
            </a:r>
            <a:r>
              <a:rPr lang="en-CA" b="0">
                <a:solidFill>
                  <a:schemeClr val="tx1"/>
                </a:solidFill>
              </a:rPr>
              <a:t>Notebooks | </a:t>
            </a:r>
            <a:r>
              <a:rPr lang="en-CA" b="0" err="1">
                <a:solidFill>
                  <a:schemeClr val="tx1"/>
                </a:solidFill>
              </a:rPr>
              <a:t>DataFlows</a:t>
            </a:r>
            <a:endParaRPr lang="en-CA" b="0">
              <a:solidFill>
                <a:schemeClr val="tx1"/>
              </a:solidFill>
            </a:endParaRPr>
          </a:p>
        </p:txBody>
      </p:sp>
    </p:spTree>
    <p:extLst>
      <p:ext uri="{BB962C8B-B14F-4D97-AF65-F5344CB8AC3E}">
        <p14:creationId xmlns:p14="http://schemas.microsoft.com/office/powerpoint/2010/main" val="33070473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 name="Rectangle 258">
            <a:extLst>
              <a:ext uri="{FF2B5EF4-FFF2-40B4-BE49-F238E27FC236}">
                <a16:creationId xmlns:a16="http://schemas.microsoft.com/office/drawing/2014/main" id="{2330CF74-34F9-CE79-4CAC-53E5309FC913}"/>
              </a:ext>
            </a:extLst>
          </p:cNvPr>
          <p:cNvSpPr/>
          <p:nvPr/>
        </p:nvSpPr>
        <p:spPr>
          <a:xfrm>
            <a:off x="2884763" y="1808178"/>
            <a:ext cx="8950826" cy="2924926"/>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6772" tIns="63386" rIns="126772" bIns="63386" numCol="1" spcCol="0" rtlCol="0" fromWordArt="0" anchor="ctr" anchorCtr="0" forceAA="0" compatLnSpc="1">
            <a:prstTxWarp prst="textNoShape">
              <a:avLst/>
            </a:prstTxWarp>
            <a:no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3330" b="0" i="0" u="none" strike="noStrike" kern="1200" cap="none" spc="0" normalizeH="0" baseline="0" noProof="0">
                <a:ln>
                  <a:noFill/>
                </a:ln>
                <a:solidFill>
                  <a:prstClr val="white"/>
                </a:solidFill>
                <a:effectLst/>
                <a:uLnTx/>
                <a:uFillTx/>
                <a:latin typeface="Segoe UI"/>
                <a:ea typeface="+mn-ea"/>
                <a:cs typeface="+mn-cs"/>
              </a:rPr>
              <a:t>v</a:t>
            </a:r>
          </a:p>
        </p:txBody>
      </p:sp>
      <p:sp>
        <p:nvSpPr>
          <p:cNvPr id="267" name="AutoShape 49">
            <a:extLst>
              <a:ext uri="{FF2B5EF4-FFF2-40B4-BE49-F238E27FC236}">
                <a16:creationId xmlns:a16="http://schemas.microsoft.com/office/drawing/2014/main" id="{518F50F5-CA37-996B-4C39-B8F4F8AB860C}"/>
              </a:ext>
            </a:extLst>
          </p:cNvPr>
          <p:cNvSpPr>
            <a:spLocks noChangeAspect="1" noChangeArrowheads="1" noTextEdit="1"/>
          </p:cNvSpPr>
          <p:nvPr/>
        </p:nvSpPr>
        <p:spPr bwMode="auto">
          <a:xfrm>
            <a:off x="11924355" y="2658894"/>
            <a:ext cx="325437" cy="40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black"/>
              </a:solidFill>
              <a:effectLst/>
              <a:uLnTx/>
              <a:uFillTx/>
              <a:latin typeface="Segoe UI"/>
              <a:ea typeface="+mn-ea"/>
              <a:cs typeface="+mn-cs"/>
            </a:endParaRPr>
          </a:p>
        </p:txBody>
      </p:sp>
      <p:sp>
        <p:nvSpPr>
          <p:cNvPr id="425" name="AutoShape 49">
            <a:extLst>
              <a:ext uri="{FF2B5EF4-FFF2-40B4-BE49-F238E27FC236}">
                <a16:creationId xmlns:a16="http://schemas.microsoft.com/office/drawing/2014/main" id="{3D7D78BA-8043-30DF-7C86-86280525640E}"/>
              </a:ext>
            </a:extLst>
          </p:cNvPr>
          <p:cNvSpPr>
            <a:spLocks noChangeAspect="1" noChangeArrowheads="1" noTextEdit="1"/>
          </p:cNvSpPr>
          <p:nvPr/>
        </p:nvSpPr>
        <p:spPr bwMode="auto">
          <a:xfrm>
            <a:off x="13920968" y="2671940"/>
            <a:ext cx="325437" cy="40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black"/>
              </a:solidFill>
              <a:effectLst/>
              <a:uLnTx/>
              <a:uFillTx/>
              <a:latin typeface="Segoe UI"/>
              <a:ea typeface="+mn-ea"/>
              <a:cs typeface="+mn-cs"/>
            </a:endParaRPr>
          </a:p>
        </p:txBody>
      </p:sp>
      <p:sp>
        <p:nvSpPr>
          <p:cNvPr id="260" name="Rectangle 259">
            <a:extLst>
              <a:ext uri="{FF2B5EF4-FFF2-40B4-BE49-F238E27FC236}">
                <a16:creationId xmlns:a16="http://schemas.microsoft.com/office/drawing/2014/main" id="{9166E7FF-E75E-7604-B5D0-77737C8E8DA4}"/>
              </a:ext>
            </a:extLst>
          </p:cNvPr>
          <p:cNvSpPr/>
          <p:nvPr/>
        </p:nvSpPr>
        <p:spPr>
          <a:xfrm>
            <a:off x="2860051" y="1464000"/>
            <a:ext cx="8975538" cy="502537"/>
          </a:xfrm>
          <a:prstGeom prst="rect">
            <a:avLst/>
          </a:prstGeom>
          <a:solidFill>
            <a:srgbClr val="FF993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6772" tIns="63386" rIns="126772" bIns="63386" numCol="1" spcCol="0" rtlCol="0" fromWordArt="0" anchor="ctr" anchorCtr="0" forceAA="0" compatLnSpc="1">
            <a:prstTxWarp prst="textNoShape">
              <a:avLst/>
            </a:prstTxWarp>
            <a:no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1600" b="1">
                <a:solidFill>
                  <a:prstClr val="white"/>
                </a:solidFill>
                <a:latin typeface="Segoe UI"/>
              </a:rPr>
              <a:t>User environment</a:t>
            </a:r>
            <a:br>
              <a:rPr lang="en-US" sz="1400" b="1">
                <a:solidFill>
                  <a:prstClr val="white"/>
                </a:solidFill>
                <a:latin typeface="Segoe UI"/>
              </a:rPr>
            </a:br>
            <a:r>
              <a:rPr lang="en-US" sz="1400" b="1">
                <a:solidFill>
                  <a:prstClr val="white"/>
                </a:solidFill>
                <a:latin typeface="Segoe UI"/>
              </a:rPr>
              <a:t> (</a:t>
            </a:r>
            <a:r>
              <a:rPr lang="en-US" sz="1400">
                <a:solidFill>
                  <a:prstClr val="white"/>
                </a:solidFill>
                <a:latin typeface="Segoe UI"/>
              </a:rPr>
              <a:t>Dedicated Fabric workspace for team)</a:t>
            </a:r>
            <a:endParaRPr kumimoji="0" lang="en-US" sz="1400" i="0" strike="noStrike" kern="1200" cap="none" spc="0" normalizeH="0" baseline="0" noProof="0">
              <a:ln>
                <a:noFill/>
              </a:ln>
              <a:solidFill>
                <a:prstClr val="white"/>
              </a:solidFill>
              <a:effectLst/>
              <a:uLnTx/>
              <a:uFillTx/>
              <a:latin typeface="Segoe UI"/>
              <a:ea typeface="+mn-ea"/>
              <a:cs typeface="+mn-cs"/>
            </a:endParaRPr>
          </a:p>
        </p:txBody>
      </p:sp>
      <p:sp>
        <p:nvSpPr>
          <p:cNvPr id="475" name="TextBox 474">
            <a:extLst>
              <a:ext uri="{FF2B5EF4-FFF2-40B4-BE49-F238E27FC236}">
                <a16:creationId xmlns:a16="http://schemas.microsoft.com/office/drawing/2014/main" id="{05DFDD00-1D24-F6D9-3D53-BD242FD24FDF}"/>
              </a:ext>
            </a:extLst>
          </p:cNvPr>
          <p:cNvSpPr txBox="1"/>
          <p:nvPr/>
        </p:nvSpPr>
        <p:spPr>
          <a:xfrm>
            <a:off x="8975219" y="3043993"/>
            <a:ext cx="1186739" cy="577081"/>
          </a:xfrm>
          <a:prstGeom prst="rect">
            <a:avLst/>
          </a:prstGeom>
          <a:noFill/>
        </p:spPr>
        <p:txBody>
          <a:bodyPr wrap="square"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CA" sz="1050">
                <a:solidFill>
                  <a:prstClr val="black"/>
                </a:solidFill>
                <a:latin typeface="Segoe UI"/>
              </a:rPr>
              <a:t>PBI report via Direct Lake</a:t>
            </a:r>
            <a:endParaRPr kumimoji="0" lang="en-CA" sz="1050" i="0" u="none" strike="noStrike" kern="1200" cap="none" spc="0" normalizeH="0" baseline="0" noProof="0">
              <a:ln>
                <a:noFill/>
              </a:ln>
              <a:solidFill>
                <a:prstClr val="black"/>
              </a:solidFill>
              <a:effectLst/>
              <a:uLnTx/>
              <a:uFillTx/>
              <a:latin typeface="Segoe UI"/>
              <a:ea typeface="+mn-ea"/>
              <a:cs typeface="+mn-cs"/>
            </a:endParaRPr>
          </a:p>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CA" sz="1050" i="0" u="none" strike="noStrike" kern="1200" cap="none" spc="0" normalizeH="0" baseline="0" noProof="0">
              <a:ln>
                <a:noFill/>
              </a:ln>
              <a:solidFill>
                <a:prstClr val="black"/>
              </a:solidFill>
              <a:effectLst/>
              <a:uLnTx/>
              <a:uFillTx/>
              <a:latin typeface="Segoe UI"/>
              <a:ea typeface="+mn-ea"/>
              <a:cs typeface="+mn-cs"/>
            </a:endParaRPr>
          </a:p>
        </p:txBody>
      </p:sp>
      <p:pic>
        <p:nvPicPr>
          <p:cNvPr id="31" name="Picture 12" descr="Computer network, data base, database, raw, simple, tech, technology ...">
            <a:extLst>
              <a:ext uri="{FF2B5EF4-FFF2-40B4-BE49-F238E27FC236}">
                <a16:creationId xmlns:a16="http://schemas.microsoft.com/office/drawing/2014/main" id="{0C6F62DA-7780-4299-9015-24C55670966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93714" y="3643971"/>
            <a:ext cx="740003" cy="572388"/>
          </a:xfrm>
          <a:prstGeom prst="rect">
            <a:avLst/>
          </a:prstGeom>
          <a:noFill/>
          <a:extLst>
            <a:ext uri="{909E8E84-426E-40DD-AFC4-6F175D3DCCD1}">
              <a14:hiddenFill xmlns:a14="http://schemas.microsoft.com/office/drawing/2010/main">
                <a:solidFill>
                  <a:srgbClr val="FFFFFF"/>
                </a:solidFill>
              </a14:hiddenFill>
            </a:ext>
          </a:extLst>
        </p:spPr>
      </p:pic>
      <p:sp>
        <p:nvSpPr>
          <p:cNvPr id="33" name="TextBox 32">
            <a:extLst>
              <a:ext uri="{FF2B5EF4-FFF2-40B4-BE49-F238E27FC236}">
                <a16:creationId xmlns:a16="http://schemas.microsoft.com/office/drawing/2014/main" id="{E0F17668-5AF9-B0E4-82E6-91392DA66134}"/>
              </a:ext>
            </a:extLst>
          </p:cNvPr>
          <p:cNvSpPr txBox="1"/>
          <p:nvPr/>
        </p:nvSpPr>
        <p:spPr>
          <a:xfrm>
            <a:off x="3928963" y="5882096"/>
            <a:ext cx="1636702" cy="577081"/>
          </a:xfrm>
          <a:prstGeom prst="rect">
            <a:avLst/>
          </a:prstGeom>
          <a:noFill/>
        </p:spPr>
        <p:txBody>
          <a:bodyPr wrap="square"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CA" sz="1050" i="0" strike="noStrike" kern="1200" cap="none" spc="0" normalizeH="0" baseline="0" noProof="0">
                <a:ln>
                  <a:noFill/>
                </a:ln>
                <a:solidFill>
                  <a:prstClr val="black"/>
                </a:solidFill>
                <a:effectLst/>
                <a:uLnTx/>
                <a:uFillTx/>
                <a:latin typeface="Segoe UI"/>
                <a:ea typeface="+mn-ea"/>
                <a:cs typeface="+mn-cs"/>
              </a:rPr>
              <a:t>On-prem </a:t>
            </a:r>
            <a:r>
              <a:rPr lang="en-CA" sz="1050">
                <a:solidFill>
                  <a:prstClr val="black"/>
                </a:solidFill>
                <a:latin typeface="Segoe UI"/>
              </a:rPr>
              <a:t>S</a:t>
            </a:r>
            <a:r>
              <a:rPr kumimoji="0" lang="en-CA" sz="1050" i="0" strike="noStrike" kern="1200" cap="none" spc="0" normalizeH="0" baseline="0" noProof="0">
                <a:ln>
                  <a:noFill/>
                </a:ln>
                <a:solidFill>
                  <a:prstClr val="black"/>
                </a:solidFill>
                <a:effectLst/>
                <a:uLnTx/>
                <a:uFillTx/>
                <a:latin typeface="Segoe UI"/>
                <a:ea typeface="+mn-ea"/>
                <a:cs typeface="+mn-cs"/>
              </a:rPr>
              <a:t>tata Code reading Fabric </a:t>
            </a:r>
            <a:r>
              <a:rPr lang="en-CA" sz="1050">
                <a:solidFill>
                  <a:prstClr val="black"/>
                </a:solidFill>
                <a:latin typeface="Segoe UI"/>
              </a:rPr>
              <a:t>or Databricks via </a:t>
            </a:r>
            <a:r>
              <a:rPr kumimoji="0" lang="en-CA" sz="1050" i="0" strike="noStrike" kern="1200" cap="none" spc="0" normalizeH="0" baseline="0" noProof="0">
                <a:ln>
                  <a:noFill/>
                </a:ln>
                <a:solidFill>
                  <a:prstClr val="black"/>
                </a:solidFill>
                <a:effectLst/>
                <a:uLnTx/>
                <a:uFillTx/>
                <a:latin typeface="Segoe UI"/>
                <a:ea typeface="+mn-ea"/>
                <a:cs typeface="+mn-cs"/>
              </a:rPr>
              <a:t>ODBC</a:t>
            </a:r>
          </a:p>
        </p:txBody>
      </p:sp>
      <p:pic>
        <p:nvPicPr>
          <p:cNvPr id="42" name="Picture 14" descr="Notebook Icon Png #113514 - Free Icons Library">
            <a:extLst>
              <a:ext uri="{FF2B5EF4-FFF2-40B4-BE49-F238E27FC236}">
                <a16:creationId xmlns:a16="http://schemas.microsoft.com/office/drawing/2014/main" id="{400D58DD-845C-9526-BC9A-B1A284204155}"/>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510363" y="3635069"/>
            <a:ext cx="520605" cy="469585"/>
          </a:xfrm>
          <a:prstGeom prst="rect">
            <a:avLst/>
          </a:prstGeom>
          <a:noFill/>
          <a:extLst>
            <a:ext uri="{909E8E84-426E-40DD-AFC4-6F175D3DCCD1}">
              <a14:hiddenFill xmlns:a14="http://schemas.microsoft.com/office/drawing/2010/main">
                <a:solidFill>
                  <a:srgbClr val="FFFFFF"/>
                </a:solidFill>
              </a14:hiddenFill>
            </a:ext>
          </a:extLst>
        </p:spPr>
      </p:pic>
      <p:cxnSp>
        <p:nvCxnSpPr>
          <p:cNvPr id="46" name="Straight Arrow Connector 45">
            <a:extLst>
              <a:ext uri="{FF2B5EF4-FFF2-40B4-BE49-F238E27FC236}">
                <a16:creationId xmlns:a16="http://schemas.microsoft.com/office/drawing/2014/main" id="{D729AD93-F428-9085-92C7-F8656F9FE728}"/>
              </a:ext>
            </a:extLst>
          </p:cNvPr>
          <p:cNvCxnSpPr>
            <a:cxnSpLocks/>
          </p:cNvCxnSpPr>
          <p:nvPr/>
        </p:nvCxnSpPr>
        <p:spPr>
          <a:xfrm flipV="1">
            <a:off x="5288752" y="3533025"/>
            <a:ext cx="1415336" cy="497121"/>
          </a:xfrm>
          <a:prstGeom prst="straightConnector1">
            <a:avLst/>
          </a:prstGeom>
          <a:ln w="3175">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E00F4AF4-F2B4-6567-268B-FB531EFBB407}"/>
              </a:ext>
            </a:extLst>
          </p:cNvPr>
          <p:cNvCxnSpPr>
            <a:cxnSpLocks/>
          </p:cNvCxnSpPr>
          <p:nvPr/>
        </p:nvCxnSpPr>
        <p:spPr>
          <a:xfrm>
            <a:off x="7761693" y="3196733"/>
            <a:ext cx="249519" cy="0"/>
          </a:xfrm>
          <a:prstGeom prst="straightConnector1">
            <a:avLst/>
          </a:prstGeom>
          <a:ln w="28575">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504" name="Picture 503">
            <a:extLst>
              <a:ext uri="{FF2B5EF4-FFF2-40B4-BE49-F238E27FC236}">
                <a16:creationId xmlns:a16="http://schemas.microsoft.com/office/drawing/2014/main" id="{BA61D91B-03AC-D120-51C1-5DB4FAB05BA3}"/>
              </a:ext>
            </a:extLst>
          </p:cNvPr>
          <p:cNvPicPr>
            <a:picLocks noChangeAspect="1"/>
          </p:cNvPicPr>
          <p:nvPr/>
        </p:nvPicPr>
        <p:blipFill>
          <a:blip r:embed="rId5"/>
          <a:stretch>
            <a:fillRect/>
          </a:stretch>
        </p:blipFill>
        <p:spPr>
          <a:xfrm flipH="1">
            <a:off x="1102671" y="3429000"/>
            <a:ext cx="640354" cy="578184"/>
          </a:xfrm>
          <a:prstGeom prst="rect">
            <a:avLst/>
          </a:prstGeom>
        </p:spPr>
      </p:pic>
      <p:sp>
        <p:nvSpPr>
          <p:cNvPr id="270" name="TextBox 269">
            <a:extLst>
              <a:ext uri="{FF2B5EF4-FFF2-40B4-BE49-F238E27FC236}">
                <a16:creationId xmlns:a16="http://schemas.microsoft.com/office/drawing/2014/main" id="{4A047B71-D9D9-67CC-919D-BC09774B9CCB}"/>
              </a:ext>
            </a:extLst>
          </p:cNvPr>
          <p:cNvSpPr txBox="1"/>
          <p:nvPr/>
        </p:nvSpPr>
        <p:spPr>
          <a:xfrm>
            <a:off x="6574954" y="3764480"/>
            <a:ext cx="1186739" cy="415498"/>
          </a:xfrm>
          <a:prstGeom prst="rect">
            <a:avLst/>
          </a:prstGeom>
          <a:noFill/>
        </p:spPr>
        <p:txBody>
          <a:bodyPr wrap="square"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CA" sz="1050">
                <a:solidFill>
                  <a:prstClr val="black"/>
                </a:solidFill>
                <a:latin typeface="Segoe UI"/>
              </a:rPr>
              <a:t>User Lakehouse</a:t>
            </a:r>
            <a:endParaRPr kumimoji="0" lang="en-CA" sz="1050" i="0" u="none" strike="noStrike" kern="1200" cap="none" spc="0" normalizeH="0" baseline="0" noProof="0">
              <a:ln>
                <a:noFill/>
              </a:ln>
              <a:solidFill>
                <a:prstClr val="black"/>
              </a:solidFill>
              <a:effectLst/>
              <a:uLnTx/>
              <a:uFillTx/>
              <a:latin typeface="Segoe UI"/>
              <a:ea typeface="+mn-ea"/>
              <a:cs typeface="+mn-cs"/>
            </a:endParaRPr>
          </a:p>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CA" sz="1050" i="0" u="none" strike="noStrike" kern="1200" cap="none" spc="0" normalizeH="0" baseline="0" noProof="0">
              <a:ln>
                <a:noFill/>
              </a:ln>
              <a:solidFill>
                <a:prstClr val="black"/>
              </a:solidFill>
              <a:effectLst/>
              <a:uLnTx/>
              <a:uFillTx/>
              <a:latin typeface="Segoe UI"/>
              <a:ea typeface="+mn-ea"/>
              <a:cs typeface="+mn-cs"/>
            </a:endParaRPr>
          </a:p>
        </p:txBody>
      </p:sp>
      <p:cxnSp>
        <p:nvCxnSpPr>
          <p:cNvPr id="277" name="Straight Arrow Connector 276">
            <a:extLst>
              <a:ext uri="{FF2B5EF4-FFF2-40B4-BE49-F238E27FC236}">
                <a16:creationId xmlns:a16="http://schemas.microsoft.com/office/drawing/2014/main" id="{2789FB00-7709-19BD-46F0-515550B90720}"/>
              </a:ext>
            </a:extLst>
          </p:cNvPr>
          <p:cNvCxnSpPr>
            <a:cxnSpLocks/>
          </p:cNvCxnSpPr>
          <p:nvPr/>
        </p:nvCxnSpPr>
        <p:spPr>
          <a:xfrm>
            <a:off x="5188145" y="2508514"/>
            <a:ext cx="1515943" cy="626849"/>
          </a:xfrm>
          <a:prstGeom prst="straightConnector1">
            <a:avLst/>
          </a:prstGeom>
          <a:ln w="3175">
            <a:solidFill>
              <a:schemeClr val="tx1">
                <a:lumMod val="65000"/>
                <a:lumOff val="3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84" name="Straight Arrow Connector 283">
            <a:extLst>
              <a:ext uri="{FF2B5EF4-FFF2-40B4-BE49-F238E27FC236}">
                <a16:creationId xmlns:a16="http://schemas.microsoft.com/office/drawing/2014/main" id="{7C73EA55-93CC-83FB-24AE-018AE71027CD}"/>
              </a:ext>
            </a:extLst>
          </p:cNvPr>
          <p:cNvCxnSpPr>
            <a:cxnSpLocks/>
          </p:cNvCxnSpPr>
          <p:nvPr/>
        </p:nvCxnSpPr>
        <p:spPr>
          <a:xfrm flipV="1">
            <a:off x="1939003" y="4075009"/>
            <a:ext cx="1354711" cy="927009"/>
          </a:xfrm>
          <a:prstGeom prst="straightConnector1">
            <a:avLst/>
          </a:prstGeom>
          <a:ln w="3175">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93" name="Straight Arrow Connector 292">
            <a:extLst>
              <a:ext uri="{FF2B5EF4-FFF2-40B4-BE49-F238E27FC236}">
                <a16:creationId xmlns:a16="http://schemas.microsoft.com/office/drawing/2014/main" id="{04F25B37-78F7-F931-1E71-52CBD2A24B05}"/>
              </a:ext>
            </a:extLst>
          </p:cNvPr>
          <p:cNvCxnSpPr>
            <a:cxnSpLocks/>
            <a:endCxn id="31" idx="1"/>
          </p:cNvCxnSpPr>
          <p:nvPr/>
        </p:nvCxnSpPr>
        <p:spPr>
          <a:xfrm>
            <a:off x="1879250" y="3691766"/>
            <a:ext cx="1414464" cy="238399"/>
          </a:xfrm>
          <a:prstGeom prst="straightConnector1">
            <a:avLst/>
          </a:prstGeom>
          <a:ln w="3175">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 name="Title 1">
            <a:extLst>
              <a:ext uri="{FF2B5EF4-FFF2-40B4-BE49-F238E27FC236}">
                <a16:creationId xmlns:a16="http://schemas.microsoft.com/office/drawing/2014/main" id="{DE51F0A3-5422-3B0D-1894-CCDF99D6D5AA}"/>
              </a:ext>
            </a:extLst>
          </p:cNvPr>
          <p:cNvSpPr txBox="1">
            <a:spLocks/>
          </p:cNvSpPr>
          <p:nvPr/>
        </p:nvSpPr>
        <p:spPr>
          <a:xfrm>
            <a:off x="672456" y="536244"/>
            <a:ext cx="10800000" cy="717269"/>
          </a:xfrm>
          <a:prstGeom prst="rect">
            <a:avLst/>
          </a:prstGeom>
        </p:spPr>
        <p:txBody>
          <a:bodyPr anchor="b">
            <a:normAutofit fontScale="92500"/>
          </a:bodyPr>
          <a:lstStyle>
            <a:lvl1pPr algn="l" defTabSz="914377" rtl="0" eaLnBrk="1" latinLnBrk="0" hangingPunct="1">
              <a:lnSpc>
                <a:spcPct val="90000"/>
              </a:lnSpc>
              <a:spcBef>
                <a:spcPct val="0"/>
              </a:spcBef>
              <a:buNone/>
              <a:defRPr sz="4000" u="none" kern="1200" spc="-100" baseline="0">
                <a:solidFill>
                  <a:schemeClr val="accent6"/>
                </a:solidFill>
                <a:uFill>
                  <a:solidFill>
                    <a:schemeClr val="tx2">
                      <a:lumMod val="60000"/>
                      <a:lumOff val="40000"/>
                    </a:schemeClr>
                  </a:solidFill>
                </a:uFill>
                <a:latin typeface="+mj-lt"/>
                <a:ea typeface="Segoe UI Black" panose="020B0A02040204020203" pitchFamily="34" charset="0"/>
                <a:cs typeface="Segoe UI Light" panose="020B0502040204020203" pitchFamily="34" charset="0"/>
              </a:defRPr>
            </a:lvl1pPr>
          </a:lstStyle>
          <a:p>
            <a:pPr marL="0" marR="0" lvl="0" indent="0" algn="ctr" defTabSz="914377" rtl="0" eaLnBrk="1" fontAlgn="auto" latinLnBrk="0" hangingPunct="1">
              <a:lnSpc>
                <a:spcPct val="90000"/>
              </a:lnSpc>
              <a:spcBef>
                <a:spcPct val="0"/>
              </a:spcBef>
              <a:spcAft>
                <a:spcPts val="0"/>
              </a:spcAft>
              <a:buClrTx/>
              <a:buSzTx/>
              <a:buFontTx/>
              <a:buNone/>
              <a:tabLst/>
              <a:defRPr/>
            </a:pPr>
            <a:r>
              <a:rPr kumimoji="0" lang="en-US" sz="4000" b="0" i="0" u="none" strike="noStrike" kern="1200" cap="none" spc="-100" normalizeH="0" baseline="0" noProof="0">
                <a:ln>
                  <a:noFill/>
                </a:ln>
                <a:solidFill>
                  <a:srgbClr val="31849B"/>
                </a:solidFill>
                <a:effectLst/>
                <a:uLnTx/>
                <a:uFill>
                  <a:solidFill>
                    <a:srgbClr val="1F497D">
                      <a:lumMod val="60000"/>
                      <a:lumOff val="40000"/>
                    </a:srgbClr>
                  </a:solidFill>
                </a:uFill>
                <a:latin typeface="Segoe UI Semibold"/>
                <a:ea typeface="Segoe UI Black" panose="020B0A02040204020203" pitchFamily="34" charset="0"/>
                <a:cs typeface="Segoe UI Light" panose="020B0502040204020203" pitchFamily="34" charset="0"/>
              </a:rPr>
              <a:t>Building a comprehensive user workflow in Fabric</a:t>
            </a:r>
          </a:p>
        </p:txBody>
      </p:sp>
      <p:pic>
        <p:nvPicPr>
          <p:cNvPr id="5" name="Picture 4">
            <a:extLst>
              <a:ext uri="{FF2B5EF4-FFF2-40B4-BE49-F238E27FC236}">
                <a16:creationId xmlns:a16="http://schemas.microsoft.com/office/drawing/2014/main" id="{52ACD807-1640-AA62-2388-9B4839EDCAF6}"/>
              </a:ext>
            </a:extLst>
          </p:cNvPr>
          <p:cNvPicPr>
            <a:picLocks noChangeAspect="1"/>
          </p:cNvPicPr>
          <p:nvPr/>
        </p:nvPicPr>
        <p:blipFill>
          <a:blip r:embed="rId6"/>
          <a:stretch>
            <a:fillRect/>
          </a:stretch>
        </p:blipFill>
        <p:spPr>
          <a:xfrm>
            <a:off x="1011747" y="4626540"/>
            <a:ext cx="753649" cy="871405"/>
          </a:xfrm>
          <a:prstGeom prst="rect">
            <a:avLst/>
          </a:prstGeom>
        </p:spPr>
      </p:pic>
      <p:sp>
        <p:nvSpPr>
          <p:cNvPr id="6" name="TextBox 5">
            <a:extLst>
              <a:ext uri="{FF2B5EF4-FFF2-40B4-BE49-F238E27FC236}">
                <a16:creationId xmlns:a16="http://schemas.microsoft.com/office/drawing/2014/main" id="{4FA7FD46-B0CB-AD0D-C51D-8F3B42C0E8F0}"/>
              </a:ext>
            </a:extLst>
          </p:cNvPr>
          <p:cNvSpPr txBox="1"/>
          <p:nvPr/>
        </p:nvSpPr>
        <p:spPr>
          <a:xfrm>
            <a:off x="5308" y="5628180"/>
            <a:ext cx="2766526" cy="253916"/>
          </a:xfrm>
          <a:prstGeom prst="rect">
            <a:avLst/>
          </a:prstGeom>
          <a:noFill/>
        </p:spPr>
        <p:txBody>
          <a:bodyPr wrap="square"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CA" sz="1050" i="0" u="none" strike="noStrike" kern="1200" cap="none" spc="0" normalizeH="0" baseline="0" noProof="0">
                <a:ln>
                  <a:noFill/>
                </a:ln>
                <a:solidFill>
                  <a:prstClr val="black"/>
                </a:solidFill>
                <a:effectLst/>
                <a:uLnTx/>
                <a:uFillTx/>
                <a:latin typeface="Segoe UI"/>
                <a:ea typeface="+mn-ea"/>
                <a:cs typeface="+mn-cs"/>
              </a:rPr>
              <a:t>Stata model output</a:t>
            </a:r>
          </a:p>
        </p:txBody>
      </p:sp>
      <p:sp>
        <p:nvSpPr>
          <p:cNvPr id="7" name="TextBox 6">
            <a:extLst>
              <a:ext uri="{FF2B5EF4-FFF2-40B4-BE49-F238E27FC236}">
                <a16:creationId xmlns:a16="http://schemas.microsoft.com/office/drawing/2014/main" id="{DC367B07-F6C9-8911-DD4B-8BBC3773C581}"/>
              </a:ext>
            </a:extLst>
          </p:cNvPr>
          <p:cNvSpPr txBox="1"/>
          <p:nvPr/>
        </p:nvSpPr>
        <p:spPr>
          <a:xfrm>
            <a:off x="113052" y="4075009"/>
            <a:ext cx="2496908" cy="253916"/>
          </a:xfrm>
          <a:prstGeom prst="rect">
            <a:avLst/>
          </a:prstGeom>
          <a:noFill/>
        </p:spPr>
        <p:txBody>
          <a:bodyPr wrap="square"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CA" sz="1050">
                <a:solidFill>
                  <a:prstClr val="black"/>
                </a:solidFill>
                <a:latin typeface="Segoe UI"/>
              </a:rPr>
              <a:t>Assumptions entered manually in excel</a:t>
            </a:r>
            <a:endParaRPr kumimoji="0" lang="en-CA" sz="1050" i="0" u="none" strike="noStrike" kern="1200" cap="none" spc="0" normalizeH="0" baseline="0" noProof="0">
              <a:ln>
                <a:noFill/>
              </a:ln>
              <a:solidFill>
                <a:prstClr val="black"/>
              </a:solidFill>
              <a:effectLst/>
              <a:uLnTx/>
              <a:uFillTx/>
              <a:latin typeface="Segoe UI"/>
              <a:ea typeface="+mn-ea"/>
              <a:cs typeface="+mn-cs"/>
            </a:endParaRPr>
          </a:p>
        </p:txBody>
      </p:sp>
      <p:sp>
        <p:nvSpPr>
          <p:cNvPr id="9" name="TextBox 8">
            <a:extLst>
              <a:ext uri="{FF2B5EF4-FFF2-40B4-BE49-F238E27FC236}">
                <a16:creationId xmlns:a16="http://schemas.microsoft.com/office/drawing/2014/main" id="{C58687EB-1FF5-784B-6296-FC741D3D0CF2}"/>
              </a:ext>
            </a:extLst>
          </p:cNvPr>
          <p:cNvSpPr txBox="1"/>
          <p:nvPr/>
        </p:nvSpPr>
        <p:spPr>
          <a:xfrm>
            <a:off x="140119" y="3016725"/>
            <a:ext cx="2496908" cy="253916"/>
          </a:xfrm>
          <a:prstGeom prst="rect">
            <a:avLst/>
          </a:prstGeom>
          <a:noFill/>
        </p:spPr>
        <p:txBody>
          <a:bodyPr wrap="square"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CA" sz="1050">
                <a:solidFill>
                  <a:prstClr val="black"/>
                </a:solidFill>
                <a:latin typeface="Segoe UI"/>
              </a:rPr>
              <a:t>Prices updated every 15 minutes</a:t>
            </a:r>
            <a:endParaRPr kumimoji="0" lang="en-CA" sz="1050" i="0" u="none" strike="noStrike" kern="1200" cap="none" spc="0" normalizeH="0" baseline="0" noProof="0">
              <a:ln>
                <a:noFill/>
              </a:ln>
              <a:solidFill>
                <a:prstClr val="black"/>
              </a:solidFill>
              <a:effectLst/>
              <a:uLnTx/>
              <a:uFillTx/>
              <a:latin typeface="Segoe UI"/>
              <a:ea typeface="+mn-ea"/>
              <a:cs typeface="+mn-cs"/>
            </a:endParaRPr>
          </a:p>
        </p:txBody>
      </p:sp>
      <p:sp>
        <p:nvSpPr>
          <p:cNvPr id="17" name="Rectangle 16">
            <a:extLst>
              <a:ext uri="{FF2B5EF4-FFF2-40B4-BE49-F238E27FC236}">
                <a16:creationId xmlns:a16="http://schemas.microsoft.com/office/drawing/2014/main" id="{370DD4F2-478A-2B3C-5146-36C74AF25F3C}"/>
              </a:ext>
            </a:extLst>
          </p:cNvPr>
          <p:cNvSpPr/>
          <p:nvPr/>
        </p:nvSpPr>
        <p:spPr>
          <a:xfrm>
            <a:off x="560135" y="1438028"/>
            <a:ext cx="2240982" cy="502537"/>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6772" tIns="63386" rIns="126772" bIns="63386" numCol="1" spcCol="0" rtlCol="0" fromWordArt="0" anchor="ctr" anchorCtr="0" forceAA="0" compatLnSpc="1">
            <a:prstTxWarp prst="textNoShape">
              <a:avLst/>
            </a:prstTxWarp>
            <a:no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1600" b="1" err="1">
                <a:solidFill>
                  <a:prstClr val="white"/>
                </a:solidFill>
                <a:latin typeface="Segoe UI"/>
              </a:rPr>
              <a:t>Onelake</a:t>
            </a:r>
            <a:r>
              <a:rPr lang="en-US" sz="1600" b="1">
                <a:solidFill>
                  <a:prstClr val="white"/>
                </a:solidFill>
                <a:latin typeface="Segoe UI"/>
              </a:rPr>
              <a:t> File Explorer</a:t>
            </a:r>
            <a:endParaRPr kumimoji="0" lang="en-US" sz="1600" b="1" i="0" strike="noStrike" kern="1200" cap="none" spc="0" normalizeH="0" baseline="0" noProof="0">
              <a:ln>
                <a:noFill/>
              </a:ln>
              <a:solidFill>
                <a:prstClr val="white"/>
              </a:solidFill>
              <a:effectLst/>
              <a:uLnTx/>
              <a:uFillTx/>
              <a:latin typeface="Segoe UI"/>
              <a:ea typeface="+mn-ea"/>
              <a:cs typeface="+mn-cs"/>
            </a:endParaRPr>
          </a:p>
        </p:txBody>
      </p:sp>
      <p:pic>
        <p:nvPicPr>
          <p:cNvPr id="18" name="Picture 17">
            <a:extLst>
              <a:ext uri="{FF2B5EF4-FFF2-40B4-BE49-F238E27FC236}">
                <a16:creationId xmlns:a16="http://schemas.microsoft.com/office/drawing/2014/main" id="{7EC7FF4D-71E2-519F-905A-7A6C98736075}"/>
              </a:ext>
            </a:extLst>
          </p:cNvPr>
          <p:cNvPicPr>
            <a:picLocks noChangeAspect="1"/>
          </p:cNvPicPr>
          <p:nvPr/>
        </p:nvPicPr>
        <p:blipFill>
          <a:blip r:embed="rId6"/>
          <a:stretch>
            <a:fillRect/>
          </a:stretch>
        </p:blipFill>
        <p:spPr>
          <a:xfrm>
            <a:off x="4344271" y="4908911"/>
            <a:ext cx="753649" cy="871405"/>
          </a:xfrm>
          <a:prstGeom prst="rect">
            <a:avLst/>
          </a:prstGeom>
        </p:spPr>
      </p:pic>
      <p:pic>
        <p:nvPicPr>
          <p:cNvPr id="34" name="Picture 2" descr="OneLake">
            <a:extLst>
              <a:ext uri="{FF2B5EF4-FFF2-40B4-BE49-F238E27FC236}">
                <a16:creationId xmlns:a16="http://schemas.microsoft.com/office/drawing/2014/main" id="{8F3A01E9-C5E7-446F-30C7-61274A072BD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07230" y="1558259"/>
            <a:ext cx="298361" cy="314017"/>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12" descr="Computer network, data base, database, raw, simple, tech, technology ...">
            <a:extLst>
              <a:ext uri="{FF2B5EF4-FFF2-40B4-BE49-F238E27FC236}">
                <a16:creationId xmlns:a16="http://schemas.microsoft.com/office/drawing/2014/main" id="{ECB3D4D7-FA6B-72FD-88D1-9A9EDAC16AE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70723" y="2323960"/>
            <a:ext cx="740003" cy="572388"/>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14" descr="Notebook Icon Png #113514 - Free Icons Library">
            <a:extLst>
              <a:ext uri="{FF2B5EF4-FFF2-40B4-BE49-F238E27FC236}">
                <a16:creationId xmlns:a16="http://schemas.microsoft.com/office/drawing/2014/main" id="{D9D8AB7D-3ACF-476D-FA1C-CC27347DB970}"/>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577315" y="2298505"/>
            <a:ext cx="520605" cy="469585"/>
          </a:xfrm>
          <a:prstGeom prst="rect">
            <a:avLst/>
          </a:prstGeom>
          <a:noFill/>
          <a:extLst>
            <a:ext uri="{909E8E84-426E-40DD-AFC4-6F175D3DCCD1}">
              <a14:hiddenFill xmlns:a14="http://schemas.microsoft.com/office/drawing/2010/main">
                <a:solidFill>
                  <a:srgbClr val="FFFFFF"/>
                </a:solidFill>
              </a14:hiddenFill>
            </a:ext>
          </a:extLst>
        </p:spPr>
      </p:pic>
      <p:sp>
        <p:nvSpPr>
          <p:cNvPr id="26" name="TextBox 25">
            <a:extLst>
              <a:ext uri="{FF2B5EF4-FFF2-40B4-BE49-F238E27FC236}">
                <a16:creationId xmlns:a16="http://schemas.microsoft.com/office/drawing/2014/main" id="{0D874D13-AA6D-8A8A-A682-DD4270C2D48B}"/>
              </a:ext>
            </a:extLst>
          </p:cNvPr>
          <p:cNvSpPr txBox="1"/>
          <p:nvPr/>
        </p:nvSpPr>
        <p:spPr>
          <a:xfrm>
            <a:off x="4012399" y="2861320"/>
            <a:ext cx="1636702" cy="253916"/>
          </a:xfrm>
          <a:prstGeom prst="rect">
            <a:avLst/>
          </a:prstGeom>
          <a:noFill/>
        </p:spPr>
        <p:txBody>
          <a:bodyPr wrap="square"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CA" sz="1050" i="0" strike="noStrike" kern="1200" cap="none" spc="0" normalizeH="0" baseline="0" noProof="0">
                <a:ln>
                  <a:noFill/>
                </a:ln>
                <a:solidFill>
                  <a:prstClr val="black"/>
                </a:solidFill>
                <a:effectLst/>
                <a:uLnTx/>
                <a:uFillTx/>
                <a:latin typeface="Segoe UI"/>
                <a:ea typeface="+mn-ea"/>
                <a:cs typeface="+mn-cs"/>
              </a:rPr>
              <a:t>Notebook</a:t>
            </a:r>
          </a:p>
        </p:txBody>
      </p:sp>
      <p:cxnSp>
        <p:nvCxnSpPr>
          <p:cNvPr id="27" name="Straight Arrow Connector 26">
            <a:extLst>
              <a:ext uri="{FF2B5EF4-FFF2-40B4-BE49-F238E27FC236}">
                <a16:creationId xmlns:a16="http://schemas.microsoft.com/office/drawing/2014/main" id="{8E293A67-566A-C5F9-00E1-E3C0CDE259DD}"/>
              </a:ext>
            </a:extLst>
          </p:cNvPr>
          <p:cNvCxnSpPr>
            <a:cxnSpLocks/>
          </p:cNvCxnSpPr>
          <p:nvPr/>
        </p:nvCxnSpPr>
        <p:spPr>
          <a:xfrm>
            <a:off x="4010726" y="2579081"/>
            <a:ext cx="476364" cy="0"/>
          </a:xfrm>
          <a:prstGeom prst="straightConnector1">
            <a:avLst/>
          </a:prstGeom>
          <a:ln w="3175">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D81DAD4A-37E2-CEB9-A7A5-7246F3811CEF}"/>
              </a:ext>
            </a:extLst>
          </p:cNvPr>
          <p:cNvSpPr txBox="1"/>
          <p:nvPr/>
        </p:nvSpPr>
        <p:spPr>
          <a:xfrm>
            <a:off x="2830219" y="4216359"/>
            <a:ext cx="1636702" cy="253916"/>
          </a:xfrm>
          <a:prstGeom prst="rect">
            <a:avLst/>
          </a:prstGeom>
          <a:noFill/>
        </p:spPr>
        <p:txBody>
          <a:bodyPr wrap="square"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CA" sz="1050" i="0" strike="noStrike" kern="1200" cap="none" spc="0" normalizeH="0" baseline="0" noProof="0">
                <a:ln>
                  <a:noFill/>
                </a:ln>
                <a:solidFill>
                  <a:prstClr val="black"/>
                </a:solidFill>
                <a:effectLst/>
                <a:uLnTx/>
                <a:uFillTx/>
                <a:latin typeface="Segoe UI"/>
                <a:ea typeface="+mn-ea"/>
                <a:cs typeface="+mn-cs"/>
              </a:rPr>
              <a:t>Notebook</a:t>
            </a:r>
          </a:p>
        </p:txBody>
      </p:sp>
      <p:cxnSp>
        <p:nvCxnSpPr>
          <p:cNvPr id="36" name="Straight Arrow Connector 35">
            <a:extLst>
              <a:ext uri="{FF2B5EF4-FFF2-40B4-BE49-F238E27FC236}">
                <a16:creationId xmlns:a16="http://schemas.microsoft.com/office/drawing/2014/main" id="{D2E72EC2-9B0E-FC09-EDA7-71D9CCACB609}"/>
              </a:ext>
            </a:extLst>
          </p:cNvPr>
          <p:cNvCxnSpPr>
            <a:cxnSpLocks/>
          </p:cNvCxnSpPr>
          <p:nvPr/>
        </p:nvCxnSpPr>
        <p:spPr>
          <a:xfrm>
            <a:off x="3990557" y="3869862"/>
            <a:ext cx="476364" cy="0"/>
          </a:xfrm>
          <a:prstGeom prst="straightConnector1">
            <a:avLst/>
          </a:prstGeom>
          <a:ln w="3175">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48F2AE2C-6D56-844E-8AEB-49054B467C6C}"/>
              </a:ext>
            </a:extLst>
          </p:cNvPr>
          <p:cNvSpPr txBox="1"/>
          <p:nvPr/>
        </p:nvSpPr>
        <p:spPr>
          <a:xfrm>
            <a:off x="3928963" y="4197234"/>
            <a:ext cx="1636702" cy="253916"/>
          </a:xfrm>
          <a:prstGeom prst="rect">
            <a:avLst/>
          </a:prstGeom>
          <a:noFill/>
        </p:spPr>
        <p:txBody>
          <a:bodyPr wrap="square"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CA" sz="1050" i="0" strike="noStrike" kern="1200" cap="none" spc="0" normalizeH="0" baseline="0" noProof="0">
                <a:ln>
                  <a:noFill/>
                </a:ln>
                <a:solidFill>
                  <a:prstClr val="black"/>
                </a:solidFill>
                <a:effectLst/>
                <a:uLnTx/>
                <a:uFillTx/>
                <a:latin typeface="Segoe UI"/>
                <a:ea typeface="+mn-ea"/>
                <a:cs typeface="+mn-cs"/>
              </a:rPr>
              <a:t>Notebook</a:t>
            </a:r>
          </a:p>
        </p:txBody>
      </p:sp>
      <p:cxnSp>
        <p:nvCxnSpPr>
          <p:cNvPr id="40" name="Straight Arrow Connector 39">
            <a:extLst>
              <a:ext uri="{FF2B5EF4-FFF2-40B4-BE49-F238E27FC236}">
                <a16:creationId xmlns:a16="http://schemas.microsoft.com/office/drawing/2014/main" id="{F93DA68A-21B6-4683-FFC6-FD797D6EB657}"/>
              </a:ext>
            </a:extLst>
          </p:cNvPr>
          <p:cNvCxnSpPr>
            <a:cxnSpLocks/>
          </p:cNvCxnSpPr>
          <p:nvPr/>
        </p:nvCxnSpPr>
        <p:spPr>
          <a:xfrm>
            <a:off x="1939003" y="2645000"/>
            <a:ext cx="1331720" cy="0"/>
          </a:xfrm>
          <a:prstGeom prst="straightConnector1">
            <a:avLst/>
          </a:prstGeom>
          <a:ln w="3175">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FABB129B-0842-77D6-234B-1B12EE8090DF}"/>
              </a:ext>
            </a:extLst>
          </p:cNvPr>
          <p:cNvCxnSpPr>
            <a:cxnSpLocks/>
          </p:cNvCxnSpPr>
          <p:nvPr/>
        </p:nvCxnSpPr>
        <p:spPr>
          <a:xfrm flipH="1" flipV="1">
            <a:off x="7413880" y="4179978"/>
            <a:ext cx="423339" cy="872277"/>
          </a:xfrm>
          <a:prstGeom prst="straightConnector1">
            <a:avLst/>
          </a:prstGeom>
          <a:ln w="3175">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35FCAF29-9AF5-B98F-F12B-E110D300B574}"/>
              </a:ext>
            </a:extLst>
          </p:cNvPr>
          <p:cNvCxnSpPr>
            <a:cxnSpLocks/>
          </p:cNvCxnSpPr>
          <p:nvPr/>
        </p:nvCxnSpPr>
        <p:spPr>
          <a:xfrm flipH="1" flipV="1">
            <a:off x="1939003" y="5172011"/>
            <a:ext cx="2094714" cy="71782"/>
          </a:xfrm>
          <a:prstGeom prst="straightConnector1">
            <a:avLst/>
          </a:prstGeom>
          <a:ln w="3175">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67909CC8-94D1-FD1D-AB5A-D8F267F53736}"/>
              </a:ext>
            </a:extLst>
          </p:cNvPr>
          <p:cNvCxnSpPr>
            <a:cxnSpLocks/>
          </p:cNvCxnSpPr>
          <p:nvPr/>
        </p:nvCxnSpPr>
        <p:spPr>
          <a:xfrm>
            <a:off x="3270723" y="3281730"/>
            <a:ext cx="5731918" cy="18456"/>
          </a:xfrm>
          <a:prstGeom prst="line">
            <a:avLst/>
          </a:prstGeom>
          <a:ln w="3175">
            <a:solidFill>
              <a:srgbClr val="FF9933"/>
            </a:solidFill>
            <a:prstDash val="lgDashDotDot"/>
          </a:ln>
        </p:spPr>
        <p:style>
          <a:lnRef idx="1">
            <a:schemeClr val="accent1"/>
          </a:lnRef>
          <a:fillRef idx="0">
            <a:schemeClr val="accent1"/>
          </a:fillRef>
          <a:effectRef idx="0">
            <a:schemeClr val="accent1"/>
          </a:effectRef>
          <a:fontRef idx="minor">
            <a:schemeClr val="tx1"/>
          </a:fontRef>
        </p:style>
      </p:cxnSp>
      <p:sp>
        <p:nvSpPr>
          <p:cNvPr id="57" name="TextBox 56">
            <a:extLst>
              <a:ext uri="{FF2B5EF4-FFF2-40B4-BE49-F238E27FC236}">
                <a16:creationId xmlns:a16="http://schemas.microsoft.com/office/drawing/2014/main" id="{4C0B5272-1F20-E4FD-9F76-DCE689191080}"/>
              </a:ext>
            </a:extLst>
          </p:cNvPr>
          <p:cNvSpPr txBox="1"/>
          <p:nvPr/>
        </p:nvSpPr>
        <p:spPr>
          <a:xfrm>
            <a:off x="7941334" y="2944075"/>
            <a:ext cx="1186739" cy="415498"/>
          </a:xfrm>
          <a:prstGeom prst="rect">
            <a:avLst/>
          </a:prstGeom>
          <a:noFill/>
        </p:spPr>
        <p:txBody>
          <a:bodyPr wrap="square"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CA" sz="1050">
                <a:solidFill>
                  <a:prstClr val="black"/>
                </a:solidFill>
                <a:latin typeface="Segoe UI"/>
              </a:rPr>
              <a:t>15 min refresh</a:t>
            </a:r>
            <a:endParaRPr kumimoji="0" lang="en-CA" sz="1050" i="0" u="none" strike="noStrike" kern="1200" cap="none" spc="0" normalizeH="0" baseline="0" noProof="0">
              <a:ln>
                <a:noFill/>
              </a:ln>
              <a:solidFill>
                <a:prstClr val="black"/>
              </a:solidFill>
              <a:effectLst/>
              <a:uLnTx/>
              <a:uFillTx/>
              <a:latin typeface="Segoe UI"/>
              <a:ea typeface="+mn-ea"/>
              <a:cs typeface="+mn-cs"/>
            </a:endParaRPr>
          </a:p>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CA" sz="1050" i="0" u="none" strike="noStrike" kern="1200" cap="none" spc="0" normalizeH="0" baseline="0" noProof="0">
              <a:ln>
                <a:noFill/>
              </a:ln>
              <a:solidFill>
                <a:prstClr val="black"/>
              </a:solidFill>
              <a:effectLst/>
              <a:uLnTx/>
              <a:uFillTx/>
              <a:latin typeface="Segoe UI"/>
              <a:ea typeface="+mn-ea"/>
              <a:cs typeface="+mn-cs"/>
            </a:endParaRPr>
          </a:p>
        </p:txBody>
      </p:sp>
      <p:sp>
        <p:nvSpPr>
          <p:cNvPr id="58" name="TextBox 57">
            <a:extLst>
              <a:ext uri="{FF2B5EF4-FFF2-40B4-BE49-F238E27FC236}">
                <a16:creationId xmlns:a16="http://schemas.microsoft.com/office/drawing/2014/main" id="{C6660D32-5894-0CCB-A1C2-56E75BE2FEF8}"/>
              </a:ext>
            </a:extLst>
          </p:cNvPr>
          <p:cNvSpPr txBox="1"/>
          <p:nvPr/>
        </p:nvSpPr>
        <p:spPr>
          <a:xfrm>
            <a:off x="7872216" y="3348982"/>
            <a:ext cx="1186739" cy="415498"/>
          </a:xfrm>
          <a:prstGeom prst="rect">
            <a:avLst/>
          </a:prstGeom>
          <a:noFill/>
        </p:spPr>
        <p:txBody>
          <a:bodyPr wrap="square"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CA" sz="1050">
                <a:solidFill>
                  <a:prstClr val="black"/>
                </a:solidFill>
                <a:latin typeface="Segoe UI"/>
              </a:rPr>
              <a:t>24h refresh</a:t>
            </a:r>
            <a:endParaRPr kumimoji="0" lang="en-CA" sz="1050" i="0" u="none" strike="noStrike" kern="1200" cap="none" spc="0" normalizeH="0" baseline="0" noProof="0">
              <a:ln>
                <a:noFill/>
              </a:ln>
              <a:solidFill>
                <a:prstClr val="black"/>
              </a:solidFill>
              <a:effectLst/>
              <a:uLnTx/>
              <a:uFillTx/>
              <a:latin typeface="Segoe UI"/>
              <a:ea typeface="+mn-ea"/>
              <a:cs typeface="+mn-cs"/>
            </a:endParaRPr>
          </a:p>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CA" sz="1050" i="0" u="none" strike="noStrike" kern="1200" cap="none" spc="0" normalizeH="0" baseline="0" noProof="0">
              <a:ln>
                <a:noFill/>
              </a:ln>
              <a:solidFill>
                <a:prstClr val="black"/>
              </a:solidFill>
              <a:effectLst/>
              <a:uLnTx/>
              <a:uFillTx/>
              <a:latin typeface="Segoe UI"/>
              <a:ea typeface="+mn-ea"/>
              <a:cs typeface="+mn-cs"/>
            </a:endParaRPr>
          </a:p>
        </p:txBody>
      </p:sp>
      <p:pic>
        <p:nvPicPr>
          <p:cNvPr id="60" name="Picture 59">
            <a:extLst>
              <a:ext uri="{FF2B5EF4-FFF2-40B4-BE49-F238E27FC236}">
                <a16:creationId xmlns:a16="http://schemas.microsoft.com/office/drawing/2014/main" id="{655FCA29-E77E-B56B-E146-0109E7916756}"/>
              </a:ext>
            </a:extLst>
          </p:cNvPr>
          <p:cNvPicPr>
            <a:picLocks noChangeAspect="1"/>
          </p:cNvPicPr>
          <p:nvPr/>
        </p:nvPicPr>
        <p:blipFill>
          <a:blip r:embed="rId8"/>
          <a:stretch>
            <a:fillRect/>
          </a:stretch>
        </p:blipFill>
        <p:spPr>
          <a:xfrm>
            <a:off x="8160522" y="2220315"/>
            <a:ext cx="567353" cy="582283"/>
          </a:xfrm>
          <a:prstGeom prst="rect">
            <a:avLst/>
          </a:prstGeom>
        </p:spPr>
      </p:pic>
      <p:pic>
        <p:nvPicPr>
          <p:cNvPr id="61" name="Picture 60">
            <a:extLst>
              <a:ext uri="{FF2B5EF4-FFF2-40B4-BE49-F238E27FC236}">
                <a16:creationId xmlns:a16="http://schemas.microsoft.com/office/drawing/2014/main" id="{F65EFD60-C506-BB50-44D4-596037526A07}"/>
              </a:ext>
            </a:extLst>
          </p:cNvPr>
          <p:cNvPicPr>
            <a:picLocks noChangeAspect="1"/>
          </p:cNvPicPr>
          <p:nvPr/>
        </p:nvPicPr>
        <p:blipFill>
          <a:blip r:embed="rId8"/>
          <a:stretch>
            <a:fillRect/>
          </a:stretch>
        </p:blipFill>
        <p:spPr>
          <a:xfrm>
            <a:off x="8163212" y="3834440"/>
            <a:ext cx="604745" cy="620659"/>
          </a:xfrm>
          <a:prstGeom prst="rect">
            <a:avLst/>
          </a:prstGeom>
        </p:spPr>
      </p:pic>
      <p:pic>
        <p:nvPicPr>
          <p:cNvPr id="279" name="Picture 26" descr="Seo report Special Flat icon">
            <a:extLst>
              <a:ext uri="{FF2B5EF4-FFF2-40B4-BE49-F238E27FC236}">
                <a16:creationId xmlns:a16="http://schemas.microsoft.com/office/drawing/2014/main" id="{881C0261-E464-FBF4-780A-30F40EE14162}"/>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9197191" y="2211048"/>
            <a:ext cx="709867" cy="757673"/>
          </a:xfrm>
          <a:prstGeom prst="rect">
            <a:avLst/>
          </a:prstGeom>
          <a:noFill/>
          <a:extLst>
            <a:ext uri="{909E8E84-426E-40DD-AFC4-6F175D3DCCD1}">
              <a14:hiddenFill xmlns:a14="http://schemas.microsoft.com/office/drawing/2010/main">
                <a:solidFill>
                  <a:srgbClr val="FFFFFF"/>
                </a:solidFill>
              </a14:hiddenFill>
            </a:ext>
          </a:extLst>
        </p:spPr>
      </p:pic>
      <p:pic>
        <p:nvPicPr>
          <p:cNvPr id="11" name="Graphic 10">
            <a:extLst>
              <a:ext uri="{FF2B5EF4-FFF2-40B4-BE49-F238E27FC236}">
                <a16:creationId xmlns:a16="http://schemas.microsoft.com/office/drawing/2014/main" id="{343302B4-16A0-E44D-D35F-EDE92B1EDB2B}"/>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778064" y="2742249"/>
            <a:ext cx="930559" cy="959641"/>
          </a:xfrm>
          <a:prstGeom prst="rect">
            <a:avLst/>
          </a:prstGeom>
        </p:spPr>
      </p:pic>
      <p:pic>
        <p:nvPicPr>
          <p:cNvPr id="469" name="Picture 6" descr="Course, courses, learning, online, teaching, tutorial, video icon">
            <a:extLst>
              <a:ext uri="{FF2B5EF4-FFF2-40B4-BE49-F238E27FC236}">
                <a16:creationId xmlns:a16="http://schemas.microsoft.com/office/drawing/2014/main" id="{4CAED7E6-6177-AAA3-931B-2C68446DAFD7}"/>
              </a:ext>
            </a:extLst>
          </p:cNvPr>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9310228" y="3882517"/>
            <a:ext cx="516719" cy="516719"/>
          </a:xfrm>
          <a:prstGeom prst="rect">
            <a:avLst/>
          </a:prstGeom>
          <a:noFill/>
          <a:extLst>
            <a:ext uri="{909E8E84-426E-40DD-AFC4-6F175D3DCCD1}">
              <a14:hiddenFill xmlns:a14="http://schemas.microsoft.com/office/drawing/2010/main">
                <a:solidFill>
                  <a:srgbClr val="FFFFFF"/>
                </a:solidFill>
              </a14:hiddenFill>
            </a:ext>
          </a:extLst>
        </p:spPr>
      </p:pic>
      <p:sp>
        <p:nvSpPr>
          <p:cNvPr id="470" name="TextBox 469">
            <a:extLst>
              <a:ext uri="{FF2B5EF4-FFF2-40B4-BE49-F238E27FC236}">
                <a16:creationId xmlns:a16="http://schemas.microsoft.com/office/drawing/2014/main" id="{0F55668B-5603-A380-F05C-FD965A0EF52E}"/>
              </a:ext>
            </a:extLst>
          </p:cNvPr>
          <p:cNvSpPr txBox="1"/>
          <p:nvPr/>
        </p:nvSpPr>
        <p:spPr>
          <a:xfrm>
            <a:off x="9014239" y="4460957"/>
            <a:ext cx="1186739" cy="253916"/>
          </a:xfrm>
          <a:prstGeom prst="rect">
            <a:avLst/>
          </a:prstGeom>
          <a:noFill/>
        </p:spPr>
        <p:txBody>
          <a:bodyPr wrap="square"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CA" sz="1050">
                <a:solidFill>
                  <a:prstClr val="black"/>
                </a:solidFill>
                <a:latin typeface="Segoe UI"/>
              </a:rPr>
              <a:t>Team App</a:t>
            </a:r>
            <a:endParaRPr kumimoji="0" lang="en-CA" sz="1050" i="0" u="none" strike="noStrike" kern="1200" cap="none" spc="0" normalizeH="0" baseline="0" noProof="0">
              <a:ln>
                <a:noFill/>
              </a:ln>
              <a:solidFill>
                <a:prstClr val="black"/>
              </a:solidFill>
              <a:effectLst/>
              <a:uLnTx/>
              <a:uFillTx/>
              <a:latin typeface="Segoe UI"/>
              <a:ea typeface="+mn-ea"/>
              <a:cs typeface="+mn-cs"/>
            </a:endParaRPr>
          </a:p>
        </p:txBody>
      </p:sp>
      <p:cxnSp>
        <p:nvCxnSpPr>
          <p:cNvPr id="473" name="Straight Arrow Connector 472">
            <a:extLst>
              <a:ext uri="{FF2B5EF4-FFF2-40B4-BE49-F238E27FC236}">
                <a16:creationId xmlns:a16="http://schemas.microsoft.com/office/drawing/2014/main" id="{92F2D8A8-F58D-B95E-A656-CA3B3672DD72}"/>
              </a:ext>
            </a:extLst>
          </p:cNvPr>
          <p:cNvCxnSpPr>
            <a:cxnSpLocks/>
          </p:cNvCxnSpPr>
          <p:nvPr/>
        </p:nvCxnSpPr>
        <p:spPr>
          <a:xfrm>
            <a:off x="9552124" y="3521263"/>
            <a:ext cx="0" cy="361254"/>
          </a:xfrm>
          <a:prstGeom prst="straightConnector1">
            <a:avLst/>
          </a:prstGeom>
          <a:ln w="28575">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829AFF2B-2F33-EA0F-EBBA-FD5A85E4F88D}"/>
              </a:ext>
            </a:extLst>
          </p:cNvPr>
          <p:cNvSpPr txBox="1"/>
          <p:nvPr/>
        </p:nvSpPr>
        <p:spPr>
          <a:xfrm>
            <a:off x="10685601" y="2157298"/>
            <a:ext cx="965534" cy="276999"/>
          </a:xfrm>
          <a:prstGeom prst="rect">
            <a:avLst/>
          </a:prstGeom>
          <a:solidFill>
            <a:schemeClr val="bg1">
              <a:lumMod val="50000"/>
            </a:schemeClr>
          </a:solidFill>
        </p:spPr>
        <p:txBody>
          <a:bodyPr wrap="square"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CA" sz="1200" b="1">
                <a:solidFill>
                  <a:schemeClr val="bg1"/>
                </a:solidFill>
                <a:latin typeface="Segoe UI"/>
              </a:rPr>
              <a:t>Monitor</a:t>
            </a:r>
            <a:endParaRPr kumimoji="0" lang="en-CA" sz="1200" b="1" i="0" strike="noStrike" kern="1200" cap="none" spc="0" normalizeH="0" baseline="0" noProof="0">
              <a:ln>
                <a:noFill/>
              </a:ln>
              <a:solidFill>
                <a:schemeClr val="bg1"/>
              </a:solidFill>
              <a:effectLst/>
              <a:uLnTx/>
              <a:uFillTx/>
              <a:latin typeface="Segoe UI"/>
              <a:ea typeface="+mn-ea"/>
              <a:cs typeface="+mn-cs"/>
            </a:endParaRPr>
          </a:p>
        </p:txBody>
      </p:sp>
      <p:pic>
        <p:nvPicPr>
          <p:cNvPr id="16" name="Graphic 15">
            <a:extLst>
              <a:ext uri="{FF2B5EF4-FFF2-40B4-BE49-F238E27FC236}">
                <a16:creationId xmlns:a16="http://schemas.microsoft.com/office/drawing/2014/main" id="{9B9F60BC-B066-8E0F-5CC8-79D227AA7AC6}"/>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865010" y="3015256"/>
            <a:ext cx="572263" cy="590147"/>
          </a:xfrm>
          <a:prstGeom prst="rect">
            <a:avLst/>
          </a:prstGeom>
        </p:spPr>
      </p:pic>
      <p:sp>
        <p:nvSpPr>
          <p:cNvPr id="20" name="TextBox 19">
            <a:extLst>
              <a:ext uri="{FF2B5EF4-FFF2-40B4-BE49-F238E27FC236}">
                <a16:creationId xmlns:a16="http://schemas.microsoft.com/office/drawing/2014/main" id="{221FAB10-B5D7-D0D5-8795-506EE8665BD1}"/>
              </a:ext>
            </a:extLst>
          </p:cNvPr>
          <p:cNvSpPr txBox="1"/>
          <p:nvPr/>
        </p:nvSpPr>
        <p:spPr>
          <a:xfrm>
            <a:off x="10659959" y="2492164"/>
            <a:ext cx="965533" cy="415498"/>
          </a:xfrm>
          <a:prstGeom prst="rect">
            <a:avLst/>
          </a:prstGeom>
          <a:noFill/>
        </p:spPr>
        <p:txBody>
          <a:bodyPr wrap="square"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1050" b="1">
                <a:solidFill>
                  <a:prstClr val="black"/>
                </a:solidFill>
                <a:latin typeface="Segoe UI"/>
              </a:rPr>
              <a:t>Monitoring Lakehouse</a:t>
            </a:r>
            <a:endParaRPr kumimoji="0" lang="en-CA" sz="1050" b="1" i="0" u="none" strike="noStrike" kern="1200" cap="none" spc="0" normalizeH="0" baseline="0" noProof="0">
              <a:ln>
                <a:noFill/>
              </a:ln>
              <a:solidFill>
                <a:prstClr val="black"/>
              </a:solidFill>
              <a:effectLst/>
              <a:uLnTx/>
              <a:uFillTx/>
              <a:latin typeface="Segoe UI"/>
              <a:ea typeface="+mn-ea"/>
              <a:cs typeface="+mn-cs"/>
            </a:endParaRPr>
          </a:p>
        </p:txBody>
      </p:sp>
      <p:cxnSp>
        <p:nvCxnSpPr>
          <p:cNvPr id="23" name="Straight Connector 22">
            <a:extLst>
              <a:ext uri="{FF2B5EF4-FFF2-40B4-BE49-F238E27FC236}">
                <a16:creationId xmlns:a16="http://schemas.microsoft.com/office/drawing/2014/main" id="{D73760FC-CA7F-3351-7136-51D1F2796C49}"/>
              </a:ext>
            </a:extLst>
          </p:cNvPr>
          <p:cNvCxnSpPr>
            <a:cxnSpLocks/>
          </p:cNvCxnSpPr>
          <p:nvPr/>
        </p:nvCxnSpPr>
        <p:spPr>
          <a:xfrm>
            <a:off x="10363741" y="2055393"/>
            <a:ext cx="34208" cy="2489585"/>
          </a:xfrm>
          <a:prstGeom prst="line">
            <a:avLst/>
          </a:prstGeom>
          <a:ln>
            <a:prstDash val="lgDash"/>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45EFFDB6-2EBA-2F05-B6E8-87D59F684267}"/>
              </a:ext>
            </a:extLst>
          </p:cNvPr>
          <p:cNvSpPr txBox="1"/>
          <p:nvPr/>
        </p:nvSpPr>
        <p:spPr>
          <a:xfrm>
            <a:off x="7815007" y="5935525"/>
            <a:ext cx="1186739" cy="577081"/>
          </a:xfrm>
          <a:prstGeom prst="rect">
            <a:avLst/>
          </a:prstGeom>
          <a:noFill/>
        </p:spPr>
        <p:txBody>
          <a:bodyPr wrap="square"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CA" sz="1050">
                <a:solidFill>
                  <a:prstClr val="black"/>
                </a:solidFill>
                <a:latin typeface="Segoe UI"/>
              </a:rPr>
              <a:t>Databricks managed tables</a:t>
            </a:r>
            <a:endParaRPr kumimoji="0" lang="en-CA" sz="1050" i="0" u="none" strike="noStrike" kern="1200" cap="none" spc="0" normalizeH="0" baseline="0" noProof="0">
              <a:ln>
                <a:noFill/>
              </a:ln>
              <a:solidFill>
                <a:prstClr val="black"/>
              </a:solidFill>
              <a:effectLst/>
              <a:uLnTx/>
              <a:uFillTx/>
              <a:latin typeface="Segoe UI"/>
              <a:ea typeface="+mn-ea"/>
              <a:cs typeface="+mn-cs"/>
            </a:endParaRPr>
          </a:p>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CA" sz="1050" i="0" u="none" strike="noStrike" kern="1200" cap="none" spc="0" normalizeH="0" baseline="0" noProof="0">
              <a:ln>
                <a:noFill/>
              </a:ln>
              <a:solidFill>
                <a:prstClr val="black"/>
              </a:solidFill>
              <a:effectLst/>
              <a:uLnTx/>
              <a:uFillTx/>
              <a:latin typeface="Segoe UI"/>
              <a:ea typeface="+mn-ea"/>
              <a:cs typeface="+mn-cs"/>
            </a:endParaRPr>
          </a:p>
        </p:txBody>
      </p:sp>
      <p:cxnSp>
        <p:nvCxnSpPr>
          <p:cNvPr id="32" name="Straight Arrow Connector 31">
            <a:extLst>
              <a:ext uri="{FF2B5EF4-FFF2-40B4-BE49-F238E27FC236}">
                <a16:creationId xmlns:a16="http://schemas.microsoft.com/office/drawing/2014/main" id="{DC96C44A-C1B9-B031-95EB-24FD9205FA71}"/>
              </a:ext>
            </a:extLst>
          </p:cNvPr>
          <p:cNvCxnSpPr>
            <a:cxnSpLocks/>
          </p:cNvCxnSpPr>
          <p:nvPr/>
        </p:nvCxnSpPr>
        <p:spPr>
          <a:xfrm flipH="1">
            <a:off x="5412902" y="4197234"/>
            <a:ext cx="1580541" cy="1137748"/>
          </a:xfrm>
          <a:prstGeom prst="straightConnector1">
            <a:avLst/>
          </a:prstGeom>
          <a:ln w="3175">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44" name="Picture 43">
            <a:extLst>
              <a:ext uri="{FF2B5EF4-FFF2-40B4-BE49-F238E27FC236}">
                <a16:creationId xmlns:a16="http://schemas.microsoft.com/office/drawing/2014/main" id="{F7E3BF38-5DD0-B445-14F4-0030CE825179}"/>
              </a:ext>
            </a:extLst>
          </p:cNvPr>
          <p:cNvPicPr>
            <a:picLocks noChangeAspect="1"/>
          </p:cNvPicPr>
          <p:nvPr/>
        </p:nvPicPr>
        <p:blipFill>
          <a:blip r:embed="rId13"/>
          <a:stretch>
            <a:fillRect/>
          </a:stretch>
        </p:blipFill>
        <p:spPr>
          <a:xfrm>
            <a:off x="8011212" y="5203586"/>
            <a:ext cx="678368" cy="659654"/>
          </a:xfrm>
          <a:prstGeom prst="rect">
            <a:avLst/>
          </a:prstGeom>
        </p:spPr>
      </p:pic>
      <p:pic>
        <p:nvPicPr>
          <p:cNvPr id="4" name="Picture 3">
            <a:extLst>
              <a:ext uri="{FF2B5EF4-FFF2-40B4-BE49-F238E27FC236}">
                <a16:creationId xmlns:a16="http://schemas.microsoft.com/office/drawing/2014/main" id="{44A2E312-C82A-D80B-0E9C-77E9C1F7D1BB}"/>
              </a:ext>
            </a:extLst>
          </p:cNvPr>
          <p:cNvPicPr>
            <a:picLocks noChangeAspect="1"/>
          </p:cNvPicPr>
          <p:nvPr/>
        </p:nvPicPr>
        <p:blipFill>
          <a:blip r:embed="rId5"/>
          <a:stretch>
            <a:fillRect/>
          </a:stretch>
        </p:blipFill>
        <p:spPr>
          <a:xfrm flipH="1">
            <a:off x="1050820" y="2280182"/>
            <a:ext cx="640354" cy="578184"/>
          </a:xfrm>
          <a:prstGeom prst="rect">
            <a:avLst/>
          </a:prstGeom>
        </p:spPr>
      </p:pic>
    </p:spTree>
    <p:extLst>
      <p:ext uri="{BB962C8B-B14F-4D97-AF65-F5344CB8AC3E}">
        <p14:creationId xmlns:p14="http://schemas.microsoft.com/office/powerpoint/2010/main" val="22027101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377FC8CC-BF48-4372-ADBD-E108291B94CD}"/>
              </a:ext>
            </a:extLst>
          </p:cNvPr>
          <p:cNvSpPr txBox="1">
            <a:spLocks/>
          </p:cNvSpPr>
          <p:nvPr/>
        </p:nvSpPr>
        <p:spPr>
          <a:xfrm>
            <a:off x="696001" y="213396"/>
            <a:ext cx="10800000" cy="717269"/>
          </a:xfrm>
          <a:prstGeom prst="rect">
            <a:avLst/>
          </a:prstGeom>
        </p:spPr>
        <p:txBody>
          <a:bodyPr anchor="b">
            <a:normAutofit/>
          </a:bodyPr>
          <a:lstStyle>
            <a:lvl1pPr algn="l" defTabSz="914377" rtl="0" eaLnBrk="1" latinLnBrk="0" hangingPunct="1">
              <a:lnSpc>
                <a:spcPct val="90000"/>
              </a:lnSpc>
              <a:spcBef>
                <a:spcPct val="0"/>
              </a:spcBef>
              <a:buNone/>
              <a:defRPr sz="4000" u="none" kern="1200" spc="-100" baseline="0">
                <a:solidFill>
                  <a:schemeClr val="accent6"/>
                </a:solidFill>
                <a:uFill>
                  <a:solidFill>
                    <a:schemeClr val="tx2">
                      <a:lumMod val="60000"/>
                      <a:lumOff val="40000"/>
                    </a:schemeClr>
                  </a:solidFill>
                </a:uFill>
                <a:latin typeface="+mj-lt"/>
                <a:ea typeface="Segoe UI Black" panose="020B0A02040204020203" pitchFamily="34" charset="0"/>
                <a:cs typeface="Segoe UI Light" panose="020B0502040204020203" pitchFamily="34" charset="0"/>
              </a:defRPr>
            </a:lvl1pPr>
          </a:lstStyle>
          <a:p>
            <a:pPr algn="ctr">
              <a:defRPr/>
            </a:pPr>
            <a:r>
              <a:rPr kumimoji="0" lang="en-US" sz="4000" b="0" i="0" u="none" strike="noStrike" kern="1200" cap="none" spc="-100" normalizeH="0" baseline="0" noProof="0">
                <a:ln>
                  <a:noFill/>
                </a:ln>
                <a:solidFill>
                  <a:srgbClr val="31849B"/>
                </a:solidFill>
                <a:effectLst/>
                <a:uLnTx/>
                <a:uFill>
                  <a:solidFill>
                    <a:srgbClr val="1F497D">
                      <a:lumMod val="60000"/>
                      <a:lumOff val="40000"/>
                    </a:srgbClr>
                  </a:solidFill>
                </a:uFill>
                <a:latin typeface="Segoe UI Semibold"/>
                <a:ea typeface="Segoe UI Black" panose="020B0A02040204020203" pitchFamily="34" charset="0"/>
                <a:cs typeface="Segoe UI Light" panose="020B0502040204020203" pitchFamily="34" charset="0"/>
              </a:rPr>
              <a:t>User workflow – Key findings</a:t>
            </a:r>
          </a:p>
        </p:txBody>
      </p:sp>
      <p:sp>
        <p:nvSpPr>
          <p:cNvPr id="2" name="TextBox 1">
            <a:extLst>
              <a:ext uri="{FF2B5EF4-FFF2-40B4-BE49-F238E27FC236}">
                <a16:creationId xmlns:a16="http://schemas.microsoft.com/office/drawing/2014/main" id="{E692C870-23E2-5421-D832-B7F1FA99BCAF}"/>
              </a:ext>
            </a:extLst>
          </p:cNvPr>
          <p:cNvSpPr txBox="1"/>
          <p:nvPr/>
        </p:nvSpPr>
        <p:spPr>
          <a:xfrm>
            <a:off x="853289" y="1109747"/>
            <a:ext cx="10509475" cy="6055504"/>
          </a:xfrm>
          <a:prstGeom prst="rect">
            <a:avLst/>
          </a:prstGeom>
          <a:noFill/>
        </p:spPr>
        <p:txBody>
          <a:bodyPr wrap="square">
            <a:spAutoFit/>
          </a:bodyPr>
          <a:lstStyle/>
          <a:p>
            <a:pPr marL="342900" indent="-342900">
              <a:spcBef>
                <a:spcPts val="300"/>
              </a:spcBef>
              <a:spcAft>
                <a:spcPts val="300"/>
              </a:spcAft>
              <a:buFont typeface="Arial" panose="020B0604020202020204" pitchFamily="34" charset="0"/>
              <a:buChar char="•"/>
            </a:pPr>
            <a:r>
              <a:rPr lang="en-CA" sz="2000"/>
              <a:t>Data is truly centralized from the perspective of the users</a:t>
            </a:r>
          </a:p>
          <a:p>
            <a:pPr marL="742950" lvl="1" indent="-285750">
              <a:spcBef>
                <a:spcPts val="300"/>
              </a:spcBef>
              <a:spcAft>
                <a:spcPts val="300"/>
              </a:spcAft>
              <a:buFont typeface="Arial" panose="020B0604020202020204" pitchFamily="34" charset="0"/>
              <a:buChar char="•"/>
            </a:pPr>
            <a:r>
              <a:rPr lang="en-CA" sz="1600"/>
              <a:t>1 Lakehouse can contain Triton managed dataset, data ingested by the user, and model output</a:t>
            </a:r>
          </a:p>
          <a:p>
            <a:pPr marL="742950" lvl="1" indent="-285750">
              <a:spcBef>
                <a:spcPts val="300"/>
              </a:spcBef>
              <a:spcAft>
                <a:spcPts val="300"/>
              </a:spcAft>
              <a:buFont typeface="Arial" panose="020B0604020202020204" pitchFamily="34" charset="0"/>
              <a:buChar char="•"/>
            </a:pPr>
            <a:r>
              <a:rPr lang="en-CA" sz="1600" err="1"/>
              <a:t>Onelake</a:t>
            </a:r>
            <a:r>
              <a:rPr lang="en-CA" sz="1600"/>
              <a:t> explorer makes it easy to bring any type of data on demand, notably from Excel</a:t>
            </a:r>
          </a:p>
          <a:p>
            <a:pPr marL="342900" indent="-342900">
              <a:spcBef>
                <a:spcPts val="300"/>
              </a:spcBef>
              <a:spcAft>
                <a:spcPts val="300"/>
              </a:spcAft>
              <a:buFont typeface="Arial" panose="020B0604020202020204" pitchFamily="34" charset="0"/>
              <a:buChar char="•"/>
            </a:pPr>
            <a:r>
              <a:rPr lang="en-CA" sz="2000"/>
              <a:t>Scheduling and orchestration is intuitive and flexible</a:t>
            </a:r>
            <a:endParaRPr lang="en-CA" sz="1600"/>
          </a:p>
          <a:p>
            <a:pPr marL="742950" lvl="1" indent="-285750">
              <a:spcBef>
                <a:spcPts val="300"/>
              </a:spcBef>
              <a:spcAft>
                <a:spcPts val="300"/>
              </a:spcAft>
              <a:buFont typeface="Arial" panose="020B0604020202020204" pitchFamily="34" charset="0"/>
              <a:buChar char="•"/>
            </a:pPr>
            <a:r>
              <a:rPr lang="en-CA" sz="1600"/>
              <a:t>Users can build and monitor their own workflows with minimal support</a:t>
            </a:r>
          </a:p>
          <a:p>
            <a:pPr marL="342900" indent="-342900">
              <a:spcBef>
                <a:spcPts val="300"/>
              </a:spcBef>
              <a:spcAft>
                <a:spcPts val="300"/>
              </a:spcAft>
              <a:buFont typeface="Arial" panose="020B0604020202020204" pitchFamily="34" charset="0"/>
              <a:buChar char="•"/>
            </a:pPr>
            <a:r>
              <a:rPr lang="en-CA" sz="2000"/>
              <a:t>Going from data to dashboard is streamlined significantly</a:t>
            </a:r>
          </a:p>
          <a:p>
            <a:pPr marL="800100" lvl="1" indent="-342900">
              <a:spcBef>
                <a:spcPts val="300"/>
              </a:spcBef>
              <a:spcAft>
                <a:spcPts val="300"/>
              </a:spcAft>
              <a:buFont typeface="Arial" panose="020B0604020202020204" pitchFamily="34" charset="0"/>
              <a:buChar char="•"/>
            </a:pPr>
            <a:r>
              <a:rPr lang="en-CA" sz="1600"/>
              <a:t>BI semantic models (source of BI reports) and reports (feeding dashboards) can be built, changed and version controlled efficiently 100% online in Power BI services. </a:t>
            </a:r>
          </a:p>
          <a:p>
            <a:pPr marL="800100" lvl="1" indent="-342900">
              <a:spcBef>
                <a:spcPts val="300"/>
              </a:spcBef>
              <a:spcAft>
                <a:spcPts val="300"/>
              </a:spcAft>
              <a:buFont typeface="Arial" panose="020B0604020202020204" pitchFamily="34" charset="0"/>
              <a:buChar char="•"/>
            </a:pPr>
            <a:r>
              <a:rPr lang="en-CA" sz="1600"/>
              <a:t>Refreshes of BI reports and alerts are easy to manage thanks to pipelines</a:t>
            </a:r>
          </a:p>
          <a:p>
            <a:pPr marL="800100" lvl="1" indent="-342900">
              <a:spcBef>
                <a:spcPts val="300"/>
              </a:spcBef>
              <a:spcAft>
                <a:spcPts val="300"/>
              </a:spcAft>
              <a:buFont typeface="Arial" panose="020B0604020202020204" pitchFamily="34" charset="0"/>
              <a:buChar char="•"/>
            </a:pPr>
            <a:r>
              <a:rPr lang="en-CA" sz="1600"/>
              <a:t>Visualization inside notebooks is more flexible than Databricks</a:t>
            </a:r>
          </a:p>
          <a:p>
            <a:pPr marL="342900" indent="-342900">
              <a:spcBef>
                <a:spcPts val="300"/>
              </a:spcBef>
              <a:spcAft>
                <a:spcPts val="300"/>
              </a:spcAft>
              <a:buFont typeface="Arial" panose="020B0604020202020204" pitchFamily="34" charset="0"/>
              <a:buChar char="•"/>
            </a:pPr>
            <a:r>
              <a:rPr lang="en-CA" sz="2000"/>
              <a:t>Analytics is streamlined and performant</a:t>
            </a:r>
          </a:p>
          <a:p>
            <a:pPr marL="800100" lvl="1" indent="-342900">
              <a:spcBef>
                <a:spcPts val="300"/>
              </a:spcBef>
              <a:spcAft>
                <a:spcPts val="300"/>
              </a:spcAft>
              <a:buFont typeface="Arial" panose="020B0604020202020204" pitchFamily="34" charset="0"/>
              <a:buChar char="•"/>
            </a:pPr>
            <a:r>
              <a:rPr lang="en-CA" sz="1600"/>
              <a:t>Compute ready in a couple of seconds</a:t>
            </a:r>
          </a:p>
          <a:p>
            <a:pPr marL="800100" lvl="1" indent="-342900">
              <a:spcBef>
                <a:spcPts val="300"/>
              </a:spcBef>
              <a:spcAft>
                <a:spcPts val="300"/>
              </a:spcAft>
              <a:buFont typeface="Arial" panose="020B0604020202020204" pitchFamily="34" charset="0"/>
              <a:buChar char="•"/>
            </a:pPr>
            <a:r>
              <a:rPr lang="en-CA" sz="1600"/>
              <a:t>Performance was found to be identical to Databricks for key Triton models</a:t>
            </a:r>
          </a:p>
          <a:p>
            <a:pPr marL="800100" lvl="1" indent="-342900">
              <a:spcBef>
                <a:spcPts val="300"/>
              </a:spcBef>
              <a:spcAft>
                <a:spcPts val="300"/>
              </a:spcAft>
              <a:buFont typeface="Arial" panose="020B0604020202020204" pitchFamily="34" charset="0"/>
              <a:buChar char="•"/>
            </a:pPr>
            <a:r>
              <a:rPr lang="en-CA" sz="1600" err="1"/>
              <a:t>Lakehouses</a:t>
            </a:r>
            <a:r>
              <a:rPr lang="en-CA" sz="1600"/>
              <a:t>, Notebooks, Semantic models, BI reports are well integrated</a:t>
            </a:r>
          </a:p>
          <a:p>
            <a:pPr marL="800100" lvl="1" indent="-342900">
              <a:spcBef>
                <a:spcPts val="300"/>
              </a:spcBef>
              <a:spcAft>
                <a:spcPts val="300"/>
              </a:spcAft>
              <a:buFont typeface="Arial" panose="020B0604020202020204" pitchFamily="34" charset="0"/>
              <a:buChar char="•"/>
            </a:pPr>
            <a:r>
              <a:rPr lang="en-CA" sz="1600"/>
              <a:t>Key statistical packages are available inside notebooks</a:t>
            </a:r>
          </a:p>
          <a:p>
            <a:pPr marL="800100" lvl="1" indent="-342900">
              <a:buFont typeface="Arial" panose="020B0604020202020204" pitchFamily="34" charset="0"/>
              <a:buChar char="•"/>
            </a:pPr>
            <a:endParaRPr lang="en-CA" sz="1600"/>
          </a:p>
          <a:p>
            <a:pPr lvl="1"/>
            <a:endParaRPr lang="en-CA" sz="1600"/>
          </a:p>
          <a:p>
            <a:pPr marL="800100" lvl="1" indent="-342900">
              <a:buFont typeface="Arial" panose="020B0604020202020204" pitchFamily="34" charset="0"/>
              <a:buChar char="•"/>
            </a:pPr>
            <a:endParaRPr lang="en-CA" sz="1600"/>
          </a:p>
          <a:p>
            <a:pPr marL="800100" lvl="1" indent="-342900">
              <a:buFont typeface="Arial" panose="020B0604020202020204" pitchFamily="34" charset="0"/>
              <a:buChar char="•"/>
            </a:pPr>
            <a:endParaRPr lang="en-CA" sz="1600"/>
          </a:p>
        </p:txBody>
      </p:sp>
    </p:spTree>
    <p:extLst>
      <p:ext uri="{BB962C8B-B14F-4D97-AF65-F5344CB8AC3E}">
        <p14:creationId xmlns:p14="http://schemas.microsoft.com/office/powerpoint/2010/main" val="32666529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 name="Rectangle 258">
            <a:extLst>
              <a:ext uri="{FF2B5EF4-FFF2-40B4-BE49-F238E27FC236}">
                <a16:creationId xmlns:a16="http://schemas.microsoft.com/office/drawing/2014/main" id="{2330CF74-34F9-CE79-4CAC-53E5309FC913}"/>
              </a:ext>
            </a:extLst>
          </p:cNvPr>
          <p:cNvSpPr/>
          <p:nvPr/>
        </p:nvSpPr>
        <p:spPr>
          <a:xfrm>
            <a:off x="2720733" y="1935927"/>
            <a:ext cx="9269477" cy="2901586"/>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6772" tIns="63386" rIns="126772" bIns="63386" numCol="1" spcCol="0" rtlCol="0" fromWordArt="0" anchor="ctr" anchorCtr="0" forceAA="0" compatLnSpc="1">
            <a:prstTxWarp prst="textNoShape">
              <a:avLst/>
            </a:prstTxWarp>
            <a:no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3330" i="0" u="none" strike="noStrike" kern="1200" cap="none" spc="0" normalizeH="0" baseline="0" noProof="0">
              <a:ln>
                <a:noFill/>
              </a:ln>
              <a:solidFill>
                <a:prstClr val="white"/>
              </a:solidFill>
              <a:effectLst/>
              <a:uLnTx/>
              <a:uFillTx/>
              <a:latin typeface="Segoe UI"/>
              <a:ea typeface="+mn-ea"/>
              <a:cs typeface="+mn-cs"/>
            </a:endParaRPr>
          </a:p>
        </p:txBody>
      </p:sp>
      <p:sp>
        <p:nvSpPr>
          <p:cNvPr id="267" name="AutoShape 49">
            <a:extLst>
              <a:ext uri="{FF2B5EF4-FFF2-40B4-BE49-F238E27FC236}">
                <a16:creationId xmlns:a16="http://schemas.microsoft.com/office/drawing/2014/main" id="{518F50F5-CA37-996B-4C39-B8F4F8AB860C}"/>
              </a:ext>
            </a:extLst>
          </p:cNvPr>
          <p:cNvSpPr>
            <a:spLocks noChangeAspect="1" noChangeArrowheads="1" noTextEdit="1"/>
          </p:cNvSpPr>
          <p:nvPr/>
        </p:nvSpPr>
        <p:spPr bwMode="auto">
          <a:xfrm>
            <a:off x="11924355" y="2658894"/>
            <a:ext cx="325437" cy="40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black"/>
              </a:solidFill>
              <a:effectLst/>
              <a:uLnTx/>
              <a:uFillTx/>
              <a:latin typeface="Segoe UI"/>
              <a:ea typeface="+mn-ea"/>
              <a:cs typeface="+mn-cs"/>
            </a:endParaRPr>
          </a:p>
        </p:txBody>
      </p:sp>
      <p:sp>
        <p:nvSpPr>
          <p:cNvPr id="425" name="AutoShape 49">
            <a:extLst>
              <a:ext uri="{FF2B5EF4-FFF2-40B4-BE49-F238E27FC236}">
                <a16:creationId xmlns:a16="http://schemas.microsoft.com/office/drawing/2014/main" id="{3D7D78BA-8043-30DF-7C86-86280525640E}"/>
              </a:ext>
            </a:extLst>
          </p:cNvPr>
          <p:cNvSpPr>
            <a:spLocks noChangeAspect="1" noChangeArrowheads="1" noTextEdit="1"/>
          </p:cNvSpPr>
          <p:nvPr/>
        </p:nvSpPr>
        <p:spPr bwMode="auto">
          <a:xfrm>
            <a:off x="13920968" y="2671940"/>
            <a:ext cx="325437" cy="40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black"/>
              </a:solidFill>
              <a:effectLst/>
              <a:uLnTx/>
              <a:uFillTx/>
              <a:latin typeface="Segoe UI"/>
              <a:ea typeface="+mn-ea"/>
              <a:cs typeface="+mn-cs"/>
            </a:endParaRPr>
          </a:p>
        </p:txBody>
      </p:sp>
      <p:sp>
        <p:nvSpPr>
          <p:cNvPr id="260" name="Rectangle 259">
            <a:extLst>
              <a:ext uri="{FF2B5EF4-FFF2-40B4-BE49-F238E27FC236}">
                <a16:creationId xmlns:a16="http://schemas.microsoft.com/office/drawing/2014/main" id="{9166E7FF-E75E-7604-B5D0-77737C8E8DA4}"/>
              </a:ext>
            </a:extLst>
          </p:cNvPr>
          <p:cNvSpPr/>
          <p:nvPr/>
        </p:nvSpPr>
        <p:spPr>
          <a:xfrm>
            <a:off x="2748538" y="1464000"/>
            <a:ext cx="9356213" cy="502537"/>
          </a:xfrm>
          <a:prstGeom prst="rect">
            <a:avLst/>
          </a:prstGeom>
          <a:solidFill>
            <a:srgbClr val="FF993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6772" tIns="63386" rIns="126772" bIns="63386" numCol="1" spcCol="0" rtlCol="0" fromWordArt="0" anchor="ctr" anchorCtr="0" forceAA="0" compatLnSpc="1">
            <a:prstTxWarp prst="textNoShape">
              <a:avLst/>
            </a:prstTxWarp>
            <a:no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1600" b="1">
                <a:solidFill>
                  <a:prstClr val="white"/>
                </a:solidFill>
                <a:latin typeface="Segoe UI"/>
              </a:rPr>
              <a:t>Triton Environment</a:t>
            </a:r>
            <a:br>
              <a:rPr lang="en-US" sz="1400" b="1">
                <a:solidFill>
                  <a:prstClr val="white"/>
                </a:solidFill>
                <a:latin typeface="Segoe UI"/>
              </a:rPr>
            </a:br>
            <a:r>
              <a:rPr lang="en-US" sz="1400" b="1">
                <a:solidFill>
                  <a:prstClr val="white"/>
                </a:solidFill>
                <a:latin typeface="Segoe UI"/>
              </a:rPr>
              <a:t>Dedicated Fabric workspace for Triton developers</a:t>
            </a:r>
            <a:endParaRPr kumimoji="0" lang="en-US" sz="1400" b="1" i="0" u="none" strike="noStrike" kern="1200" cap="none" spc="0" normalizeH="0" baseline="0" noProof="0">
              <a:ln>
                <a:noFill/>
              </a:ln>
              <a:solidFill>
                <a:prstClr val="white"/>
              </a:solidFill>
              <a:effectLst/>
              <a:uLnTx/>
              <a:uFillTx/>
              <a:latin typeface="Segoe UI"/>
              <a:ea typeface="+mn-ea"/>
              <a:cs typeface="+mn-cs"/>
            </a:endParaRPr>
          </a:p>
        </p:txBody>
      </p:sp>
      <p:cxnSp>
        <p:nvCxnSpPr>
          <p:cNvPr id="284" name="Straight Arrow Connector 283">
            <a:extLst>
              <a:ext uri="{FF2B5EF4-FFF2-40B4-BE49-F238E27FC236}">
                <a16:creationId xmlns:a16="http://schemas.microsoft.com/office/drawing/2014/main" id="{7C73EA55-93CC-83FB-24AE-018AE71027CD}"/>
              </a:ext>
            </a:extLst>
          </p:cNvPr>
          <p:cNvCxnSpPr>
            <a:cxnSpLocks/>
          </p:cNvCxnSpPr>
          <p:nvPr/>
        </p:nvCxnSpPr>
        <p:spPr>
          <a:xfrm>
            <a:off x="1937820" y="4321152"/>
            <a:ext cx="612191" cy="0"/>
          </a:xfrm>
          <a:prstGeom prst="straightConnector1">
            <a:avLst/>
          </a:prstGeom>
          <a:ln w="3175">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 name="Title 1">
            <a:extLst>
              <a:ext uri="{FF2B5EF4-FFF2-40B4-BE49-F238E27FC236}">
                <a16:creationId xmlns:a16="http://schemas.microsoft.com/office/drawing/2014/main" id="{DE51F0A3-5422-3B0D-1894-CCDF99D6D5AA}"/>
              </a:ext>
            </a:extLst>
          </p:cNvPr>
          <p:cNvSpPr txBox="1">
            <a:spLocks/>
          </p:cNvSpPr>
          <p:nvPr/>
        </p:nvSpPr>
        <p:spPr>
          <a:xfrm>
            <a:off x="672456" y="536244"/>
            <a:ext cx="10800000" cy="717269"/>
          </a:xfrm>
          <a:prstGeom prst="rect">
            <a:avLst/>
          </a:prstGeom>
        </p:spPr>
        <p:txBody>
          <a:bodyPr anchor="b">
            <a:normAutofit/>
          </a:bodyPr>
          <a:lstStyle>
            <a:lvl1pPr algn="l" defTabSz="914377" rtl="0" eaLnBrk="1" latinLnBrk="0" hangingPunct="1">
              <a:lnSpc>
                <a:spcPct val="90000"/>
              </a:lnSpc>
              <a:spcBef>
                <a:spcPct val="0"/>
              </a:spcBef>
              <a:buNone/>
              <a:defRPr sz="4000" u="none" kern="1200" spc="-100" baseline="0">
                <a:solidFill>
                  <a:schemeClr val="accent6"/>
                </a:solidFill>
                <a:uFill>
                  <a:solidFill>
                    <a:schemeClr val="tx2">
                      <a:lumMod val="60000"/>
                      <a:lumOff val="40000"/>
                    </a:schemeClr>
                  </a:solidFill>
                </a:uFill>
                <a:latin typeface="+mj-lt"/>
                <a:ea typeface="Segoe UI Black" panose="020B0A02040204020203" pitchFamily="34" charset="0"/>
                <a:cs typeface="Segoe UI Light" panose="020B0502040204020203" pitchFamily="34" charset="0"/>
              </a:defRPr>
            </a:lvl1pPr>
          </a:lstStyle>
          <a:p>
            <a:pPr marL="0" marR="0" lvl="0" indent="0" algn="ctr" defTabSz="914377" rtl="0" eaLnBrk="1" fontAlgn="auto" latinLnBrk="0" hangingPunct="1">
              <a:lnSpc>
                <a:spcPct val="90000"/>
              </a:lnSpc>
              <a:spcBef>
                <a:spcPct val="0"/>
              </a:spcBef>
              <a:spcAft>
                <a:spcPts val="0"/>
              </a:spcAft>
              <a:buClrTx/>
              <a:buSzTx/>
              <a:buFontTx/>
              <a:buNone/>
              <a:tabLst/>
              <a:defRPr/>
            </a:pPr>
            <a:r>
              <a:rPr kumimoji="0" lang="en-US" sz="4000" b="0" i="0" u="none" strike="noStrike" kern="1200" cap="none" spc="-100" normalizeH="0" baseline="0" noProof="0">
                <a:ln>
                  <a:noFill/>
                </a:ln>
                <a:solidFill>
                  <a:srgbClr val="31849B"/>
                </a:solidFill>
                <a:effectLst/>
                <a:uLnTx/>
                <a:uFill>
                  <a:solidFill>
                    <a:srgbClr val="1F497D">
                      <a:lumMod val="60000"/>
                      <a:lumOff val="40000"/>
                    </a:srgbClr>
                  </a:solidFill>
                </a:uFill>
                <a:latin typeface="Segoe UI Semibold"/>
                <a:ea typeface="Segoe UI Black" panose="020B0A02040204020203" pitchFamily="34" charset="0"/>
                <a:cs typeface="Segoe UI Light" panose="020B0502040204020203" pitchFamily="34" charset="0"/>
              </a:rPr>
              <a:t>Alerts and monitoring of processes</a:t>
            </a:r>
          </a:p>
        </p:txBody>
      </p:sp>
      <p:sp>
        <p:nvSpPr>
          <p:cNvPr id="17" name="Rectangle 16">
            <a:extLst>
              <a:ext uri="{FF2B5EF4-FFF2-40B4-BE49-F238E27FC236}">
                <a16:creationId xmlns:a16="http://schemas.microsoft.com/office/drawing/2014/main" id="{370DD4F2-478A-2B3C-5146-36C74AF25F3C}"/>
              </a:ext>
            </a:extLst>
          </p:cNvPr>
          <p:cNvSpPr/>
          <p:nvPr/>
        </p:nvSpPr>
        <p:spPr>
          <a:xfrm>
            <a:off x="28607" y="1483310"/>
            <a:ext cx="2719931" cy="502537"/>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6772" tIns="63386" rIns="126772" bIns="63386" numCol="1" spcCol="0" rtlCol="0" fromWordArt="0" anchor="ctr" anchorCtr="0" forceAA="0" compatLnSpc="1">
            <a:prstTxWarp prst="textNoShape">
              <a:avLst/>
            </a:prstTxWarp>
            <a:no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1600" b="1">
                <a:solidFill>
                  <a:prstClr val="white"/>
                </a:solidFill>
                <a:latin typeface="Segoe UI"/>
              </a:rPr>
              <a:t>Triton Managed </a:t>
            </a:r>
          </a:p>
          <a:p>
            <a:pPr marL="0" marR="0" lvl="0" indent="0" algn="ctr" defTabSz="914377" rtl="0" eaLnBrk="1" fontAlgn="auto" latinLnBrk="0" hangingPunct="1">
              <a:lnSpc>
                <a:spcPct val="100000"/>
              </a:lnSpc>
              <a:spcBef>
                <a:spcPts val="0"/>
              </a:spcBef>
              <a:spcAft>
                <a:spcPts val="0"/>
              </a:spcAft>
              <a:buClrTx/>
              <a:buSzTx/>
              <a:buFontTx/>
              <a:buNone/>
              <a:tabLst/>
              <a:defRPr/>
            </a:pPr>
            <a:r>
              <a:rPr lang="en-US" sz="1400" b="1">
                <a:solidFill>
                  <a:prstClr val="white"/>
                </a:solidFill>
                <a:latin typeface="Segoe UI"/>
              </a:rPr>
              <a:t>Data Sources</a:t>
            </a:r>
            <a:endParaRPr kumimoji="0" lang="en-US" sz="1400" b="1" i="0" strike="noStrike" kern="1200" cap="none" spc="0" normalizeH="0" baseline="0" noProof="0">
              <a:ln>
                <a:noFill/>
              </a:ln>
              <a:solidFill>
                <a:prstClr val="white"/>
              </a:solidFill>
              <a:effectLst/>
              <a:uLnTx/>
              <a:uFillTx/>
              <a:latin typeface="Segoe UI"/>
              <a:ea typeface="+mn-ea"/>
              <a:cs typeface="+mn-cs"/>
            </a:endParaRPr>
          </a:p>
        </p:txBody>
      </p:sp>
      <p:pic>
        <p:nvPicPr>
          <p:cNvPr id="4" name="Picture 3">
            <a:extLst>
              <a:ext uri="{FF2B5EF4-FFF2-40B4-BE49-F238E27FC236}">
                <a16:creationId xmlns:a16="http://schemas.microsoft.com/office/drawing/2014/main" id="{D8A43EEC-7607-E443-02FB-760E5165EB77}"/>
              </a:ext>
            </a:extLst>
          </p:cNvPr>
          <p:cNvPicPr>
            <a:picLocks noChangeAspect="1"/>
          </p:cNvPicPr>
          <p:nvPr/>
        </p:nvPicPr>
        <p:blipFill>
          <a:blip r:embed="rId3"/>
          <a:stretch>
            <a:fillRect/>
          </a:stretch>
        </p:blipFill>
        <p:spPr>
          <a:xfrm>
            <a:off x="965320" y="2169838"/>
            <a:ext cx="678368" cy="659654"/>
          </a:xfrm>
          <a:prstGeom prst="rect">
            <a:avLst/>
          </a:prstGeom>
        </p:spPr>
      </p:pic>
      <p:sp>
        <p:nvSpPr>
          <p:cNvPr id="10" name="TextBox 9">
            <a:extLst>
              <a:ext uri="{FF2B5EF4-FFF2-40B4-BE49-F238E27FC236}">
                <a16:creationId xmlns:a16="http://schemas.microsoft.com/office/drawing/2014/main" id="{FA84CB91-E3F1-1D11-F9BB-0917B7E4756C}"/>
              </a:ext>
            </a:extLst>
          </p:cNvPr>
          <p:cNvSpPr txBox="1"/>
          <p:nvPr/>
        </p:nvSpPr>
        <p:spPr>
          <a:xfrm>
            <a:off x="487383" y="2835539"/>
            <a:ext cx="1636702" cy="461665"/>
          </a:xfrm>
          <a:prstGeom prst="rect">
            <a:avLst/>
          </a:prstGeom>
          <a:noFill/>
        </p:spPr>
        <p:txBody>
          <a:bodyPr wrap="square"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CA" sz="1200" i="0" strike="noStrike" kern="1200" cap="none" spc="0" normalizeH="0" baseline="0" noProof="0">
                <a:ln>
                  <a:noFill/>
                </a:ln>
                <a:solidFill>
                  <a:prstClr val="black"/>
                </a:solidFill>
                <a:effectLst/>
                <a:uLnTx/>
                <a:uFillTx/>
                <a:latin typeface="Segoe UI"/>
                <a:ea typeface="+mn-ea"/>
                <a:cs typeface="+mn-cs"/>
              </a:rPr>
              <a:t>30 user-facing tables in Databricks</a:t>
            </a:r>
          </a:p>
        </p:txBody>
      </p:sp>
      <p:pic>
        <p:nvPicPr>
          <p:cNvPr id="12" name="Picture 11">
            <a:extLst>
              <a:ext uri="{FF2B5EF4-FFF2-40B4-BE49-F238E27FC236}">
                <a16:creationId xmlns:a16="http://schemas.microsoft.com/office/drawing/2014/main" id="{DE6B1F86-609D-209A-970F-D267111082C8}"/>
              </a:ext>
            </a:extLst>
          </p:cNvPr>
          <p:cNvPicPr>
            <a:picLocks noChangeAspect="1"/>
          </p:cNvPicPr>
          <p:nvPr/>
        </p:nvPicPr>
        <p:blipFill>
          <a:blip r:embed="rId4"/>
          <a:stretch>
            <a:fillRect/>
          </a:stretch>
        </p:blipFill>
        <p:spPr>
          <a:xfrm>
            <a:off x="988228" y="3629338"/>
            <a:ext cx="531684" cy="641345"/>
          </a:xfrm>
          <a:prstGeom prst="rect">
            <a:avLst/>
          </a:prstGeom>
        </p:spPr>
      </p:pic>
      <p:sp>
        <p:nvSpPr>
          <p:cNvPr id="13" name="TextBox 12">
            <a:extLst>
              <a:ext uri="{FF2B5EF4-FFF2-40B4-BE49-F238E27FC236}">
                <a16:creationId xmlns:a16="http://schemas.microsoft.com/office/drawing/2014/main" id="{8FB8A583-994C-CEA5-984F-F8204A193C21}"/>
              </a:ext>
            </a:extLst>
          </p:cNvPr>
          <p:cNvSpPr txBox="1"/>
          <p:nvPr/>
        </p:nvSpPr>
        <p:spPr>
          <a:xfrm>
            <a:off x="340575" y="4337687"/>
            <a:ext cx="1826989" cy="461665"/>
          </a:xfrm>
          <a:prstGeom prst="rect">
            <a:avLst/>
          </a:prstGeom>
          <a:noFill/>
        </p:spPr>
        <p:txBody>
          <a:bodyPr wrap="square"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CA" sz="1200">
                <a:solidFill>
                  <a:prstClr val="black"/>
                </a:solidFill>
                <a:latin typeface="Segoe UI"/>
              </a:rPr>
              <a:t>On-prem SQL database (</a:t>
            </a:r>
            <a:r>
              <a:rPr lang="en-CA" sz="1200" err="1">
                <a:solidFill>
                  <a:prstClr val="black"/>
                </a:solidFill>
                <a:latin typeface="Segoe UI"/>
              </a:rPr>
              <a:t>QaD</a:t>
            </a:r>
            <a:r>
              <a:rPr lang="en-CA" sz="1200">
                <a:solidFill>
                  <a:prstClr val="black"/>
                </a:solidFill>
                <a:latin typeface="Segoe UI"/>
              </a:rPr>
              <a:t>)</a:t>
            </a:r>
            <a:endParaRPr kumimoji="0" lang="en-CA" sz="1200" i="0" strike="noStrike" kern="1200" cap="none" spc="0" normalizeH="0" baseline="0" noProof="0">
              <a:ln>
                <a:noFill/>
              </a:ln>
              <a:solidFill>
                <a:prstClr val="black"/>
              </a:solidFill>
              <a:effectLst/>
              <a:uLnTx/>
              <a:uFillTx/>
              <a:latin typeface="Segoe UI"/>
              <a:ea typeface="+mn-ea"/>
              <a:cs typeface="+mn-cs"/>
            </a:endParaRPr>
          </a:p>
        </p:txBody>
      </p:sp>
      <p:cxnSp>
        <p:nvCxnSpPr>
          <p:cNvPr id="15" name="Straight Arrow Connector 14">
            <a:extLst>
              <a:ext uri="{FF2B5EF4-FFF2-40B4-BE49-F238E27FC236}">
                <a16:creationId xmlns:a16="http://schemas.microsoft.com/office/drawing/2014/main" id="{6966BF65-275C-6343-580D-5C5E95A1FD75}"/>
              </a:ext>
            </a:extLst>
          </p:cNvPr>
          <p:cNvCxnSpPr>
            <a:cxnSpLocks/>
          </p:cNvCxnSpPr>
          <p:nvPr/>
        </p:nvCxnSpPr>
        <p:spPr>
          <a:xfrm>
            <a:off x="1899233" y="2686370"/>
            <a:ext cx="694939" cy="5489"/>
          </a:xfrm>
          <a:prstGeom prst="straightConnector1">
            <a:avLst/>
          </a:prstGeom>
          <a:ln w="3175">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6" name="Rectangle 55">
            <a:extLst>
              <a:ext uri="{FF2B5EF4-FFF2-40B4-BE49-F238E27FC236}">
                <a16:creationId xmlns:a16="http://schemas.microsoft.com/office/drawing/2014/main" id="{22B2D640-7DB0-C740-2D24-C278B2230F16}"/>
              </a:ext>
            </a:extLst>
          </p:cNvPr>
          <p:cNvSpPr/>
          <p:nvPr/>
        </p:nvSpPr>
        <p:spPr>
          <a:xfrm>
            <a:off x="4730492" y="4995319"/>
            <a:ext cx="5903336" cy="502537"/>
          </a:xfrm>
          <a:prstGeom prst="rect">
            <a:avLst/>
          </a:prstGeom>
          <a:solidFill>
            <a:srgbClr val="FF993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6772" tIns="63386" rIns="126772" bIns="63386" numCol="1" spcCol="0" rtlCol="0" fromWordArt="0" anchor="ctr" anchorCtr="0" forceAA="0" compatLnSpc="1">
            <a:prstTxWarp prst="textNoShape">
              <a:avLst/>
            </a:prstTxWarp>
            <a:no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1200" b="1">
                <a:solidFill>
                  <a:prstClr val="white"/>
                </a:solidFill>
                <a:latin typeface="Segoe UI"/>
              </a:rPr>
              <a:t>Team 1 Workspace </a:t>
            </a:r>
            <a:endParaRPr kumimoji="0" lang="en-US" sz="1200" b="1" i="0" strike="noStrike" kern="1200" cap="none" spc="0" normalizeH="0" baseline="0" noProof="0">
              <a:ln>
                <a:noFill/>
              </a:ln>
              <a:solidFill>
                <a:prstClr val="white"/>
              </a:solidFill>
              <a:effectLst/>
              <a:uLnTx/>
              <a:uFillTx/>
              <a:latin typeface="Segoe UI"/>
              <a:ea typeface="+mn-ea"/>
              <a:cs typeface="+mn-cs"/>
            </a:endParaRPr>
          </a:p>
        </p:txBody>
      </p:sp>
      <p:sp>
        <p:nvSpPr>
          <p:cNvPr id="451" name="Rectangle 450">
            <a:extLst>
              <a:ext uri="{FF2B5EF4-FFF2-40B4-BE49-F238E27FC236}">
                <a16:creationId xmlns:a16="http://schemas.microsoft.com/office/drawing/2014/main" id="{4674A38B-746B-0251-AE94-C48E34555E71}"/>
              </a:ext>
            </a:extLst>
          </p:cNvPr>
          <p:cNvSpPr/>
          <p:nvPr/>
        </p:nvSpPr>
        <p:spPr>
          <a:xfrm>
            <a:off x="4730492" y="5460950"/>
            <a:ext cx="5903336" cy="1067264"/>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6772" tIns="63386" rIns="126772" bIns="63386" numCol="1" spcCol="0" rtlCol="0" fromWordArt="0" anchor="ctr" anchorCtr="0" forceAA="0" compatLnSpc="1">
            <a:prstTxWarp prst="textNoShape">
              <a:avLst/>
            </a:prstTxWarp>
            <a:no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3330" b="0" i="0" u="none" strike="noStrike" kern="1200" cap="none" spc="0" normalizeH="0" baseline="0" noProof="0">
              <a:ln>
                <a:noFill/>
              </a:ln>
              <a:solidFill>
                <a:prstClr val="white"/>
              </a:solidFill>
              <a:effectLst/>
              <a:uLnTx/>
              <a:uFillTx/>
              <a:latin typeface="Segoe UI"/>
              <a:ea typeface="+mn-ea"/>
              <a:cs typeface="+mn-cs"/>
            </a:endParaRPr>
          </a:p>
        </p:txBody>
      </p:sp>
      <p:pic>
        <p:nvPicPr>
          <p:cNvPr id="457" name="Graphic 456">
            <a:extLst>
              <a:ext uri="{FF2B5EF4-FFF2-40B4-BE49-F238E27FC236}">
                <a16:creationId xmlns:a16="http://schemas.microsoft.com/office/drawing/2014/main" id="{14B3A4C9-23DE-E690-C958-9FF47D6FBF9F}"/>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052694" y="5533633"/>
            <a:ext cx="547776" cy="564895"/>
          </a:xfrm>
          <a:prstGeom prst="rect">
            <a:avLst/>
          </a:prstGeom>
        </p:spPr>
      </p:pic>
      <p:sp>
        <p:nvSpPr>
          <p:cNvPr id="458" name="TextBox 457">
            <a:extLst>
              <a:ext uri="{FF2B5EF4-FFF2-40B4-BE49-F238E27FC236}">
                <a16:creationId xmlns:a16="http://schemas.microsoft.com/office/drawing/2014/main" id="{B3BFA9E4-9A43-AED4-38C0-2A0635F0BB32}"/>
              </a:ext>
            </a:extLst>
          </p:cNvPr>
          <p:cNvSpPr txBox="1"/>
          <p:nvPr/>
        </p:nvSpPr>
        <p:spPr>
          <a:xfrm>
            <a:off x="5718389" y="2857681"/>
            <a:ext cx="1409959" cy="253916"/>
          </a:xfrm>
          <a:prstGeom prst="rect">
            <a:avLst/>
          </a:prstGeom>
          <a:noFill/>
        </p:spPr>
        <p:txBody>
          <a:bodyPr wrap="square"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CA" sz="1050" i="0" u="none" strike="noStrike" kern="1200" cap="none" spc="0" normalizeH="0" baseline="0" noProof="0">
                <a:ln>
                  <a:noFill/>
                </a:ln>
                <a:solidFill>
                  <a:prstClr val="black"/>
                </a:solidFill>
                <a:effectLst/>
                <a:uLnTx/>
                <a:uFillTx/>
                <a:latin typeface="Segoe UI"/>
                <a:ea typeface="+mn-ea"/>
                <a:cs typeface="+mn-cs"/>
              </a:rPr>
              <a:t>Table 1 monitoring</a:t>
            </a:r>
          </a:p>
        </p:txBody>
      </p:sp>
      <p:cxnSp>
        <p:nvCxnSpPr>
          <p:cNvPr id="476" name="Straight Arrow Connector 475">
            <a:extLst>
              <a:ext uri="{FF2B5EF4-FFF2-40B4-BE49-F238E27FC236}">
                <a16:creationId xmlns:a16="http://schemas.microsoft.com/office/drawing/2014/main" id="{C59EFD98-A51B-9174-340B-2C458DD4A7A9}"/>
              </a:ext>
            </a:extLst>
          </p:cNvPr>
          <p:cNvCxnSpPr>
            <a:cxnSpLocks/>
          </p:cNvCxnSpPr>
          <p:nvPr/>
        </p:nvCxnSpPr>
        <p:spPr>
          <a:xfrm flipH="1">
            <a:off x="5050373" y="4132943"/>
            <a:ext cx="2768291" cy="1466947"/>
          </a:xfrm>
          <a:prstGeom prst="straightConnector1">
            <a:avLst/>
          </a:prstGeom>
          <a:ln w="3175">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470" name="Picture 469">
            <a:extLst>
              <a:ext uri="{FF2B5EF4-FFF2-40B4-BE49-F238E27FC236}">
                <a16:creationId xmlns:a16="http://schemas.microsoft.com/office/drawing/2014/main" id="{514035DC-96D9-1C8B-70B0-21CCB0876676}"/>
              </a:ext>
            </a:extLst>
          </p:cNvPr>
          <p:cNvPicPr>
            <a:picLocks noChangeAspect="1"/>
          </p:cNvPicPr>
          <p:nvPr/>
        </p:nvPicPr>
        <p:blipFill>
          <a:blip r:embed="rId7"/>
          <a:stretch>
            <a:fillRect/>
          </a:stretch>
        </p:blipFill>
        <p:spPr>
          <a:xfrm>
            <a:off x="6894512" y="4701566"/>
            <a:ext cx="202517" cy="131477"/>
          </a:xfrm>
          <a:prstGeom prst="rect">
            <a:avLst/>
          </a:prstGeom>
        </p:spPr>
      </p:pic>
      <p:sp>
        <p:nvSpPr>
          <p:cNvPr id="14" name="TextBox 13">
            <a:extLst>
              <a:ext uri="{FF2B5EF4-FFF2-40B4-BE49-F238E27FC236}">
                <a16:creationId xmlns:a16="http://schemas.microsoft.com/office/drawing/2014/main" id="{C90AB229-8CFD-772B-CCC1-D84CCF71566E}"/>
              </a:ext>
            </a:extLst>
          </p:cNvPr>
          <p:cNvSpPr txBox="1"/>
          <p:nvPr/>
        </p:nvSpPr>
        <p:spPr>
          <a:xfrm>
            <a:off x="5600469" y="1992713"/>
            <a:ext cx="6447011" cy="276999"/>
          </a:xfrm>
          <a:prstGeom prst="rect">
            <a:avLst/>
          </a:prstGeom>
          <a:solidFill>
            <a:schemeClr val="bg1">
              <a:lumMod val="50000"/>
            </a:schemeClr>
          </a:solidFill>
        </p:spPr>
        <p:txBody>
          <a:bodyPr wrap="square"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CA" sz="1200" b="1">
                <a:solidFill>
                  <a:schemeClr val="bg1"/>
                </a:solidFill>
                <a:latin typeface="Segoe UI"/>
              </a:rPr>
              <a:t>Monitor</a:t>
            </a:r>
            <a:endParaRPr kumimoji="0" lang="en-CA" sz="1200" b="1" i="0" strike="noStrike" kern="1200" cap="none" spc="0" normalizeH="0" baseline="0" noProof="0">
              <a:ln>
                <a:noFill/>
              </a:ln>
              <a:solidFill>
                <a:schemeClr val="bg1"/>
              </a:solidFill>
              <a:effectLst/>
              <a:uLnTx/>
              <a:uFillTx/>
              <a:latin typeface="Segoe UI"/>
              <a:ea typeface="+mn-ea"/>
              <a:cs typeface="+mn-cs"/>
            </a:endParaRPr>
          </a:p>
        </p:txBody>
      </p:sp>
      <p:pic>
        <p:nvPicPr>
          <p:cNvPr id="16" name="Graphic 15">
            <a:extLst>
              <a:ext uri="{FF2B5EF4-FFF2-40B4-BE49-F238E27FC236}">
                <a16:creationId xmlns:a16="http://schemas.microsoft.com/office/drawing/2014/main" id="{38430947-7347-39A0-EB68-A9135D7BCD51}"/>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246515" y="2520046"/>
            <a:ext cx="846369" cy="872819"/>
          </a:xfrm>
          <a:prstGeom prst="rect">
            <a:avLst/>
          </a:prstGeom>
        </p:spPr>
      </p:pic>
      <p:sp>
        <p:nvSpPr>
          <p:cNvPr id="21" name="TextBox 20">
            <a:extLst>
              <a:ext uri="{FF2B5EF4-FFF2-40B4-BE49-F238E27FC236}">
                <a16:creationId xmlns:a16="http://schemas.microsoft.com/office/drawing/2014/main" id="{3EB2044F-8227-C5A7-182D-1E93CC4DACB8}"/>
              </a:ext>
            </a:extLst>
          </p:cNvPr>
          <p:cNvSpPr txBox="1"/>
          <p:nvPr/>
        </p:nvSpPr>
        <p:spPr>
          <a:xfrm>
            <a:off x="7788030" y="3506742"/>
            <a:ext cx="1677256" cy="253916"/>
          </a:xfrm>
          <a:prstGeom prst="rect">
            <a:avLst/>
          </a:prstGeom>
          <a:noFill/>
        </p:spPr>
        <p:txBody>
          <a:bodyPr wrap="square"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1050" b="1">
                <a:solidFill>
                  <a:prstClr val="black"/>
                </a:solidFill>
                <a:latin typeface="Segoe UI"/>
              </a:rPr>
              <a:t>Gold Lakehouse</a:t>
            </a:r>
            <a:endParaRPr kumimoji="0" lang="en-CA" sz="1050" b="1" i="0" u="none" strike="noStrike" kern="1200" cap="none" spc="0" normalizeH="0" baseline="0" noProof="0">
              <a:ln>
                <a:noFill/>
              </a:ln>
              <a:solidFill>
                <a:prstClr val="black"/>
              </a:solidFill>
              <a:effectLst/>
              <a:uLnTx/>
              <a:uFillTx/>
              <a:latin typeface="Segoe UI"/>
              <a:ea typeface="+mn-ea"/>
              <a:cs typeface="+mn-cs"/>
            </a:endParaRPr>
          </a:p>
        </p:txBody>
      </p:sp>
      <p:pic>
        <p:nvPicPr>
          <p:cNvPr id="24" name="Graphic 23">
            <a:extLst>
              <a:ext uri="{FF2B5EF4-FFF2-40B4-BE49-F238E27FC236}">
                <a16:creationId xmlns:a16="http://schemas.microsoft.com/office/drawing/2014/main" id="{939535B6-7A88-2FC3-7E42-B8062722FCF9}"/>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148383" y="2471029"/>
            <a:ext cx="396077" cy="408454"/>
          </a:xfrm>
          <a:prstGeom prst="rect">
            <a:avLst/>
          </a:prstGeom>
        </p:spPr>
      </p:pic>
      <p:cxnSp>
        <p:nvCxnSpPr>
          <p:cNvPr id="40" name="Straight Arrow Connector 39">
            <a:extLst>
              <a:ext uri="{FF2B5EF4-FFF2-40B4-BE49-F238E27FC236}">
                <a16:creationId xmlns:a16="http://schemas.microsoft.com/office/drawing/2014/main" id="{DCC16DD3-DC86-4903-F9FE-CAA2D99A354D}"/>
              </a:ext>
            </a:extLst>
          </p:cNvPr>
          <p:cNvCxnSpPr>
            <a:cxnSpLocks/>
            <a:endCxn id="63" idx="1"/>
          </p:cNvCxnSpPr>
          <p:nvPr/>
        </p:nvCxnSpPr>
        <p:spPr>
          <a:xfrm flipV="1">
            <a:off x="6618270" y="2640437"/>
            <a:ext cx="1294013" cy="18457"/>
          </a:xfrm>
          <a:prstGeom prst="straightConnector1">
            <a:avLst/>
          </a:prstGeom>
          <a:ln w="3175">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8C246EA6-2525-92B8-571F-9D5978EF0B6B}"/>
              </a:ext>
            </a:extLst>
          </p:cNvPr>
          <p:cNvCxnSpPr>
            <a:cxnSpLocks/>
          </p:cNvCxnSpPr>
          <p:nvPr/>
        </p:nvCxnSpPr>
        <p:spPr>
          <a:xfrm>
            <a:off x="6643090" y="3724588"/>
            <a:ext cx="1175574" cy="141617"/>
          </a:xfrm>
          <a:prstGeom prst="straightConnector1">
            <a:avLst/>
          </a:prstGeom>
          <a:ln w="3175">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46" name="Graphic 45">
            <a:extLst>
              <a:ext uri="{FF2B5EF4-FFF2-40B4-BE49-F238E27FC236}">
                <a16:creationId xmlns:a16="http://schemas.microsoft.com/office/drawing/2014/main" id="{F096C75D-B0D4-F4BB-FA53-2C83359BE0E7}"/>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140222" y="3551415"/>
            <a:ext cx="396077" cy="408454"/>
          </a:xfrm>
          <a:prstGeom prst="rect">
            <a:avLst/>
          </a:prstGeom>
        </p:spPr>
      </p:pic>
      <p:sp>
        <p:nvSpPr>
          <p:cNvPr id="47" name="TextBox 46">
            <a:extLst>
              <a:ext uri="{FF2B5EF4-FFF2-40B4-BE49-F238E27FC236}">
                <a16:creationId xmlns:a16="http://schemas.microsoft.com/office/drawing/2014/main" id="{ED4B6016-1964-5CBA-E632-1471F6F4CE2D}"/>
              </a:ext>
            </a:extLst>
          </p:cNvPr>
          <p:cNvSpPr txBox="1"/>
          <p:nvPr/>
        </p:nvSpPr>
        <p:spPr>
          <a:xfrm>
            <a:off x="4636925" y="6112716"/>
            <a:ext cx="1409959" cy="415498"/>
          </a:xfrm>
          <a:prstGeom prst="rect">
            <a:avLst/>
          </a:prstGeom>
          <a:noFill/>
        </p:spPr>
        <p:txBody>
          <a:bodyPr wrap="square"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CA" sz="1050">
                <a:solidFill>
                  <a:prstClr val="black"/>
                </a:solidFill>
                <a:latin typeface="Segoe UI"/>
              </a:rPr>
              <a:t>User Lakehouse 1</a:t>
            </a:r>
          </a:p>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CA" sz="1050" i="0" u="none" strike="noStrike" kern="1200" cap="none" spc="0" normalizeH="0" baseline="0" noProof="0">
                <a:ln>
                  <a:noFill/>
                </a:ln>
                <a:solidFill>
                  <a:prstClr val="black"/>
                </a:solidFill>
                <a:effectLst/>
                <a:uLnTx/>
                <a:uFillTx/>
                <a:latin typeface="Segoe UI"/>
                <a:ea typeface="+mn-ea"/>
                <a:cs typeface="+mn-cs"/>
              </a:rPr>
              <a:t>+ BYOD</a:t>
            </a:r>
          </a:p>
        </p:txBody>
      </p:sp>
      <p:sp>
        <p:nvSpPr>
          <p:cNvPr id="49" name="TextBox 48">
            <a:extLst>
              <a:ext uri="{FF2B5EF4-FFF2-40B4-BE49-F238E27FC236}">
                <a16:creationId xmlns:a16="http://schemas.microsoft.com/office/drawing/2014/main" id="{C7854FD5-0D4B-4B05-0D2F-F12361526755}"/>
              </a:ext>
            </a:extLst>
          </p:cNvPr>
          <p:cNvSpPr txBox="1"/>
          <p:nvPr/>
        </p:nvSpPr>
        <p:spPr>
          <a:xfrm>
            <a:off x="5641997" y="3968239"/>
            <a:ext cx="1409959" cy="415498"/>
          </a:xfrm>
          <a:prstGeom prst="rect">
            <a:avLst/>
          </a:prstGeom>
          <a:noFill/>
        </p:spPr>
        <p:txBody>
          <a:bodyPr wrap="square"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CA" sz="1050">
                <a:solidFill>
                  <a:prstClr val="black"/>
                </a:solidFill>
                <a:latin typeface="Segoe UI"/>
              </a:rPr>
              <a:t>Gold </a:t>
            </a:r>
            <a:r>
              <a:rPr kumimoji="0" lang="en-CA" sz="1050" i="0" u="none" strike="noStrike" kern="1200" cap="none" spc="0" normalizeH="0" baseline="0" noProof="0">
                <a:ln>
                  <a:noFill/>
                </a:ln>
                <a:solidFill>
                  <a:prstClr val="black"/>
                </a:solidFill>
                <a:effectLst/>
                <a:uLnTx/>
                <a:uFillTx/>
                <a:latin typeface="Segoe UI"/>
                <a:ea typeface="+mn-ea"/>
                <a:cs typeface="+mn-cs"/>
              </a:rPr>
              <a:t>Lakehouse monitoring</a:t>
            </a:r>
          </a:p>
        </p:txBody>
      </p:sp>
      <p:pic>
        <p:nvPicPr>
          <p:cNvPr id="57" name="Picture 26" descr="Seo report Special Flat icon">
            <a:extLst>
              <a:ext uri="{FF2B5EF4-FFF2-40B4-BE49-F238E27FC236}">
                <a16:creationId xmlns:a16="http://schemas.microsoft.com/office/drawing/2014/main" id="{2C3E60CC-9262-3EA9-CD81-18666F892826}"/>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8271724" y="4166483"/>
            <a:ext cx="709867" cy="757673"/>
          </a:xfrm>
          <a:prstGeom prst="rect">
            <a:avLst/>
          </a:prstGeom>
          <a:noFill/>
          <a:extLst>
            <a:ext uri="{909E8E84-426E-40DD-AFC4-6F175D3DCCD1}">
              <a14:hiddenFill xmlns:a14="http://schemas.microsoft.com/office/drawing/2010/main">
                <a:solidFill>
                  <a:srgbClr val="FFFFFF"/>
                </a:solidFill>
              </a14:hiddenFill>
            </a:ext>
          </a:extLst>
        </p:spPr>
      </p:pic>
      <p:sp>
        <p:nvSpPr>
          <p:cNvPr id="58" name="Right Brace 57">
            <a:extLst>
              <a:ext uri="{FF2B5EF4-FFF2-40B4-BE49-F238E27FC236}">
                <a16:creationId xmlns:a16="http://schemas.microsoft.com/office/drawing/2014/main" id="{4DBC77A9-F002-DD35-E127-13B97876AA6F}"/>
              </a:ext>
            </a:extLst>
          </p:cNvPr>
          <p:cNvSpPr/>
          <p:nvPr/>
        </p:nvSpPr>
        <p:spPr>
          <a:xfrm rot="5400000">
            <a:off x="8444302" y="3230290"/>
            <a:ext cx="395346" cy="140996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A"/>
          </a:p>
        </p:txBody>
      </p:sp>
      <p:pic>
        <p:nvPicPr>
          <p:cNvPr id="63" name="Picture 62">
            <a:extLst>
              <a:ext uri="{FF2B5EF4-FFF2-40B4-BE49-F238E27FC236}">
                <a16:creationId xmlns:a16="http://schemas.microsoft.com/office/drawing/2014/main" id="{AF645C4B-4947-8047-1AE2-A81C8CE9B6BD}"/>
              </a:ext>
            </a:extLst>
          </p:cNvPr>
          <p:cNvPicPr>
            <a:picLocks noChangeAspect="1"/>
          </p:cNvPicPr>
          <p:nvPr/>
        </p:nvPicPr>
        <p:blipFill>
          <a:blip r:embed="rId11"/>
          <a:stretch>
            <a:fillRect/>
          </a:stretch>
        </p:blipFill>
        <p:spPr>
          <a:xfrm flipV="1">
            <a:off x="7912283" y="2401392"/>
            <a:ext cx="412964" cy="478091"/>
          </a:xfrm>
          <a:prstGeom prst="rect">
            <a:avLst/>
          </a:prstGeom>
        </p:spPr>
      </p:pic>
      <p:pic>
        <p:nvPicPr>
          <p:cNvPr id="461" name="Picture 460">
            <a:extLst>
              <a:ext uri="{FF2B5EF4-FFF2-40B4-BE49-F238E27FC236}">
                <a16:creationId xmlns:a16="http://schemas.microsoft.com/office/drawing/2014/main" id="{D350599F-CB0D-1987-EAD4-CE6EEBC15D4D}"/>
              </a:ext>
            </a:extLst>
          </p:cNvPr>
          <p:cNvPicPr>
            <a:picLocks noChangeAspect="1"/>
          </p:cNvPicPr>
          <p:nvPr/>
        </p:nvPicPr>
        <p:blipFill>
          <a:blip r:embed="rId12"/>
          <a:stretch>
            <a:fillRect/>
          </a:stretch>
        </p:blipFill>
        <p:spPr>
          <a:xfrm>
            <a:off x="9770086" y="2565017"/>
            <a:ext cx="502948" cy="495515"/>
          </a:xfrm>
          <a:prstGeom prst="rect">
            <a:avLst/>
          </a:prstGeom>
        </p:spPr>
      </p:pic>
      <p:sp>
        <p:nvSpPr>
          <p:cNvPr id="462" name="TextBox 461">
            <a:extLst>
              <a:ext uri="{FF2B5EF4-FFF2-40B4-BE49-F238E27FC236}">
                <a16:creationId xmlns:a16="http://schemas.microsoft.com/office/drawing/2014/main" id="{D82B165A-127C-2D88-33B2-523A473B2258}"/>
              </a:ext>
            </a:extLst>
          </p:cNvPr>
          <p:cNvSpPr txBox="1"/>
          <p:nvPr/>
        </p:nvSpPr>
        <p:spPr>
          <a:xfrm>
            <a:off x="9617915" y="3166893"/>
            <a:ext cx="953430" cy="415498"/>
          </a:xfrm>
          <a:prstGeom prst="rect">
            <a:avLst/>
          </a:prstGeom>
          <a:noFill/>
        </p:spPr>
        <p:txBody>
          <a:bodyPr wrap="square"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1050" b="1">
                <a:solidFill>
                  <a:prstClr val="black"/>
                </a:solidFill>
                <a:latin typeface="Segoe UI"/>
              </a:rPr>
              <a:t>Monitoring Lakehouse</a:t>
            </a:r>
            <a:endParaRPr kumimoji="0" lang="en-CA" sz="1050" b="1" i="0" u="none" strike="noStrike" kern="1200" cap="none" spc="0" normalizeH="0" baseline="0" noProof="0">
              <a:ln>
                <a:noFill/>
              </a:ln>
              <a:solidFill>
                <a:prstClr val="black"/>
              </a:solidFill>
              <a:effectLst/>
              <a:uLnTx/>
              <a:uFillTx/>
              <a:latin typeface="Segoe UI"/>
              <a:ea typeface="+mn-ea"/>
              <a:cs typeface="+mn-cs"/>
            </a:endParaRPr>
          </a:p>
        </p:txBody>
      </p:sp>
      <p:pic>
        <p:nvPicPr>
          <p:cNvPr id="469" name="Graphic 468">
            <a:extLst>
              <a:ext uri="{FF2B5EF4-FFF2-40B4-BE49-F238E27FC236}">
                <a16:creationId xmlns:a16="http://schemas.microsoft.com/office/drawing/2014/main" id="{178EC3AD-A093-CA16-A8A4-780540839395}"/>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476647" y="5530966"/>
            <a:ext cx="547776" cy="564895"/>
          </a:xfrm>
          <a:prstGeom prst="rect">
            <a:avLst/>
          </a:prstGeom>
        </p:spPr>
      </p:pic>
      <p:sp>
        <p:nvSpPr>
          <p:cNvPr id="472" name="TextBox 471">
            <a:extLst>
              <a:ext uri="{FF2B5EF4-FFF2-40B4-BE49-F238E27FC236}">
                <a16:creationId xmlns:a16="http://schemas.microsoft.com/office/drawing/2014/main" id="{C2D8D42A-DDC4-E3A7-ED75-7FFF9F11020C}"/>
              </a:ext>
            </a:extLst>
          </p:cNvPr>
          <p:cNvSpPr txBox="1"/>
          <p:nvPr/>
        </p:nvSpPr>
        <p:spPr>
          <a:xfrm>
            <a:off x="6029069" y="6141390"/>
            <a:ext cx="1409959" cy="415498"/>
          </a:xfrm>
          <a:prstGeom prst="rect">
            <a:avLst/>
          </a:prstGeom>
          <a:noFill/>
        </p:spPr>
        <p:txBody>
          <a:bodyPr wrap="square"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CA" sz="1050">
                <a:solidFill>
                  <a:prstClr val="black"/>
                </a:solidFill>
                <a:latin typeface="Segoe UI"/>
              </a:rPr>
              <a:t>Monitoring Lakehouse</a:t>
            </a:r>
          </a:p>
        </p:txBody>
      </p:sp>
      <p:cxnSp>
        <p:nvCxnSpPr>
          <p:cNvPr id="473" name="Straight Arrow Connector 472">
            <a:extLst>
              <a:ext uri="{FF2B5EF4-FFF2-40B4-BE49-F238E27FC236}">
                <a16:creationId xmlns:a16="http://schemas.microsoft.com/office/drawing/2014/main" id="{7A12FEE1-18DF-0171-D5AF-BD1F124EF343}"/>
              </a:ext>
            </a:extLst>
          </p:cNvPr>
          <p:cNvCxnSpPr>
            <a:cxnSpLocks/>
          </p:cNvCxnSpPr>
          <p:nvPr/>
        </p:nvCxnSpPr>
        <p:spPr>
          <a:xfrm>
            <a:off x="5840296" y="5941677"/>
            <a:ext cx="377546" cy="0"/>
          </a:xfrm>
          <a:prstGeom prst="straightConnector1">
            <a:avLst/>
          </a:prstGeom>
          <a:ln w="3175">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474" name="Picture 473">
            <a:extLst>
              <a:ext uri="{FF2B5EF4-FFF2-40B4-BE49-F238E27FC236}">
                <a16:creationId xmlns:a16="http://schemas.microsoft.com/office/drawing/2014/main" id="{A4DFCDC9-344F-33E4-56F8-2208C173B0FA}"/>
              </a:ext>
            </a:extLst>
          </p:cNvPr>
          <p:cNvPicPr>
            <a:picLocks noChangeAspect="1"/>
          </p:cNvPicPr>
          <p:nvPr/>
        </p:nvPicPr>
        <p:blipFill>
          <a:blip r:embed="rId12"/>
          <a:stretch>
            <a:fillRect/>
          </a:stretch>
        </p:blipFill>
        <p:spPr>
          <a:xfrm>
            <a:off x="7743567" y="5693919"/>
            <a:ext cx="502948" cy="495515"/>
          </a:xfrm>
          <a:prstGeom prst="rect">
            <a:avLst/>
          </a:prstGeom>
        </p:spPr>
      </p:pic>
      <p:cxnSp>
        <p:nvCxnSpPr>
          <p:cNvPr id="475" name="Straight Arrow Connector 474">
            <a:extLst>
              <a:ext uri="{FF2B5EF4-FFF2-40B4-BE49-F238E27FC236}">
                <a16:creationId xmlns:a16="http://schemas.microsoft.com/office/drawing/2014/main" id="{AFC1371A-77BF-6BDD-7C07-32E0B50D705C}"/>
              </a:ext>
            </a:extLst>
          </p:cNvPr>
          <p:cNvCxnSpPr>
            <a:cxnSpLocks/>
          </p:cNvCxnSpPr>
          <p:nvPr/>
        </p:nvCxnSpPr>
        <p:spPr>
          <a:xfrm>
            <a:off x="7193241" y="5904776"/>
            <a:ext cx="377546" cy="0"/>
          </a:xfrm>
          <a:prstGeom prst="straightConnector1">
            <a:avLst/>
          </a:prstGeom>
          <a:ln w="3175">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477" name="Picture 476">
            <a:extLst>
              <a:ext uri="{FF2B5EF4-FFF2-40B4-BE49-F238E27FC236}">
                <a16:creationId xmlns:a16="http://schemas.microsoft.com/office/drawing/2014/main" id="{50AAE640-2455-143B-C203-3C864ADBD353}"/>
              </a:ext>
            </a:extLst>
          </p:cNvPr>
          <p:cNvPicPr>
            <a:picLocks noChangeAspect="1"/>
          </p:cNvPicPr>
          <p:nvPr/>
        </p:nvPicPr>
        <p:blipFill>
          <a:blip r:embed="rId13"/>
          <a:stretch>
            <a:fillRect/>
          </a:stretch>
        </p:blipFill>
        <p:spPr>
          <a:xfrm>
            <a:off x="8831172" y="5599890"/>
            <a:ext cx="604745" cy="620659"/>
          </a:xfrm>
          <a:prstGeom prst="rect">
            <a:avLst/>
          </a:prstGeom>
        </p:spPr>
      </p:pic>
      <p:cxnSp>
        <p:nvCxnSpPr>
          <p:cNvPr id="479" name="Straight Arrow Connector 478">
            <a:extLst>
              <a:ext uri="{FF2B5EF4-FFF2-40B4-BE49-F238E27FC236}">
                <a16:creationId xmlns:a16="http://schemas.microsoft.com/office/drawing/2014/main" id="{7A59D0DA-4DD6-7728-F5F0-64F4AEA5FD3A}"/>
              </a:ext>
            </a:extLst>
          </p:cNvPr>
          <p:cNvCxnSpPr>
            <a:cxnSpLocks/>
          </p:cNvCxnSpPr>
          <p:nvPr/>
        </p:nvCxnSpPr>
        <p:spPr>
          <a:xfrm>
            <a:off x="8357295" y="5904776"/>
            <a:ext cx="377546" cy="0"/>
          </a:xfrm>
          <a:prstGeom prst="straightConnector1">
            <a:avLst/>
          </a:prstGeom>
          <a:ln w="3175">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86" name="Straight Arrow Connector 485">
            <a:extLst>
              <a:ext uri="{FF2B5EF4-FFF2-40B4-BE49-F238E27FC236}">
                <a16:creationId xmlns:a16="http://schemas.microsoft.com/office/drawing/2014/main" id="{E7F34F0E-9E15-6868-7239-9743A2D6604D}"/>
              </a:ext>
            </a:extLst>
          </p:cNvPr>
          <p:cNvCxnSpPr>
            <a:cxnSpLocks/>
          </p:cNvCxnSpPr>
          <p:nvPr/>
        </p:nvCxnSpPr>
        <p:spPr>
          <a:xfrm>
            <a:off x="9187335" y="2826635"/>
            <a:ext cx="402206" cy="8904"/>
          </a:xfrm>
          <a:prstGeom prst="straightConnector1">
            <a:avLst/>
          </a:prstGeom>
          <a:ln w="3175">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88" name="Straight Arrow Connector 487">
            <a:extLst>
              <a:ext uri="{FF2B5EF4-FFF2-40B4-BE49-F238E27FC236}">
                <a16:creationId xmlns:a16="http://schemas.microsoft.com/office/drawing/2014/main" id="{4A3D9694-05DA-02FA-C91D-DEDE9929F0A3}"/>
              </a:ext>
            </a:extLst>
          </p:cNvPr>
          <p:cNvCxnSpPr>
            <a:cxnSpLocks/>
          </p:cNvCxnSpPr>
          <p:nvPr/>
        </p:nvCxnSpPr>
        <p:spPr>
          <a:xfrm>
            <a:off x="10373017" y="2802313"/>
            <a:ext cx="505330" cy="10461"/>
          </a:xfrm>
          <a:prstGeom prst="straightConnector1">
            <a:avLst/>
          </a:prstGeom>
          <a:ln w="3175">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494" name="Picture 493">
            <a:extLst>
              <a:ext uri="{FF2B5EF4-FFF2-40B4-BE49-F238E27FC236}">
                <a16:creationId xmlns:a16="http://schemas.microsoft.com/office/drawing/2014/main" id="{6B3E009D-8BAB-DD46-A0BE-37D45C3F3EF6}"/>
              </a:ext>
            </a:extLst>
          </p:cNvPr>
          <p:cNvPicPr>
            <a:picLocks noChangeAspect="1"/>
          </p:cNvPicPr>
          <p:nvPr/>
        </p:nvPicPr>
        <p:blipFill>
          <a:blip r:embed="rId14"/>
          <a:stretch>
            <a:fillRect/>
          </a:stretch>
        </p:blipFill>
        <p:spPr>
          <a:xfrm>
            <a:off x="11262415" y="2326538"/>
            <a:ext cx="502947" cy="562118"/>
          </a:xfrm>
          <a:prstGeom prst="rect">
            <a:avLst/>
          </a:prstGeom>
        </p:spPr>
      </p:pic>
      <p:pic>
        <p:nvPicPr>
          <p:cNvPr id="495" name="Picture 494">
            <a:extLst>
              <a:ext uri="{FF2B5EF4-FFF2-40B4-BE49-F238E27FC236}">
                <a16:creationId xmlns:a16="http://schemas.microsoft.com/office/drawing/2014/main" id="{CBC58270-4F23-D577-1A44-8A9788783B23}"/>
              </a:ext>
            </a:extLst>
          </p:cNvPr>
          <p:cNvPicPr>
            <a:picLocks noChangeAspect="1"/>
          </p:cNvPicPr>
          <p:nvPr/>
        </p:nvPicPr>
        <p:blipFill>
          <a:blip r:embed="rId13"/>
          <a:stretch>
            <a:fillRect/>
          </a:stretch>
        </p:blipFill>
        <p:spPr>
          <a:xfrm>
            <a:off x="11259728" y="3053134"/>
            <a:ext cx="493905" cy="506902"/>
          </a:xfrm>
          <a:prstGeom prst="rect">
            <a:avLst/>
          </a:prstGeom>
        </p:spPr>
      </p:pic>
      <p:sp>
        <p:nvSpPr>
          <p:cNvPr id="498" name="TextBox 497">
            <a:extLst>
              <a:ext uri="{FF2B5EF4-FFF2-40B4-BE49-F238E27FC236}">
                <a16:creationId xmlns:a16="http://schemas.microsoft.com/office/drawing/2014/main" id="{C000C279-16E4-0F04-0518-A947FD1AC375}"/>
              </a:ext>
            </a:extLst>
          </p:cNvPr>
          <p:cNvSpPr txBox="1"/>
          <p:nvPr/>
        </p:nvSpPr>
        <p:spPr>
          <a:xfrm>
            <a:off x="2748538" y="2000035"/>
            <a:ext cx="2794661" cy="276999"/>
          </a:xfrm>
          <a:prstGeom prst="rect">
            <a:avLst/>
          </a:prstGeom>
          <a:solidFill>
            <a:schemeClr val="bg1">
              <a:lumMod val="50000"/>
            </a:schemeClr>
          </a:solidFill>
        </p:spPr>
        <p:txBody>
          <a:bodyPr wrap="square"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CA" sz="1200" b="1" i="0" strike="noStrike" kern="1200" cap="none" spc="0" normalizeH="0" baseline="0" noProof="0">
                <a:ln>
                  <a:noFill/>
                </a:ln>
                <a:solidFill>
                  <a:schemeClr val="bg1"/>
                </a:solidFill>
                <a:effectLst/>
                <a:uLnTx/>
                <a:uFillTx/>
                <a:latin typeface="Segoe UI"/>
                <a:ea typeface="+mn-ea"/>
                <a:cs typeface="+mn-cs"/>
              </a:rPr>
              <a:t>…</a:t>
            </a:r>
          </a:p>
        </p:txBody>
      </p:sp>
    </p:spTree>
    <p:extLst>
      <p:ext uri="{BB962C8B-B14F-4D97-AF65-F5344CB8AC3E}">
        <p14:creationId xmlns:p14="http://schemas.microsoft.com/office/powerpoint/2010/main" val="19102835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992587-52A3-6B6C-F084-9C4A139C89CF}"/>
              </a:ext>
            </a:extLst>
          </p:cNvPr>
          <p:cNvSpPr txBox="1">
            <a:spLocks/>
          </p:cNvSpPr>
          <p:nvPr/>
        </p:nvSpPr>
        <p:spPr>
          <a:xfrm>
            <a:off x="612373" y="275222"/>
            <a:ext cx="10800000" cy="717269"/>
          </a:xfrm>
          <a:prstGeom prst="rect">
            <a:avLst/>
          </a:prstGeom>
        </p:spPr>
        <p:txBody>
          <a:bodyPr anchor="b">
            <a:normAutofit/>
          </a:bodyPr>
          <a:lstStyle>
            <a:lvl1pPr algn="l" defTabSz="914377" rtl="0" eaLnBrk="1" latinLnBrk="0" hangingPunct="1">
              <a:lnSpc>
                <a:spcPct val="90000"/>
              </a:lnSpc>
              <a:spcBef>
                <a:spcPct val="0"/>
              </a:spcBef>
              <a:buNone/>
              <a:defRPr sz="4000" u="none" kern="1200" spc="-100" baseline="0">
                <a:solidFill>
                  <a:schemeClr val="accent6"/>
                </a:solidFill>
                <a:uFill>
                  <a:solidFill>
                    <a:schemeClr val="tx2">
                      <a:lumMod val="60000"/>
                      <a:lumOff val="40000"/>
                    </a:schemeClr>
                  </a:solidFill>
                </a:uFill>
                <a:latin typeface="+mj-lt"/>
                <a:ea typeface="Segoe UI Black" panose="020B0A02040204020203" pitchFamily="34" charset="0"/>
                <a:cs typeface="Segoe UI Light" panose="020B0502040204020203" pitchFamily="34" charset="0"/>
              </a:defRPr>
            </a:lvl1pPr>
          </a:lstStyle>
          <a:p>
            <a:pPr marL="0" marR="0" lvl="0" indent="0" algn="ctr" defTabSz="914377" rtl="0" eaLnBrk="1" fontAlgn="auto" latinLnBrk="0" hangingPunct="1">
              <a:lnSpc>
                <a:spcPct val="90000"/>
              </a:lnSpc>
              <a:spcBef>
                <a:spcPct val="0"/>
              </a:spcBef>
              <a:spcAft>
                <a:spcPts val="0"/>
              </a:spcAft>
              <a:buClrTx/>
              <a:buSzTx/>
              <a:buFontTx/>
              <a:buNone/>
              <a:tabLst/>
              <a:defRPr/>
            </a:pPr>
            <a:r>
              <a:rPr kumimoji="0" lang="en-US" sz="4000" b="0" i="0" u="none" strike="noStrike" kern="1200" cap="none" spc="-100" normalizeH="0" baseline="0" noProof="0" dirty="0">
                <a:ln>
                  <a:noFill/>
                </a:ln>
                <a:solidFill>
                  <a:srgbClr val="31849B"/>
                </a:solidFill>
                <a:effectLst/>
                <a:uLnTx/>
                <a:uFill>
                  <a:solidFill>
                    <a:srgbClr val="1F497D">
                      <a:lumMod val="60000"/>
                      <a:lumOff val="40000"/>
                    </a:srgbClr>
                  </a:solidFill>
                </a:uFill>
                <a:latin typeface="Segoe UI Semibold"/>
                <a:ea typeface="Segoe UI Black" panose="020B0A02040204020203" pitchFamily="34" charset="0"/>
                <a:cs typeface="Segoe UI Light" panose="020B0502040204020203" pitchFamily="34" charset="0"/>
              </a:rPr>
              <a:t>Data Profiling : Across Triton Workspaces</a:t>
            </a:r>
          </a:p>
        </p:txBody>
      </p:sp>
      <p:pic>
        <p:nvPicPr>
          <p:cNvPr id="6" name="Picture 5">
            <a:extLst>
              <a:ext uri="{FF2B5EF4-FFF2-40B4-BE49-F238E27FC236}">
                <a16:creationId xmlns:a16="http://schemas.microsoft.com/office/drawing/2014/main" id="{356F75B5-9C14-3B37-5383-6FB077F179D2}"/>
              </a:ext>
            </a:extLst>
          </p:cNvPr>
          <p:cNvPicPr>
            <a:picLocks noChangeAspect="1"/>
          </p:cNvPicPr>
          <p:nvPr/>
        </p:nvPicPr>
        <p:blipFill>
          <a:blip r:embed="rId3"/>
          <a:stretch>
            <a:fillRect/>
          </a:stretch>
        </p:blipFill>
        <p:spPr>
          <a:xfrm>
            <a:off x="3660057" y="3575156"/>
            <a:ext cx="8374288" cy="3130260"/>
          </a:xfrm>
          <a:prstGeom prst="rect">
            <a:avLst/>
          </a:prstGeom>
        </p:spPr>
      </p:pic>
      <p:pic>
        <p:nvPicPr>
          <p:cNvPr id="4" name="Picture 3">
            <a:extLst>
              <a:ext uri="{FF2B5EF4-FFF2-40B4-BE49-F238E27FC236}">
                <a16:creationId xmlns:a16="http://schemas.microsoft.com/office/drawing/2014/main" id="{0EFCF520-486C-3EE6-77B4-3A498DF7A877}"/>
              </a:ext>
            </a:extLst>
          </p:cNvPr>
          <p:cNvPicPr>
            <a:picLocks noChangeAspect="1"/>
          </p:cNvPicPr>
          <p:nvPr/>
        </p:nvPicPr>
        <p:blipFill>
          <a:blip r:embed="rId4"/>
          <a:stretch>
            <a:fillRect/>
          </a:stretch>
        </p:blipFill>
        <p:spPr>
          <a:xfrm>
            <a:off x="238891" y="1069765"/>
            <a:ext cx="6908143" cy="3869333"/>
          </a:xfrm>
          <a:prstGeom prst="rect">
            <a:avLst/>
          </a:prstGeom>
        </p:spPr>
      </p:pic>
      <p:sp>
        <p:nvSpPr>
          <p:cNvPr id="7" name="TextBox 6">
            <a:extLst>
              <a:ext uri="{FF2B5EF4-FFF2-40B4-BE49-F238E27FC236}">
                <a16:creationId xmlns:a16="http://schemas.microsoft.com/office/drawing/2014/main" id="{1AA3A060-079E-5AFD-EE3D-BA289622227D}"/>
              </a:ext>
            </a:extLst>
          </p:cNvPr>
          <p:cNvSpPr txBox="1"/>
          <p:nvPr/>
        </p:nvSpPr>
        <p:spPr>
          <a:xfrm>
            <a:off x="7333374" y="1689912"/>
            <a:ext cx="4700971" cy="923330"/>
          </a:xfrm>
          <a:prstGeom prst="rect">
            <a:avLst/>
          </a:prstGeom>
          <a:noFill/>
        </p:spPr>
        <p:txBody>
          <a:bodyPr wrap="square" rtlCol="0">
            <a:spAutoFit/>
          </a:bodyPr>
          <a:lstStyle/>
          <a:p>
            <a:pPr marL="285750" marR="0" lvl="0" indent="-285750" defTabSz="914377"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i="0" strike="noStrike" kern="1200" cap="none" spc="0" normalizeH="0" baseline="0" noProof="0">
                <a:ln>
                  <a:noFill/>
                </a:ln>
                <a:solidFill>
                  <a:prstClr val="black"/>
                </a:solidFill>
                <a:effectLst/>
                <a:uLnTx/>
                <a:uFillTx/>
                <a:latin typeface="Segoe UI"/>
                <a:ea typeface="+mn-ea"/>
                <a:cs typeface="+mn-cs"/>
              </a:rPr>
              <a:t>Run</a:t>
            </a:r>
            <a:r>
              <a:rPr kumimoji="0" lang="en-US" b="1" i="0" strike="noStrike" kern="1200" cap="none" spc="0" normalizeH="0" baseline="0" noProof="0">
                <a:ln>
                  <a:noFill/>
                </a:ln>
                <a:solidFill>
                  <a:prstClr val="black"/>
                </a:solidFill>
                <a:effectLst/>
                <a:uLnTx/>
                <a:uFillTx/>
                <a:latin typeface="Segoe UI"/>
                <a:ea typeface="+mn-ea"/>
                <a:cs typeface="+mn-cs"/>
              </a:rPr>
              <a:t> </a:t>
            </a:r>
            <a:r>
              <a:rPr kumimoji="0" lang="en-US" b="1" i="0" strike="noStrike" kern="1200" cap="none" spc="0" normalizeH="0" baseline="0" noProof="0">
                <a:ln>
                  <a:noFill/>
                </a:ln>
                <a:solidFill>
                  <a:srgbClr val="0070C0"/>
                </a:solidFill>
                <a:effectLst/>
                <a:uLnTx/>
                <a:uFillTx/>
                <a:latin typeface="Segoe UI"/>
                <a:ea typeface="+mn-ea"/>
                <a:cs typeface="+mn-cs"/>
              </a:rPr>
              <a:t>periodic </a:t>
            </a:r>
            <a:r>
              <a:rPr lang="en-US" b="1">
                <a:solidFill>
                  <a:srgbClr val="0070C0"/>
                </a:solidFill>
                <a:latin typeface="Segoe UI"/>
              </a:rPr>
              <a:t>s</a:t>
            </a:r>
            <a:r>
              <a:rPr kumimoji="0" lang="en-US" b="1" i="0" strike="noStrike" kern="1200" cap="none" spc="0" normalizeH="0" baseline="0" noProof="0">
                <a:ln>
                  <a:noFill/>
                </a:ln>
                <a:solidFill>
                  <a:srgbClr val="0070C0"/>
                </a:solidFill>
                <a:effectLst/>
                <a:uLnTx/>
                <a:uFillTx/>
                <a:latin typeface="Segoe UI"/>
                <a:ea typeface="+mn-ea"/>
                <a:cs typeface="+mn-cs"/>
              </a:rPr>
              <a:t>cans </a:t>
            </a:r>
            <a:r>
              <a:rPr kumimoji="0" lang="en-US" i="0" strike="noStrike" kern="1200" cap="none" spc="0" normalizeH="0" baseline="0" noProof="0">
                <a:ln>
                  <a:noFill/>
                </a:ln>
                <a:solidFill>
                  <a:prstClr val="black"/>
                </a:solidFill>
                <a:effectLst/>
                <a:uLnTx/>
                <a:uFillTx/>
                <a:latin typeface="Segoe UI"/>
                <a:ea typeface="+mn-ea"/>
                <a:cs typeface="+mn-cs"/>
              </a:rPr>
              <a:t>across workspaces</a:t>
            </a:r>
          </a:p>
          <a:p>
            <a:pPr marL="285750" marR="0" lvl="0" indent="-285750" defTabSz="914377"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i="0" strike="noStrike" kern="1200" cap="none" spc="0" normalizeH="0" baseline="0" noProof="0">
                <a:ln>
                  <a:noFill/>
                </a:ln>
                <a:solidFill>
                  <a:prstClr val="black"/>
                </a:solidFill>
                <a:effectLst/>
                <a:uLnTx/>
                <a:uFillTx/>
                <a:latin typeface="Segoe UI"/>
                <a:ea typeface="+mn-ea"/>
                <a:cs typeface="+mn-cs"/>
              </a:rPr>
              <a:t>Gather metadata and create </a:t>
            </a:r>
            <a:r>
              <a:rPr kumimoji="0" lang="en-US" b="1" i="0" strike="noStrike" kern="1200" cap="none" spc="0" normalizeH="0" baseline="0" noProof="0">
                <a:ln>
                  <a:noFill/>
                </a:ln>
                <a:solidFill>
                  <a:srgbClr val="0070C0"/>
                </a:solidFill>
                <a:effectLst/>
                <a:uLnTx/>
                <a:uFillTx/>
                <a:latin typeface="Segoe UI"/>
                <a:ea typeface="+mn-ea"/>
                <a:cs typeface="+mn-cs"/>
              </a:rPr>
              <a:t>Data Profile</a:t>
            </a:r>
            <a:endParaRPr lang="en-US">
              <a:solidFill>
                <a:prstClr val="black"/>
              </a:solidFill>
              <a:latin typeface="Segoe UI"/>
            </a:endParaRPr>
          </a:p>
          <a:p>
            <a:pPr marL="285750" marR="0" lvl="0" indent="-285750" defTabSz="914377"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i="0" strike="noStrike" kern="1200" cap="none" spc="0" normalizeH="0" baseline="0" noProof="0">
                <a:ln>
                  <a:noFill/>
                </a:ln>
                <a:solidFill>
                  <a:prstClr val="black"/>
                </a:solidFill>
                <a:effectLst/>
                <a:uLnTx/>
                <a:uFillTx/>
                <a:latin typeface="Segoe UI"/>
                <a:ea typeface="+mn-ea"/>
                <a:cs typeface="+mn-cs"/>
              </a:rPr>
              <a:t>Execute custom rules for </a:t>
            </a:r>
            <a:r>
              <a:rPr kumimoji="0" lang="en-US" b="1" i="0" strike="noStrike" kern="1200" cap="none" spc="0" normalizeH="0" baseline="0" noProof="0">
                <a:ln>
                  <a:noFill/>
                </a:ln>
                <a:solidFill>
                  <a:srgbClr val="0070C0"/>
                </a:solidFill>
                <a:effectLst/>
                <a:uLnTx/>
                <a:uFillTx/>
                <a:latin typeface="Segoe UI"/>
                <a:ea typeface="+mn-ea"/>
                <a:cs typeface="+mn-cs"/>
              </a:rPr>
              <a:t>Data Quality</a:t>
            </a:r>
            <a:endParaRPr kumimoji="0" lang="en-CA" b="1" i="0" strike="noStrike" kern="1200" cap="none" spc="0" normalizeH="0" baseline="0" noProof="0">
              <a:ln>
                <a:noFill/>
              </a:ln>
              <a:solidFill>
                <a:srgbClr val="0070C0"/>
              </a:solidFill>
              <a:effectLst/>
              <a:uLnTx/>
              <a:uFillTx/>
              <a:latin typeface="Segoe UI"/>
              <a:ea typeface="+mn-ea"/>
              <a:cs typeface="+mn-cs"/>
            </a:endParaRPr>
          </a:p>
        </p:txBody>
      </p:sp>
    </p:spTree>
    <p:extLst>
      <p:ext uri="{BB962C8B-B14F-4D97-AF65-F5344CB8AC3E}">
        <p14:creationId xmlns:p14="http://schemas.microsoft.com/office/powerpoint/2010/main" val="34910929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7FD6671-DA14-9906-16F9-EDF072439D9F}"/>
              </a:ext>
            </a:extLst>
          </p:cNvPr>
          <p:cNvPicPr>
            <a:picLocks noChangeAspect="1"/>
          </p:cNvPicPr>
          <p:nvPr/>
        </p:nvPicPr>
        <p:blipFill>
          <a:blip r:embed="rId2"/>
          <a:stretch>
            <a:fillRect/>
          </a:stretch>
        </p:blipFill>
        <p:spPr>
          <a:xfrm>
            <a:off x="2954167" y="1110590"/>
            <a:ext cx="9062004" cy="5206128"/>
          </a:xfrm>
          <a:prstGeom prst="rect">
            <a:avLst/>
          </a:prstGeom>
        </p:spPr>
      </p:pic>
      <p:sp>
        <p:nvSpPr>
          <p:cNvPr id="4" name="Title 1">
            <a:extLst>
              <a:ext uri="{FF2B5EF4-FFF2-40B4-BE49-F238E27FC236}">
                <a16:creationId xmlns:a16="http://schemas.microsoft.com/office/drawing/2014/main" id="{9DD122DC-CCAA-82B2-AA85-5524ACDE20F5}"/>
              </a:ext>
            </a:extLst>
          </p:cNvPr>
          <p:cNvSpPr txBox="1">
            <a:spLocks/>
          </p:cNvSpPr>
          <p:nvPr/>
        </p:nvSpPr>
        <p:spPr>
          <a:xfrm>
            <a:off x="612373" y="275222"/>
            <a:ext cx="10800000" cy="717269"/>
          </a:xfrm>
          <a:prstGeom prst="rect">
            <a:avLst/>
          </a:prstGeom>
        </p:spPr>
        <p:txBody>
          <a:bodyPr anchor="b">
            <a:normAutofit/>
          </a:bodyPr>
          <a:lstStyle>
            <a:lvl1pPr algn="l" defTabSz="914377" rtl="0" eaLnBrk="1" latinLnBrk="0" hangingPunct="1">
              <a:lnSpc>
                <a:spcPct val="90000"/>
              </a:lnSpc>
              <a:spcBef>
                <a:spcPct val="0"/>
              </a:spcBef>
              <a:buNone/>
              <a:defRPr sz="4000" u="none" kern="1200" spc="-100" baseline="0">
                <a:solidFill>
                  <a:schemeClr val="accent6"/>
                </a:solidFill>
                <a:uFill>
                  <a:solidFill>
                    <a:schemeClr val="tx2">
                      <a:lumMod val="60000"/>
                      <a:lumOff val="40000"/>
                    </a:schemeClr>
                  </a:solidFill>
                </a:uFill>
                <a:latin typeface="+mj-lt"/>
                <a:ea typeface="Segoe UI Black" panose="020B0A02040204020203" pitchFamily="34" charset="0"/>
                <a:cs typeface="Segoe UI Light" panose="020B0502040204020203" pitchFamily="34" charset="0"/>
              </a:defRPr>
            </a:lvl1pPr>
          </a:lstStyle>
          <a:p>
            <a:pPr marL="0" marR="0" lvl="0" indent="0" algn="ctr" defTabSz="914377" rtl="0" eaLnBrk="1" fontAlgn="auto" latinLnBrk="0" hangingPunct="1">
              <a:lnSpc>
                <a:spcPct val="90000"/>
              </a:lnSpc>
              <a:spcBef>
                <a:spcPct val="0"/>
              </a:spcBef>
              <a:spcAft>
                <a:spcPts val="0"/>
              </a:spcAft>
              <a:buClrTx/>
              <a:buSzTx/>
              <a:buFontTx/>
              <a:buNone/>
              <a:tabLst/>
              <a:defRPr/>
            </a:pPr>
            <a:r>
              <a:rPr kumimoji="0" lang="en-US" sz="4000" b="0" i="0" u="none" strike="noStrike" kern="1200" cap="none" spc="-100" normalizeH="0" baseline="0" noProof="0" dirty="0">
                <a:ln>
                  <a:noFill/>
                </a:ln>
                <a:solidFill>
                  <a:srgbClr val="31849B"/>
                </a:solidFill>
                <a:effectLst/>
                <a:uLnTx/>
                <a:uFill>
                  <a:solidFill>
                    <a:srgbClr val="1F497D">
                      <a:lumMod val="60000"/>
                      <a:lumOff val="40000"/>
                    </a:srgbClr>
                  </a:solidFill>
                </a:uFill>
                <a:latin typeface="Segoe UI Semibold"/>
                <a:ea typeface="Segoe UI Black" panose="020B0A02040204020203" pitchFamily="34" charset="0"/>
                <a:cs typeface="Segoe UI Light" panose="020B0502040204020203" pitchFamily="34" charset="0"/>
              </a:rPr>
              <a:t>Monitor Data Pipelines</a:t>
            </a:r>
          </a:p>
        </p:txBody>
      </p:sp>
      <p:sp>
        <p:nvSpPr>
          <p:cNvPr id="5" name="TextBox 4">
            <a:extLst>
              <a:ext uri="{FF2B5EF4-FFF2-40B4-BE49-F238E27FC236}">
                <a16:creationId xmlns:a16="http://schemas.microsoft.com/office/drawing/2014/main" id="{677629E7-C010-260F-3670-63598EEF3E59}"/>
              </a:ext>
            </a:extLst>
          </p:cNvPr>
          <p:cNvSpPr txBox="1"/>
          <p:nvPr/>
        </p:nvSpPr>
        <p:spPr>
          <a:xfrm>
            <a:off x="175829" y="2478187"/>
            <a:ext cx="2640943" cy="2031325"/>
          </a:xfrm>
          <a:prstGeom prst="rect">
            <a:avLst/>
          </a:prstGeom>
          <a:noFill/>
        </p:spPr>
        <p:txBody>
          <a:bodyPr wrap="square" rtlCol="0">
            <a:spAutoFit/>
          </a:bodyPr>
          <a:lstStyle/>
          <a:p>
            <a:pPr marL="285750" marR="0" lvl="0" indent="-285750" defTabSz="914377"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en-US" dirty="0">
                <a:solidFill>
                  <a:prstClr val="black"/>
                </a:solidFill>
                <a:latin typeface="Segoe UI"/>
              </a:rPr>
              <a:t>Monitor</a:t>
            </a:r>
            <a:r>
              <a:rPr kumimoji="0" lang="en-US" i="0" strike="noStrike" kern="1200" cap="none" spc="0" normalizeH="0" baseline="0" noProof="0" dirty="0">
                <a:ln>
                  <a:noFill/>
                </a:ln>
                <a:solidFill>
                  <a:prstClr val="black"/>
                </a:solidFill>
                <a:effectLst/>
                <a:uLnTx/>
                <a:uFillTx/>
                <a:latin typeface="Segoe UI"/>
                <a:ea typeface="+mn-ea"/>
                <a:cs typeface="+mn-cs"/>
              </a:rPr>
              <a:t> </a:t>
            </a:r>
            <a:r>
              <a:rPr kumimoji="0" lang="en-US" b="1" i="0" strike="noStrike" kern="1200" cap="none" spc="0" normalizeH="0" baseline="0" noProof="0" dirty="0">
                <a:ln>
                  <a:noFill/>
                </a:ln>
                <a:solidFill>
                  <a:srgbClr val="0070C0"/>
                </a:solidFill>
                <a:effectLst/>
                <a:uLnTx/>
                <a:uFillTx/>
                <a:latin typeface="Segoe UI"/>
                <a:ea typeface="+mn-ea"/>
                <a:cs typeface="+mn-cs"/>
              </a:rPr>
              <a:t>data velocity and volume </a:t>
            </a:r>
            <a:r>
              <a:rPr kumimoji="0" lang="en-US" i="0" strike="noStrike" kern="1200" cap="none" spc="0" normalizeH="0" baseline="0" noProof="0" dirty="0">
                <a:ln>
                  <a:noFill/>
                </a:ln>
                <a:solidFill>
                  <a:prstClr val="black"/>
                </a:solidFill>
                <a:effectLst/>
                <a:uLnTx/>
                <a:uFillTx/>
                <a:latin typeface="Segoe UI"/>
                <a:ea typeface="+mn-ea"/>
                <a:cs typeface="+mn-cs"/>
              </a:rPr>
              <a:t>growth.</a:t>
            </a:r>
          </a:p>
          <a:p>
            <a:pPr marR="0" lvl="0" defTabSz="914377" rtl="0" eaLnBrk="1" fontAlgn="auto" latinLnBrk="0" hangingPunct="1">
              <a:lnSpc>
                <a:spcPct val="100000"/>
              </a:lnSpc>
              <a:spcBef>
                <a:spcPts val="0"/>
              </a:spcBef>
              <a:spcAft>
                <a:spcPts val="0"/>
              </a:spcAft>
              <a:buClrTx/>
              <a:buSzTx/>
              <a:tabLst/>
              <a:defRPr/>
            </a:pPr>
            <a:endParaRPr kumimoji="0" lang="en-US" i="0" strike="noStrike" kern="1200" cap="none" spc="0" normalizeH="0" baseline="0" noProof="0" dirty="0">
              <a:ln>
                <a:noFill/>
              </a:ln>
              <a:solidFill>
                <a:prstClr val="black"/>
              </a:solidFill>
              <a:effectLst/>
              <a:uLnTx/>
              <a:uFillTx/>
              <a:latin typeface="Segoe UI"/>
              <a:ea typeface="+mn-ea"/>
              <a:cs typeface="+mn-cs"/>
            </a:endParaRPr>
          </a:p>
          <a:p>
            <a:pPr marL="285750" marR="0" lvl="0" indent="-285750" defTabSz="914377"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i="0" strike="noStrike" kern="1200" cap="none" spc="0" normalizeH="0" baseline="0" noProof="0" dirty="0">
                <a:ln>
                  <a:noFill/>
                </a:ln>
                <a:solidFill>
                  <a:prstClr val="black"/>
                </a:solidFill>
                <a:effectLst/>
                <a:uLnTx/>
                <a:uFillTx/>
                <a:latin typeface="Segoe UI"/>
                <a:ea typeface="+mn-ea"/>
                <a:cs typeface="+mn-cs"/>
              </a:rPr>
              <a:t>Pipeline </a:t>
            </a:r>
            <a:r>
              <a:rPr kumimoji="0" lang="en-US" b="1" i="0" strike="noStrike" kern="1200" cap="none" spc="0" normalizeH="0" baseline="0" noProof="0" dirty="0">
                <a:ln>
                  <a:noFill/>
                </a:ln>
                <a:solidFill>
                  <a:srgbClr val="0070C0"/>
                </a:solidFill>
                <a:effectLst/>
                <a:uLnTx/>
                <a:uFillTx/>
                <a:latin typeface="Segoe UI"/>
                <a:ea typeface="+mn-ea"/>
                <a:cs typeface="+mn-cs"/>
              </a:rPr>
              <a:t>success rate</a:t>
            </a:r>
          </a:p>
          <a:p>
            <a:pPr marR="0" lvl="0" defTabSz="914377" rtl="0" eaLnBrk="1" fontAlgn="auto" latinLnBrk="0" hangingPunct="1">
              <a:lnSpc>
                <a:spcPct val="100000"/>
              </a:lnSpc>
              <a:spcBef>
                <a:spcPts val="0"/>
              </a:spcBef>
              <a:spcAft>
                <a:spcPts val="0"/>
              </a:spcAft>
              <a:buClrTx/>
              <a:buSzTx/>
              <a:tabLst/>
              <a:defRPr/>
            </a:pPr>
            <a:endParaRPr lang="en-US" dirty="0">
              <a:solidFill>
                <a:prstClr val="black"/>
              </a:solidFill>
              <a:latin typeface="Segoe UI"/>
            </a:endParaRPr>
          </a:p>
          <a:p>
            <a:pPr marL="285750" marR="0" lvl="0" indent="-285750" defTabSz="914377"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i="0" strike="noStrike" kern="1200" cap="none" spc="0" normalizeH="0" baseline="0" noProof="0" dirty="0">
                <a:ln>
                  <a:noFill/>
                </a:ln>
                <a:solidFill>
                  <a:prstClr val="black"/>
                </a:solidFill>
                <a:effectLst/>
                <a:uLnTx/>
                <a:uFillTx/>
                <a:latin typeface="Segoe UI"/>
                <a:ea typeface="+mn-ea"/>
                <a:cs typeface="+mn-cs"/>
              </a:rPr>
              <a:t>Find </a:t>
            </a:r>
            <a:r>
              <a:rPr kumimoji="0" lang="en-US" b="1" i="0" strike="noStrike" kern="1200" cap="none" spc="0" normalizeH="0" baseline="0" noProof="0" dirty="0">
                <a:ln>
                  <a:noFill/>
                </a:ln>
                <a:solidFill>
                  <a:srgbClr val="0070C0"/>
                </a:solidFill>
                <a:effectLst/>
                <a:uLnTx/>
                <a:uFillTx/>
                <a:latin typeface="Segoe UI"/>
                <a:ea typeface="+mn-ea"/>
                <a:cs typeface="+mn-cs"/>
              </a:rPr>
              <a:t>outliers</a:t>
            </a:r>
            <a:endParaRPr kumimoji="0" lang="en-CA" b="1" i="0" strike="noStrike" kern="1200" cap="none" spc="0" normalizeH="0" baseline="0" noProof="0" dirty="0">
              <a:ln>
                <a:noFill/>
              </a:ln>
              <a:solidFill>
                <a:srgbClr val="0070C0"/>
              </a:solidFill>
              <a:effectLst/>
              <a:uLnTx/>
              <a:uFillTx/>
              <a:latin typeface="Segoe UI"/>
              <a:ea typeface="+mn-ea"/>
              <a:cs typeface="+mn-cs"/>
            </a:endParaRPr>
          </a:p>
        </p:txBody>
      </p:sp>
    </p:spTree>
    <p:extLst>
      <p:ext uri="{BB962C8B-B14F-4D97-AF65-F5344CB8AC3E}">
        <p14:creationId xmlns:p14="http://schemas.microsoft.com/office/powerpoint/2010/main" val="7466215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377FC8CC-BF48-4372-ADBD-E108291B94CD}"/>
              </a:ext>
            </a:extLst>
          </p:cNvPr>
          <p:cNvSpPr txBox="1">
            <a:spLocks/>
          </p:cNvSpPr>
          <p:nvPr/>
        </p:nvSpPr>
        <p:spPr>
          <a:xfrm>
            <a:off x="696001" y="213396"/>
            <a:ext cx="10800000" cy="717269"/>
          </a:xfrm>
          <a:prstGeom prst="rect">
            <a:avLst/>
          </a:prstGeom>
        </p:spPr>
        <p:txBody>
          <a:bodyPr anchor="b">
            <a:normAutofit fontScale="92500"/>
          </a:bodyPr>
          <a:lstStyle>
            <a:lvl1pPr algn="l" defTabSz="914377" rtl="0" eaLnBrk="1" latinLnBrk="0" hangingPunct="1">
              <a:lnSpc>
                <a:spcPct val="90000"/>
              </a:lnSpc>
              <a:spcBef>
                <a:spcPct val="0"/>
              </a:spcBef>
              <a:buNone/>
              <a:defRPr sz="4000" u="none" kern="1200" spc="-100" baseline="0">
                <a:solidFill>
                  <a:schemeClr val="accent6"/>
                </a:solidFill>
                <a:uFill>
                  <a:solidFill>
                    <a:schemeClr val="tx2">
                      <a:lumMod val="60000"/>
                      <a:lumOff val="40000"/>
                    </a:schemeClr>
                  </a:solidFill>
                </a:uFill>
                <a:latin typeface="+mj-lt"/>
                <a:ea typeface="Segoe UI Black" panose="020B0A02040204020203" pitchFamily="34" charset="0"/>
                <a:cs typeface="Segoe UI Light" panose="020B0502040204020203" pitchFamily="34" charset="0"/>
              </a:defRPr>
            </a:lvl1pPr>
          </a:lstStyle>
          <a:p>
            <a:pPr algn="ctr">
              <a:defRPr/>
            </a:pPr>
            <a:r>
              <a:rPr kumimoji="0" lang="en-US" sz="4000" b="0" i="0" u="none" strike="noStrike" kern="1200" cap="none" spc="-100" normalizeH="0" baseline="0" noProof="0">
                <a:ln>
                  <a:noFill/>
                </a:ln>
                <a:solidFill>
                  <a:srgbClr val="31849B"/>
                </a:solidFill>
                <a:effectLst/>
                <a:uLnTx/>
                <a:uFill>
                  <a:solidFill>
                    <a:srgbClr val="1F497D">
                      <a:lumMod val="60000"/>
                      <a:lumOff val="40000"/>
                    </a:srgbClr>
                  </a:solidFill>
                </a:uFill>
                <a:latin typeface="Segoe UI Semibold"/>
                <a:ea typeface="Segoe UI Black" panose="020B0A02040204020203" pitchFamily="34" charset="0"/>
                <a:cs typeface="Segoe UI Light" panose="020B0502040204020203" pitchFamily="34" charset="0"/>
              </a:rPr>
              <a:t>Alerts and monitoring of processes– Key findings</a:t>
            </a:r>
          </a:p>
        </p:txBody>
      </p:sp>
      <p:sp>
        <p:nvSpPr>
          <p:cNvPr id="2" name="TextBox 1">
            <a:extLst>
              <a:ext uri="{FF2B5EF4-FFF2-40B4-BE49-F238E27FC236}">
                <a16:creationId xmlns:a16="http://schemas.microsoft.com/office/drawing/2014/main" id="{E692C870-23E2-5421-D832-B7F1FA99BCAF}"/>
              </a:ext>
            </a:extLst>
          </p:cNvPr>
          <p:cNvSpPr txBox="1"/>
          <p:nvPr/>
        </p:nvSpPr>
        <p:spPr>
          <a:xfrm>
            <a:off x="853289" y="1109747"/>
            <a:ext cx="10509475" cy="3008516"/>
          </a:xfrm>
          <a:prstGeom prst="rect">
            <a:avLst/>
          </a:prstGeom>
          <a:noFill/>
        </p:spPr>
        <p:txBody>
          <a:bodyPr wrap="square">
            <a:spAutoFit/>
          </a:bodyPr>
          <a:lstStyle/>
          <a:p>
            <a:pPr marL="342900" indent="-342900">
              <a:spcBef>
                <a:spcPts val="300"/>
              </a:spcBef>
              <a:spcAft>
                <a:spcPts val="300"/>
              </a:spcAft>
              <a:buFont typeface="Arial" panose="020B0604020202020204" pitchFamily="34" charset="0"/>
              <a:buChar char="•"/>
            </a:pPr>
            <a:r>
              <a:rPr lang="en-CA" sz="2000"/>
              <a:t>Monitoring of workspace content and activity is easy to set-up, scalable and efficient</a:t>
            </a:r>
          </a:p>
          <a:p>
            <a:pPr marL="742950" lvl="1" indent="-285750">
              <a:spcBef>
                <a:spcPts val="300"/>
              </a:spcBef>
              <a:spcAft>
                <a:spcPts val="300"/>
              </a:spcAft>
              <a:buFont typeface="Arial" panose="020B0604020202020204" pitchFamily="34" charset="0"/>
              <a:buChar char="•"/>
            </a:pPr>
            <a:r>
              <a:rPr lang="en-CA" sz="1600"/>
              <a:t>Lakehouse content and key statistics</a:t>
            </a:r>
          </a:p>
          <a:p>
            <a:pPr marL="742950" lvl="1" indent="-285750">
              <a:spcBef>
                <a:spcPts val="300"/>
              </a:spcBef>
              <a:spcAft>
                <a:spcPts val="300"/>
              </a:spcAft>
              <a:buFont typeface="Arial" panose="020B0604020202020204" pitchFamily="34" charset="0"/>
              <a:buChar char="•"/>
            </a:pPr>
            <a:r>
              <a:rPr lang="en-CA" sz="1600"/>
              <a:t>Table level data quality</a:t>
            </a:r>
          </a:p>
          <a:p>
            <a:pPr marL="742950" lvl="1" indent="-285750">
              <a:spcBef>
                <a:spcPts val="300"/>
              </a:spcBef>
              <a:spcAft>
                <a:spcPts val="300"/>
              </a:spcAft>
              <a:buFont typeface="Arial" panose="020B0604020202020204" pitchFamily="34" charset="0"/>
              <a:buChar char="•"/>
            </a:pPr>
            <a:r>
              <a:rPr lang="en-CA" sz="1600"/>
              <a:t>Overall content of workspace</a:t>
            </a:r>
          </a:p>
          <a:p>
            <a:pPr marL="342900" indent="-342900">
              <a:spcBef>
                <a:spcPts val="300"/>
              </a:spcBef>
              <a:spcAft>
                <a:spcPts val="300"/>
              </a:spcAft>
              <a:buFont typeface="Arial" panose="020B0604020202020204" pitchFamily="34" charset="0"/>
              <a:buChar char="•"/>
            </a:pPr>
            <a:r>
              <a:rPr lang="en-CA" sz="2000"/>
              <a:t>Alerts are integrated with multiple Fabric components</a:t>
            </a:r>
            <a:endParaRPr lang="en-CA" sz="1600"/>
          </a:p>
          <a:p>
            <a:pPr marL="742950" lvl="1" indent="-285750">
              <a:spcBef>
                <a:spcPts val="300"/>
              </a:spcBef>
              <a:spcAft>
                <a:spcPts val="300"/>
              </a:spcAft>
              <a:buFont typeface="Arial" panose="020B0604020202020204" pitchFamily="34" charset="0"/>
              <a:buChar char="•"/>
            </a:pPr>
            <a:r>
              <a:rPr lang="en-CA" sz="1600"/>
              <a:t>Data related events in a report</a:t>
            </a:r>
          </a:p>
          <a:p>
            <a:pPr marL="742950" lvl="1" indent="-285750">
              <a:spcBef>
                <a:spcPts val="300"/>
              </a:spcBef>
              <a:spcAft>
                <a:spcPts val="300"/>
              </a:spcAft>
              <a:buFont typeface="Arial" panose="020B0604020202020204" pitchFamily="34" charset="0"/>
              <a:buChar char="•"/>
            </a:pPr>
            <a:r>
              <a:rPr lang="en-CA" sz="1600"/>
              <a:t>Notebook and pipeline failures</a:t>
            </a:r>
          </a:p>
          <a:p>
            <a:pPr marL="742950" lvl="1" indent="-285750">
              <a:spcBef>
                <a:spcPts val="300"/>
              </a:spcBef>
              <a:spcAft>
                <a:spcPts val="300"/>
              </a:spcAft>
              <a:buFont typeface="Arial" panose="020B0604020202020204" pitchFamily="34" charset="0"/>
              <a:buChar char="•"/>
            </a:pPr>
            <a:r>
              <a:rPr lang="en-CA" sz="1600"/>
              <a:t>Completion of refreshes</a:t>
            </a:r>
          </a:p>
          <a:p>
            <a:pPr marL="800100" lvl="1" indent="-342900">
              <a:buFont typeface="Arial" panose="020B0604020202020204" pitchFamily="34" charset="0"/>
              <a:buChar char="•"/>
            </a:pPr>
            <a:endParaRPr lang="en-CA" sz="1600"/>
          </a:p>
        </p:txBody>
      </p:sp>
    </p:spTree>
    <p:extLst>
      <p:ext uri="{BB962C8B-B14F-4D97-AF65-F5344CB8AC3E}">
        <p14:creationId xmlns:p14="http://schemas.microsoft.com/office/powerpoint/2010/main" val="389772619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75C6-0DB1-4B7F-B7EF-4B80A4792ECA}"/>
              </a:ext>
            </a:extLst>
          </p:cNvPr>
          <p:cNvSpPr>
            <a:spLocks noGrp="1"/>
          </p:cNvSpPr>
          <p:nvPr>
            <p:ph type="title"/>
          </p:nvPr>
        </p:nvSpPr>
        <p:spPr/>
        <p:txBody>
          <a:bodyPr/>
          <a:lstStyle/>
          <a:p>
            <a:r>
              <a:rPr lang="en-CA"/>
              <a:t>PoC Summary</a:t>
            </a:r>
          </a:p>
        </p:txBody>
      </p:sp>
    </p:spTree>
    <p:extLst>
      <p:ext uri="{BB962C8B-B14F-4D97-AF65-F5344CB8AC3E}">
        <p14:creationId xmlns:p14="http://schemas.microsoft.com/office/powerpoint/2010/main" val="11943401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377FC8CC-BF48-4372-ADBD-E108291B94CD}"/>
              </a:ext>
            </a:extLst>
          </p:cNvPr>
          <p:cNvSpPr txBox="1">
            <a:spLocks/>
          </p:cNvSpPr>
          <p:nvPr/>
        </p:nvSpPr>
        <p:spPr>
          <a:xfrm>
            <a:off x="696001" y="213396"/>
            <a:ext cx="10800000" cy="717269"/>
          </a:xfrm>
          <a:prstGeom prst="rect">
            <a:avLst/>
          </a:prstGeom>
        </p:spPr>
        <p:txBody>
          <a:bodyPr anchor="b">
            <a:normAutofit/>
          </a:bodyPr>
          <a:lstStyle>
            <a:lvl1pPr algn="l" defTabSz="914377" rtl="0" eaLnBrk="1" latinLnBrk="0" hangingPunct="1">
              <a:lnSpc>
                <a:spcPct val="90000"/>
              </a:lnSpc>
              <a:spcBef>
                <a:spcPct val="0"/>
              </a:spcBef>
              <a:buNone/>
              <a:defRPr sz="4000" u="none" kern="1200" spc="-100" baseline="0">
                <a:solidFill>
                  <a:schemeClr val="accent6"/>
                </a:solidFill>
                <a:uFill>
                  <a:solidFill>
                    <a:schemeClr val="tx2">
                      <a:lumMod val="60000"/>
                      <a:lumOff val="40000"/>
                    </a:schemeClr>
                  </a:solidFill>
                </a:uFill>
                <a:latin typeface="+mj-lt"/>
                <a:ea typeface="Segoe UI Black" panose="020B0A02040204020203" pitchFamily="34" charset="0"/>
                <a:cs typeface="Segoe UI Light" panose="020B0502040204020203" pitchFamily="34" charset="0"/>
              </a:defRPr>
            </a:lvl1pPr>
          </a:lstStyle>
          <a:p>
            <a:pPr marL="0" marR="0" lvl="0" indent="0" algn="ctr" defTabSz="914377" rtl="0" eaLnBrk="1" fontAlgn="auto" latinLnBrk="0" hangingPunct="1">
              <a:lnSpc>
                <a:spcPct val="90000"/>
              </a:lnSpc>
              <a:spcBef>
                <a:spcPct val="0"/>
              </a:spcBef>
              <a:spcAft>
                <a:spcPts val="0"/>
              </a:spcAft>
              <a:buClrTx/>
              <a:buSzTx/>
              <a:buFontTx/>
              <a:buNone/>
              <a:tabLst/>
              <a:defRPr/>
            </a:pPr>
            <a:r>
              <a:rPr lang="en-US">
                <a:solidFill>
                  <a:srgbClr val="31849B"/>
                </a:solidFill>
                <a:uFill>
                  <a:solidFill>
                    <a:srgbClr val="1F497D">
                      <a:lumMod val="60000"/>
                      <a:lumOff val="40000"/>
                    </a:srgbClr>
                  </a:solidFill>
                </a:uFill>
                <a:latin typeface="Segoe UI Semibold"/>
              </a:rPr>
              <a:t>PoC highlights – End User Experience</a:t>
            </a:r>
            <a:endParaRPr kumimoji="0" lang="en-US" sz="4000" b="0" i="0" u="none" strike="noStrike" kern="1200" cap="none" spc="-100" normalizeH="0" baseline="0" noProof="0">
              <a:ln>
                <a:noFill/>
              </a:ln>
              <a:solidFill>
                <a:srgbClr val="31849B"/>
              </a:solidFill>
              <a:effectLst/>
              <a:uLnTx/>
              <a:uFill>
                <a:solidFill>
                  <a:srgbClr val="1F497D">
                    <a:lumMod val="60000"/>
                    <a:lumOff val="40000"/>
                  </a:srgbClr>
                </a:solidFill>
              </a:uFill>
              <a:latin typeface="Segoe UI Semibold"/>
              <a:ea typeface="Segoe UI Black" panose="020B0A02040204020203" pitchFamily="34" charset="0"/>
              <a:cs typeface="Segoe UI Light" panose="020B0502040204020203" pitchFamily="34" charset="0"/>
            </a:endParaRPr>
          </a:p>
        </p:txBody>
      </p:sp>
      <p:sp>
        <p:nvSpPr>
          <p:cNvPr id="22" name="Content Placeholder 1">
            <a:extLst>
              <a:ext uri="{FF2B5EF4-FFF2-40B4-BE49-F238E27FC236}">
                <a16:creationId xmlns:a16="http://schemas.microsoft.com/office/drawing/2014/main" id="{C827DF1D-A93F-8E84-9C0C-D2DE0E70F7C3}"/>
              </a:ext>
            </a:extLst>
          </p:cNvPr>
          <p:cNvSpPr txBox="1">
            <a:spLocks/>
          </p:cNvSpPr>
          <p:nvPr/>
        </p:nvSpPr>
        <p:spPr>
          <a:xfrm>
            <a:off x="525671" y="1055077"/>
            <a:ext cx="10800000" cy="6120403"/>
          </a:xfrm>
          <a:prstGeom prst="rect">
            <a:avLst/>
          </a:prstGeom>
        </p:spPr>
        <p:txBody>
          <a:bodyPr vert="horz" lIns="0" tIns="0" rIns="0" bIns="0" rtlCol="0" anchor="ctr" anchorCtr="0">
            <a:normAutofit/>
          </a:bodyPr>
          <a:lstStyle>
            <a:lvl1pPr marL="228594" indent="-228594" algn="l" defTabSz="914377" rtl="0" eaLnBrk="1" latinLnBrk="0" hangingPunct="1">
              <a:lnSpc>
                <a:spcPct val="90000"/>
              </a:lnSpc>
              <a:spcBef>
                <a:spcPts val="1800"/>
              </a:spcBef>
              <a:buFont typeface="Wingdings" panose="05000000000000000000" pitchFamily="2" charset="2"/>
              <a:buChar char="§"/>
              <a:defRPr sz="2600" kern="1200" spc="0" baseline="0">
                <a:solidFill>
                  <a:schemeClr val="tx1">
                    <a:lumMod val="75000"/>
                    <a:lumOff val="25000"/>
                  </a:schemeClr>
                </a:solidFill>
                <a:latin typeface="+mn-lt"/>
                <a:ea typeface="+mn-ea"/>
                <a:cs typeface="Segoe UI" panose="020B0502040204020203" pitchFamily="34" charset="0"/>
              </a:defRPr>
            </a:lvl1pPr>
            <a:lvl2pPr marL="450839" indent="-228594" algn="l" defTabSz="914377" rtl="0" eaLnBrk="1" latinLnBrk="0" hangingPunct="1">
              <a:lnSpc>
                <a:spcPct val="90000"/>
              </a:lnSpc>
              <a:spcBef>
                <a:spcPts val="600"/>
              </a:spcBef>
              <a:buFont typeface="Segoe UI" panose="020B0502040204020203" pitchFamily="34" charset="0"/>
              <a:buChar char="›"/>
              <a:defRPr sz="2200" kern="1200" spc="0">
                <a:solidFill>
                  <a:schemeClr val="tx1">
                    <a:lumMod val="75000"/>
                    <a:lumOff val="25000"/>
                  </a:schemeClr>
                </a:solidFill>
                <a:latin typeface="+mn-lt"/>
                <a:ea typeface="+mn-ea"/>
                <a:cs typeface="Segoe UI" panose="020B0502040204020203" pitchFamily="34" charset="0"/>
              </a:defRPr>
            </a:lvl2pPr>
            <a:lvl3pPr marL="714357" indent="-228594" algn="l" defTabSz="914377" rtl="0" eaLnBrk="1" latinLnBrk="0" hangingPunct="1">
              <a:lnSpc>
                <a:spcPct val="90000"/>
              </a:lnSpc>
              <a:spcBef>
                <a:spcPts val="300"/>
              </a:spcBef>
              <a:buFont typeface="Segoe UI" panose="020B0502040204020203" pitchFamily="34" charset="0"/>
              <a:buChar char="›"/>
              <a:defRPr sz="2000" kern="1200" spc="0">
                <a:solidFill>
                  <a:schemeClr val="tx1">
                    <a:lumMod val="75000"/>
                    <a:lumOff val="25000"/>
                  </a:schemeClr>
                </a:solidFill>
                <a:latin typeface="+mn-lt"/>
                <a:ea typeface="+mn-ea"/>
                <a:cs typeface="Segoe UI" panose="020B0502040204020203" pitchFamily="34" charset="0"/>
              </a:defRPr>
            </a:lvl3pPr>
            <a:lvl4pPr marL="985814" indent="-228594" algn="l" defTabSz="914377" rtl="0" eaLnBrk="1" latinLnBrk="0" hangingPunct="1">
              <a:lnSpc>
                <a:spcPct val="90000"/>
              </a:lnSpc>
              <a:spcBef>
                <a:spcPts val="0"/>
              </a:spcBef>
              <a:buFont typeface="Segoe UI" panose="020B0502040204020203" pitchFamily="34" charset="0"/>
              <a:buChar char="›"/>
              <a:defRPr sz="2000" kern="1200" spc="0">
                <a:solidFill>
                  <a:schemeClr val="tx1">
                    <a:lumMod val="75000"/>
                    <a:lumOff val="25000"/>
                  </a:schemeClr>
                </a:solidFill>
                <a:latin typeface="+mn-lt"/>
                <a:ea typeface="+mn-ea"/>
                <a:cs typeface="Segoe UI" panose="020B0502040204020203" pitchFamily="34" charset="0"/>
              </a:defRPr>
            </a:lvl4pPr>
            <a:lvl5pPr marL="1257269" indent="-228594" algn="l" defTabSz="914377" rtl="0" eaLnBrk="1" latinLnBrk="0" hangingPunct="1">
              <a:lnSpc>
                <a:spcPct val="90000"/>
              </a:lnSpc>
              <a:spcBef>
                <a:spcPts val="0"/>
              </a:spcBef>
              <a:buFont typeface="Segoe UI" panose="020B0502040204020203" pitchFamily="34" charset="0"/>
              <a:buChar char="›"/>
              <a:defRPr sz="2000" kern="1200" spc="0">
                <a:solidFill>
                  <a:schemeClr val="tx1">
                    <a:lumMod val="75000"/>
                    <a:lumOff val="25000"/>
                  </a:schemeClr>
                </a:solidFill>
                <a:latin typeface="+mn-lt"/>
                <a:ea typeface="+mn-ea"/>
                <a:cs typeface="Segoe UI" panose="020B0502040204020203"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CA"/>
              <a:t>Fabric </a:t>
            </a:r>
            <a:r>
              <a:rPr lang="en-CA" b="1"/>
              <a:t>as tested </a:t>
            </a:r>
            <a:r>
              <a:rPr lang="en-CA"/>
              <a:t>alleviates most end user frictions experienced in our current environments</a:t>
            </a:r>
          </a:p>
          <a:p>
            <a:pPr lvl="1"/>
            <a:r>
              <a:rPr lang="en-CA"/>
              <a:t>Significant business value across all 8 requirements</a:t>
            </a:r>
          </a:p>
          <a:p>
            <a:r>
              <a:rPr lang="en-CA"/>
              <a:t>Fabric provides novel capabilities that further encourage users to work collaboratively and sustainably in the Cloud</a:t>
            </a:r>
          </a:p>
          <a:p>
            <a:pPr lvl="1"/>
            <a:r>
              <a:rPr lang="en-CA" err="1"/>
              <a:t>Egs</a:t>
            </a:r>
            <a:r>
              <a:rPr lang="en-CA"/>
              <a:t> include More templating, low code development, highly scalable and flexible monitoring</a:t>
            </a:r>
          </a:p>
          <a:p>
            <a:r>
              <a:rPr lang="en-CA"/>
              <a:t>Fabric can allow for dynamic data extraction (</a:t>
            </a:r>
            <a:r>
              <a:rPr lang="en-CA" err="1"/>
              <a:t>eg</a:t>
            </a:r>
            <a:r>
              <a:rPr lang="en-CA"/>
              <a:t> LSEG QAD) and better Excel and Tool connectivity reducing need for Governed pipelines with no attached SLA (user supported processes can remain in hands of users)</a:t>
            </a:r>
          </a:p>
          <a:p>
            <a:pPr marL="0" indent="0">
              <a:buFont typeface="Wingdings" panose="05000000000000000000" pitchFamily="2" charset="2"/>
              <a:buNone/>
            </a:pPr>
            <a:endParaRPr lang="en-CA"/>
          </a:p>
        </p:txBody>
      </p:sp>
    </p:spTree>
    <p:extLst>
      <p:ext uri="{BB962C8B-B14F-4D97-AF65-F5344CB8AC3E}">
        <p14:creationId xmlns:p14="http://schemas.microsoft.com/office/powerpoint/2010/main" val="32368950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377FC8CC-BF48-4372-ADBD-E108291B94CD}"/>
              </a:ext>
            </a:extLst>
          </p:cNvPr>
          <p:cNvSpPr txBox="1">
            <a:spLocks/>
          </p:cNvSpPr>
          <p:nvPr/>
        </p:nvSpPr>
        <p:spPr>
          <a:xfrm>
            <a:off x="696001" y="213396"/>
            <a:ext cx="10800000" cy="717269"/>
          </a:xfrm>
          <a:prstGeom prst="rect">
            <a:avLst/>
          </a:prstGeom>
        </p:spPr>
        <p:txBody>
          <a:bodyPr anchor="b">
            <a:normAutofit/>
          </a:bodyPr>
          <a:lstStyle>
            <a:lvl1pPr algn="l" defTabSz="914377" rtl="0" eaLnBrk="1" latinLnBrk="0" hangingPunct="1">
              <a:lnSpc>
                <a:spcPct val="90000"/>
              </a:lnSpc>
              <a:spcBef>
                <a:spcPct val="0"/>
              </a:spcBef>
              <a:buNone/>
              <a:defRPr sz="4000" u="none" kern="1200" spc="-100" baseline="0">
                <a:solidFill>
                  <a:schemeClr val="accent6"/>
                </a:solidFill>
                <a:uFill>
                  <a:solidFill>
                    <a:schemeClr val="tx2">
                      <a:lumMod val="60000"/>
                      <a:lumOff val="40000"/>
                    </a:schemeClr>
                  </a:solidFill>
                </a:uFill>
                <a:latin typeface="+mj-lt"/>
                <a:ea typeface="Segoe UI Black" panose="020B0A02040204020203" pitchFamily="34" charset="0"/>
                <a:cs typeface="Segoe UI Light" panose="020B0502040204020203" pitchFamily="34" charset="0"/>
              </a:defRPr>
            </a:lvl1pPr>
          </a:lstStyle>
          <a:p>
            <a:pPr marL="0" marR="0" lvl="0" indent="0" algn="ctr" defTabSz="914377" rtl="0" eaLnBrk="1" fontAlgn="auto" latinLnBrk="0" hangingPunct="1">
              <a:lnSpc>
                <a:spcPct val="90000"/>
              </a:lnSpc>
              <a:spcBef>
                <a:spcPct val="0"/>
              </a:spcBef>
              <a:spcAft>
                <a:spcPts val="0"/>
              </a:spcAft>
              <a:buClrTx/>
              <a:buSzTx/>
              <a:buFontTx/>
              <a:buNone/>
              <a:tabLst/>
              <a:defRPr/>
            </a:pPr>
            <a:r>
              <a:rPr lang="en-US">
                <a:solidFill>
                  <a:srgbClr val="31849B"/>
                </a:solidFill>
                <a:uFill>
                  <a:solidFill>
                    <a:srgbClr val="1F497D">
                      <a:lumMod val="60000"/>
                      <a:lumOff val="40000"/>
                    </a:srgbClr>
                  </a:solidFill>
                </a:uFill>
                <a:latin typeface="Segoe UI Semibold"/>
              </a:rPr>
              <a:t>PoC highlights – Support Perspective</a:t>
            </a:r>
            <a:endParaRPr kumimoji="0" lang="en-US" sz="4000" b="0" i="0" u="none" strike="noStrike" kern="1200" cap="none" spc="-100" normalizeH="0" baseline="0" noProof="0">
              <a:ln>
                <a:noFill/>
              </a:ln>
              <a:solidFill>
                <a:srgbClr val="31849B"/>
              </a:solidFill>
              <a:effectLst/>
              <a:uLnTx/>
              <a:uFill>
                <a:solidFill>
                  <a:srgbClr val="1F497D">
                    <a:lumMod val="60000"/>
                    <a:lumOff val="40000"/>
                  </a:srgbClr>
                </a:solidFill>
              </a:uFill>
              <a:latin typeface="Segoe UI Semibold"/>
              <a:ea typeface="Segoe UI Black" panose="020B0A02040204020203" pitchFamily="34" charset="0"/>
              <a:cs typeface="Segoe UI Light" panose="020B0502040204020203" pitchFamily="34" charset="0"/>
            </a:endParaRPr>
          </a:p>
        </p:txBody>
      </p:sp>
      <p:sp>
        <p:nvSpPr>
          <p:cNvPr id="22" name="Content Placeholder 1">
            <a:extLst>
              <a:ext uri="{FF2B5EF4-FFF2-40B4-BE49-F238E27FC236}">
                <a16:creationId xmlns:a16="http://schemas.microsoft.com/office/drawing/2014/main" id="{C827DF1D-A93F-8E84-9C0C-D2DE0E70F7C3}"/>
              </a:ext>
            </a:extLst>
          </p:cNvPr>
          <p:cNvSpPr txBox="1">
            <a:spLocks/>
          </p:cNvSpPr>
          <p:nvPr/>
        </p:nvSpPr>
        <p:spPr>
          <a:xfrm>
            <a:off x="525671" y="1326382"/>
            <a:ext cx="10800000" cy="5849098"/>
          </a:xfrm>
          <a:prstGeom prst="rect">
            <a:avLst/>
          </a:prstGeom>
        </p:spPr>
        <p:txBody>
          <a:bodyPr vert="horz" lIns="0" tIns="0" rIns="0" bIns="0" rtlCol="0" anchor="t" anchorCtr="0">
            <a:normAutofit/>
          </a:bodyPr>
          <a:lstStyle>
            <a:lvl1pPr marL="228594" indent="-228594" algn="l" defTabSz="914377" rtl="0" eaLnBrk="1" latinLnBrk="0" hangingPunct="1">
              <a:lnSpc>
                <a:spcPct val="90000"/>
              </a:lnSpc>
              <a:spcBef>
                <a:spcPts val="1800"/>
              </a:spcBef>
              <a:buFont typeface="Wingdings" panose="05000000000000000000" pitchFamily="2" charset="2"/>
              <a:buChar char="§"/>
              <a:defRPr sz="2600" kern="1200" spc="0" baseline="0">
                <a:solidFill>
                  <a:schemeClr val="tx1">
                    <a:lumMod val="75000"/>
                    <a:lumOff val="25000"/>
                  </a:schemeClr>
                </a:solidFill>
                <a:latin typeface="+mn-lt"/>
                <a:ea typeface="+mn-ea"/>
                <a:cs typeface="Segoe UI" panose="020B0502040204020203" pitchFamily="34" charset="0"/>
              </a:defRPr>
            </a:lvl1pPr>
            <a:lvl2pPr marL="450839" indent="-228594" algn="l" defTabSz="914377" rtl="0" eaLnBrk="1" latinLnBrk="0" hangingPunct="1">
              <a:lnSpc>
                <a:spcPct val="90000"/>
              </a:lnSpc>
              <a:spcBef>
                <a:spcPts val="600"/>
              </a:spcBef>
              <a:buFont typeface="Segoe UI" panose="020B0502040204020203" pitchFamily="34" charset="0"/>
              <a:buChar char="›"/>
              <a:defRPr sz="2200" kern="1200" spc="0">
                <a:solidFill>
                  <a:schemeClr val="tx1">
                    <a:lumMod val="75000"/>
                    <a:lumOff val="25000"/>
                  </a:schemeClr>
                </a:solidFill>
                <a:latin typeface="+mn-lt"/>
                <a:ea typeface="+mn-ea"/>
                <a:cs typeface="Segoe UI" panose="020B0502040204020203" pitchFamily="34" charset="0"/>
              </a:defRPr>
            </a:lvl2pPr>
            <a:lvl3pPr marL="714357" indent="-228594" algn="l" defTabSz="914377" rtl="0" eaLnBrk="1" latinLnBrk="0" hangingPunct="1">
              <a:lnSpc>
                <a:spcPct val="90000"/>
              </a:lnSpc>
              <a:spcBef>
                <a:spcPts val="300"/>
              </a:spcBef>
              <a:buFont typeface="Segoe UI" panose="020B0502040204020203" pitchFamily="34" charset="0"/>
              <a:buChar char="›"/>
              <a:defRPr sz="2000" kern="1200" spc="0">
                <a:solidFill>
                  <a:schemeClr val="tx1">
                    <a:lumMod val="75000"/>
                    <a:lumOff val="25000"/>
                  </a:schemeClr>
                </a:solidFill>
                <a:latin typeface="+mn-lt"/>
                <a:ea typeface="+mn-ea"/>
                <a:cs typeface="Segoe UI" panose="020B0502040204020203" pitchFamily="34" charset="0"/>
              </a:defRPr>
            </a:lvl3pPr>
            <a:lvl4pPr marL="985814" indent="-228594" algn="l" defTabSz="914377" rtl="0" eaLnBrk="1" latinLnBrk="0" hangingPunct="1">
              <a:lnSpc>
                <a:spcPct val="90000"/>
              </a:lnSpc>
              <a:spcBef>
                <a:spcPts val="0"/>
              </a:spcBef>
              <a:buFont typeface="Segoe UI" panose="020B0502040204020203" pitchFamily="34" charset="0"/>
              <a:buChar char="›"/>
              <a:defRPr sz="2000" kern="1200" spc="0">
                <a:solidFill>
                  <a:schemeClr val="tx1">
                    <a:lumMod val="75000"/>
                    <a:lumOff val="25000"/>
                  </a:schemeClr>
                </a:solidFill>
                <a:latin typeface="+mn-lt"/>
                <a:ea typeface="+mn-ea"/>
                <a:cs typeface="Segoe UI" panose="020B0502040204020203" pitchFamily="34" charset="0"/>
              </a:defRPr>
            </a:lvl4pPr>
            <a:lvl5pPr marL="1257269" indent="-228594" algn="l" defTabSz="914377" rtl="0" eaLnBrk="1" latinLnBrk="0" hangingPunct="1">
              <a:lnSpc>
                <a:spcPct val="90000"/>
              </a:lnSpc>
              <a:spcBef>
                <a:spcPts val="0"/>
              </a:spcBef>
              <a:buFont typeface="Segoe UI" panose="020B0502040204020203" pitchFamily="34" charset="0"/>
              <a:buChar char="›"/>
              <a:defRPr sz="2000" kern="1200" spc="0">
                <a:solidFill>
                  <a:schemeClr val="tx1">
                    <a:lumMod val="75000"/>
                    <a:lumOff val="25000"/>
                  </a:schemeClr>
                </a:solidFill>
                <a:latin typeface="+mn-lt"/>
                <a:ea typeface="+mn-ea"/>
                <a:cs typeface="Segoe UI" panose="020B0502040204020203"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CA"/>
              <a:t>Fabric dramatically streamlines and simplifies the setup and processes of supporting users </a:t>
            </a:r>
          </a:p>
          <a:p>
            <a:pPr lvl="1"/>
            <a:r>
              <a:rPr lang="en-CA"/>
              <a:t>Simpler and more automated user onboarding and streamlined data access controls</a:t>
            </a:r>
          </a:p>
          <a:p>
            <a:pPr lvl="1"/>
            <a:r>
              <a:rPr lang="en-CA"/>
              <a:t>Enhanced monitoring capabilities of users’ activities</a:t>
            </a:r>
          </a:p>
          <a:p>
            <a:pPr lvl="1"/>
            <a:r>
              <a:rPr lang="en-CA" b="1"/>
              <a:t>Far less duplication of data and redundant data movements required to enable users (increased resilience and robustness)</a:t>
            </a:r>
          </a:p>
          <a:p>
            <a:pPr lvl="1"/>
            <a:r>
              <a:rPr lang="en-CA"/>
              <a:t>Scalable and flexible monitoring of each element in our own value chains</a:t>
            </a:r>
          </a:p>
          <a:p>
            <a:pPr lvl="1"/>
            <a:r>
              <a:rPr lang="en-CA"/>
              <a:t>Potential for highly streamlined user environment to support</a:t>
            </a:r>
          </a:p>
        </p:txBody>
      </p:sp>
    </p:spTree>
    <p:extLst>
      <p:ext uri="{BB962C8B-B14F-4D97-AF65-F5344CB8AC3E}">
        <p14:creationId xmlns:p14="http://schemas.microsoft.com/office/powerpoint/2010/main" val="365874695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377FC8CC-BF48-4372-ADBD-E108291B94CD}"/>
              </a:ext>
            </a:extLst>
          </p:cNvPr>
          <p:cNvSpPr txBox="1">
            <a:spLocks/>
          </p:cNvSpPr>
          <p:nvPr/>
        </p:nvSpPr>
        <p:spPr>
          <a:xfrm>
            <a:off x="696001" y="123456"/>
            <a:ext cx="10800000" cy="717269"/>
          </a:xfrm>
          <a:prstGeom prst="rect">
            <a:avLst/>
          </a:prstGeom>
        </p:spPr>
        <p:txBody>
          <a:bodyPr anchor="b">
            <a:normAutofit/>
          </a:bodyPr>
          <a:lstStyle>
            <a:lvl1pPr algn="l" defTabSz="914377" rtl="0" eaLnBrk="1" latinLnBrk="0" hangingPunct="1">
              <a:lnSpc>
                <a:spcPct val="90000"/>
              </a:lnSpc>
              <a:spcBef>
                <a:spcPct val="0"/>
              </a:spcBef>
              <a:buNone/>
              <a:defRPr sz="4000" u="none" kern="1200" spc="-100" baseline="0">
                <a:solidFill>
                  <a:schemeClr val="accent6"/>
                </a:solidFill>
                <a:uFill>
                  <a:solidFill>
                    <a:schemeClr val="tx2">
                      <a:lumMod val="60000"/>
                      <a:lumOff val="40000"/>
                    </a:schemeClr>
                  </a:solidFill>
                </a:uFill>
                <a:latin typeface="+mj-lt"/>
                <a:ea typeface="Segoe UI Black" panose="020B0A02040204020203" pitchFamily="34" charset="0"/>
                <a:cs typeface="Segoe UI Light" panose="020B0502040204020203" pitchFamily="34" charset="0"/>
              </a:defRPr>
            </a:lvl1pPr>
          </a:lstStyle>
          <a:p>
            <a:pPr marL="0" marR="0" lvl="0" indent="0" algn="ctr" defTabSz="914377" rtl="0" eaLnBrk="1" fontAlgn="auto" latinLnBrk="0" hangingPunct="1">
              <a:lnSpc>
                <a:spcPct val="90000"/>
              </a:lnSpc>
              <a:spcBef>
                <a:spcPct val="0"/>
              </a:spcBef>
              <a:spcAft>
                <a:spcPts val="0"/>
              </a:spcAft>
              <a:buClrTx/>
              <a:buSzTx/>
              <a:buFontTx/>
              <a:buNone/>
              <a:tabLst/>
              <a:defRPr/>
            </a:pPr>
            <a:r>
              <a:rPr lang="en-US">
                <a:solidFill>
                  <a:srgbClr val="31849B"/>
                </a:solidFill>
                <a:uFill>
                  <a:solidFill>
                    <a:srgbClr val="1F497D">
                      <a:lumMod val="60000"/>
                      <a:lumOff val="40000"/>
                    </a:srgbClr>
                  </a:solidFill>
                </a:uFill>
                <a:latin typeface="Segoe UI Semibold"/>
              </a:rPr>
              <a:t>Conclusions &amp; Implications</a:t>
            </a:r>
            <a:endParaRPr kumimoji="0" lang="en-US" sz="4000" b="0" i="0" u="none" strike="noStrike" kern="1200" cap="none" spc="-100" normalizeH="0" baseline="0" noProof="0">
              <a:ln>
                <a:noFill/>
              </a:ln>
              <a:solidFill>
                <a:srgbClr val="31849B"/>
              </a:solidFill>
              <a:effectLst/>
              <a:uLnTx/>
              <a:uFill>
                <a:solidFill>
                  <a:srgbClr val="1F497D">
                    <a:lumMod val="60000"/>
                    <a:lumOff val="40000"/>
                  </a:srgbClr>
                </a:solidFill>
              </a:uFill>
              <a:latin typeface="Segoe UI Semibold"/>
              <a:ea typeface="Segoe UI Black" panose="020B0A02040204020203" pitchFamily="34" charset="0"/>
              <a:cs typeface="Segoe UI Light" panose="020B0502040204020203" pitchFamily="34" charset="0"/>
            </a:endParaRPr>
          </a:p>
        </p:txBody>
      </p:sp>
      <p:sp>
        <p:nvSpPr>
          <p:cNvPr id="22" name="Content Placeholder 1">
            <a:extLst>
              <a:ext uri="{FF2B5EF4-FFF2-40B4-BE49-F238E27FC236}">
                <a16:creationId xmlns:a16="http://schemas.microsoft.com/office/drawing/2014/main" id="{C827DF1D-A93F-8E84-9C0C-D2DE0E70F7C3}"/>
              </a:ext>
            </a:extLst>
          </p:cNvPr>
          <p:cNvSpPr txBox="1">
            <a:spLocks/>
          </p:cNvSpPr>
          <p:nvPr/>
        </p:nvSpPr>
        <p:spPr>
          <a:xfrm>
            <a:off x="696000" y="1305419"/>
            <a:ext cx="10800000" cy="5124164"/>
          </a:xfrm>
          <a:prstGeom prst="rect">
            <a:avLst/>
          </a:prstGeom>
        </p:spPr>
        <p:txBody>
          <a:bodyPr vert="horz" lIns="0" tIns="0" rIns="0" bIns="0" rtlCol="0" anchor="ctr" anchorCtr="0">
            <a:normAutofit/>
          </a:bodyPr>
          <a:lstStyle>
            <a:lvl1pPr marL="228594" indent="-228594" algn="l" defTabSz="914377" rtl="0" eaLnBrk="1" latinLnBrk="0" hangingPunct="1">
              <a:lnSpc>
                <a:spcPct val="90000"/>
              </a:lnSpc>
              <a:spcBef>
                <a:spcPts val="1800"/>
              </a:spcBef>
              <a:buFont typeface="Wingdings" panose="05000000000000000000" pitchFamily="2" charset="2"/>
              <a:buChar char="§"/>
              <a:defRPr sz="2600" kern="1200" spc="0" baseline="0">
                <a:solidFill>
                  <a:schemeClr val="tx1">
                    <a:lumMod val="75000"/>
                    <a:lumOff val="25000"/>
                  </a:schemeClr>
                </a:solidFill>
                <a:latin typeface="+mn-lt"/>
                <a:ea typeface="+mn-ea"/>
                <a:cs typeface="Segoe UI" panose="020B0502040204020203" pitchFamily="34" charset="0"/>
              </a:defRPr>
            </a:lvl1pPr>
            <a:lvl2pPr marL="450839" indent="-228594" algn="l" defTabSz="914377" rtl="0" eaLnBrk="1" latinLnBrk="0" hangingPunct="1">
              <a:lnSpc>
                <a:spcPct val="90000"/>
              </a:lnSpc>
              <a:spcBef>
                <a:spcPts val="600"/>
              </a:spcBef>
              <a:buFont typeface="Segoe UI" panose="020B0502040204020203" pitchFamily="34" charset="0"/>
              <a:buChar char="›"/>
              <a:defRPr sz="2200" kern="1200" spc="0">
                <a:solidFill>
                  <a:schemeClr val="tx1">
                    <a:lumMod val="75000"/>
                    <a:lumOff val="25000"/>
                  </a:schemeClr>
                </a:solidFill>
                <a:latin typeface="+mn-lt"/>
                <a:ea typeface="+mn-ea"/>
                <a:cs typeface="Segoe UI" panose="020B0502040204020203" pitchFamily="34" charset="0"/>
              </a:defRPr>
            </a:lvl2pPr>
            <a:lvl3pPr marL="714357" indent="-228594" algn="l" defTabSz="914377" rtl="0" eaLnBrk="1" latinLnBrk="0" hangingPunct="1">
              <a:lnSpc>
                <a:spcPct val="90000"/>
              </a:lnSpc>
              <a:spcBef>
                <a:spcPts val="300"/>
              </a:spcBef>
              <a:buFont typeface="Segoe UI" panose="020B0502040204020203" pitchFamily="34" charset="0"/>
              <a:buChar char="›"/>
              <a:defRPr sz="2000" kern="1200" spc="0">
                <a:solidFill>
                  <a:schemeClr val="tx1">
                    <a:lumMod val="75000"/>
                    <a:lumOff val="25000"/>
                  </a:schemeClr>
                </a:solidFill>
                <a:latin typeface="+mn-lt"/>
                <a:ea typeface="+mn-ea"/>
                <a:cs typeface="Segoe UI" panose="020B0502040204020203" pitchFamily="34" charset="0"/>
              </a:defRPr>
            </a:lvl3pPr>
            <a:lvl4pPr marL="985814" indent="-228594" algn="l" defTabSz="914377" rtl="0" eaLnBrk="1" latinLnBrk="0" hangingPunct="1">
              <a:lnSpc>
                <a:spcPct val="90000"/>
              </a:lnSpc>
              <a:spcBef>
                <a:spcPts val="0"/>
              </a:spcBef>
              <a:buFont typeface="Segoe UI" panose="020B0502040204020203" pitchFamily="34" charset="0"/>
              <a:buChar char="›"/>
              <a:defRPr sz="2000" kern="1200" spc="0">
                <a:solidFill>
                  <a:schemeClr val="tx1">
                    <a:lumMod val="75000"/>
                    <a:lumOff val="25000"/>
                  </a:schemeClr>
                </a:solidFill>
                <a:latin typeface="+mn-lt"/>
                <a:ea typeface="+mn-ea"/>
                <a:cs typeface="Segoe UI" panose="020B0502040204020203" pitchFamily="34" charset="0"/>
              </a:defRPr>
            </a:lvl4pPr>
            <a:lvl5pPr marL="1257269" indent="-228594" algn="l" defTabSz="914377" rtl="0" eaLnBrk="1" latinLnBrk="0" hangingPunct="1">
              <a:lnSpc>
                <a:spcPct val="90000"/>
              </a:lnSpc>
              <a:spcBef>
                <a:spcPts val="0"/>
              </a:spcBef>
              <a:buFont typeface="Segoe UI" panose="020B0502040204020203" pitchFamily="34" charset="0"/>
              <a:buChar char="›"/>
              <a:defRPr sz="2000" kern="1200" spc="0">
                <a:solidFill>
                  <a:schemeClr val="tx1">
                    <a:lumMod val="75000"/>
                    <a:lumOff val="25000"/>
                  </a:schemeClr>
                </a:solidFill>
                <a:latin typeface="+mn-lt"/>
                <a:ea typeface="+mn-ea"/>
                <a:cs typeface="Segoe UI" panose="020B0502040204020203"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CA"/>
              <a:t>FMD use cases that cannot be accomplished in the Cloud today, can be developed completely in the Fabric Cloud environment using collaborative and sustainable practices</a:t>
            </a:r>
          </a:p>
          <a:p>
            <a:r>
              <a:rPr lang="en-CA"/>
              <a:t>Detail oriented PoC shows Fabric </a:t>
            </a:r>
            <a:r>
              <a:rPr lang="en-CA" b="1"/>
              <a:t>as tested </a:t>
            </a:r>
            <a:r>
              <a:rPr lang="en-CA"/>
              <a:t>brings great value to both end user and supporting organizations – beyond original expectations</a:t>
            </a:r>
          </a:p>
          <a:p>
            <a:pPr lvl="1"/>
            <a:r>
              <a:rPr lang="en-CA"/>
              <a:t>Our PoC is aligned with current development efforts in IDAS, and show that the bulk of value (support and end user) is delivered through a full Fabric architecture</a:t>
            </a:r>
          </a:p>
          <a:p>
            <a:r>
              <a:rPr lang="en-CA"/>
              <a:t>Fabric potentially enables a dramatically streamlined set of environments to support (Databricks Governed Data (slimmer) and Fabric for most user development) with better governance and monitoring of our and end user environments</a:t>
            </a:r>
          </a:p>
          <a:p>
            <a:r>
              <a:rPr lang="en-CA"/>
              <a:t>Fabric is evolving rapidly some capacity draw to track evolution </a:t>
            </a:r>
          </a:p>
        </p:txBody>
      </p:sp>
    </p:spTree>
    <p:extLst>
      <p:ext uri="{BB962C8B-B14F-4D97-AF65-F5344CB8AC3E}">
        <p14:creationId xmlns:p14="http://schemas.microsoft.com/office/powerpoint/2010/main" val="69532592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377FC8CC-BF48-4372-ADBD-E108291B94CD}"/>
              </a:ext>
            </a:extLst>
          </p:cNvPr>
          <p:cNvSpPr txBox="1">
            <a:spLocks/>
          </p:cNvSpPr>
          <p:nvPr/>
        </p:nvSpPr>
        <p:spPr>
          <a:xfrm>
            <a:off x="696001" y="213396"/>
            <a:ext cx="10800000" cy="717269"/>
          </a:xfrm>
          <a:prstGeom prst="rect">
            <a:avLst/>
          </a:prstGeom>
        </p:spPr>
        <p:txBody>
          <a:bodyPr anchor="b">
            <a:normAutofit/>
          </a:bodyPr>
          <a:lstStyle>
            <a:lvl1pPr algn="l" defTabSz="914377" rtl="0" eaLnBrk="1" latinLnBrk="0" hangingPunct="1">
              <a:lnSpc>
                <a:spcPct val="90000"/>
              </a:lnSpc>
              <a:spcBef>
                <a:spcPct val="0"/>
              </a:spcBef>
              <a:buNone/>
              <a:defRPr sz="4000" u="none" kern="1200" spc="-100" baseline="0">
                <a:solidFill>
                  <a:schemeClr val="accent6"/>
                </a:solidFill>
                <a:uFill>
                  <a:solidFill>
                    <a:schemeClr val="tx2">
                      <a:lumMod val="60000"/>
                      <a:lumOff val="40000"/>
                    </a:schemeClr>
                  </a:solidFill>
                </a:uFill>
                <a:latin typeface="+mj-lt"/>
                <a:ea typeface="Segoe UI Black" panose="020B0A02040204020203" pitchFamily="34" charset="0"/>
                <a:cs typeface="Segoe UI Light" panose="020B0502040204020203" pitchFamily="34" charset="0"/>
              </a:defRPr>
            </a:lvl1pPr>
          </a:lstStyle>
          <a:p>
            <a:pPr marL="0" marR="0" lvl="0" indent="0" algn="ctr" defTabSz="914377" rtl="0" eaLnBrk="1" fontAlgn="auto" latinLnBrk="0" hangingPunct="1">
              <a:lnSpc>
                <a:spcPct val="90000"/>
              </a:lnSpc>
              <a:spcBef>
                <a:spcPct val="0"/>
              </a:spcBef>
              <a:spcAft>
                <a:spcPts val="0"/>
              </a:spcAft>
              <a:buClrTx/>
              <a:buSzTx/>
              <a:buFontTx/>
              <a:buNone/>
              <a:tabLst/>
              <a:defRPr/>
            </a:pPr>
            <a:r>
              <a:rPr lang="en-US">
                <a:solidFill>
                  <a:srgbClr val="31849B"/>
                </a:solidFill>
                <a:uFill>
                  <a:solidFill>
                    <a:srgbClr val="1F497D">
                      <a:lumMod val="60000"/>
                      <a:lumOff val="40000"/>
                    </a:srgbClr>
                  </a:solidFill>
                </a:uFill>
                <a:latin typeface="Segoe UI Semibold"/>
              </a:rPr>
              <a:t>Conclusions and Implications</a:t>
            </a:r>
            <a:endParaRPr kumimoji="0" lang="en-US" sz="4000" b="0" i="0" u="none" strike="noStrike" kern="1200" cap="none" spc="-100" normalizeH="0" baseline="0" noProof="0">
              <a:ln>
                <a:noFill/>
              </a:ln>
              <a:solidFill>
                <a:srgbClr val="31849B"/>
              </a:solidFill>
              <a:effectLst/>
              <a:uLnTx/>
              <a:uFill>
                <a:solidFill>
                  <a:srgbClr val="1F497D">
                    <a:lumMod val="60000"/>
                    <a:lumOff val="40000"/>
                  </a:srgbClr>
                </a:solidFill>
              </a:uFill>
              <a:latin typeface="Segoe UI Semibold"/>
              <a:ea typeface="Segoe UI Black" panose="020B0A02040204020203" pitchFamily="34" charset="0"/>
              <a:cs typeface="Segoe UI Light" panose="020B0502040204020203" pitchFamily="34" charset="0"/>
            </a:endParaRPr>
          </a:p>
        </p:txBody>
      </p:sp>
      <p:sp>
        <p:nvSpPr>
          <p:cNvPr id="22" name="Content Placeholder 1">
            <a:extLst>
              <a:ext uri="{FF2B5EF4-FFF2-40B4-BE49-F238E27FC236}">
                <a16:creationId xmlns:a16="http://schemas.microsoft.com/office/drawing/2014/main" id="{C827DF1D-A93F-8E84-9C0C-D2DE0E70F7C3}"/>
              </a:ext>
            </a:extLst>
          </p:cNvPr>
          <p:cNvSpPr txBox="1">
            <a:spLocks/>
          </p:cNvSpPr>
          <p:nvPr/>
        </p:nvSpPr>
        <p:spPr>
          <a:xfrm>
            <a:off x="579459" y="930665"/>
            <a:ext cx="10800000" cy="5400000"/>
          </a:xfrm>
          <a:prstGeom prst="rect">
            <a:avLst/>
          </a:prstGeom>
        </p:spPr>
        <p:txBody>
          <a:bodyPr vert="horz" lIns="0" tIns="0" rIns="0" bIns="0" rtlCol="0" anchor="ctr" anchorCtr="0">
            <a:normAutofit/>
          </a:bodyPr>
          <a:lstStyle>
            <a:lvl1pPr marL="228594" indent="-228594" algn="l" defTabSz="914377" rtl="0" eaLnBrk="1" latinLnBrk="0" hangingPunct="1">
              <a:lnSpc>
                <a:spcPct val="90000"/>
              </a:lnSpc>
              <a:spcBef>
                <a:spcPts val="1800"/>
              </a:spcBef>
              <a:buFont typeface="Wingdings" panose="05000000000000000000" pitchFamily="2" charset="2"/>
              <a:buChar char="§"/>
              <a:defRPr sz="2600" kern="1200" spc="0" baseline="0">
                <a:solidFill>
                  <a:schemeClr val="tx1">
                    <a:lumMod val="75000"/>
                    <a:lumOff val="25000"/>
                  </a:schemeClr>
                </a:solidFill>
                <a:latin typeface="+mn-lt"/>
                <a:ea typeface="+mn-ea"/>
                <a:cs typeface="Segoe UI" panose="020B0502040204020203" pitchFamily="34" charset="0"/>
              </a:defRPr>
            </a:lvl1pPr>
            <a:lvl2pPr marL="450839" indent="-228594" algn="l" defTabSz="914377" rtl="0" eaLnBrk="1" latinLnBrk="0" hangingPunct="1">
              <a:lnSpc>
                <a:spcPct val="90000"/>
              </a:lnSpc>
              <a:spcBef>
                <a:spcPts val="600"/>
              </a:spcBef>
              <a:buFont typeface="Segoe UI" panose="020B0502040204020203" pitchFamily="34" charset="0"/>
              <a:buChar char="›"/>
              <a:defRPr sz="2200" kern="1200" spc="0">
                <a:solidFill>
                  <a:schemeClr val="tx1">
                    <a:lumMod val="75000"/>
                    <a:lumOff val="25000"/>
                  </a:schemeClr>
                </a:solidFill>
                <a:latin typeface="+mn-lt"/>
                <a:ea typeface="+mn-ea"/>
                <a:cs typeface="Segoe UI" panose="020B0502040204020203" pitchFamily="34" charset="0"/>
              </a:defRPr>
            </a:lvl2pPr>
            <a:lvl3pPr marL="714357" indent="-228594" algn="l" defTabSz="914377" rtl="0" eaLnBrk="1" latinLnBrk="0" hangingPunct="1">
              <a:lnSpc>
                <a:spcPct val="90000"/>
              </a:lnSpc>
              <a:spcBef>
                <a:spcPts val="300"/>
              </a:spcBef>
              <a:buFont typeface="Segoe UI" panose="020B0502040204020203" pitchFamily="34" charset="0"/>
              <a:buChar char="›"/>
              <a:defRPr sz="2000" kern="1200" spc="0">
                <a:solidFill>
                  <a:schemeClr val="tx1">
                    <a:lumMod val="75000"/>
                    <a:lumOff val="25000"/>
                  </a:schemeClr>
                </a:solidFill>
                <a:latin typeface="+mn-lt"/>
                <a:ea typeface="+mn-ea"/>
                <a:cs typeface="Segoe UI" panose="020B0502040204020203" pitchFamily="34" charset="0"/>
              </a:defRPr>
            </a:lvl3pPr>
            <a:lvl4pPr marL="985814" indent="-228594" algn="l" defTabSz="914377" rtl="0" eaLnBrk="1" latinLnBrk="0" hangingPunct="1">
              <a:lnSpc>
                <a:spcPct val="90000"/>
              </a:lnSpc>
              <a:spcBef>
                <a:spcPts val="0"/>
              </a:spcBef>
              <a:buFont typeface="Segoe UI" panose="020B0502040204020203" pitchFamily="34" charset="0"/>
              <a:buChar char="›"/>
              <a:defRPr sz="2000" kern="1200" spc="0">
                <a:solidFill>
                  <a:schemeClr val="tx1">
                    <a:lumMod val="75000"/>
                    <a:lumOff val="25000"/>
                  </a:schemeClr>
                </a:solidFill>
                <a:latin typeface="+mn-lt"/>
                <a:ea typeface="+mn-ea"/>
                <a:cs typeface="Segoe UI" panose="020B0502040204020203" pitchFamily="34" charset="0"/>
              </a:defRPr>
            </a:lvl4pPr>
            <a:lvl5pPr marL="1257269" indent="-228594" algn="l" defTabSz="914377" rtl="0" eaLnBrk="1" latinLnBrk="0" hangingPunct="1">
              <a:lnSpc>
                <a:spcPct val="90000"/>
              </a:lnSpc>
              <a:spcBef>
                <a:spcPts val="0"/>
              </a:spcBef>
              <a:buFont typeface="Segoe UI" panose="020B0502040204020203" pitchFamily="34" charset="0"/>
              <a:buChar char="›"/>
              <a:defRPr sz="2000" kern="1200" spc="0">
                <a:solidFill>
                  <a:schemeClr val="tx1">
                    <a:lumMod val="75000"/>
                    <a:lumOff val="25000"/>
                  </a:schemeClr>
                </a:solidFill>
                <a:latin typeface="+mn-lt"/>
                <a:ea typeface="+mn-ea"/>
                <a:cs typeface="Segoe UI" panose="020B0502040204020203"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CA"/>
              <a:t>Investment required to define a clear roadmap of Cloud User Enablement</a:t>
            </a:r>
          </a:p>
          <a:p>
            <a:pPr lvl="1"/>
            <a:r>
              <a:rPr lang="en-CA" err="1"/>
              <a:t>Eg</a:t>
            </a:r>
            <a:r>
              <a:rPr lang="en-CA"/>
              <a:t> What use cases belong in Fabric vs AC, if Fabric out of the box solves for many challenges we still face in AC, where does future development effort make the most sense</a:t>
            </a:r>
          </a:p>
          <a:p>
            <a:pPr lvl="1"/>
            <a:r>
              <a:rPr lang="en-CA"/>
              <a:t>Streamlining now seems ideal as more data and use cases moving to Cloud over next 3 years</a:t>
            </a:r>
          </a:p>
          <a:p>
            <a:r>
              <a:rPr lang="en-CA"/>
              <a:t>Residual Topics</a:t>
            </a:r>
          </a:p>
          <a:p>
            <a:pPr lvl="1"/>
            <a:r>
              <a:rPr lang="en-CA"/>
              <a:t>Data management options (</a:t>
            </a:r>
            <a:r>
              <a:rPr lang="en-CA" err="1"/>
              <a:t>OneLake</a:t>
            </a:r>
            <a:r>
              <a:rPr lang="en-CA"/>
              <a:t> Catalogue vs Purview vs others)</a:t>
            </a:r>
          </a:p>
          <a:p>
            <a:pPr lvl="1"/>
            <a:r>
              <a:rPr lang="en-CA"/>
              <a:t>Environments and Dev Ops Practices – will Fabric remain only in Prod</a:t>
            </a:r>
          </a:p>
          <a:p>
            <a:pPr lvl="1"/>
            <a:r>
              <a:rPr lang="en-CA"/>
              <a:t>Supporting Org</a:t>
            </a:r>
          </a:p>
          <a:p>
            <a:pPr lvl="1"/>
            <a:r>
              <a:rPr lang="en-CA"/>
              <a:t>Desired SLA, investment to get there</a:t>
            </a:r>
          </a:p>
          <a:p>
            <a:pPr lvl="1"/>
            <a:r>
              <a:rPr lang="en-CA"/>
              <a:t>…</a:t>
            </a:r>
          </a:p>
        </p:txBody>
      </p:sp>
    </p:spTree>
    <p:extLst>
      <p:ext uri="{BB962C8B-B14F-4D97-AF65-F5344CB8AC3E}">
        <p14:creationId xmlns:p14="http://schemas.microsoft.com/office/powerpoint/2010/main" val="2871057908"/>
      </p:ext>
    </p:extLst>
  </p:cSld>
  <p:clrMapOvr>
    <a:masterClrMapping/>
  </p:clrMapOvr>
</p:sld>
</file>

<file path=ppt/theme/theme1.xml><?xml version="1.0" encoding="utf-8"?>
<a:theme xmlns:a="http://schemas.openxmlformats.org/drawingml/2006/main" name="Master">
  <a:themeElements>
    <a:clrScheme name="BoC - Standard">
      <a:dk1>
        <a:sysClr val="windowText" lastClr="000000"/>
      </a:dk1>
      <a:lt1>
        <a:sysClr val="window" lastClr="FFFFFF"/>
      </a:lt1>
      <a:dk2>
        <a:srgbClr val="1F497D"/>
      </a:dk2>
      <a:lt2>
        <a:srgbClr val="EEECE1"/>
      </a:lt2>
      <a:accent1>
        <a:srgbClr val="CC4748"/>
      </a:accent1>
      <a:accent2>
        <a:srgbClr val="67B7DC"/>
      </a:accent2>
      <a:accent3>
        <a:srgbClr val="84B761"/>
      </a:accent3>
      <a:accent4>
        <a:srgbClr val="FDD400"/>
      </a:accent4>
      <a:accent5>
        <a:srgbClr val="A92C90"/>
      </a:accent5>
      <a:accent6>
        <a:srgbClr val="31849B"/>
      </a:accent6>
      <a:hlink>
        <a:srgbClr val="0000FF"/>
      </a:hlink>
      <a:folHlink>
        <a:srgbClr val="800080"/>
      </a:folHlink>
    </a:clrScheme>
    <a:fontScheme name="Custom 1">
      <a:majorFont>
        <a:latin typeface="Segoe UI Semibold"/>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FF9933"/>
        </a:solidFill>
        <a:ln>
          <a:noFill/>
        </a:ln>
      </a:spPr>
      <a:bodyPr rot="0" spcFirstLastPara="0" vertOverflow="overflow" horzOverflow="overflow" vert="horz" wrap="square" lIns="126772" tIns="63386" rIns="126772" bIns="63386" numCol="1" spcCol="0" rtlCol="0" fromWordArt="0" anchor="ctr" anchorCtr="0" forceAA="0" compatLnSpc="1">
        <a:prstTxWarp prst="textNoShape">
          <a:avLst/>
        </a:prstTxWarp>
        <a:noAutofit/>
      </a:bodyPr>
      <a:lstStyle>
        <a:defPPr marL="0" marR="0" indent="0" algn="l" defTabSz="914377" rtl="0" eaLnBrk="1" fontAlgn="auto" latinLnBrk="0" hangingPunct="1">
          <a:lnSpc>
            <a:spcPct val="100000"/>
          </a:lnSpc>
          <a:spcBef>
            <a:spcPts val="0"/>
          </a:spcBef>
          <a:spcAft>
            <a:spcPts val="0"/>
          </a:spcAft>
          <a:buClrTx/>
          <a:buSzTx/>
          <a:buFontTx/>
          <a:buNone/>
          <a:tabLst/>
          <a:defRPr sz="1400" b="1" u="sng" dirty="0" smtClean="0">
            <a:solidFill>
              <a:prstClr val="white"/>
            </a:solidFill>
            <a:latin typeface="Segoe UI"/>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2019 - Light" id="{178BE10D-08F4-4C74-AB6A-A8E261C2E6E4}" vid="{92C6881E-5B0E-485A-98A1-3A140739814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166</TotalTime>
  <Words>3200</Words>
  <Application>Microsoft Office PowerPoint</Application>
  <PresentationFormat>Widescreen</PresentationFormat>
  <Paragraphs>466</Paragraphs>
  <Slides>30</Slides>
  <Notes>15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30</vt:i4>
      </vt:variant>
    </vt:vector>
  </HeadingPairs>
  <TitlesOfParts>
    <vt:vector size="38" baseType="lpstr">
      <vt:lpstr>Arial</vt:lpstr>
      <vt:lpstr>Calibri</vt:lpstr>
      <vt:lpstr>Poppins</vt:lpstr>
      <vt:lpstr>Segoe UI</vt:lpstr>
      <vt:lpstr>Segoe UI Black</vt:lpstr>
      <vt:lpstr>Segoe UI Semibold</vt:lpstr>
      <vt:lpstr>Wingdings</vt:lpstr>
      <vt:lpstr>Master</vt:lpstr>
      <vt:lpstr>PowerPoint Presentation</vt:lpstr>
      <vt:lpstr>PowerPoint Presentation</vt:lpstr>
      <vt:lpstr>What</vt:lpstr>
      <vt:lpstr>Journey Checkpoint  1 year live – many successes but challenges remain especially in User Experience </vt:lpstr>
      <vt:lpstr>PowerPoint Presentation</vt:lpstr>
      <vt:lpstr>PowerPoint Presentation</vt:lpstr>
      <vt:lpstr>Evaluation Criteria</vt:lpstr>
      <vt:lpstr>Current Pain Points in User Experience</vt:lpstr>
      <vt:lpstr>PowerPoint Presentation</vt:lpstr>
      <vt:lpstr>PowerPoint Presentation</vt:lpstr>
      <vt:lpstr>PowerPoint Presentation</vt:lpstr>
      <vt:lpstr>Fabric PoC – End User Experience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PoC Summary</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Wendy Forbes</dc:creator>
  <cp:lastModifiedBy>Maxime Leboeuf</cp:lastModifiedBy>
  <cp:revision>2</cp:revision>
  <dcterms:created xsi:type="dcterms:W3CDTF">2023-10-10T17:15:30Z</dcterms:created>
  <dcterms:modified xsi:type="dcterms:W3CDTF">2024-12-12T18:47:37Z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aebacc78-dcc9-4733-835b-33704aeb5fb9_Enabled">
    <vt:lpwstr>true</vt:lpwstr>
  </property>
  <property fmtid="{D5CDD505-2E9C-101B-9397-08002B2CF9AE}" pid="3" name="MSIP_Label_aebacc78-dcc9-4733-835b-33704aeb5fb9_SetDate">
    <vt:lpwstr>2024-02-07T17:38:08Z</vt:lpwstr>
  </property>
  <property fmtid="{D5CDD505-2E9C-101B-9397-08002B2CF9AE}" pid="4" name="MSIP_Label_aebacc78-dcc9-4733-835b-33704aeb5fb9_Method">
    <vt:lpwstr>Privileged</vt:lpwstr>
  </property>
  <property fmtid="{D5CDD505-2E9C-101B-9397-08002B2CF9AE}" pid="5" name="MSIP_Label_aebacc78-dcc9-4733-835b-33704aeb5fb9_Name">
    <vt:lpwstr>Non-Sensitive - Non-Délicat</vt:lpwstr>
  </property>
  <property fmtid="{D5CDD505-2E9C-101B-9397-08002B2CF9AE}" pid="6" name="MSIP_Label_aebacc78-dcc9-4733-835b-33704aeb5fb9_SiteId">
    <vt:lpwstr>164f988b-a2f4-4584-aeaa-21bd4a0234bc</vt:lpwstr>
  </property>
  <property fmtid="{D5CDD505-2E9C-101B-9397-08002B2CF9AE}" pid="7" name="MSIP_Label_aebacc78-dcc9-4733-835b-33704aeb5fb9_ActionId">
    <vt:lpwstr>09b2ebeb-a74e-476e-9a72-1547910256b8</vt:lpwstr>
  </property>
  <property fmtid="{D5CDD505-2E9C-101B-9397-08002B2CF9AE}" pid="8" name="MSIP_Label_aebacc78-dcc9-4733-835b-33704aeb5fb9_ContentBits">
    <vt:lpwstr>1</vt:lpwstr>
  </property>
  <property fmtid="{D5CDD505-2E9C-101B-9397-08002B2CF9AE}" pid="9" name="ClassificationContentMarkingHeaderLocations">
    <vt:lpwstr>Master:5</vt:lpwstr>
  </property>
  <property fmtid="{D5CDD505-2E9C-101B-9397-08002B2CF9AE}" pid="10" name="ClassificationContentMarkingHeaderText">
    <vt:lpwstr>Category/Catégorie: Non-Sensitive/Non-Délicat</vt:lpwstr>
  </property>
</Properties>
</file>